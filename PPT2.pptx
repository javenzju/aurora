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1179" r:id="rId3"/>
    <p:sldId id="1258" r:id="rId5"/>
    <p:sldId id="1259" r:id="rId6"/>
    <p:sldId id="1260" r:id="rId7"/>
    <p:sldId id="1305" r:id="rId8"/>
    <p:sldId id="1262" r:id="rId9"/>
    <p:sldId id="1263" r:id="rId10"/>
    <p:sldId id="1264" r:id="rId11"/>
    <p:sldId id="1265" r:id="rId12"/>
    <p:sldId id="1266" r:id="rId13"/>
    <p:sldId id="1267" r:id="rId14"/>
    <p:sldId id="1304" r:id="rId15"/>
    <p:sldId id="1268" r:id="rId16"/>
    <p:sldId id="1270" r:id="rId17"/>
    <p:sldId id="1306" r:id="rId18"/>
    <p:sldId id="1272" r:id="rId19"/>
    <p:sldId id="1273" r:id="rId20"/>
    <p:sldId id="1274" r:id="rId21"/>
    <p:sldId id="1276" r:id="rId22"/>
    <p:sldId id="1277" r:id="rId23"/>
    <p:sldId id="1278" r:id="rId24"/>
    <p:sldId id="1279" r:id="rId25"/>
    <p:sldId id="1280" r:id="rId26"/>
    <p:sldId id="1281" r:id="rId27"/>
    <p:sldId id="1282" r:id="rId28"/>
    <p:sldId id="1283" r:id="rId29"/>
    <p:sldId id="1284" r:id="rId30"/>
    <p:sldId id="1285" r:id="rId31"/>
    <p:sldId id="1286" r:id="rId32"/>
    <p:sldId id="1289" r:id="rId33"/>
    <p:sldId id="1291" r:id="rId34"/>
    <p:sldId id="1292" r:id="rId35"/>
    <p:sldId id="1293" r:id="rId36"/>
    <p:sldId id="1294" r:id="rId37"/>
    <p:sldId id="1295" r:id="rId38"/>
    <p:sldId id="1296" r:id="rId39"/>
    <p:sldId id="1297" r:id="rId40"/>
    <p:sldId id="1298" r:id="rId41"/>
    <p:sldId id="1299" r:id="rId42"/>
    <p:sldId id="1300" r:id="rId43"/>
    <p:sldId id="1301" r:id="rId44"/>
    <p:sldId id="1307" r:id="rId45"/>
    <p:sldId id="1302" r:id="rId4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1DE3"/>
    <a:srgbClr val="48597E"/>
    <a:srgbClr val="000000"/>
    <a:srgbClr val="1399EE"/>
    <a:srgbClr val="800080"/>
    <a:srgbClr val="AE79F0"/>
    <a:srgbClr val="B2B2B2"/>
    <a:srgbClr val="48597F"/>
    <a:srgbClr val="EFA613"/>
    <a:srgbClr val="05C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9" autoAdjust="0"/>
    <p:restoredTop sz="99203" autoAdjust="0"/>
  </p:normalViewPr>
  <p:slideViewPr>
    <p:cSldViewPr>
      <p:cViewPr varScale="1">
        <p:scale>
          <a:sx n="88" d="100"/>
          <a:sy n="88" d="100"/>
        </p:scale>
        <p:origin x="700" y="60"/>
      </p:cViewPr>
      <p:guideLst>
        <p:guide orient="horz" pos="1425"/>
        <p:guide pos="28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3" d="100"/>
        <a:sy n="93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-3688" y="-112"/>
      </p:cViewPr>
      <p:guideLst>
        <p:guide orient="horz" pos="2534"/>
        <p:guide pos="21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954A-C201-EB40-9459-342C786798D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2853C-6216-544B-82BE-E4DDDB9FF42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D0FC4-79A4-4CD6-9D21-6D2AFDDF42E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829E4-7B8F-48ED-BCF8-1C0A3C64405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pk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Pie 4"/>
          <p:cNvSpPr/>
          <p:nvPr userDrawn="1"/>
        </p:nvSpPr>
        <p:spPr>
          <a:xfrm rot="5400000" flipH="1" flipV="1">
            <a:off x="-623887" y="1947863"/>
            <a:ext cx="1247774" cy="1247774"/>
          </a:xfrm>
          <a:prstGeom prst="pie">
            <a:avLst>
              <a:gd name="adj1" fmla="val 0"/>
              <a:gd name="adj2" fmla="val 10782358"/>
            </a:avLst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Pie 4"/>
          <p:cNvSpPr/>
          <p:nvPr userDrawn="1"/>
        </p:nvSpPr>
        <p:spPr>
          <a:xfrm rot="16200000" flipV="1">
            <a:off x="8520113" y="1947863"/>
            <a:ext cx="1247774" cy="1247774"/>
          </a:xfrm>
          <a:prstGeom prst="pie">
            <a:avLst>
              <a:gd name="adj1" fmla="val 0"/>
              <a:gd name="adj2" fmla="val 10782358"/>
            </a:avLst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55130" y="0"/>
            <a:ext cx="2388870" cy="6521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2550"/>
            <a:ext cx="8229600" cy="297180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1152"/>
            <a:ext cx="4419600" cy="2562857"/>
          </a:xfrm>
          <a:prstGeom prst="rect">
            <a:avLst/>
          </a:prstGeom>
        </p:spPr>
      </p:pic>
      <p:sp>
        <p:nvSpPr>
          <p:cNvPr id="2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81126" y="1809750"/>
            <a:ext cx="3167074" cy="2028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7"/>
          <p:cNvSpPr>
            <a:spLocks noGrp="1"/>
          </p:cNvSpPr>
          <p:nvPr>
            <p:ph type="pic" sz="quarter" idx="24"/>
          </p:nvPr>
        </p:nvSpPr>
        <p:spPr>
          <a:xfrm>
            <a:off x="0" y="3456622"/>
            <a:ext cx="2276856" cy="170592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27"/>
          <p:cNvSpPr>
            <a:spLocks noGrp="1"/>
          </p:cNvSpPr>
          <p:nvPr>
            <p:ph type="pic" sz="quarter" idx="25"/>
          </p:nvPr>
        </p:nvSpPr>
        <p:spPr>
          <a:xfrm>
            <a:off x="2286000" y="3456622"/>
            <a:ext cx="2276856" cy="17059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27"/>
          <p:cNvSpPr>
            <a:spLocks noGrp="1"/>
          </p:cNvSpPr>
          <p:nvPr>
            <p:ph type="pic" sz="quarter" idx="26"/>
          </p:nvPr>
        </p:nvSpPr>
        <p:spPr>
          <a:xfrm>
            <a:off x="4572000" y="3455670"/>
            <a:ext cx="2276856" cy="170592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7"/>
          <p:cNvSpPr>
            <a:spLocks noGrp="1"/>
          </p:cNvSpPr>
          <p:nvPr>
            <p:ph type="pic" sz="quarter" idx="27"/>
          </p:nvPr>
        </p:nvSpPr>
        <p:spPr>
          <a:xfrm>
            <a:off x="6858000" y="3455670"/>
            <a:ext cx="2286000" cy="17059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7"/>
          <p:cNvSpPr>
            <a:spLocks noGrp="1"/>
          </p:cNvSpPr>
          <p:nvPr>
            <p:ph type="pic" sz="quarter" idx="25"/>
          </p:nvPr>
        </p:nvSpPr>
        <p:spPr>
          <a:xfrm>
            <a:off x="2286000" y="1504950"/>
            <a:ext cx="2276856" cy="1981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27"/>
          <p:cNvSpPr>
            <a:spLocks noGrp="1"/>
          </p:cNvSpPr>
          <p:nvPr>
            <p:ph type="pic" sz="quarter" idx="26"/>
          </p:nvPr>
        </p:nvSpPr>
        <p:spPr>
          <a:xfrm>
            <a:off x="4572000" y="1504950"/>
            <a:ext cx="2276856" cy="19812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7"/>
          <p:cNvSpPr>
            <a:spLocks noGrp="1"/>
          </p:cNvSpPr>
          <p:nvPr>
            <p:ph type="pic" sz="quarter" idx="27"/>
          </p:nvPr>
        </p:nvSpPr>
        <p:spPr>
          <a:xfrm>
            <a:off x="6858000" y="1504950"/>
            <a:ext cx="2286000" cy="1981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4"/>
          <p:cNvSpPr>
            <a:spLocks noGrp="1"/>
          </p:cNvSpPr>
          <p:nvPr>
            <p:ph type="pic" sz="quarter" idx="14"/>
          </p:nvPr>
        </p:nvSpPr>
        <p:spPr>
          <a:xfrm>
            <a:off x="457200" y="1352550"/>
            <a:ext cx="2671762" cy="300672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>
                <a:solidFill>
                  <a:srgbClr val="17375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6"/>
          <p:cNvSpPr>
            <a:spLocks noGrp="1"/>
          </p:cNvSpPr>
          <p:nvPr>
            <p:ph type="body" sz="quarter" idx="15"/>
          </p:nvPr>
        </p:nvSpPr>
        <p:spPr>
          <a:xfrm>
            <a:off x="3733800" y="1817688"/>
            <a:ext cx="2127250" cy="830262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6"/>
          </p:nvPr>
        </p:nvSpPr>
        <p:spPr>
          <a:xfrm>
            <a:off x="6407150" y="1809750"/>
            <a:ext cx="2127250" cy="830262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26"/>
          <p:cNvSpPr>
            <a:spLocks noGrp="1"/>
          </p:cNvSpPr>
          <p:nvPr>
            <p:ph type="body" sz="quarter" idx="17"/>
          </p:nvPr>
        </p:nvSpPr>
        <p:spPr>
          <a:xfrm>
            <a:off x="3736975" y="3405328"/>
            <a:ext cx="2127250" cy="830262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26"/>
          <p:cNvSpPr>
            <a:spLocks noGrp="1"/>
          </p:cNvSpPr>
          <p:nvPr>
            <p:ph type="body" sz="quarter" idx="18"/>
          </p:nvPr>
        </p:nvSpPr>
        <p:spPr>
          <a:xfrm>
            <a:off x="6410325" y="3397390"/>
            <a:ext cx="2127250" cy="830262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3733800" y="1517508"/>
            <a:ext cx="1600200" cy="30811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32"/>
          <p:cNvSpPr>
            <a:spLocks noGrp="1"/>
          </p:cNvSpPr>
          <p:nvPr>
            <p:ph type="body" sz="quarter" idx="20"/>
          </p:nvPr>
        </p:nvSpPr>
        <p:spPr>
          <a:xfrm>
            <a:off x="6400800" y="1517508"/>
            <a:ext cx="1600200" cy="30811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3733800" y="3101835"/>
            <a:ext cx="1600200" cy="30811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2"/>
          </p:nvPr>
        </p:nvSpPr>
        <p:spPr>
          <a:xfrm>
            <a:off x="6400800" y="3101835"/>
            <a:ext cx="1600200" cy="30811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mo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iMac-Flat-Mockup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52550"/>
            <a:ext cx="4038600" cy="3269432"/>
          </a:xfrm>
          <a:prstGeom prst="rect">
            <a:avLst/>
          </a:prstGeom>
        </p:spPr>
      </p:pic>
      <p:sp>
        <p:nvSpPr>
          <p:cNvPr id="19" name="Picture Placeholder 9"/>
          <p:cNvSpPr>
            <a:spLocks noGrp="1"/>
          </p:cNvSpPr>
          <p:nvPr>
            <p:ph type="pic" sz="quarter" idx="24"/>
          </p:nvPr>
        </p:nvSpPr>
        <p:spPr>
          <a:xfrm>
            <a:off x="2895600" y="1581150"/>
            <a:ext cx="3581400" cy="20574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3"/>
          <p:cNvSpPr>
            <a:spLocks noGrp="1"/>
          </p:cNvSpPr>
          <p:nvPr>
            <p:ph sz="quarter" idx="13"/>
          </p:nvPr>
        </p:nvSpPr>
        <p:spPr>
          <a:xfrm>
            <a:off x="609600" y="2057400"/>
            <a:ext cx="2362200" cy="2266950"/>
          </a:xfrm>
        </p:spPr>
        <p:txBody>
          <a:bodyPr>
            <a:normAutofit/>
          </a:bodyPr>
          <a:lstStyle>
            <a:lvl1pPr algn="l">
              <a:lnSpc>
                <a:spcPts val="1400"/>
              </a:lnSpc>
              <a:buNone/>
              <a:defRPr sz="1050">
                <a:solidFill>
                  <a:srgbClr val="7F7F7F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38"/>
          <p:cNvSpPr>
            <a:spLocks noGrp="1"/>
          </p:cNvSpPr>
          <p:nvPr>
            <p:ph sz="quarter" idx="39"/>
          </p:nvPr>
        </p:nvSpPr>
        <p:spPr>
          <a:xfrm>
            <a:off x="1139952" y="1581150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 algn="l">
              <a:buNone/>
              <a:defRPr sz="14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42"/>
          </p:nvPr>
        </p:nvSpPr>
        <p:spPr>
          <a:xfrm>
            <a:off x="3429000" y="2057400"/>
            <a:ext cx="2362200" cy="2266950"/>
          </a:xfrm>
        </p:spPr>
        <p:txBody>
          <a:bodyPr>
            <a:normAutofit/>
          </a:bodyPr>
          <a:lstStyle>
            <a:lvl1pPr algn="l">
              <a:lnSpc>
                <a:spcPts val="1400"/>
              </a:lnSpc>
              <a:buNone/>
              <a:defRPr sz="1050">
                <a:solidFill>
                  <a:srgbClr val="7F7F7F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43"/>
          </p:nvPr>
        </p:nvSpPr>
        <p:spPr>
          <a:xfrm>
            <a:off x="6324600" y="2057400"/>
            <a:ext cx="2362200" cy="2266950"/>
          </a:xfrm>
        </p:spPr>
        <p:txBody>
          <a:bodyPr>
            <a:normAutofit/>
          </a:bodyPr>
          <a:lstStyle>
            <a:lvl1pPr algn="l">
              <a:lnSpc>
                <a:spcPts val="1400"/>
              </a:lnSpc>
              <a:buNone/>
              <a:defRPr sz="1050">
                <a:solidFill>
                  <a:srgbClr val="7F7F7F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38"/>
          <p:cNvSpPr>
            <a:spLocks noGrp="1"/>
          </p:cNvSpPr>
          <p:nvPr>
            <p:ph sz="quarter" idx="60"/>
          </p:nvPr>
        </p:nvSpPr>
        <p:spPr>
          <a:xfrm>
            <a:off x="3886200" y="1581150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 algn="l">
              <a:buNone/>
              <a:defRPr sz="14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38"/>
          <p:cNvSpPr>
            <a:spLocks noGrp="1"/>
          </p:cNvSpPr>
          <p:nvPr>
            <p:ph sz="quarter" idx="61"/>
          </p:nvPr>
        </p:nvSpPr>
        <p:spPr>
          <a:xfrm>
            <a:off x="6781800" y="1581150"/>
            <a:ext cx="1984248" cy="347472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 algn="l">
              <a:buNone/>
              <a:defRPr sz="14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/>
          <p:cNvSpPr>
            <a:spLocks noGrp="1"/>
          </p:cNvSpPr>
          <p:nvPr>
            <p:ph type="body" sz="quarter" idx="47"/>
          </p:nvPr>
        </p:nvSpPr>
        <p:spPr>
          <a:xfrm>
            <a:off x="989964" y="15589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48"/>
          </p:nvPr>
        </p:nvSpPr>
        <p:spPr>
          <a:xfrm>
            <a:off x="990282" y="20923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49"/>
          </p:nvPr>
        </p:nvSpPr>
        <p:spPr>
          <a:xfrm>
            <a:off x="990600" y="27019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50"/>
          </p:nvPr>
        </p:nvSpPr>
        <p:spPr>
          <a:xfrm>
            <a:off x="990600" y="32353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51"/>
          </p:nvPr>
        </p:nvSpPr>
        <p:spPr>
          <a:xfrm>
            <a:off x="990600" y="37687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55" hasCustomPrompt="1"/>
          </p:nvPr>
        </p:nvSpPr>
        <p:spPr>
          <a:xfrm>
            <a:off x="533400" y="15049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60"/>
          </p:nvPr>
        </p:nvSpPr>
        <p:spPr>
          <a:xfrm>
            <a:off x="5181282" y="15589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61"/>
          </p:nvPr>
        </p:nvSpPr>
        <p:spPr>
          <a:xfrm>
            <a:off x="5181600" y="20923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62"/>
          </p:nvPr>
        </p:nvSpPr>
        <p:spPr>
          <a:xfrm>
            <a:off x="5181600" y="27019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63"/>
          </p:nvPr>
        </p:nvSpPr>
        <p:spPr>
          <a:xfrm>
            <a:off x="5181600" y="32353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64"/>
          </p:nvPr>
        </p:nvSpPr>
        <p:spPr>
          <a:xfrm>
            <a:off x="5181600" y="3768725"/>
            <a:ext cx="3048000" cy="403225"/>
          </a:xfrm>
        </p:spPr>
        <p:txBody>
          <a:bodyPr anchor="ctr"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 b="0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Content Placeholder 6"/>
          <p:cNvSpPr>
            <a:spLocks noGrp="1"/>
          </p:cNvSpPr>
          <p:nvPr>
            <p:ph sz="quarter" idx="65" hasCustomPrompt="1"/>
          </p:nvPr>
        </p:nvSpPr>
        <p:spPr>
          <a:xfrm>
            <a:off x="533400" y="205359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Content Placeholder 6"/>
          <p:cNvSpPr>
            <a:spLocks noGrp="1"/>
          </p:cNvSpPr>
          <p:nvPr>
            <p:ph sz="quarter" idx="66" hasCustomPrompt="1"/>
          </p:nvPr>
        </p:nvSpPr>
        <p:spPr>
          <a:xfrm>
            <a:off x="533400" y="26479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9" name="Content Placeholder 6"/>
          <p:cNvSpPr>
            <a:spLocks noGrp="1"/>
          </p:cNvSpPr>
          <p:nvPr>
            <p:ph sz="quarter" idx="67" hasCustomPrompt="1"/>
          </p:nvPr>
        </p:nvSpPr>
        <p:spPr>
          <a:xfrm>
            <a:off x="533400" y="31813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0" name="Content Placeholder 6"/>
          <p:cNvSpPr>
            <a:spLocks noGrp="1"/>
          </p:cNvSpPr>
          <p:nvPr>
            <p:ph sz="quarter" idx="68" hasCustomPrompt="1"/>
          </p:nvPr>
        </p:nvSpPr>
        <p:spPr>
          <a:xfrm>
            <a:off x="533400" y="37147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1" name="Content Placeholder 6"/>
          <p:cNvSpPr>
            <a:spLocks noGrp="1"/>
          </p:cNvSpPr>
          <p:nvPr>
            <p:ph sz="quarter" idx="69" hasCustomPrompt="1"/>
          </p:nvPr>
        </p:nvSpPr>
        <p:spPr>
          <a:xfrm>
            <a:off x="4693920" y="15049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2" name="Content Placeholder 6"/>
          <p:cNvSpPr>
            <a:spLocks noGrp="1"/>
          </p:cNvSpPr>
          <p:nvPr>
            <p:ph sz="quarter" idx="70" hasCustomPrompt="1"/>
          </p:nvPr>
        </p:nvSpPr>
        <p:spPr>
          <a:xfrm>
            <a:off x="4693920" y="205359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3" name="Content Placeholder 6"/>
          <p:cNvSpPr>
            <a:spLocks noGrp="1"/>
          </p:cNvSpPr>
          <p:nvPr>
            <p:ph sz="quarter" idx="71" hasCustomPrompt="1"/>
          </p:nvPr>
        </p:nvSpPr>
        <p:spPr>
          <a:xfrm>
            <a:off x="4693920" y="26479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4" name="Content Placeholder 6"/>
          <p:cNvSpPr>
            <a:spLocks noGrp="1"/>
          </p:cNvSpPr>
          <p:nvPr>
            <p:ph sz="quarter" idx="72" hasCustomPrompt="1"/>
          </p:nvPr>
        </p:nvSpPr>
        <p:spPr>
          <a:xfrm>
            <a:off x="4693920" y="31813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35" name="Content Placeholder 6"/>
          <p:cNvSpPr>
            <a:spLocks noGrp="1"/>
          </p:cNvSpPr>
          <p:nvPr>
            <p:ph sz="quarter" idx="73" hasCustomPrompt="1"/>
          </p:nvPr>
        </p:nvSpPr>
        <p:spPr>
          <a:xfrm>
            <a:off x="4693920" y="3714750"/>
            <a:ext cx="411480" cy="411480"/>
          </a:xfrm>
          <a:prstGeom prst="ellipse">
            <a:avLst/>
          </a:prstGeom>
          <a:solidFill>
            <a:srgbClr val="48597F"/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bg1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33"/>
          </p:nvPr>
        </p:nvSpPr>
        <p:spPr>
          <a:xfrm>
            <a:off x="838200" y="1459230"/>
            <a:ext cx="2133600" cy="27432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34"/>
          </p:nvPr>
        </p:nvSpPr>
        <p:spPr>
          <a:xfrm>
            <a:off x="838200" y="1657350"/>
            <a:ext cx="2819400" cy="609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  <a:latin typeface="Calibri" panose="020F0502020204030204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5"/>
          </p:nvPr>
        </p:nvSpPr>
        <p:spPr>
          <a:xfrm>
            <a:off x="838200" y="2526030"/>
            <a:ext cx="2133600" cy="27432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36"/>
          </p:nvPr>
        </p:nvSpPr>
        <p:spPr>
          <a:xfrm>
            <a:off x="838200" y="2724150"/>
            <a:ext cx="2819400" cy="609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  <a:latin typeface="Calibri" panose="020F0502020204030204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838200" y="3592830"/>
            <a:ext cx="2133600" cy="27432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38"/>
          </p:nvPr>
        </p:nvSpPr>
        <p:spPr>
          <a:xfrm>
            <a:off x="838200" y="3790950"/>
            <a:ext cx="2819400" cy="609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  <a:latin typeface="Calibri" panose="020F0502020204030204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28600"/>
            <a:ext cx="9144000" cy="2266950"/>
          </a:xfrm>
          <a:prstGeom prst="rect">
            <a:avLst/>
          </a:prstGeom>
          <a:solidFill>
            <a:srgbClr val="4859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3657600" cy="1371600"/>
          </a:xfrm>
        </p:spPr>
        <p:txBody>
          <a:bodyPr>
            <a:normAutofit/>
          </a:bodyPr>
          <a:lstStyle>
            <a:lvl1pPr algn="l">
              <a:defRPr sz="2800" b="1" i="0">
                <a:solidFill>
                  <a:schemeClr val="bg1"/>
                </a:solidFill>
                <a:latin typeface="Glegoo"/>
                <a:cs typeface="Glegoo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59"/>
          </p:nvPr>
        </p:nvSpPr>
        <p:spPr>
          <a:xfrm>
            <a:off x="0" y="2419350"/>
            <a:ext cx="9144000" cy="2724150"/>
          </a:xfrm>
        </p:spPr>
        <p:txBody>
          <a:bodyPr>
            <a:normAutofit/>
          </a:bodyPr>
          <a:lstStyle>
            <a:lvl1pPr>
              <a:defRPr sz="1400">
                <a:solidFill>
                  <a:srgbClr val="17375E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62"/>
          </p:nvPr>
        </p:nvSpPr>
        <p:spPr>
          <a:xfrm>
            <a:off x="3469120" y="1123950"/>
            <a:ext cx="2093480" cy="8991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100"/>
            </a:lvl3pPr>
            <a:lvl4pPr marL="1371600" indent="0">
              <a:buFontTx/>
              <a:buNone/>
              <a:defRPr sz="1100"/>
            </a:lvl4pPr>
            <a:lvl5pPr marL="1828800" indent="0">
              <a:buFontTx/>
              <a:buNone/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63"/>
          </p:nvPr>
        </p:nvSpPr>
        <p:spPr>
          <a:xfrm>
            <a:off x="6212320" y="1123950"/>
            <a:ext cx="2093480" cy="8991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100"/>
            </a:lvl3pPr>
            <a:lvl4pPr marL="1371600" indent="0">
              <a:buFontTx/>
              <a:buNone/>
              <a:defRPr sz="1100"/>
            </a:lvl4pPr>
            <a:lvl5pPr marL="1828800" indent="0">
              <a:buFontTx/>
              <a:buNone/>
              <a:defRPr sz="1100"/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56"/>
          </p:nvPr>
        </p:nvSpPr>
        <p:spPr>
          <a:xfrm>
            <a:off x="533400" y="1504950"/>
            <a:ext cx="2133600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rgbClr val="17252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2760662" y="1504950"/>
            <a:ext cx="2133600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rgbClr val="17252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58"/>
          </p:nvPr>
        </p:nvSpPr>
        <p:spPr>
          <a:xfrm>
            <a:off x="533400" y="2952750"/>
            <a:ext cx="2133600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rgbClr val="17252F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59"/>
          </p:nvPr>
        </p:nvSpPr>
        <p:spPr>
          <a:xfrm>
            <a:off x="2760662" y="2952750"/>
            <a:ext cx="2133600" cy="13716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rgbClr val="17252F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533400" y="0"/>
            <a:ext cx="43434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5400" y="666750"/>
            <a:ext cx="3581400" cy="857250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105400" y="1257300"/>
            <a:ext cx="2188633" cy="3238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-19050"/>
            <a:ext cx="9144000" cy="51625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72000" cy="51435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5029200" y="2038350"/>
            <a:ext cx="3505200" cy="9906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100"/>
            </a:lvl3pPr>
            <a:lvl4pPr marL="1371600" indent="0">
              <a:buFontTx/>
              <a:buNone/>
              <a:defRPr sz="1100"/>
            </a:lvl4pPr>
            <a:lvl5pPr marL="1828800" indent="0">
              <a:buFontTx/>
              <a:buNone/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6"/>
          </p:nvPr>
        </p:nvSpPr>
        <p:spPr>
          <a:xfrm>
            <a:off x="5791200" y="3181352"/>
            <a:ext cx="2438400" cy="30797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1" name="Content Placeholder 19"/>
          <p:cNvSpPr>
            <a:spLocks noGrp="1"/>
          </p:cNvSpPr>
          <p:nvPr>
            <p:ph sz="quarter" idx="17"/>
          </p:nvPr>
        </p:nvSpPr>
        <p:spPr>
          <a:xfrm>
            <a:off x="5791200" y="3706831"/>
            <a:ext cx="2438400" cy="46511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5029200" y="1809752"/>
            <a:ext cx="3505200" cy="35718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 sz="1300"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914400" indent="0">
              <a:buFontTx/>
              <a:buNone/>
              <a:defRPr sz="1300"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371600" indent="0">
              <a:buFontTx/>
              <a:buNone/>
              <a:defRPr sz="1300"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1828800" indent="0">
              <a:buFontTx/>
              <a:buNone/>
              <a:defRPr sz="1300"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5400" y="666750"/>
            <a:ext cx="3581400" cy="857250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105400" y="1257300"/>
            <a:ext cx="2188633" cy="3238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572000" y="1837540"/>
            <a:ext cx="0" cy="165599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09600" y="1861337"/>
            <a:ext cx="2987675" cy="64056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25476" y="1587500"/>
            <a:ext cx="2459037" cy="3746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 sz="1400">
                <a:solidFill>
                  <a:srgbClr val="0070C0"/>
                </a:solidFill>
              </a:defRPr>
            </a:lvl2pPr>
            <a:lvl3pPr marL="914400" indent="0">
              <a:buFontTx/>
              <a:buNone/>
              <a:defRPr sz="1400">
                <a:solidFill>
                  <a:srgbClr val="0070C0"/>
                </a:solidFill>
              </a:defRPr>
            </a:lvl3pPr>
            <a:lvl4pPr marL="1371600" indent="0">
              <a:buFontTx/>
              <a:buNone/>
              <a:defRPr sz="1400">
                <a:solidFill>
                  <a:srgbClr val="0070C0"/>
                </a:solidFill>
              </a:defRPr>
            </a:lvl4pPr>
            <a:lvl5pPr marL="1828800" indent="0">
              <a:buFontTx/>
              <a:buNone/>
              <a:defRPr sz="1400">
                <a:solidFill>
                  <a:srgbClr val="0070C0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257804" y="1854987"/>
            <a:ext cx="2987675" cy="64056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273679" y="1581149"/>
            <a:ext cx="2459037" cy="3746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 sz="1400">
                <a:solidFill>
                  <a:srgbClr val="0070C0"/>
                </a:solidFill>
              </a:defRPr>
            </a:lvl2pPr>
            <a:lvl3pPr marL="914400" indent="0">
              <a:buFontTx/>
              <a:buNone/>
              <a:defRPr sz="1400">
                <a:solidFill>
                  <a:srgbClr val="0070C0"/>
                </a:solidFill>
              </a:defRPr>
            </a:lvl3pPr>
            <a:lvl4pPr marL="1371600" indent="0">
              <a:buFontTx/>
              <a:buNone/>
              <a:defRPr sz="1400">
                <a:solidFill>
                  <a:srgbClr val="0070C0"/>
                </a:solidFill>
              </a:defRPr>
            </a:lvl4pPr>
            <a:lvl5pPr marL="1828800" indent="0">
              <a:buFontTx/>
              <a:buNone/>
              <a:defRPr sz="1400">
                <a:solidFill>
                  <a:srgbClr val="0070C0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4648200" y="1962152"/>
            <a:ext cx="3924300" cy="2325687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rgbClr val="17252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1219200" y="2347913"/>
            <a:ext cx="2971800" cy="833437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0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5"/>
          </p:nvPr>
        </p:nvSpPr>
        <p:spPr>
          <a:xfrm>
            <a:off x="457200" y="1254125"/>
            <a:ext cx="8229600" cy="479425"/>
          </a:xfrm>
        </p:spPr>
        <p:txBody>
          <a:bodyPr>
            <a:noAutofit/>
          </a:bodyPr>
          <a:lstStyle>
            <a:lvl1pPr marL="0" indent="0" algn="ctr">
              <a:lnSpc>
                <a:spcPts val="1500"/>
              </a:lnSpc>
              <a:buNone/>
              <a:defRPr sz="1050">
                <a:solidFill>
                  <a:srgbClr val="595959"/>
                </a:solidFill>
              </a:defRPr>
            </a:lvl1pPr>
            <a:lvl2pPr marL="457200" indent="0" algn="ctr">
              <a:buNone/>
              <a:defRPr sz="11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1219200" y="2119312"/>
            <a:ext cx="1828800" cy="3571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1219200" y="3409950"/>
            <a:ext cx="2971800" cy="833437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0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8"/>
          </p:nvPr>
        </p:nvSpPr>
        <p:spPr>
          <a:xfrm>
            <a:off x="1219200" y="3181350"/>
            <a:ext cx="1828800" cy="3571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68"/>
          </p:nvPr>
        </p:nvSpPr>
        <p:spPr>
          <a:xfrm>
            <a:off x="1219201" y="3709988"/>
            <a:ext cx="1843230" cy="533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69"/>
          </p:nvPr>
        </p:nvSpPr>
        <p:spPr>
          <a:xfrm>
            <a:off x="2819400" y="3714750"/>
            <a:ext cx="1613026" cy="533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70"/>
          </p:nvPr>
        </p:nvSpPr>
        <p:spPr>
          <a:xfrm>
            <a:off x="1206358" y="3181350"/>
            <a:ext cx="1830387" cy="30003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>
              <a:defRPr sz="1050">
                <a:latin typeface="Mission Gothic Regular" pitchFamily="50" charset="0"/>
              </a:defRPr>
            </a:lvl2pPr>
            <a:lvl3pPr>
              <a:defRPr sz="1050">
                <a:latin typeface="Mission Gothic Regular" pitchFamily="50" charset="0"/>
              </a:defRPr>
            </a:lvl3pPr>
            <a:lvl4pPr>
              <a:defRPr sz="1050">
                <a:latin typeface="Mission Gothic Regular" pitchFamily="50" charset="0"/>
              </a:defRPr>
            </a:lvl4pPr>
            <a:lvl5pPr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71"/>
          </p:nvPr>
        </p:nvSpPr>
        <p:spPr>
          <a:xfrm>
            <a:off x="1219200" y="3360738"/>
            <a:ext cx="1097280" cy="23177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00">
                <a:solidFill>
                  <a:srgbClr val="7F7F7F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11"/>
          <p:cNvSpPr>
            <a:spLocks noGrp="1"/>
          </p:cNvSpPr>
          <p:nvPr>
            <p:ph type="body" sz="quarter" idx="72"/>
          </p:nvPr>
        </p:nvSpPr>
        <p:spPr>
          <a:xfrm>
            <a:off x="2819400" y="3181350"/>
            <a:ext cx="1601787" cy="30003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>
              <a:defRPr sz="1050">
                <a:latin typeface="Mission Gothic Regular" pitchFamily="50" charset="0"/>
              </a:defRPr>
            </a:lvl2pPr>
            <a:lvl3pPr>
              <a:defRPr sz="1050">
                <a:latin typeface="Mission Gothic Regular" pitchFamily="50" charset="0"/>
              </a:defRPr>
            </a:lvl3pPr>
            <a:lvl4pPr>
              <a:defRPr sz="1050">
                <a:latin typeface="Mission Gothic Regular" pitchFamily="50" charset="0"/>
              </a:defRPr>
            </a:lvl4pPr>
            <a:lvl5pPr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6" name="Text Placeholder 13"/>
          <p:cNvSpPr>
            <a:spLocks noGrp="1"/>
          </p:cNvSpPr>
          <p:nvPr>
            <p:ph type="body" sz="quarter" idx="73"/>
          </p:nvPr>
        </p:nvSpPr>
        <p:spPr>
          <a:xfrm>
            <a:off x="2832242" y="3360738"/>
            <a:ext cx="1097280" cy="23177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00">
                <a:solidFill>
                  <a:srgbClr val="7F7F7F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74"/>
          </p:nvPr>
        </p:nvSpPr>
        <p:spPr>
          <a:xfrm>
            <a:off x="4419600" y="3714750"/>
            <a:ext cx="1675229" cy="533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/>
          <p:cNvSpPr>
            <a:spLocks noGrp="1"/>
          </p:cNvSpPr>
          <p:nvPr>
            <p:ph type="body" sz="quarter" idx="75"/>
          </p:nvPr>
        </p:nvSpPr>
        <p:spPr>
          <a:xfrm>
            <a:off x="4419600" y="3181350"/>
            <a:ext cx="1663557" cy="30003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>
              <a:defRPr sz="1050">
                <a:latin typeface="Mission Gothic Regular" pitchFamily="50" charset="0"/>
              </a:defRPr>
            </a:lvl2pPr>
            <a:lvl3pPr>
              <a:defRPr sz="1050">
                <a:latin typeface="Mission Gothic Regular" pitchFamily="50" charset="0"/>
              </a:defRPr>
            </a:lvl3pPr>
            <a:lvl4pPr>
              <a:defRPr sz="1050">
                <a:latin typeface="Mission Gothic Regular" pitchFamily="50" charset="0"/>
              </a:defRPr>
            </a:lvl4pPr>
            <a:lvl5pPr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0" name="Text Placeholder 13"/>
          <p:cNvSpPr>
            <a:spLocks noGrp="1"/>
          </p:cNvSpPr>
          <p:nvPr>
            <p:ph type="body" sz="quarter" idx="76"/>
          </p:nvPr>
        </p:nvSpPr>
        <p:spPr>
          <a:xfrm>
            <a:off x="4432442" y="3360738"/>
            <a:ext cx="1097280" cy="23177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00">
                <a:solidFill>
                  <a:srgbClr val="7F7F7F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77"/>
          </p:nvPr>
        </p:nvSpPr>
        <p:spPr>
          <a:xfrm>
            <a:off x="5943600" y="3714750"/>
            <a:ext cx="1751964" cy="533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78"/>
          </p:nvPr>
        </p:nvSpPr>
        <p:spPr>
          <a:xfrm>
            <a:off x="5943600" y="3181350"/>
            <a:ext cx="1739757" cy="30003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>
              <a:defRPr sz="1050">
                <a:latin typeface="Mission Gothic Regular" pitchFamily="50" charset="0"/>
              </a:defRPr>
            </a:lvl2pPr>
            <a:lvl3pPr>
              <a:defRPr sz="1050">
                <a:latin typeface="Mission Gothic Regular" pitchFamily="50" charset="0"/>
              </a:defRPr>
            </a:lvl3pPr>
            <a:lvl4pPr>
              <a:defRPr sz="1050">
                <a:latin typeface="Mission Gothic Regular" pitchFamily="50" charset="0"/>
              </a:defRPr>
            </a:lvl4pPr>
            <a:lvl5pPr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3" name="Text Placeholder 13"/>
          <p:cNvSpPr>
            <a:spLocks noGrp="1"/>
          </p:cNvSpPr>
          <p:nvPr>
            <p:ph type="body" sz="quarter" idx="79"/>
          </p:nvPr>
        </p:nvSpPr>
        <p:spPr>
          <a:xfrm>
            <a:off x="5956442" y="3360738"/>
            <a:ext cx="1097280" cy="23177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00">
                <a:solidFill>
                  <a:srgbClr val="7F7F7F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80"/>
          </p:nvPr>
        </p:nvSpPr>
        <p:spPr>
          <a:xfrm>
            <a:off x="1295400" y="1581150"/>
            <a:ext cx="1600200" cy="144780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81"/>
          </p:nvPr>
        </p:nvSpPr>
        <p:spPr>
          <a:xfrm>
            <a:off x="2895600" y="1581150"/>
            <a:ext cx="1600200" cy="1447800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82"/>
          </p:nvPr>
        </p:nvSpPr>
        <p:spPr>
          <a:xfrm>
            <a:off x="4495800" y="1581150"/>
            <a:ext cx="1600200" cy="1447800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4"/>
          <p:cNvSpPr>
            <a:spLocks noGrp="1"/>
          </p:cNvSpPr>
          <p:nvPr>
            <p:ph type="pic" sz="quarter" idx="83"/>
          </p:nvPr>
        </p:nvSpPr>
        <p:spPr>
          <a:xfrm>
            <a:off x="6096000" y="1581150"/>
            <a:ext cx="1600200" cy="14478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44557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80"/>
          </p:nvPr>
        </p:nvSpPr>
        <p:spPr>
          <a:xfrm>
            <a:off x="0" y="1504950"/>
            <a:ext cx="9144000" cy="363855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97794"/>
            <a:ext cx="4038600" cy="292655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7F7F7F"/>
                </a:solidFill>
              </a:defRPr>
            </a:lvl1pPr>
            <a:lvl2pPr>
              <a:defRPr sz="1400">
                <a:solidFill>
                  <a:srgbClr val="7F7F7F"/>
                </a:solidFill>
              </a:defRPr>
            </a:lvl2pPr>
            <a:lvl3pPr>
              <a:defRPr sz="1200">
                <a:solidFill>
                  <a:srgbClr val="7F7F7F"/>
                </a:solidFill>
              </a:defRPr>
            </a:lvl3pPr>
            <a:lvl4pPr>
              <a:defRPr sz="1100">
                <a:solidFill>
                  <a:srgbClr val="7F7F7F"/>
                </a:solidFill>
              </a:defRPr>
            </a:lvl4pPr>
            <a:lvl5pPr>
              <a:defRPr sz="1100">
                <a:solidFill>
                  <a:srgbClr val="7F7F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794"/>
            <a:ext cx="4038600" cy="292655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7F7F7F"/>
                </a:solidFill>
              </a:defRPr>
            </a:lvl1pPr>
            <a:lvl2pPr>
              <a:defRPr sz="1400">
                <a:solidFill>
                  <a:srgbClr val="7F7F7F"/>
                </a:solidFill>
              </a:defRPr>
            </a:lvl2pPr>
            <a:lvl3pPr>
              <a:defRPr sz="1200">
                <a:solidFill>
                  <a:srgbClr val="7F7F7F"/>
                </a:solidFill>
              </a:defRPr>
            </a:lvl3pPr>
            <a:lvl4pPr>
              <a:defRPr sz="1100">
                <a:solidFill>
                  <a:srgbClr val="7F7F7F"/>
                </a:solidFill>
              </a:defRPr>
            </a:lvl4pPr>
            <a:lvl5pPr>
              <a:defRPr sz="1100">
                <a:solidFill>
                  <a:srgbClr val="7F7F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928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solidFill>
                  <a:srgbClr val="7F7F7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09750"/>
            <a:ext cx="4040188" cy="278487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7F7F7F"/>
                </a:solidFill>
              </a:defRPr>
            </a:lvl1pPr>
            <a:lvl2pPr>
              <a:defRPr sz="1200">
                <a:solidFill>
                  <a:srgbClr val="7F7F7F"/>
                </a:solidFill>
              </a:defRPr>
            </a:lvl2pPr>
            <a:lvl3pPr>
              <a:defRPr sz="1100">
                <a:solidFill>
                  <a:srgbClr val="7F7F7F"/>
                </a:solidFill>
              </a:defRPr>
            </a:lvl3pPr>
            <a:lvl4pPr>
              <a:defRPr sz="1050">
                <a:solidFill>
                  <a:srgbClr val="7F7F7F"/>
                </a:solidFill>
              </a:defRPr>
            </a:lvl4pPr>
            <a:lvl5pPr>
              <a:defRPr sz="1050">
                <a:solidFill>
                  <a:srgbClr val="7F7F7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329928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solidFill>
                  <a:srgbClr val="7F7F7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809750"/>
            <a:ext cx="4041775" cy="278487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7F7F7F"/>
                </a:solidFill>
              </a:defRPr>
            </a:lvl1pPr>
            <a:lvl2pPr>
              <a:defRPr sz="1200">
                <a:solidFill>
                  <a:srgbClr val="7F7F7F"/>
                </a:solidFill>
              </a:defRPr>
            </a:lvl2pPr>
            <a:lvl3pPr>
              <a:defRPr sz="1100">
                <a:solidFill>
                  <a:srgbClr val="7F7F7F"/>
                </a:solidFill>
              </a:defRPr>
            </a:lvl3pPr>
            <a:lvl4pPr>
              <a:defRPr sz="1050">
                <a:solidFill>
                  <a:srgbClr val="7F7F7F"/>
                </a:solidFill>
              </a:defRPr>
            </a:lvl4pPr>
            <a:lvl5pPr>
              <a:defRPr sz="1050">
                <a:solidFill>
                  <a:srgbClr val="7F7F7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AD mo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18" name="Picture 17" descr="iPad-Retina-Display-Mockup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295400"/>
            <a:ext cx="2552878" cy="3562350"/>
          </a:xfrm>
          <a:prstGeom prst="rect">
            <a:avLst/>
          </a:prstGeom>
        </p:spPr>
      </p:pic>
      <p:sp>
        <p:nvSpPr>
          <p:cNvPr id="19" name="Picture Placeholder 20"/>
          <p:cNvSpPr>
            <a:spLocks noGrp="1"/>
          </p:cNvSpPr>
          <p:nvPr>
            <p:ph type="pic" sz="quarter" idx="25"/>
          </p:nvPr>
        </p:nvSpPr>
        <p:spPr>
          <a:xfrm>
            <a:off x="3505200" y="1676400"/>
            <a:ext cx="1956816" cy="24193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PAD mo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371600" y="2190750"/>
            <a:ext cx="2667000" cy="685800"/>
          </a:xfrm>
          <a:prstGeom prst="rect">
            <a:avLst/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371600" y="2876550"/>
            <a:ext cx="2667000" cy="685800"/>
          </a:xfrm>
          <a:prstGeom prst="rect">
            <a:avLst/>
          </a:prstGeom>
          <a:solidFill>
            <a:srgbClr val="48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18" name="Picture 17" descr="iPad-Retina-Display-Mockup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295400"/>
            <a:ext cx="2552878" cy="3562350"/>
          </a:xfrm>
          <a:prstGeom prst="rect">
            <a:avLst/>
          </a:prstGeom>
        </p:spPr>
      </p:pic>
      <p:sp>
        <p:nvSpPr>
          <p:cNvPr id="19" name="Picture Placeholder 20"/>
          <p:cNvSpPr>
            <a:spLocks noGrp="1"/>
          </p:cNvSpPr>
          <p:nvPr>
            <p:ph type="pic" sz="quarter" idx="25"/>
          </p:nvPr>
        </p:nvSpPr>
        <p:spPr>
          <a:xfrm>
            <a:off x="3505200" y="1676400"/>
            <a:ext cx="1956816" cy="24193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PAD mo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295400" y="2876550"/>
            <a:ext cx="6324600" cy="685800"/>
          </a:xfrm>
          <a:prstGeom prst="rect">
            <a:avLst/>
          </a:prstGeom>
          <a:solidFill>
            <a:srgbClr val="48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295400" y="2190750"/>
            <a:ext cx="6324600" cy="685800"/>
          </a:xfrm>
          <a:prstGeom prst="rect">
            <a:avLst/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iPad-Retina-Display-Mockup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295400"/>
            <a:ext cx="2552878" cy="3562350"/>
          </a:xfrm>
          <a:prstGeom prst="rect">
            <a:avLst/>
          </a:prstGeom>
        </p:spPr>
      </p:pic>
      <p:sp>
        <p:nvSpPr>
          <p:cNvPr id="17" name="Picture Placeholder 20"/>
          <p:cNvSpPr>
            <a:spLocks noGrp="1"/>
          </p:cNvSpPr>
          <p:nvPr>
            <p:ph type="pic" sz="quarter" idx="25"/>
          </p:nvPr>
        </p:nvSpPr>
        <p:spPr>
          <a:xfrm>
            <a:off x="3505200" y="1676400"/>
            <a:ext cx="1956816" cy="24193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AD mockup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762000" y="2038350"/>
            <a:ext cx="3429000" cy="990600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3pPr>
            <a:lvl4pPr marL="13716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4pPr>
            <a:lvl5pPr marL="18288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6"/>
          </p:nvPr>
        </p:nvSpPr>
        <p:spPr>
          <a:xfrm>
            <a:off x="762000" y="1809750"/>
            <a:ext cx="2286000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 i="0">
                <a:solidFill>
                  <a:srgbClr val="1399EE"/>
                </a:solidFill>
                <a:latin typeface="Glegoo"/>
                <a:ea typeface="Calibri" panose="020F0502020204030204"/>
                <a:cs typeface="Glegoo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100"/>
            </a:lvl3pPr>
            <a:lvl4pPr marL="1371600" indent="0">
              <a:buFontTx/>
              <a:buNone/>
              <a:defRPr sz="1100"/>
            </a:lvl4pPr>
            <a:lvl5pPr marL="1828800" indent="0">
              <a:buFontTx/>
              <a:buNone/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20" name="Picture 19" descr="iPad-Retina-Display-Mockup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352550"/>
            <a:ext cx="2552878" cy="3562350"/>
          </a:xfrm>
          <a:prstGeom prst="rect">
            <a:avLst/>
          </a:prstGeom>
        </p:spPr>
      </p:pic>
      <p:sp>
        <p:nvSpPr>
          <p:cNvPr id="22" name="Picture Placeholder 20"/>
          <p:cNvSpPr>
            <a:spLocks noGrp="1"/>
          </p:cNvSpPr>
          <p:nvPr>
            <p:ph type="pic" sz="quarter" idx="31"/>
          </p:nvPr>
        </p:nvSpPr>
        <p:spPr>
          <a:xfrm>
            <a:off x="5410200" y="1733550"/>
            <a:ext cx="1956816" cy="24193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 mo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1809750"/>
            <a:ext cx="9144000" cy="1524000"/>
          </a:xfrm>
          <a:prstGeom prst="rect">
            <a:avLst/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828800" y="3325812"/>
            <a:ext cx="2362200" cy="38417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3pPr>
            <a:lvl4pPr marL="13716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4pPr>
            <a:lvl5pPr marL="18288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828800" y="3859212"/>
            <a:ext cx="2590800" cy="46513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rgbClr val="7F7F7F"/>
                </a:solidFill>
                <a:latin typeface="Calibri" panose="020F0502020204030204"/>
              </a:defRPr>
            </a:lvl1pPr>
            <a:lvl2pPr marL="4572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 marL="9144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 marL="13716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 marL="18288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1143000" y="2208212"/>
            <a:ext cx="3429000" cy="10414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050">
                <a:solidFill>
                  <a:schemeClr val="bg1"/>
                </a:solidFill>
                <a:latin typeface="Calibri" panose="020F0502020204030204"/>
              </a:defRPr>
            </a:lvl1pPr>
            <a:lvl2pPr marL="4572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 marL="9144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 marL="13716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 marL="1828800" indent="0">
              <a:buFontTx/>
              <a:buNone/>
              <a:defRPr sz="1050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7"/>
          </p:nvPr>
        </p:nvSpPr>
        <p:spPr>
          <a:xfrm>
            <a:off x="1143000" y="1954212"/>
            <a:ext cx="2362200" cy="3571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  <a:latin typeface="Glegoo"/>
              </a:defRPr>
            </a:lvl1pPr>
            <a:lvl2pPr marL="457200" indent="0">
              <a:buFontTx/>
              <a:buNone/>
              <a:defRPr sz="1100">
                <a:solidFill>
                  <a:srgbClr val="424C53"/>
                </a:solidFill>
              </a:defRPr>
            </a:lvl2pPr>
            <a:lvl3pPr marL="914400" indent="0">
              <a:buFontTx/>
              <a:buNone/>
              <a:defRPr sz="1100">
                <a:solidFill>
                  <a:srgbClr val="424C53"/>
                </a:solidFill>
              </a:defRPr>
            </a:lvl3pPr>
            <a:lvl4pPr marL="1371600" indent="0">
              <a:buFontTx/>
              <a:buNone/>
              <a:defRPr sz="1100">
                <a:solidFill>
                  <a:srgbClr val="424C53"/>
                </a:solidFill>
              </a:defRPr>
            </a:lvl4pPr>
            <a:lvl5pPr marL="1828800" indent="0">
              <a:buFontTx/>
              <a:buNone/>
              <a:defRPr sz="1100">
                <a:solidFill>
                  <a:srgbClr val="424C53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" r="7816"/>
          <a:stretch>
            <a:fillRect/>
          </a:stretch>
        </p:blipFill>
        <p:spPr>
          <a:xfrm>
            <a:off x="4835244" y="1428750"/>
            <a:ext cx="1602039" cy="3352800"/>
          </a:xfrm>
          <a:prstGeom prst="rect">
            <a:avLst/>
          </a:prstGeom>
        </p:spPr>
      </p:pic>
      <p:sp>
        <p:nvSpPr>
          <p:cNvPr id="27" name="Picture Placeholder 19"/>
          <p:cNvSpPr>
            <a:spLocks noGrp="1"/>
          </p:cNvSpPr>
          <p:nvPr>
            <p:ph type="pic" sz="quarter" idx="64"/>
          </p:nvPr>
        </p:nvSpPr>
        <p:spPr>
          <a:xfrm>
            <a:off x="5029200" y="1962150"/>
            <a:ext cx="1247554" cy="2286000"/>
          </a:xfrm>
        </p:spPr>
        <p:txBody>
          <a:bodyPr/>
          <a:lstStyle/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" r="7816"/>
          <a:stretch>
            <a:fillRect/>
          </a:stretch>
        </p:blipFill>
        <p:spPr>
          <a:xfrm>
            <a:off x="6475161" y="1428750"/>
            <a:ext cx="1602039" cy="3352800"/>
          </a:xfrm>
          <a:prstGeom prst="rect">
            <a:avLst/>
          </a:prstGeom>
        </p:spPr>
      </p:pic>
      <p:sp>
        <p:nvSpPr>
          <p:cNvPr id="29" name="Picture Placeholder 19"/>
          <p:cNvSpPr>
            <a:spLocks noGrp="1"/>
          </p:cNvSpPr>
          <p:nvPr>
            <p:ph type="pic" sz="quarter" idx="65"/>
          </p:nvPr>
        </p:nvSpPr>
        <p:spPr>
          <a:xfrm>
            <a:off x="6669117" y="1962150"/>
            <a:ext cx="1247554" cy="2286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24"/>
          </p:nvPr>
        </p:nvSpPr>
        <p:spPr>
          <a:xfrm>
            <a:off x="5334000" y="2244725"/>
            <a:ext cx="2971800" cy="1774825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3pPr>
            <a:lvl4pPr marL="13716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4pPr>
            <a:lvl5pPr marL="18288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25"/>
          </p:nvPr>
        </p:nvSpPr>
        <p:spPr>
          <a:xfrm>
            <a:off x="5334000" y="1962150"/>
            <a:ext cx="2971800" cy="3270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 b="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3pPr>
            <a:lvl4pPr marL="13716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4pPr>
            <a:lvl5pPr marL="1828800" indent="0"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57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8597F"/>
                </a:solidFill>
                <a:latin typeface="Lato Light"/>
                <a:cs typeface="Lato Ligh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057400" y="876300"/>
            <a:ext cx="5029200" cy="32385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200" i="0">
                <a:solidFill>
                  <a:srgbClr val="1399EE"/>
                </a:solidFill>
                <a:latin typeface="Glegoo"/>
                <a:cs typeface="Glegoo"/>
              </a:defRPr>
            </a:lvl1pPr>
            <a:lvl2pPr marL="457200" indent="0">
              <a:buFontTx/>
              <a:buNone/>
              <a:defRPr sz="1050">
                <a:latin typeface="Mission Gothic Regular" pitchFamily="50" charset="0"/>
              </a:defRPr>
            </a:lvl2pPr>
            <a:lvl3pPr marL="914400" indent="0">
              <a:buFontTx/>
              <a:buNone/>
              <a:defRPr sz="1050">
                <a:latin typeface="Mission Gothic Regular" pitchFamily="50" charset="0"/>
              </a:defRPr>
            </a:lvl3pPr>
            <a:lvl4pPr marL="1371600" indent="0">
              <a:buFontTx/>
              <a:buNone/>
              <a:defRPr sz="1050">
                <a:latin typeface="Mission Gothic Regular" pitchFamily="50" charset="0"/>
              </a:defRPr>
            </a:lvl4pPr>
            <a:lvl5pPr marL="1828800" indent="0">
              <a:buFontTx/>
              <a:buNone/>
              <a:defRPr sz="1050">
                <a:latin typeface="Mission Gothic Regular" pitchFamily="50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5DF95-D547-449A-B910-FD2F068A3269}" type="slidenum">
              <a:rPr lang="zh-CN" altLang="en-US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8308BB81-E06D-4CFA-8606-DC43D0B3B4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B9D-7E05-4153-8E42-B9B24BEDCC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71CB94C5-14CB-487D-A19E-35A6782697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C4D0-06CB-405D-A570-FCBB4E8A3C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8" Type="http://schemas.openxmlformats.org/officeDocument/2006/relationships/theme" Target="../theme/theme1.xml"/><Relationship Id="rId37" Type="http://schemas.openxmlformats.org/officeDocument/2006/relationships/image" Target="../media/image2.png"/><Relationship Id="rId36" Type="http://schemas.openxmlformats.org/officeDocument/2006/relationships/image" Target="../media/image1.jpeg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k.jpg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6351"/>
            <a:ext cx="8229600" cy="31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14" name="Pie 13"/>
          <p:cNvSpPr/>
          <p:nvPr userDrawn="1"/>
        </p:nvSpPr>
        <p:spPr>
          <a:xfrm flipH="1" flipV="1">
            <a:off x="4252913" y="4824413"/>
            <a:ext cx="638174" cy="638174"/>
          </a:xfrm>
          <a:prstGeom prst="pie">
            <a:avLst>
              <a:gd name="adj1" fmla="val 0"/>
              <a:gd name="adj2" fmla="val 10782358"/>
            </a:avLst>
          </a:prstGeom>
          <a:solidFill>
            <a:srgbClr val="139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1500" y="4868863"/>
            <a:ext cx="381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latin typeface="Glegoo"/>
                <a:cs typeface="Glegoo"/>
              </a:defRPr>
            </a:lvl1pPr>
          </a:lstStyle>
          <a:p>
            <a:fld id="{4F30D5C1-D155-2E40-A967-511B3BD0F2AE}" type="slidenum">
              <a:rPr lang="en-US" smtClean="0"/>
            </a:fld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6755130" y="0"/>
            <a:ext cx="2388870" cy="6521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2800" b="0" i="0" kern="1200">
          <a:solidFill>
            <a:srgbClr val="48597F"/>
          </a:solidFill>
          <a:effectLst/>
          <a:latin typeface="Lato Light"/>
          <a:ea typeface="Calibri" panose="020F0502020204030204"/>
          <a:cs typeface="Lato Light"/>
        </a:defRPr>
      </a:lvl1pPr>
    </p:titleStyle>
    <p:bodyStyle>
      <a:lvl1pPr marL="342900" indent="-342900" algn="l" defTabSz="914400" rtl="0" eaLnBrk="1" latinLnBrk="0" hangingPunct="1">
        <a:lnSpc>
          <a:spcPts val="182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/>
          <a:ea typeface="+mn-ea"/>
          <a:cs typeface="Calibri" panose="020F0502020204030204"/>
        </a:defRPr>
      </a:lvl1pPr>
      <a:lvl2pPr marL="742950" indent="-285750" algn="l" defTabSz="914400" rtl="0" eaLnBrk="1" latinLnBrk="0" hangingPunct="1">
        <a:lnSpc>
          <a:spcPts val="182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Calibri" panose="020F0502020204030204"/>
          <a:ea typeface="+mn-ea"/>
          <a:cs typeface="Calibri" panose="020F0502020204030204"/>
        </a:defRPr>
      </a:lvl2pPr>
      <a:lvl3pPr marL="1143000" indent="-228600" algn="l" defTabSz="914400" rtl="0" eaLnBrk="1" latinLnBrk="0" hangingPunct="1">
        <a:lnSpc>
          <a:spcPts val="182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Calibri" panose="020F0502020204030204"/>
          <a:ea typeface="+mn-ea"/>
          <a:cs typeface="Calibri" panose="020F0502020204030204"/>
        </a:defRPr>
      </a:lvl3pPr>
      <a:lvl4pPr marL="1600200" indent="-228600" algn="l" defTabSz="914400" rtl="0" eaLnBrk="1" latinLnBrk="0" hangingPunct="1">
        <a:lnSpc>
          <a:spcPts val="1820"/>
        </a:lnSpc>
        <a:spcBef>
          <a:spcPts val="0"/>
        </a:spcBef>
        <a:buFont typeface="Arial" panose="020B0604020202020204" pitchFamily="34" charset="0"/>
        <a:buChar char="–"/>
        <a:defRPr sz="1100" kern="1200">
          <a:solidFill>
            <a:schemeClr val="tx1">
              <a:lumMod val="65000"/>
              <a:lumOff val="35000"/>
            </a:schemeClr>
          </a:solidFill>
          <a:latin typeface="Calibri" panose="020F0502020204030204"/>
          <a:ea typeface="+mn-ea"/>
          <a:cs typeface="Calibri" panose="020F0502020204030204"/>
        </a:defRPr>
      </a:lvl4pPr>
      <a:lvl5pPr marL="2057400" indent="-228600" algn="l" defTabSz="914400" rtl="0" eaLnBrk="1" latinLnBrk="0" hangingPunct="1">
        <a:lnSpc>
          <a:spcPts val="1820"/>
        </a:lnSpc>
        <a:spcBef>
          <a:spcPts val="0"/>
        </a:spcBef>
        <a:buFont typeface="Arial" panose="020B0604020202020204" pitchFamily="34" charset="0"/>
        <a:buChar char="»"/>
        <a:defRPr sz="1100" kern="1200">
          <a:solidFill>
            <a:schemeClr val="tx1">
              <a:lumMod val="65000"/>
              <a:lumOff val="35000"/>
            </a:schemeClr>
          </a:solidFill>
          <a:latin typeface="Calibri" panose="020F0502020204030204"/>
          <a:ea typeface="+mn-ea"/>
          <a:cs typeface="Calibri" panose="020F050202020403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3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6.png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981200" y="2726055"/>
            <a:ext cx="5692775" cy="6076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Arial" panose="020B0604020202020204" pitchFamily="34" charset="0"/>
              <a:defRPr/>
            </a:pPr>
            <a:endParaRPr lang="zh-CN" altLang="zh-CN" sz="2800" b="1" dirty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4" name="直接连接符 83"/>
          <p:cNvCxnSpPr/>
          <p:nvPr/>
        </p:nvCxnSpPr>
        <p:spPr>
          <a:xfrm>
            <a:off x="965835" y="2613660"/>
            <a:ext cx="7620000" cy="0"/>
          </a:xfrm>
          <a:prstGeom prst="line">
            <a:avLst/>
          </a:prstGeom>
          <a:ln w="76200" cmpd="sng">
            <a:solidFill>
              <a:srgbClr val="1399EE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-840740" y="1657350"/>
            <a:ext cx="8933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 algn="dist"/>
            <a:r>
              <a:rPr lang="zh-CN" altLang="zh-CN" sz="6000" b="1" dirty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血尿便常规解读</a:t>
            </a:r>
            <a:endParaRPr lang="zh-CN" altLang="zh-CN" sz="6000" b="1" dirty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" name="图片 1" descr="微信图片_20190827114529"/>
          <p:cNvPicPr>
            <a:picLocks noChangeAspect="1"/>
          </p:cNvPicPr>
          <p:nvPr/>
        </p:nvPicPr>
        <p:blipFill>
          <a:blip r:embed="rId1"/>
          <a:srcRect l="2093" t="2317" r="949" b="3721"/>
          <a:stretch>
            <a:fillRect/>
          </a:stretch>
        </p:blipFill>
        <p:spPr>
          <a:xfrm>
            <a:off x="147955" y="47625"/>
            <a:ext cx="1606550" cy="1618615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10" y="-9525"/>
            <a:ext cx="5349875" cy="685800"/>
          </a:xfrm>
          <a:prstGeom prst="rect">
            <a:avLst/>
          </a:prstGeom>
        </p:spPr>
      </p:pic>
      <p:pic>
        <p:nvPicPr>
          <p:cNvPr id="4" name="图片 3" descr="微信图片_20190918115221"/>
          <p:cNvPicPr>
            <a:picLocks noChangeAspect="1"/>
          </p:cNvPicPr>
          <p:nvPr/>
        </p:nvPicPr>
        <p:blipFill>
          <a:blip r:embed="rId3"/>
          <a:srcRect b="1791"/>
          <a:stretch>
            <a:fillRect/>
          </a:stretch>
        </p:blipFill>
        <p:spPr>
          <a:xfrm>
            <a:off x="1760855" y="47625"/>
            <a:ext cx="1637030" cy="1618615"/>
          </a:xfrm>
          <a:prstGeom prst="ellipse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857250"/>
          </a:xfrm>
        </p:spPr>
        <p:txBody>
          <a:bodyPr/>
          <a:lstStyle/>
          <a:p>
            <a:r>
              <a:rPr lang="zh-CN" altLang="en-US" sz="3200" b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</a:rPr>
              <a:t>血常规</a:t>
            </a:r>
            <a:endParaRPr lang="zh-CN" altLang="en-US" sz="3200" b="1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73100" y="857250"/>
            <a:ext cx="7411085" cy="3428365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/>
              <a:t>         </a:t>
            </a:r>
            <a:r>
              <a:rPr lang="zh-CN" altLang="en-US" sz="2000" b="1"/>
              <a:t>血液的规检查是对</a:t>
            </a:r>
            <a:r>
              <a:rPr lang="zh-CN" altLang="en-US" sz="2000" b="1">
                <a:solidFill>
                  <a:srgbClr val="FF0000"/>
                </a:solidFill>
              </a:rPr>
              <a:t>血液中的有形成分</a:t>
            </a:r>
            <a:r>
              <a:rPr lang="zh-CN" altLang="en-US" sz="2000" b="1"/>
              <a:t>（</a:t>
            </a:r>
            <a:r>
              <a:rPr lang="zh-CN" altLang="en-US" sz="2000" b="1">
                <a:solidFill>
                  <a:srgbClr val="2B1DE3"/>
                </a:solidFill>
              </a:rPr>
              <a:t>红细胞、白细胞和血小板</a:t>
            </a:r>
            <a:r>
              <a:rPr lang="zh-CN" altLang="en-US" sz="2000" b="1"/>
              <a:t>)</a:t>
            </a:r>
            <a:r>
              <a:rPr lang="zh-CN" altLang="en-US" sz="2000" b="1">
                <a:solidFill>
                  <a:srgbClr val="FF0000"/>
                </a:solidFill>
              </a:rPr>
              <a:t>的数量和质量</a:t>
            </a:r>
            <a:r>
              <a:rPr lang="zh-CN" altLang="en-US" sz="2000" b="1"/>
              <a:t>进行检测。</a:t>
            </a:r>
            <a:endParaRPr lang="zh-CN" altLang="en-US" sz="2000" b="1"/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/>
              <a:t>        近年来由于血液学分析仪器的广泛应用，血液常规检测的项目增多包括</a:t>
            </a:r>
            <a:r>
              <a:rPr lang="zh-CN" altLang="en-US" sz="2000" b="1">
                <a:solidFill>
                  <a:srgbClr val="2B1DE3"/>
                </a:solidFill>
              </a:rPr>
              <a:t>红细胞平均值测定和红细胞形态检测；外周白细胞形态变化；血小板平均值测定和血小板形态检测。</a:t>
            </a:r>
            <a:endParaRPr lang="zh-CN" altLang="en-US" sz="2000" b="1">
              <a:solidFill>
                <a:srgbClr val="2B1DE3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63970" y="3331845"/>
            <a:ext cx="2367280" cy="1471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565" y="215900"/>
            <a:ext cx="8229600" cy="857250"/>
          </a:xfrm>
        </p:spPr>
        <p:txBody>
          <a:bodyPr/>
          <a:lstStyle/>
          <a:p>
            <a:r>
              <a:rPr lang="zh-CN" altLang="en-US" sz="3200" b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血常规</a:t>
            </a:r>
            <a:endParaRPr lang="zh-CN" altLang="en-US" sz="3200" b="1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44725" y="1111250"/>
            <a:ext cx="4653915" cy="3437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835" y="22860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972945"/>
            <a:ext cx="7144385" cy="23634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7750" y="1085850"/>
            <a:ext cx="68764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（一） 红细胞计数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（Red Blood Cell Count, RBC）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及</a:t>
            </a:r>
            <a:endParaRPr lang="en-US" altLang="zh-CN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血红蛋白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（Hemoglobin Concentration, Hb）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测定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1073150"/>
            <a:ext cx="8015605" cy="3086735"/>
          </a:xfrm>
        </p:spPr>
        <p:txBody>
          <a:bodyPr>
            <a:noAutofit/>
          </a:bodyPr>
          <a:lstStyle/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出生以后婴儿建立肺循环，血红蛋白合成减少：</a:t>
            </a:r>
            <a:endParaRPr lang="zh-CN" altLang="en-US"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3~7周：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红细胞数下降至3×10</a:t>
            </a:r>
            <a:r>
              <a:rPr lang="zh-CN" altLang="en-US" sz="2000" b="1" baseline="30000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/L，血红蛋白降至70~90g/L；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6个月~6岁：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红细胞数又缓慢升为4×10</a:t>
            </a:r>
            <a:r>
              <a:rPr lang="zh-CN" altLang="en-US" sz="2000" b="1" baseline="30000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/L，血红蛋白也升为105~140g/L，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6岁到12岁：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红细胞数和血红蛋白才</a:t>
            </a:r>
            <a:r>
              <a:rPr lang="zh-CN" altLang="en-US" sz="20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达到成人水平。</a:t>
            </a:r>
            <a:endParaRPr lang="zh-CN" altLang="en-US" sz="2000" b="1" dirty="0">
              <a:solidFill>
                <a:srgbClr val="2B1D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835" y="228600"/>
            <a:ext cx="8229600" cy="857250"/>
          </a:xfrm>
        </p:spPr>
        <p:txBody>
          <a:bodyPr/>
          <a:lstStyle/>
          <a:p>
            <a:r>
              <a:rPr lang="zh-CN" altLang="en-US" sz="3200" b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1073150"/>
            <a:ext cx="8015605" cy="3784600"/>
          </a:xfrm>
        </p:spPr>
        <p:txBody>
          <a:bodyPr>
            <a:noAutofit/>
          </a:bodyPr>
          <a:lstStyle/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红细胞及血红蛋白增多</a:t>
            </a:r>
            <a:endParaRPr lang="zh-CN" altLang="en-US"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相对性增多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lang="zh-CN" altLang="en-US" sz="20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血浆容量减少，使红细胞容量相对增加。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见于严重呕吐、</a:t>
            </a:r>
            <a:endParaRPr lang="en-US" altLang="zh-CN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腹泻、大量出汗、大面积烧伤、慢性肾上腺皮质功能减退、</a:t>
            </a:r>
            <a:endParaRPr lang="en-US" altLang="zh-CN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尿崩症、甲状腺功能亢进危象、糖尿病酮症酸中毒。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绝对性增多（红细胞增多症）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835" y="22860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62000" y="1003935"/>
            <a:ext cx="7924800" cy="3472815"/>
          </a:xfrm>
        </p:spPr>
        <p:txBody>
          <a:bodyPr>
            <a:noAutofit/>
          </a:bodyPr>
          <a:lstStyle/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红细胞及血红蛋白减少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生理性减少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婴幼儿及 15 岁以前的儿童，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红细胞及血红蛋白一般比正</a:t>
            </a:r>
            <a:endParaRPr lang="en-US" altLang="zh-CN" sz="20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常成人低10</a:t>
            </a:r>
            <a:r>
              <a:rPr lang="en-US" altLang="zh-CN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%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~20</a:t>
            </a:r>
            <a:r>
              <a:rPr lang="en-US" altLang="zh-CN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%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部分老年人，妊娠中、晚期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可使红细胞数及血红蛋白减少；</a:t>
            </a:r>
            <a:endParaRPr lang="en-US" altLang="zh-CN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病理性减少（见于各种贫血）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457200" y="16510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971550"/>
            <a:ext cx="8015605" cy="37642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（二） 红细胞比容（ HCT）又称红细胞压积（PCV）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正常参考值范围（单位L/L） 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fontAlgn="auto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微量法 男性0.42~0.52 ；女性0.37~0.48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HCT可反映红细胞的增多或减少，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但受血浆容量改变的影响，同时也受红细胞体积大小的影响。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临床上测定脱水病人的HCT，作为计算补液量的参考。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1009650"/>
            <a:ext cx="8015605" cy="37642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（三）红细胞平均指数（MCV、MCH、MCHC）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•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红细胞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平均容积（ MCV ）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•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红细胞平均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血红蛋白量（ MCH ）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•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红细胞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平均血红蛋白浓度（MCHC）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MCV、MCH、MCHC可从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不同方面反映红细胞的病理变化。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有利于分析病人红细胞形态特征，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进行贫血分类、诊断和鉴别诊断。</a:t>
            </a:r>
            <a:endParaRPr lang="zh-CN" altLang="en-US" sz="20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7200" y="1143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3595" y="3660775"/>
            <a:ext cx="8015605" cy="1129665"/>
          </a:xfrm>
        </p:spPr>
        <p:txBody>
          <a:bodyPr>
            <a:noAutofit/>
          </a:bodyPr>
          <a:lstStyle/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典型的形态学改变有助于贫血的诊断与鉴别诊断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，但形态学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分类也有一定的局限性。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901700"/>
            <a:ext cx="6121400" cy="287972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一、红细胞检查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Times New Roman" panose="02020603050405020304" pitchFamily="18" charset="0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85875" y="812800"/>
            <a:ext cx="68370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48597E"/>
                </a:solidFill>
                <a:sym typeface="+mn-ea"/>
              </a:rPr>
              <a:t>健康人群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白细胞计数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（White Blood Cell count, WBC）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852930" y="1431925"/>
          <a:ext cx="5487670" cy="245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950210"/>
              </a:tblGrid>
              <a:tr h="4222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人群</a:t>
                      </a:r>
                      <a:endParaRPr lang="zh-CN" altLang="en-US" sz="20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参考值</a:t>
                      </a:r>
                      <a:endParaRPr lang="zh-CN" altLang="en-US" sz="200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9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成人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4.0~10.0×10</a:t>
                      </a:r>
                      <a:r>
                        <a:rPr lang="zh-CN" altLang="en-US" sz="2000" b="1" baseline="300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/L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新生儿 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15.0~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0.0×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10</a:t>
                      </a:r>
                      <a:r>
                        <a:rPr lang="zh-CN" altLang="en-US" sz="2000" b="1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/L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月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6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.0~</a:t>
                      </a:r>
                      <a:r>
                        <a:rPr 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18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.0×10</a:t>
                      </a:r>
                      <a:r>
                        <a:rPr lang="zh-CN" altLang="en-US" sz="2000" b="1" baseline="300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/L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39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6个月~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6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岁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6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.0~1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.0 ×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10</a:t>
                      </a:r>
                      <a:r>
                        <a:rPr lang="zh-CN" altLang="en-US" sz="2000" b="1" baseline="300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/L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44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岁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~12</a:t>
                      </a:r>
                      <a:r>
                        <a:rPr lang="zh-CN" altLang="en-US" sz="2000" b="1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岁</a:t>
                      </a:r>
                      <a:endParaRPr lang="zh-CN" altLang="en-US" sz="2000" b="1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 4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.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5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~1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.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5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 ×10</a:t>
                      </a:r>
                      <a:r>
                        <a:rPr lang="zh-CN" altLang="en-US" sz="2000" b="1" baseline="300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/L</a:t>
                      </a:r>
                      <a:endParaRPr lang="zh-CN" altLang="en-US" sz="2000" b="1" dirty="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876300"/>
            <a:ext cx="8015605" cy="359410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儿童白细胞的分类：</a:t>
            </a:r>
            <a:endParaRPr lang="zh-CN" altLang="en-US" sz="24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中性粒细胞和淋巴细胞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的变化比较突出：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生后4～6天至4～6岁期间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淋巴细胞占优势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约占60%为主，中性粒细约为30%；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出生后4～6天前和6岁后直至成人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则以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中性粒细胞为优势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，约占65%。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5195" y="790575"/>
            <a:ext cx="8015605" cy="1129665"/>
          </a:xfrm>
        </p:spPr>
        <p:txBody>
          <a:bodyPr>
            <a:noAutofit/>
          </a:bodyPr>
          <a:lstStyle/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白细胞分类计数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（Differential Count, DC）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05" y="1285875"/>
            <a:ext cx="4690110" cy="12852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" y="2495550"/>
            <a:ext cx="6572679" cy="24561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909864"/>
            <a:ext cx="7543799" cy="3841749"/>
          </a:xfrm>
        </p:spPr>
        <p:txBody>
          <a:bodyPr>
            <a:noAutofit/>
          </a:bodyPr>
          <a:lstStyle/>
          <a:p>
            <a:pPr marL="6286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中性粒细胞病理性增多</a:t>
            </a:r>
            <a:endParaRPr lang="zh-CN" altLang="en-US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急性感染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：特别是化脓性球菌(如金黄色葡萄球菌、溶血性链球菌、肺炎链球菌等)感染为最常见的原因；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严重的组织损伤及大量血细胞破坏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：严重外伤，较大手术后，大面积烧伤后12~36h；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急性大出血后1~2h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（特别是内出血时）；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急性中毒：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代谢紊乱所致的代谢性中毒；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白血病、骨髓增殖性疾病及恶性肿瘤；</a:t>
            </a:r>
            <a:endParaRPr lang="zh-CN" altLang="en-US"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762000" y="939800"/>
            <a:ext cx="8077200" cy="3536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742950" indent="-285750" algn="l" defTabSz="914400" rtl="0" eaLnBrk="1" latinLnBrk="0" hangingPunct="1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ea typeface="+mn-ea"/>
                <a:cs typeface="Calibri" panose="020F0502020204030204"/>
              </a:defRPr>
            </a:lvl2pPr>
            <a:lvl3pPr marL="1143000" indent="-228600" algn="l" defTabSz="914400" rtl="0" eaLnBrk="1" latinLnBrk="0" hangingPunct="1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ea typeface="+mn-ea"/>
                <a:cs typeface="Calibri" panose="020F0502020204030204"/>
              </a:defRPr>
            </a:lvl3pPr>
            <a:lvl4pPr marL="1600200" indent="-228600" algn="l" defTabSz="914400" rtl="0" eaLnBrk="1" latinLnBrk="0" hangingPunct="1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ea typeface="+mn-ea"/>
                <a:cs typeface="Calibri" panose="020F0502020204030204"/>
              </a:defRPr>
            </a:lvl4pPr>
            <a:lvl5pPr marL="2057400" indent="-228600" algn="l" defTabSz="914400" rtl="0" eaLnBrk="1" latinLnBrk="0" hangingPunct="1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ea typeface="+mn-ea"/>
                <a:cs typeface="Calibri" panose="020F050202020403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中性粒细胞病理性减少</a:t>
            </a:r>
            <a:endParaRPr lang="zh-CN" altLang="en-US"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• </a:t>
            </a: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感染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（病毒、风疹、伤寒）；</a:t>
            </a:r>
            <a:endParaRPr lang="zh-CN" altLang="en-US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• 血液系统疾病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（再生障碍性贫血、原发粒细胞缺乏症）；</a:t>
            </a:r>
            <a:endParaRPr lang="zh-CN" altLang="en-US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• 物理、化学因素损伤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（放射线、化学物质）；</a:t>
            </a:r>
            <a:endParaRPr lang="zh-CN" altLang="en-US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• 自身免疫性疾病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（系统性红斑狼疮、类风湿性关节炎）；</a:t>
            </a:r>
            <a:endParaRPr lang="en-US" altLang="zh-CN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药物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（解热镇痛药、抗肿瘤药物、抗结核药物）；</a:t>
            </a:r>
            <a:endParaRPr lang="en-US" altLang="zh-CN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2525" y="767080"/>
            <a:ext cx="742061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血小板计数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（Platelet count, PC/PLT）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正常参考值范围：(100.0</a:t>
            </a:r>
            <a:r>
              <a:rPr lang="en-US" altLang="zh-CN" sz="2000" b="1" u="sng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300.0）×10</a:t>
            </a:r>
            <a:r>
              <a:rPr lang="zh-CN" altLang="en-US" sz="2000" b="1" u="sng" baseline="30000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548130"/>
            <a:ext cx="6807200" cy="33851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876300"/>
            <a:ext cx="8015605" cy="314325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血小板平均容积（Mean Platelet Volume, MPV）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u="sng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正常参考值范围：7-11fl</a:t>
            </a:r>
            <a:endParaRPr lang="zh-CN" altLang="en-US" sz="2200" b="1" u="sng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造血功能抑制解除后，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血小板和MPV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增加是造血功能恢复的首要表现。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MPV随血小板而持续下降，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是骨髓造血功能衰竭的指标之一。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876300"/>
            <a:ext cx="8015605" cy="37642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 血小板分布宽度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（Platelet Distribution Width, PDW）</a:t>
            </a:r>
            <a:endParaRPr lang="zh-CN" altLang="en-US" sz="18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正常参考值范围：15%~17%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反映血小板容积大小的离散度，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PDW减少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表明血小板大小均匀。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PDW增高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表明血小板大小悬殊，见于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急性髓系白血病、巨幼细胞贫血、慢性粒细胞白血病、脾切除、血栓性疾病等。</a:t>
            </a:r>
            <a:endParaRPr lang="zh-CN" altLang="en-US" sz="20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825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二、白细胞检查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901700"/>
            <a:ext cx="8015605" cy="36499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尿液是血液经过</a:t>
            </a:r>
            <a:r>
              <a:rPr lang="zh-CN" altLang="en-US" sz="20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肾小球滤过、 肾小管和集合管重吸收和排泌所</a:t>
            </a:r>
            <a:endParaRPr lang="zh-CN" altLang="en-US" sz="2000" b="1" dirty="0">
              <a:solidFill>
                <a:srgbClr val="2B1D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产生的终末代谢产物，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尿液的组成和性状可反映机体的代谢状况，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并受机体各系统功能状态的影响。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尿液一般检测包括：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一般性状检测：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尿量、气味、外观、比重、尿</a:t>
            </a:r>
            <a:r>
              <a:rPr lang="en-US" altLang="zh-CN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化学检测：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尿蛋白、尿糖、尿酮体、尿胆原、尿胆红素等。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尿沉渣(显微镜)检测：</a:t>
            </a: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细胞、管型、结晶体等。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1206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1009650"/>
            <a:ext cx="8015605" cy="37642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48597E"/>
                </a:solidFill>
                <a:latin typeface="+mn-lt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+mj-ea"/>
                <a:cs typeface="Times New Roman" panose="02020603050405020304" pitchFamily="18" charset="0"/>
              </a:rPr>
              <a:t>）一般性状检查</a:t>
            </a:r>
            <a:endParaRPr lang="zh-CN" altLang="en-US" sz="2400" b="1" dirty="0">
              <a:solidFill>
                <a:srgbClr val="48597E"/>
              </a:solidFill>
              <a:latin typeface="+mn-lt"/>
              <a:ea typeface="+mj-ea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、尿量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[参考值] 1000~2000ml／24h（成人）</a:t>
            </a:r>
            <a:endParaRPr lang="zh-CN" altLang="en-US" sz="2200" b="1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多尿：尿量&gt;2500 ml/24h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少尿： 尿量&lt; 400ml/24h或&lt;17ml/h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无尿： 尿量&lt; 100ml/24h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1206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901700"/>
            <a:ext cx="8015605" cy="36499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（一）尿量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u="sng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尿量增多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暂时性多尿：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可见于水摄入过多、应用利尿剂和某些药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物等。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内分泌疾病：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如糖尿病、尿崩症。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肾脏疾病：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慢性肾盂肾炎、慢性肾间质肾炎、慢性肾衰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早期，急性肾衰多尿期等。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1206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195" y="901700"/>
            <a:ext cx="8015605" cy="364998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（一）尿量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200" b="1" u="sng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尿量减少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•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肾前性少尿：</a:t>
            </a: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休克、心衰、脱水及其他引起有效血容量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减少病症可导致肾小球滤过不足而出现少尿。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• 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肾性少尿：</a:t>
            </a: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各种肾脏实质性改变而导致的少尿。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• 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肾后性少尿：</a:t>
            </a: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因结石、尿路狭窄、肿瘤压迫引起尿路梗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阻或排尿功能障碍</a:t>
            </a:r>
            <a:endParaRPr lang="zh-CN" altLang="en-US" sz="22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120650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57200" y="742950"/>
            <a:ext cx="8122285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（二）尿液外观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• 正常新鲜尿液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清澈透明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• 尿液颜色受食物、尿色素、药物等影响， 一般呈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淡黄色至深黄色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/>
        </p:nvSpPr>
        <p:spPr>
          <a:xfrm>
            <a:off x="457200" y="571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731051"/>
            <a:ext cx="6830060" cy="3210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438150"/>
            <a:ext cx="8402955" cy="446214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（三）酸碱反应</a:t>
            </a:r>
            <a:endParaRPr lang="zh-CN" altLang="en-US" sz="22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[参考值] pH 约6.5，波动在4.5~8.0之间。</a:t>
            </a:r>
            <a:endParaRPr lang="zh-CN" altLang="en-US" sz="22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 pH 降低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• 见于</a:t>
            </a:r>
            <a:r>
              <a:rPr lang="zh-CN" altLang="en-US" sz="18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酸中毒、高热、痛风及口服氯化铵、维生素 C等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酸性药物。</a:t>
            </a:r>
            <a:endParaRPr lang="en-US" altLang="zh-CN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• 低钾性碱中毒，由于肾小管分泌</a:t>
            </a:r>
            <a:r>
              <a:rPr lang="en-US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</a:t>
            </a:r>
            <a:r>
              <a:rPr lang="en-US" altLang="zh-CN" sz="1800" b="1" baseline="4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+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增加，尿液呈酸性。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28650" lvl="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 pH 增高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• 见于</a:t>
            </a:r>
            <a:r>
              <a:rPr lang="zh-CN" altLang="en-US" sz="18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碱中毒、尿潴留、尿路感染、应用利尿剂、肾小管性酸中毒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等。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28650" lvl="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药物干预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•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用氯化铵酸化尿液，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可促使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碱性药物中毒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时从尿中排出；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•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用碳酸氢钠碱化尿液，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可促使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酸性药物中毒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时从尿中排出；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58875" y="760730"/>
            <a:ext cx="74206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（四）尿比重（尿比密，SG）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000" b="1" u="sng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u="sng" dirty="0">
                <a:solidFill>
                  <a:srgbClr val="2B1D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[参考值] 1.015~1.025，晨尿最高，一般大于1.020，婴幼儿SG偏低。</a:t>
            </a:r>
            <a:endParaRPr lang="zh-CN" altLang="en-US" b="1" u="sng" dirty="0">
              <a:solidFill>
                <a:srgbClr val="2B1DE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/>
        </p:nvSpPr>
        <p:spPr>
          <a:xfrm>
            <a:off x="457200" y="1206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445" y="1527810"/>
            <a:ext cx="5330825" cy="34029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54610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二、化学检查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尿的化学检验项目很多，常规检测主要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有尿蛋白、糖、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酮体、尿胆红素、尿胆原、尿亚硝酸盐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（一）尿蛋白</a:t>
            </a:r>
            <a:endParaRPr lang="zh-CN" altLang="en-US" sz="2000" b="1" u="sng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[参考值] 尿蛋白定性试验阴性；定量试验 0~80mg／24h。</a:t>
            </a:r>
            <a:endParaRPr lang="zh-CN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lang="zh-CN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尿蛋白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定性试验阳性或定量试验超过150mg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24h尿时，称为蛋白尿。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/>
        </p:nvSpPr>
        <p:spPr>
          <a:xfrm>
            <a:off x="457200" y="10096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786765"/>
            <a:ext cx="6115050" cy="4197985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1828800" y="1599882"/>
            <a:ext cx="3352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因各种肾脏及肾脏外疾病所致的蛋白尿，</a:t>
            </a:r>
            <a:r>
              <a:rPr lang="zh-CN" altLang="en-US" b="1" dirty="0">
                <a:solidFill>
                  <a:srgbClr val="FF0000"/>
                </a:solidFill>
              </a:rPr>
              <a:t>多为持续性蛋白尿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81200" y="3790950"/>
            <a:ext cx="3352800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泌尿系统无器质病变，尿内暂时出现蛋白质，</a:t>
            </a:r>
            <a:r>
              <a:rPr lang="zh-CN" altLang="en-US" b="1" dirty="0">
                <a:solidFill>
                  <a:srgbClr val="FF0000"/>
                </a:solidFill>
              </a:rPr>
              <a:t>程度较轻，持续时间短，诱因解除后消失。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54610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（二）尿糖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[参考值] 尿糖定性试验阴性；定量试验 0.56~5.0mmol／24h尿。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血糖增高性糖尿：</a:t>
            </a:r>
            <a:r>
              <a:rPr lang="zh-CN" altLang="en-US" sz="22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血糖超过肾糖阈为主要原因。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糖尿病</a:t>
            </a: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最为常见。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其他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使血糖升高的内分泌疾病</a:t>
            </a: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，如库欣综合征、甲状腺功能亢进、嗜铬细胞瘤等。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其他：肝硬化、胰腺炎、胰腺癌等。</a:t>
            </a:r>
            <a:endParaRPr lang="zh-CN" altLang="en-US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54610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血糖正常性糖尿：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血糖浓度正常，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肾小管病变导致葡萄糖的重吸收能力降低所致，又称肾性糖尿，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常见于慢性肾炎、肾病综合征、间质性肾炎和家族性糖尿等。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暂时性糖尿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饮食性糖尿病、妊娠糖尿、新生儿糖尿；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应激性糖尿：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见于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颅脑外伤、脑出血、急性心肌梗死时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，肾上腺素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或胰高血糖素分泌过多或延脑血糖中枢受到刺激。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54610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（三）显微镜检查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尿沉渣检测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是对</a:t>
            </a:r>
            <a:r>
              <a:rPr lang="zh-CN" altLang="en-US" sz="2000" b="1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尿液离心沉淀物中有形成分的鉴定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，如细胞、管型、细菌、结晶、真菌、虫卵等。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algn="l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红细胞 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[参考值]玻片法平均 0~3 个</a:t>
            </a:r>
            <a:r>
              <a:rPr lang="en-US" altLang="zh-CN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HP，定量检查 0~5 个μl。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lvl="1"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•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尿沉渣镜检红细胞&gt;3个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HP，称为镜下血尿。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白细胞 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[参考值]玻片法平均 0~5个</a:t>
            </a:r>
            <a:r>
              <a:rPr lang="en-US" altLang="zh-CN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HP，定量检查 0~10 个μl。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lvl="1"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• 若有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大量白细胞，多为泌尿系统感染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如肾盂肾炎、肾结核、膀胱炎或尿道炎。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546100"/>
            <a:ext cx="8402955" cy="4265295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（四）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尿酮体的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检测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体内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糖分解代谢不足时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脂肪分解活跃但氧化不完全可产生大量酮体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，从尿中排出形成酮尿。</a:t>
            </a:r>
            <a:endParaRPr lang="zh-CN" altLang="en-US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糖尿病性酮尿：</a:t>
            </a:r>
            <a:r>
              <a:rPr lang="en-US" altLang="zh-CN" sz="2000" b="1" dirty="0" err="1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常伴有</a:t>
            </a:r>
            <a:r>
              <a:rPr lang="en-US" altLang="zh-CN" sz="2000" b="1" dirty="0" err="1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酮症酸中毒</a:t>
            </a:r>
            <a:r>
              <a:rPr lang="en-US" altLang="zh-CN" sz="2000" b="1" dirty="0" err="1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 err="1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酮尿是糖尿病性昏迷的前期指标</a:t>
            </a:r>
            <a:r>
              <a:rPr lang="en-US" altLang="zh-CN" sz="2000" b="1" dirty="0" err="1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，此时多伴有高糖血症和糖尿</a:t>
            </a:r>
            <a:r>
              <a:rPr lang="en-US" altLang="zh-CN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非糖尿病性酮尿：</a:t>
            </a:r>
            <a:r>
              <a:rPr lang="en-US" altLang="zh-CN" sz="2000" b="1" dirty="0" err="1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高热、严重呕吐、腹泻、长期饥饿、酒精性肝炎、肝硬化等，</a:t>
            </a:r>
            <a:r>
              <a:rPr lang="en-US" altLang="zh-CN" sz="2000" b="1" dirty="0" err="1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因糖代谢障碍而出现酮尿</a:t>
            </a:r>
            <a:r>
              <a:rPr lang="en-US" altLang="zh-CN" sz="20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463550"/>
            <a:ext cx="8225790" cy="4366260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（五）</a:t>
            </a:r>
            <a:r>
              <a:rPr sz="24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尿胆红素</a:t>
            </a:r>
            <a:endParaRPr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尿胆红素阳性：见于阻塞性黄疸和肝细胞性黄疸。</a:t>
            </a:r>
            <a:endParaRPr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• </a:t>
            </a:r>
            <a:r>
              <a:rPr sz="2200" b="1" dirty="0" err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肝及胆道内外各种疾病引起</a:t>
            </a:r>
            <a:r>
              <a:rPr sz="22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胆红素代谢障碍</a:t>
            </a:r>
            <a:r>
              <a:rPr sz="2200" b="1" dirty="0" err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，使</a:t>
            </a:r>
            <a:r>
              <a:rPr sz="2200" b="1" dirty="0" err="1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结合胆红素在血中潴留</a:t>
            </a:r>
            <a:r>
              <a:rPr sz="2200" b="1" dirty="0" err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，部分从尿中排出为</a:t>
            </a:r>
            <a:r>
              <a:rPr sz="2200" b="1" dirty="0" err="1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尿胆红素</a:t>
            </a:r>
            <a:r>
              <a:rPr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（六）</a:t>
            </a:r>
            <a:r>
              <a:rPr sz="24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尿胆原</a:t>
            </a:r>
            <a:endParaRPr sz="24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sz="24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2200" b="1" dirty="0" err="1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结合胆红素</a:t>
            </a:r>
            <a:r>
              <a:rPr sz="2200" b="1" dirty="0" err="1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排入肠道转化为</a:t>
            </a:r>
            <a:r>
              <a:rPr sz="2200" b="1" dirty="0" err="1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尿胆原</a:t>
            </a:r>
            <a:r>
              <a:rPr lang="zh-CN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u="sng" dirty="0">
                <a:solidFill>
                  <a:srgbClr val="2B1DE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尿胆原阳性：见于溶血性黄疸和肝细胞性黄疸。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845" y="666750"/>
            <a:ext cx="8225790" cy="2590800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（七）</a:t>
            </a:r>
            <a:r>
              <a:rPr 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</a:t>
            </a:r>
            <a:r>
              <a:rPr sz="24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亚硝酸盐</a:t>
            </a:r>
            <a:endParaRPr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858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阳性见于</a:t>
            </a:r>
            <a:r>
              <a:rPr 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泌尿系统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</a:t>
            </a:r>
            <a:r>
              <a:rPr lang="en-US" altLang="zh-CN" sz="2200" b="1" baseline="30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感染，</a:t>
            </a: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如大肠埃希菌、克雷伯菌、变形杆菌和假单胞菌感染，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引起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有症状或无症状的尿路感染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 altLang="zh-CN" sz="22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8580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尿液放置时间过长，可能会因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细菌污染出现假阳性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endParaRPr lang="zh-CN" altLang="en-US" sz="2000" b="1" u="sng" dirty="0">
              <a:solidFill>
                <a:srgbClr val="2B1DE3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-19685"/>
            <a:ext cx="8229600" cy="857250"/>
          </a:xfrm>
        </p:spPr>
        <p:txBody>
          <a:bodyPr/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三、尿常规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995" y="609600"/>
            <a:ext cx="8015605" cy="426402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粪便检测</a:t>
            </a:r>
            <a:r>
              <a:rPr lang="zh-CN" altLang="en-US" sz="2200" b="1" dirty="0">
                <a:solidFill>
                  <a:srgbClr val="2B1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对了解消化道及通向肠道的肝、胆、胰腺等器官有无病变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，间接地判断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胃肠、胰腺、肝胆系统的功能</a:t>
            </a:r>
            <a:r>
              <a:rPr lang="zh-CN" altLang="en-US" sz="22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状况有重要价值。</a:t>
            </a:r>
            <a:endParaRPr lang="zh-CN" altLang="en-US" sz="2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200" b="1" u="sng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粪便常规主要用于：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①诊断肠道感染性疾病（细菌性痢疾、伤寒、急慢性肠炎等）。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②肠道寄生虫（蛔虫、血吸虫、肝吸虫等）。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③消化吸收功能过筛试验。</a:t>
            </a:r>
            <a:endParaRPr lang="zh-CN" altLang="en-US" sz="2000" b="1" dirty="0">
              <a:solidFill>
                <a:srgbClr val="4859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④潜血用于上消化道出血及肠道肿瘤的筛查。</a:t>
            </a:r>
            <a:endParaRPr lang="zh-CN" altLang="en-US" sz="2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857250"/>
          </a:xfrm>
        </p:spPr>
        <p:txBody>
          <a:bodyPr/>
          <a:lstStyle/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（一）一般性状检查</a:t>
            </a:r>
            <a:endParaRPr lang="en-US" altLang="zh-CN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1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、量 </a:t>
            </a:r>
            <a:endParaRPr lang="en-US" altLang="zh-CN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正常人每日排便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次，约为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100~300g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随食物种类、进食量及消化器官功能状态而异。</a:t>
            </a:r>
            <a:endParaRPr lang="en-US" altLang="zh-CN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2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、颜色与性状 </a:t>
            </a:r>
            <a:endParaRPr lang="en-US" altLang="zh-CN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正常成人的粪便排出时为黄褐色软便，婴儿粪便呈黄色或金黄色糊状便。</a:t>
            </a:r>
            <a:endParaRPr lang="en-US" altLang="zh-CN" sz="22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58875" y="760730"/>
            <a:ext cx="742061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、颜色与性状</a:t>
            </a:r>
            <a:r>
              <a:rPr lang="en-US" altLang="zh-CN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zh-CN" altLang="en-US" sz="20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病理改变</a:t>
            </a:r>
            <a:endParaRPr lang="zh-CN" altLang="en-US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107" y="1191796"/>
            <a:ext cx="6521785" cy="3702240"/>
          </a:xfrm>
          <a:prstGeom prst="rect">
            <a:avLst/>
          </a:prstGeom>
        </p:spPr>
      </p:pic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（二）显微镜检查</a:t>
            </a:r>
            <a:endParaRPr lang="zh-CN" altLang="en-US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正常粪便显微镜检查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一般</a:t>
            </a:r>
            <a:r>
              <a:rPr lang="zh-CN" altLang="en-US" sz="24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没有红细胞或白细胞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，或在</a:t>
            </a:r>
            <a:r>
              <a:rPr lang="zh-CN" altLang="en-US" sz="24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高倍镜下偶见</a:t>
            </a:r>
            <a:r>
              <a:rPr lang="en-US" altLang="zh-CN" sz="24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1~2</a:t>
            </a:r>
            <a:r>
              <a:rPr lang="zh-CN" altLang="en-US" sz="24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个白细胞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0~1/HPF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0~2/HPF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）。无寄生虫卵及原虫。</a:t>
            </a:r>
            <a:endParaRPr lang="en-US" altLang="zh-CN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、细胞</a:t>
            </a:r>
            <a:endParaRPr lang="zh-CN" altLang="en-US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白细胞：</a:t>
            </a:r>
            <a:r>
              <a:rPr lang="zh-CN" altLang="en-US" sz="22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肠道炎症时增多，小肠炎不多，结肠炎大量增多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红细胞：</a:t>
            </a:r>
            <a:r>
              <a:rPr lang="zh-CN" altLang="en-US" sz="22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当下消化道出血、痢疾、溃疡性结肠炎、结肠和直肠癌时，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粪便中可见到红细胞。</a:t>
            </a:r>
            <a:endParaRPr lang="zh-CN" altLang="en-US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巨噬细胞：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见于</a:t>
            </a:r>
            <a:r>
              <a:rPr lang="zh-CN" altLang="en-US" sz="22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细菌性痢疾和溃疡性结肠炎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肠黏膜上皮细胞：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正常粪便中见不到，</a:t>
            </a:r>
            <a:r>
              <a:rPr lang="zh-CN" altLang="en-US" sz="22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假膜性小肠结肠炎时可见增多。</a:t>
            </a:r>
            <a:endParaRPr lang="en-US" altLang="zh-CN" sz="2200" b="1" dirty="0">
              <a:solidFill>
                <a:srgbClr val="2B1DE3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2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、食物残渣</a:t>
            </a:r>
            <a:endParaRPr lang="zh-CN" altLang="en-US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正常粪便中的食物残渣系已消化的无定形细小颗粒，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仅可偶见淀粉颗粒和脂肪小滴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等。</a:t>
            </a:r>
            <a:endParaRPr lang="en-US" altLang="zh-CN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ea"/>
                <a:cs typeface="Times New Roman" panose="02020603050405020304" pitchFamily="18" charset="0"/>
              </a:rPr>
              <a:t>•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淀粉颗粒：</a:t>
            </a:r>
            <a:r>
              <a:rPr lang="zh-CN" altLang="en-US" sz="2200" b="1" dirty="0">
                <a:solidFill>
                  <a:srgbClr val="2B1DE3"/>
                </a:solidFill>
                <a:latin typeface="+mn-ea"/>
                <a:cs typeface="Times New Roman" panose="02020603050405020304" pitchFamily="18" charset="0"/>
              </a:rPr>
              <a:t>腹泻、慢性胰腺炎、胰腺功能不全时增多。</a:t>
            </a:r>
            <a:endParaRPr lang="zh-CN" altLang="en-US" sz="2200" b="1" dirty="0">
              <a:solidFill>
                <a:srgbClr val="2B1DE3"/>
              </a:solidFill>
              <a:latin typeface="+mn-ea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ea"/>
                <a:cs typeface="Times New Roman" panose="02020603050405020304" pitchFamily="18" charset="0"/>
              </a:rPr>
              <a:t>•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脂肪小滴：</a:t>
            </a:r>
            <a:r>
              <a:rPr lang="zh-CN" altLang="en-US" sz="2200" b="1" dirty="0">
                <a:solidFill>
                  <a:srgbClr val="2B1DE3"/>
                </a:solidFill>
                <a:latin typeface="+mn-ea"/>
                <a:cs typeface="Times New Roman" panose="02020603050405020304" pitchFamily="18" charset="0"/>
              </a:rPr>
              <a:t>多见于慢性胰腺炎及胰头癌或因肠蠕动亢进引起的  腹泻等。</a:t>
            </a:r>
            <a:endParaRPr lang="en-US" altLang="zh-CN" sz="2200" b="1" dirty="0">
              <a:solidFill>
                <a:srgbClr val="2B1DE3"/>
              </a:solidFill>
              <a:latin typeface="+mn-ea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48597E"/>
                </a:solidFill>
                <a:latin typeface="+mn-ea"/>
                <a:cs typeface="Times New Roman" panose="02020603050405020304" pitchFamily="18" charset="0"/>
              </a:rPr>
              <a:t>•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肌肉纤维：</a:t>
            </a:r>
            <a:r>
              <a:rPr lang="zh-CN" altLang="en-US" sz="2200" b="1" dirty="0">
                <a:solidFill>
                  <a:srgbClr val="2B1DE3"/>
                </a:solidFill>
                <a:latin typeface="+mn-ea"/>
                <a:cs typeface="Times New Roman" panose="02020603050405020304" pitchFamily="18" charset="0"/>
              </a:rPr>
              <a:t>多见于肠蠕动亢进腹泻及蛋白质消化不良。</a:t>
            </a:r>
            <a:endParaRPr lang="en-US" altLang="zh-CN" sz="2200" b="1" dirty="0">
              <a:solidFill>
                <a:srgbClr val="2B1DE3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6245" y="795337"/>
            <a:ext cx="8402955" cy="175260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、寄生虫和寄生虫卵</a:t>
            </a:r>
            <a:endParaRPr lang="zh-CN" altLang="en-US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00100" indent="-4572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有肠道寄生虫病时，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从粪便中能见到的相应虫卵或成虫，</a:t>
            </a:r>
            <a:endParaRPr lang="zh-CN" altLang="en-US" sz="24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48597E"/>
                </a:solidFill>
                <a:latin typeface="+mn-ea"/>
                <a:cs typeface="Times New Roman" panose="02020603050405020304" pitchFamily="18" charset="0"/>
              </a:rPr>
              <a:t>（蛔虫卵、血吸虫卵及绦虫等较大虫体或片段）。</a:t>
            </a:r>
            <a:endParaRPr lang="zh-CN" altLang="en-US" sz="2000" b="1" dirty="0">
              <a:solidFill>
                <a:srgbClr val="48597E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（三）化学检查</a:t>
            </a:r>
            <a:endParaRPr lang="en-US" altLang="zh-CN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粪便隐血试验</a:t>
            </a:r>
            <a:r>
              <a:rPr lang="zh-CN" altLang="en-US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dirty="0" err="1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Facal</a:t>
            </a:r>
            <a:r>
              <a:rPr lang="en-US" altLang="zh-CN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Occult Blood Test</a:t>
            </a:r>
            <a:r>
              <a:rPr lang="zh-CN" altLang="en-US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FOBT</a:t>
            </a:r>
            <a:r>
              <a:rPr lang="zh-CN" altLang="en-US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endParaRPr lang="en-US" altLang="zh-CN" sz="22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 隐血是指</a:t>
            </a:r>
            <a:r>
              <a:rPr lang="zh-CN" altLang="en-US" sz="2200" b="1" dirty="0">
                <a:solidFill>
                  <a:srgbClr val="2B1DE3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消化道少量出血，红细胞被消化破坏，粪便外观尤异常改变，肉眼和显微镜均不能证实的出血</a:t>
            </a:r>
            <a:r>
              <a:rPr lang="zh-CN" altLang="en-US" sz="22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en-US" altLang="zh-CN" sz="22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消化性溃疡，阳性率为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40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％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~70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％，呈间歇阳性；</a:t>
            </a:r>
            <a:endParaRPr lang="zh-CN" altLang="en-US" sz="22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消化道恶性肿瘤，阳性率可达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95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％，呈持续性阳性。</a:t>
            </a:r>
            <a:endParaRPr lang="en-US" altLang="zh-CN" sz="22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742951"/>
            <a:ext cx="8402955" cy="2667000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（三）化学检查</a:t>
            </a:r>
            <a:endParaRPr lang="en-US" altLang="zh-CN" sz="2400" b="1" dirty="0">
              <a:solidFill>
                <a:srgbClr val="48597E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粪便转铁蛋白试验</a:t>
            </a:r>
            <a:endParaRPr lang="en-US" altLang="zh-CN" sz="2400" b="1" dirty="0">
              <a:solidFill>
                <a:srgbClr val="48597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结果阳性见于消化道出血，特异性高、稳定；</a:t>
            </a:r>
            <a:endParaRPr lang="zh-CN" altLang="en-US" sz="22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    •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lang="zh-CN" altLang="en-US" sz="2200" b="1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粪便隐血试验联合测定，可明显提高消化道出血和结肠肿瘤的阳性率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en-US" altLang="zh-CN" sz="2200" b="1" dirty="0">
              <a:solidFill>
                <a:srgbClr val="FF0000"/>
              </a:solidFill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126" y="666750"/>
            <a:ext cx="8402955" cy="4265295"/>
          </a:xfr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（四）细菌学检查</a:t>
            </a:r>
            <a:endParaRPr lang="en-US" altLang="zh-CN" sz="24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粪便中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细菌占粪便干重的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，多属正常菌群。</a:t>
            </a:r>
            <a:endParaRPr lang="zh-CN" altLang="en-US" sz="24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正常粪便中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G+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球菌和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G-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杆菌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的比例大致为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1:10~1:20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长期使用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广谱抗生素、免疫抑制剂导致</a:t>
            </a:r>
            <a:r>
              <a:rPr lang="zh-CN" altLang="en-US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肠道菌群失调，镜下可见大量球菌和真菌。</a:t>
            </a:r>
            <a:endParaRPr lang="en-US" altLang="zh-CN" sz="2400" b="1" dirty="0">
              <a:solidFill>
                <a:srgbClr val="485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485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怀疑霍乱、副霍乱可做粪便悬滴试验，阳性可帮助诊断。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9"/>
          <p:cNvSpPr txBox="1"/>
          <p:nvPr/>
        </p:nvSpPr>
        <p:spPr>
          <a:xfrm>
            <a:off x="457200" y="444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8597F"/>
                </a:solidFill>
                <a:effectLst/>
                <a:latin typeface="Lato Light"/>
                <a:ea typeface="Calibri" panose="020F0502020204030204"/>
                <a:cs typeface="Lato Light"/>
              </a:defRPr>
            </a:lvl1pPr>
          </a:lstStyle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四、粪便常规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982,&quot;width&quot;:3188}"/>
</p:tagLst>
</file>

<file path=ppt/tags/tag2.xml><?xml version="1.0" encoding="utf-8"?>
<p:tagLst xmlns:p="http://schemas.openxmlformats.org/presentationml/2006/main">
  <p:tag name="KSO_WM_UNIT_PLACING_PICTURE_USER_VIEWPORT" val="{&quot;height&quot;:5413,&quot;width&quot;:7329}"/>
</p:tagLst>
</file>

<file path=ppt/tags/tag3.xml><?xml version="1.0" encoding="utf-8"?>
<p:tagLst xmlns:p="http://schemas.openxmlformats.org/presentationml/2006/main">
  <p:tag name="REFSHAPE" val="582315044"/>
</p:tagLst>
</file>

<file path=ppt/tags/tag4.xml><?xml version="1.0" encoding="utf-8"?>
<p:tagLst xmlns:p="http://schemas.openxmlformats.org/presentationml/2006/main">
  <p:tag name="KSO_WM_UNIT_TABLE_BEAUTIFY" val="smartTable{8cf1e575-57fe-47a2-8981-b62411dd2bfa}"/>
</p:tagLst>
</file>

<file path=ppt/tags/tag5.xml><?xml version="1.0" encoding="utf-8"?>
<p:tagLst xmlns:p="http://schemas.openxmlformats.org/presentationml/2006/main">
  <p:tag name="REFSHAPE" val="582315044"/>
</p:tagLst>
</file>

<file path=ppt/tags/tag6.xml><?xml version="1.0" encoding="utf-8"?>
<p:tagLst xmlns:p="http://schemas.openxmlformats.org/presentationml/2006/main">
  <p:tag name="REFSHAPE" val="582315044"/>
</p:tagLst>
</file>

<file path=ppt/tags/tag7.xml><?xml version="1.0" encoding="utf-8"?>
<p:tagLst xmlns:p="http://schemas.openxmlformats.org/presentationml/2006/main">
  <p:tag name="REFSHAPE" val="582315044"/>
</p:tagLst>
</file>

<file path=ppt/tags/tag8.xml><?xml version="1.0" encoding="utf-8"?>
<p:tagLst xmlns:p="http://schemas.openxmlformats.org/presentationml/2006/main">
  <p:tag name="REFSHAPE" val="582315044"/>
</p:tagLst>
</file>

<file path=ppt/tags/tag9.xml><?xml version="1.0" encoding="utf-8"?>
<p:tagLst xmlns:p="http://schemas.openxmlformats.org/presentationml/2006/main">
  <p:tag name="REFSHAPE" val="582315044"/>
</p:tagLst>
</file>

<file path=ppt/tags/tag10.xml><?xml version="1.0" encoding="utf-8"?>
<p:tagLst xmlns:p="http://schemas.openxmlformats.org/presentationml/2006/main">
  <p:tag name="REFSHAPE" val="582315044"/>
</p:tagLst>
</file>

<file path=ppt/tags/tag11.xml><?xml version="1.0" encoding="utf-8"?>
<p:tagLst xmlns:p="http://schemas.openxmlformats.org/presentationml/2006/main">
  <p:tag name="REFSHAPE" val="5823150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5143</Words>
  <Application>WPS 演示</Application>
  <PresentationFormat>全屏显示(16:9)</PresentationFormat>
  <Paragraphs>334</Paragraphs>
  <Slides>43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Arial</vt:lpstr>
      <vt:lpstr>宋体</vt:lpstr>
      <vt:lpstr>Wingdings</vt:lpstr>
      <vt:lpstr>Glegoo</vt:lpstr>
      <vt:lpstr>Lato Light</vt:lpstr>
      <vt:lpstr>Calibri</vt:lpstr>
      <vt:lpstr>Mission Gothic Regular</vt:lpstr>
      <vt:lpstr>Open Sans</vt:lpstr>
      <vt:lpstr>微软雅黑</vt:lpstr>
      <vt:lpstr>Wingdings</vt:lpstr>
      <vt:lpstr>Times New Roman</vt:lpstr>
      <vt:lpstr>Arial Unicode MS</vt:lpstr>
      <vt:lpstr>Segoe Print</vt:lpstr>
      <vt:lpstr>Office Theme</vt:lpstr>
      <vt:lpstr>PowerPoint 演示文稿</vt:lpstr>
      <vt:lpstr>血常规</vt:lpstr>
      <vt:lpstr>血常规</vt:lpstr>
      <vt:lpstr>一、红细胞检查</vt:lpstr>
      <vt:lpstr>一、红细胞检查</vt:lpstr>
      <vt:lpstr>一、红细胞检查</vt:lpstr>
      <vt:lpstr>一、红细胞检查</vt:lpstr>
      <vt:lpstr>一、红细胞检查</vt:lpstr>
      <vt:lpstr>PowerPoint 演示文稿</vt:lpstr>
      <vt:lpstr>一、红细胞检查</vt:lpstr>
      <vt:lpstr>二、白细胞检查</vt:lpstr>
      <vt:lpstr>二、白细胞检查</vt:lpstr>
      <vt:lpstr>PowerPoint 演示文稿</vt:lpstr>
      <vt:lpstr>PowerPoint 演示文稿</vt:lpstr>
      <vt:lpstr>PowerPoint 演示文稿</vt:lpstr>
      <vt:lpstr>二、白细胞检查</vt:lpstr>
      <vt:lpstr>二、白细胞检查</vt:lpstr>
      <vt:lpstr>二、白细胞检查</vt:lpstr>
      <vt:lpstr>三、尿常规</vt:lpstr>
      <vt:lpstr>三、尿常规</vt:lpstr>
      <vt:lpstr>三、尿常规</vt:lpstr>
      <vt:lpstr>三、尿常规</vt:lpstr>
      <vt:lpstr>PowerPoint 演示文稿</vt:lpstr>
      <vt:lpstr>三、尿常规</vt:lpstr>
      <vt:lpstr>PowerPoint 演示文稿</vt:lpstr>
      <vt:lpstr>三、尿常规</vt:lpstr>
      <vt:lpstr>PowerPoint 演示文稿</vt:lpstr>
      <vt:lpstr>三、尿常规</vt:lpstr>
      <vt:lpstr>三、尿常规</vt:lpstr>
      <vt:lpstr>三、尿常规</vt:lpstr>
      <vt:lpstr>三、尿常规</vt:lpstr>
      <vt:lpstr>三、尿常规</vt:lpstr>
      <vt:lpstr>三、尿常规</vt:lpstr>
      <vt:lpstr>四、粪便常规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即刻出发1373331318</cp:lastModifiedBy>
  <cp:revision>1123</cp:revision>
  <dcterms:created xsi:type="dcterms:W3CDTF">2013-04-14T18:18:00Z</dcterms:created>
  <dcterms:modified xsi:type="dcterms:W3CDTF">2020-04-14T09:43:21Z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