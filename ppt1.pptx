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p:sldMasterIdLst>
    <p:sldMasterId id="2147483648" r:id="rId0"/>
  </p:sldMasterIdLst>
  <p:notesMasterIdLst>
    <p:notesMasterId r:id="rId78"/>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7" Type="http://schemas.openxmlformats.org/officeDocument/2006/relationships/slide" Target="slides/slide77.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tableStyles" Target="tableStyles.xml"/><Relationship Id="rId8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套课件围绕“血小板计数与功能”这一主题，从检验与临床双视角展开。全篇主线：先建立血小板生理与病理的概念框架；再讲清计数与功能两大检测体系的方法学、阈值与误差来源；随后用表格对比血小板指标与其他凝血/止血检测的异同；进而按临床场景（ITP、HIT、DIC、ICU、肝病、妊娠、创伤、心脏外科、抗血小板治疗等）讨论如何解读、如何指导治疗；最后落到流程化判读、动态监测的意义、关键临床研究与指南证据、真实案例，以及进展与研究方向。所有关键结论均附参考文献与 PMID，便于溯源与二次学习。本页与目录页为结构说明页。</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页为全篇目录。十二个章节按“概念→方法学→解读→场景→流程→证据→案例→前沿”展开，覆盖用户要求的定义、检验解读、方法学、阈值、误差/误读、与其他凝血检测异同（表格）、临床意义、场景解读与治疗指导、流程化判读、动态监测、临床研究与指南共识、案例与研究方向。全篇约 70+ 页，页脚与备注均给出可溯源的文献与 PMID。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演讲者备注：第一章建立概念框架：血小板从哪里来、在止血中扮演什么角色、细胞结构支撑哪些功能，以及为什么临床解读必须同时看“数量”与“功能”两个维度。这是后续所有章节的基础。</a:t>
            </a:r>
          </a:p>
          <a:p>
            <a:r>
              <a:t>本页相关核心文献：血小板生成与一级止血：N Engl J Med 1998;339:746（PMID 9731092）；Blood 2007;109:5087（PMID 17311994）。</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演讲者备注：【KAUSHANSKY-TPO】血小板由骨髓巨核细胞生成，受血小板生成素（TPO）及其受体 c-Mpl 调控；TPO 是血小板生成的主要体液调节因子。证据：N Engl J Med 1998;339:746-754，PMID 9731092。</a:t>
            </a:r>
          </a:p>
          <a:p>
            <a:r>
              <a:rPr lang="zh-CN" sz="1200"/>
              <a:t>【GREMMEL-PHYS】血小板在血管损伤处经黏附、活化、聚集形成止血栓（一级止血），并通过膜表面促凝暴露与颗粒释放参与凝血级联、炎症与免疫。证据：Semin Thromb Hemost 2016;42:191-204，PMID 26926581。</a:t>
            </a:r>
          </a:p>
          <a:p>
            <a:r>
              <a:rPr lang="zh-CN" sz="1200"/>
              <a:t>讲解提示：先讲清 TPO 负反馈模型——血小板数越低、游离 TPO 越多，理论上刺激生成；但化疗/再障时巨核细胞池受损，这一代偿失效，是理解“低增生性血小板减少”的关键。</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演讲者备注：【JACKSON-ADH】血小板聚集是黏附-活化-聚集-稳定化的多步骤动态过程：vWF-GPIb介导滚动黏附、整合素αIIbβ3介导牢固黏附与聚集，体内外表现远比简单聚集复杂。证据：Blood 2007;109:5087-5095，PMID 17311994。</a:t>
            </a:r>
          </a:p>
          <a:p>
            <a:r>
              <a:rPr lang="zh-CN" sz="1200"/>
              <a:t>【GREMMEL-PHYS】血小板在血管损伤处经黏附、活化、聚集形成止血栓（一级止血），并通过膜表面促凝暴露与颗粒释放参与凝血级联、炎症与免疫。证据：Semin Thromb Hemost 2016;42:191-204，PMID 26926581。</a:t>
            </a:r>
          </a:p>
          <a:p>
            <a:r>
              <a:rPr lang="zh-CN" sz="1200"/>
              <a:t>讲解提示：用“止血第一步”比喻帮助临床理解——为什么阿司匹林（抑 TxA2 通路）与氯吡格雷（抑 ADP 通路）只削弱部分聚集；为什么 αIIbβ3 缺陷（Glanzmann 病）出血最重。这也是功能检测选诱导剂（AA/ADP/胶原）的生理学基础。</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演讲者备注：【GREMMEL-PHYS】血小板在血管损伤处经黏附、活化、聚集形成止血栓（一级止血），并通过膜表面促凝暴露与颗粒释放参与凝血级联、炎症与免疫。证据：Semin Thromb Hemost 2016;42:191-204，PMID 26926581。</a:t>
            </a:r>
          </a:p>
          <a:p>
            <a:r>
              <a:rPr lang="zh-CN" sz="1200"/>
              <a:t>【JACKSON-ADH】血小板聚集是黏附-活化-聚集-稳定化的多步骤动态过程：vWF-GPIb介导滚动黏附、整合素αIIbβ3介导牢固黏附与聚集，体内外表现远比简单聚集复杂。证据：Blood 2007;109:5087-5095，PMID 17311994。</a:t>
            </a:r>
          </a:p>
          <a:p>
            <a:r>
              <a:rPr lang="zh-CN" sz="1200"/>
              <a:t>讲解提示：结合流式检测 PAC-1/P-选择素讲颗粒与活化标志的关系；指出 αIIbβ3 阻断剂（替罗非班等）会造成假性血小板减少（见第五章），正是由于该糖蛋白在 EDTA 与抗体作用下的构象变化。</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演讲者备注：【GREMMEL-PHYS】血小板在血管损伤处经黏附、活化、聚集形成止血栓（一级止血），并通过膜表面促凝暴露与颗粒释放参与凝血级联、炎症与免疫。证据：Semin Thromb Hemost 2016;42:191-204，PMID 26926581。</a:t>
            </a:r>
          </a:p>
          <a:p>
            <a:r>
              <a:rPr lang="zh-CN" sz="1200"/>
              <a:t>【FNX-OVERVIEW】血小板功能检测在冠脉介入中的角色演变综述：从 LTA 到床旁设备的可及性提高，但其对缺血/出血结局预测的增量价值仍存争议。证据：Vasc Health Risk Manag 2012;8:65-75，PMID 22371653。</a:t>
            </a:r>
          </a:p>
          <a:p>
            <a:r>
              <a:rPr lang="zh-CN" sz="1200"/>
              <a:t>讲解提示：本章收尾强调“检验语言”的双轨结构；预告第二、三章分别展开数量与功能两大体系的方法学，第四章给阈值，第五章讲误差。</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二章聚焦“数得准不准、数的是什么”。同一管血在不同原理仪器上结果可能不同；低值血小板尤其考验方法学。临床医生需要理解：仪器报出的每一个数字背后是哪种检测原理，何时该怀疑它错了（详见第五章），以及 MPV、IPF 等参数能提供什么额外信息。</a:t>
            </a:r>
          </a:p>
          <a:p>
            <a:r>
              <a:t>本页相关核心文献：血小板计数方法学：Int J Lab Hematol 2007;29:4（PMID 17224004）；Am J Clin Pathol 2001;115:448（PMID 11242802）。</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【HARRISON-REF】多中心研究确立以流式细胞术 CD61 标记 + RBC 比值的候选参考方法计数血小板，显著改善低值血小板计数的一致性。证据：Am J Clin Pathol 2001;115:448-459，PMID 11242802。</a:t>
            </a:r>
          </a:p>
          <a:p>
            <a:r>
              <a:rPr lang="zh-CN" sz="1200"/>
              <a:t>讲解提示：举例——巨大血小板综合征（BSS）血小板体积大，阻抗法可能漏计致“假性减少”，而荧光/免疫法计数更准确；这正是第五章“大血小板漏计”的原理伏笔。</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演讲者备注：【HARRISON-REF】多中心研究确立以流式细胞术 CD61 标记 + RBC 比值的候选参考方法计数血小板，显著改善低值血小板计数的一致性。证据：Am J Clin Pathol 2001;115:448-459，PMID 11242802。</a:t>
            </a:r>
          </a:p>
          <a:p>
            <a:r>
              <a:rPr lang="zh-CN" sz="1200"/>
              <a:t>【ZANDECKI-SPUR】自动化血细胞分析仪血小板部分系统性综述：EDTA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讲解提示：本页为方法学“天花板”页——回答检验科为何要保 CD61 免疫通道/流式参考方法：因为临床在 &lt;10–20×10^9/L 时的输血决策，必须建立在可信计数之上。</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【HOFFMANN-IPF】网织血小板/IPF 反映血小板生成活性：在化疗/移植后恢复预测、ITP 与再生障碍性血小板减少鉴别中具有临床价值，但方法间可比性仍受限。证据：Clin Chem Lab Med 2014;52:1107-1117，PMID 24807169。</a:t>
            </a:r>
          </a:p>
          <a:p>
            <a:r>
              <a:rPr lang="zh-CN" sz="1200"/>
              <a:t>讲解提示：强调“看图”习惯——直方图平台消失/锯齿常提示聚集；结合下一章的 IPF 讲“血小板年龄”概念，MPV 与 IPF 共同反映巨核细胞输出。</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演讲者备注：【HOFFMANN-IPF】网织血小板/IPF 反映血小板生成活性：在化疗/移植后恢复预测、ITP 与再生障碍性血小板减少鉴别中具有临床价值，但方法间可比性仍受限。证据：Clin Chem Lab Med 2014;52:1107-1117，PMID 24807169。</a:t>
            </a:r>
          </a:p>
          <a:p>
            <a:r>
              <a:rPr lang="zh-CN" sz="1200"/>
              <a:t>讲解提示：案例化讲解——AML 化疗后 PLT 15×10^9/L、IPF 12%：提示巨核细胞已恢复、即将回升，可暂缓预防性输注；反之 PLT 8、IPF 0.8% 提示仍在骨髓抑制期。这是“动态监测”的典型应用。</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演讲者备注：【BARNES-REVIEW41】国际血液学复检共识（41 条）：明确血小板计数触发涂片复检/人工核对的规则（如新发重度减少、仪器报警等），减少假性结果漏报。证据：Lab Hematol 2005;11:83-90，PMID 16024331。</a:t>
            </a:r>
          </a:p>
          <a:p>
            <a:r>
              <a:rPr lang="zh-CN" sz="1200"/>
              <a:t>【ZANDECKI-SPUR】自动化血细胞分析仪血小板部分系统性综述：EDTA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讲解提示：临床医生视角——收到“血小板 30”的危急值时，先问检验科是否已复检涂片；若未复检可主动要求“涂片复核+换管复查”。这能在源头拦截大量 EDTA 假性减少（第五章案例 1）。</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演讲者备注：【BIINO-RANGE】意大利 40987 人大样本显示血小板计数参考区间随年龄与性别显著变异（女性更低、随年龄下降），提出年龄/性别分层参考范围。证据：PLoS One 2013;8:e54289，PMID 23382888。</a:t>
            </a:r>
          </a:p>
          <a:p>
            <a:r>
              <a:rPr lang="zh-CN" sz="1200"/>
              <a:t>讲解提示：抛出问题——“血小板 145 是病吗？”答案：多数不是，要看变化与场景。第四、九章将给出分级阈值与 Δ 变化规则，这里先建立“参考区间≠治疗阈值”的观念。</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三章是功能检测的“方法学地图”。与计数不同，血小板功能检测方法多、标准化难、干扰因素多，没有“包打天下”的单一体外试验能完美复现体内止血。本章逐个讲清各方法的原理、读出什么参数、适合什么场景、有哪些局限，并在末页给出“何时选哪种”的决策小结。</a:t>
            </a:r>
          </a:p>
          <a:p>
            <a:r>
              <a:t>本页相关核心文献：血小板功能检测平台总览：Vasc Health Risk Manag 2012;8:65（PMID 22371653）。</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演讲者备注：【FNX-OVERVIEW】血小板功能检测在冠脉介入中的角色演变综述：从 LTA 到床旁设备的可及性提高，但其对缺血/出血结局预测的增量价值仍存争议。证据：Vasc Health Risk Manag 2012;8:65-75，PMID 22371653。</a:t>
            </a:r>
          </a:p>
          <a:p>
            <a:r>
              <a:rPr lang="zh-CN" sz="1200"/>
              <a:t>【GREMMEL-PHYS】血小板在血管损伤处经黏附、活化、聚集形成止血栓（一级止血），并通过膜表面促凝暴露与颗粒释放参与凝血级联、炎症与免疫。证据：Semin Thromb Hemost 2016;42:191-204，PMID 26926581。</a:t>
            </a:r>
          </a:p>
          <a:p>
            <a:r>
              <a:rPr lang="zh-CN" sz="1200"/>
              <a:t>讲解提示：用“一张桌子四条腿”比喻——黏附、活化、聚集、分泌四大环节需不同试验覆盖；临床上最常见的失败是“症状像血小板病但只做了血小板计数”。</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演讲者备注：【CATTANEO-LTA】ISTH SSC 光学比浊聚集标准化共识：规范 PRP 制备、诱导剂浓度、双复管判读与质量控制，LTA 仍是血小板功能检测的参考方法。证据：J Thromb Haemost 2013;11:1183-1189，PMID 23574625。</a:t>
            </a:r>
          </a:p>
          <a:p>
            <a:r>
              <a:rPr lang="zh-CN" sz="1200"/>
              <a:t>【BORN-LTA】Born 1962 年建立比浊法血小板聚集测定：以 PRP 透光率增加反映血小板聚集，成为光学比浊聚集（LTA）的奠基方法。证据：Nature 1962;194:927-929，PMID 13871375。</a:t>
            </a:r>
          </a:p>
          <a:p>
            <a:r>
              <a:rPr lang="zh-CN" sz="1200"/>
              <a:t>讲解提示：展示典型曲线——阿司匹林服用者 AA 诱导聚集消失、ADP 双相变单相；P2Y12 抑制剂使 ADP 聚集率显著下降；Glanzmann 病对所有生理诱导剂几乎无聚集。这些“曲线指纹”是本章与第八章案例的读图基础。</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演讲者备注：【CATTANEO-MULTI】血小板计数影响全血阻抗聚集（Multiplate）结果：严重血小板减少时阻抗法敏感性下降，解读需结合计数。证据：J Thromb Haemost 2013;11:2193-2196，PMID 24148217。</a:t>
            </a:r>
          </a:p>
          <a:p>
            <a:r>
              <a:rPr lang="zh-CN" sz="1200"/>
              <a:t>【FNX-OVERVIEW】血小板功能检测在冠脉介入中的角色演变综述：从 LTA 到床旁设备的可及性提高，但其对缺血/出血结局预测的增量价值仍存争议。证据：Vasc Health Risk Manag 2012;8:65-75，PMID 22371653。</a:t>
            </a:r>
          </a:p>
          <a:p>
            <a:r>
              <a:rPr lang="zh-CN" sz="1200"/>
              <a:t>讲解提示：强调血小板数依赖——临床上对 PLT&lt;50×10^9/L 者解读阻抗法结果要打折扣，这也是“功能检测与计数必须同看”的又一例证。</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演讲者备注：【PRICE-GRAVITAS】GRAVITAS：PCI 后高残留血小板反应者给予高剂量氯吡格雷未降低 6 个月缺血事件，显示常规床旁血小板功能监测导向调药的获益有限。证据：JAMA 2011;305:1097-1105，PMID 21406646。</a:t>
            </a:r>
          </a:p>
          <a:p>
            <a:r>
              <a:rPr lang="zh-CN" sz="1200"/>
              <a:t>【FNX-OVERVIEW】血小板功能检测在冠脉介入中的角色演变综述：从 LTA 到床旁设备的可及性提高，但其对缺血/出血结局预测的增量价值仍存争议。证据：Vasc Health Risk Manag 2012;8:65-75，PMID 22371653。</a:t>
            </a:r>
          </a:p>
          <a:p>
            <a:r>
              <a:rPr lang="zh-CN" sz="1200"/>
              <a:t>讲解提示：预告第八章“抗血小板治疗监测”页将展开 GRAVITAS/ANTARCTIC 两个阴性试验的完整故事——方法可用≠监测带来获益，本页先讲清楚设备读出什么。</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演讲者备注：【FAVALORO-PFA】PFA-100/PFA-200 问世 30 年回顾：以剪切下全血闭合时间评价一级止血，对 VWD 与重度血小板病敏感，对轻中度血小板功能异常与抗血小板监测价值有限。证据：Semin Thromb Hemost 2024;50:320-324，PMID 37903565。</a:t>
            </a:r>
          </a:p>
          <a:p>
            <a:r>
              <a:rPr lang="zh-CN" sz="1200"/>
              <a:t>【FAVALORO-VWD-PFA】PFA-100/200 对 VWD 检测/排除的效用评价：对经典 VWD 敏感但对轻型、2B/2M 及血小板型 VWD 可能漏检，需结合 VWF 抗原/活性与血小板功能联合判断。证据：Thromb Res 2020;188:17-24，PMID 32036157。</a:t>
            </a:r>
          </a:p>
          <a:p>
            <a:r>
              <a:rPr lang="zh-CN" sz="1200"/>
              <a:t>讲解提示：结合“为何 PFA 异常→查 VWF 抗原/活性与血小板病”的路径讲；避免临床把 PFA 当“血小板功能全套”。</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演讲者备注：【FLOW-ISTH】ISTH SSC 共识：流式细胞术可用于遗传性与获得性血小板数量/功能疾病评估，推荐作为先天性血小板病的补充诊断平台。证据：J Thromb Haemost 2021;19:3193-3202，PMID 34580997。</a:t>
            </a:r>
          </a:p>
          <a:p>
            <a:r>
              <a:rPr lang="zh-CN" sz="1200"/>
              <a:t>【BONELLO-VASP】VASP 磷酸化指数（PRI）指导氯吡格雷个体化负荷：高残留反应者加大剂量可降低主要不良心血管事件，提示 VASP 可识别氯吡格雷低反应。证据：J Am Coll Cardiol 2008;51:1404-1411，PMID 18387444。</a:t>
            </a:r>
          </a:p>
          <a:p>
            <a:r>
              <a:rPr lang="zh-CN" sz="1200"/>
              <a:t>【MICHELSON-FLOW】流式细胞术检测血小板功能（活化标志 PAC-1、P-选择素、白细胞-血小板聚集体）可在全血微量标本中直接反映体内血小板活化状态。证据：Pathophysiol Haemost Thromb 2006;35:67-82，PMID 16855350。</a:t>
            </a:r>
          </a:p>
          <a:p>
            <a:r>
              <a:rPr lang="zh-CN" sz="1200"/>
              <a:t>讲解提示：强调流式“不依赖聚集”的优点——血小板只有 30×10^9/L 也可测活化标志，弥补 LTA/阻抗在重度减少时的盲区；VASP 与 VerifyNow 在临床上常二选一。</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演讲者备注：【NURDEN-INHERIT】遗传性血小板病涵盖受体（αIIbβ3、GPIb-IX-V）、颗粒、信号与细胞骨架缺陷，表型从轻度出血到重度黏膜皮肤出血谱系广泛，诊断需表型与功能/分子整合。证据：Haemophilia 2012;18 Suppl 4:154-160，PMID 22726100。</a:t>
            </a:r>
          </a:p>
          <a:p>
            <a:r>
              <a:rPr lang="zh-CN" sz="1200"/>
              <a:t>【FLOW-ISTH】ISTH SSC 共识：流式细胞术可用于遗传性与获得性血小板数量/功能疾病评估，推荐作为先天性血小板病的补充诊断平台。证据：J Thromb Haemost 2021;19:3193-3202，PMID 34580997。</a:t>
            </a:r>
          </a:p>
          <a:p>
            <a:r>
              <a:rPr lang="zh-CN" sz="1200"/>
              <a:t>讲解提示：结合案例——年轻女性反复鼻衄/月经过多，LTA 仅肾上腺素低浓度异常，lumi 测 ATP 释放显著下降，最终诊断 δ-颗粒病。这是“细节决定诊断”的典型。</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演讲者备注：【BOLLIGER-TEG】血栓弹力图（TEG）原理与应用综述：MA 等参数反映血小板-纤维蛋白共同作用形成的血块强度，可用于围术期/创伤的目标导向输血。证据：Transfus Med Rev 2012;26:1-13，PMID 21872428。</a:t>
            </a:r>
          </a:p>
          <a:p>
            <a:r>
              <a:rPr lang="zh-CN" sz="1200"/>
              <a:t>讲解提示：展示 MA 低平曲线——低纤维蛋白原与血小板减少都可压低 MA，需靠 FIBTEM 区分“纤维蛋白贡献”与“血小板贡献”，这是 VET 导向输血的核心逻辑（第八章创伤/CPB 页展开）。</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演讲者备注：【RODGERS-BT】出血时间（BT）的批判性再评价：操作标准化差、敏感性与预测价值有限，已不作为常规术前出血风险筛查。证据：Semin Thromb Hemost 2024;50:499-516，PMID 38086409。</a:t>
            </a:r>
          </a:p>
          <a:p>
            <a:r>
              <a:rPr lang="zh-CN" sz="1200"/>
              <a:t>【FNX-OVERVIEW】血小板功能检测在冠脉介入中的角色演变综述：从 LTA 到床旁设备的可及性提高，但其对缺血/出血结局预测的增量价值仍存争议。证据：Vasc Health Risk Manag 2012;8:65-75，PMID 22371653。</a:t>
            </a:r>
          </a:p>
          <a:p>
            <a:r>
              <a:rPr lang="zh-CN" sz="1200"/>
              <a:t>讲解提示：本页是第三章收束——用 BT 的兴衰提醒听众：不要把任何“能测的指标”直接当成“该测的指标”；第四章起进入阈值与临床决策，保持同一批判视角。</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演讲者备注：第四章把“数字”变成“行动线”：&lt;150×10^9/L 只是参考区间下限，真正的临床阈值按出血风险场景分层（10/20/50/100）。同时讲解血小板增多侧的血栓风险与 ET 分层，为第七章以后各场景的“阈值驱动决策”做铺垫。</a:t>
            </a:r>
          </a:p>
          <a:p>
            <a:r>
              <a:t>本页相关核心文献：分级与输注阈值：Ann Intern Med 2015;162:205（PMID 25383671）；N Engl J Med 2013;368:1771（PMID 23656642）。</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演讲者备注：本表集中展示“参考区间≠行动阈值”的核心逻辑。请特别注意两列信息：(1) 预防性输注阈值主要适用于“低增生性（生成不足）”血小板减少（化疗/移植），证据来自 AABB 指南与 TOPPS 试验；(2) 破坏型（ITP/DIC 等）与围术期场景不能用同一套数字，需回到病因机制选择目标值。</a:t>
            </a:r>
          </a:p>
          <a:p>
            <a:r>
              <a:rPr lang="zh-CN" sz="1200"/>
              <a:t>【KAUFMAN-AABB】AABB 血小板输注指南：病情稳定成人（低增生性血小板减少）预防性输注阈值为 10×10^9/L；有创操作、活动出血等场景阈值分层升高。证据：Ann Intern Med 2015;162:205-213，PMID 25383671。</a:t>
            </a:r>
          </a:p>
          <a:p>
            <a:r>
              <a:rPr lang="zh-CN" sz="1200"/>
              <a:t>【STANWORTH-TOPPS】TOPPS：血液系统肿瘤化疗后不预防性输注血小板未达非劣效（出血显著增多），支持重度低增生性血小板减少仍应预防性输注。证据：N Engl J Med 2013;368:1771-1780，PMID 23656642。</a:t>
            </a:r>
          </a:p>
          <a:p>
            <a:r>
              <a:rPr lang="zh-CN" sz="1200"/>
              <a:t>参考文献：PMID 25383671、PMID 23656642</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演讲者备注：【KAUFMAN-AABB】AABB 血小板输注指南：病情稳定成人（低增生性血小板减少）预防性输注阈值为 10×10^9/L；有创操作、活动出血等场景阈值分层升高。证据：Ann Intern Med 2015;162:205-213，PMID 25383671。</a:t>
            </a:r>
          </a:p>
          <a:p>
            <a:r>
              <a:rPr lang="zh-CN" sz="1200"/>
              <a:t>【STANWORTH-TOPPS】TOPPS：血液系统肿瘤化疗后不预防性输注血小板未达非劣效（出血显著增多），支持重度低增生性血小板减少仍应预防性输注。证据：N Engl J Med 2013;368:1771-1780，PMID 23656642。</a:t>
            </a:r>
          </a:p>
          <a:p>
            <a:r>
              <a:rPr lang="zh-CN" sz="1200"/>
              <a:t>讲解提示：对比两组数字（50% vs 43%）说明“预防带来真实获益”，但也承认“即便预防仍约四成患者有 2 级以上出血”——引出输注无效、黏膜炎出血等未尽问题（第八章输注实践页）。</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演讲者备注：【TEFFERI-ET】真性红细胞增多症与原发性血小板增多症（ET）2019 年更新：ET 诊断需持续血小板≥450×10^9/L并排除反应性增多，依据年龄/血栓史分层并给予阿司匹林与降细胞治疗。证据：Am J Hematol 2019;94:133-143，PMID 30281843。</a:t>
            </a:r>
          </a:p>
          <a:p>
            <a:r>
              <a:rPr lang="zh-CN" sz="1200"/>
              <a:t>讲解提示：指出极端血小板增多（如 &gt;1500）可伴获得性 vWD（大 vWF 多聚体被吸附清除）而表现为矛盾性出血——计数高≠止血好，呼应第一章“数量≠功能”。</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演讲者备注：第五章讲“什么时候该怀疑这个数字/这个功能结果”。血小板检验的误差集中在分析前与分析中，且不少假象（尤其 EDTA 假性血小板减少）会造成不必要输注与错误诊断。本章给出系统排查思路，是第十一章案例的理论基础。</a:t>
            </a:r>
          </a:p>
          <a:p>
            <a:r>
              <a:t>本页相关核心文献：假性减少与误差：Int J Lab Hematol 2007;29:4（PMID 17224004）；Lab Hematol 2005;11:83（PMID 16024331）。</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讲解提示：临床上最危险的不是假性减少本身，而是把假性减少当作 ITP/出血风险而输注血小板或上激素。第十一章案例 1 给出完整流程。急诊无出血者血小板“个位数”时，先复检再看病。</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讲解提示：把三种典型假象各配一张示意图/涂片照片讲（课件按需插入）；强调报告审核员的“三问”：图形对吗？涂片对吗？与临床对吗？</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演讲者备注：【CATTANEO-MULTI】血小板计数影响全血阻抗聚集（Multiplate）结果：严重血小板减少时阻抗法敏感性下降，解读需结合计数。证据：J Thromb Haemost 2013;11:2193-2196，PMID 24148217。</a:t>
            </a:r>
          </a:p>
          <a:p>
            <a:r>
              <a:rPr lang="zh-CN" sz="1200"/>
              <a:t>【FAVALORO-PFA】PFA-100/PFA-200 问世 30 年回顾：以剪切下全血闭合时间评价一级止血，对 VWD 与重度血小板病敏感，对轻中度血小板功能异常与抗血小板监测价值有限。证据：Semin Thromb Hemost 2024;50:320-324，PMID 37903565。</a:t>
            </a:r>
          </a:p>
          <a:p>
            <a:r>
              <a:rPr lang="zh-CN" sz="1200"/>
              <a:t>讲解提示：给一张“药物-通路-影响时限”速查逻辑（AA/ADP/胶原通路），这是临床最常见的问题来源；强调术前停药与功能检测的关系将在第八章心外科/抗血小板页再展开。</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讲解提示：本节为“全流程质量观”：临床医生能直接改善的是——规范采血、尽快送检、注明用药与时间点、对异常结果主动沟通检验科。</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演讲者备注：第六章用表格对比血小板指标与 PT/APTT、纤维蛋白原、D-二聚体、VET、VWF 检测：它们各自回答什么问题、血小板异常时表现如何、何时必须联合。目的：让临床与检验形成“同一张止血全景图”而非各测各的。</a:t>
            </a:r>
          </a:p>
          <a:p>
            <a:r>
              <a:t>本页相关核心文献：血小板与血浆凝血检测互补关系：Semin Thromb Hemost 2016;42:191（PMID 26926581）；Transfus Med Rev 2012;26:1（PMID 21872428）。</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演讲者备注：本表是第六、七、八章的地图：纵览“每种检测回答止血的哪一环”。核心教学点：(1) PT/APTT/纤维蛋白原/D-二聚体均不回答血小板功能，血小板异常（数量或质量）者的常规凝血四项可以是完全正常的；(2) 反过来，血小板“正常”也不能排除因子或纤溶问题；(3) VET 与 PFA 是桥接“血小板-血浆”的整合型试验。表中方法学细节与临界值依据散见各章备注对应 PMID（第 2/3 章方法学、第 4 章阈值）。</a:t>
            </a:r>
          </a:p>
          <a:p>
            <a:r>
              <a:rPr lang="zh-CN" sz="1200"/>
              <a:t>【GREMMEL-PHYS】血小板在血管损伤处经黏附、活化、聚集形成止血栓（一级止血），并通过膜表面促凝暴露与颗粒释放参与凝血级联、炎症与免疫。证据：Semin Thromb Hemost 2016;42:191-204，PMID 26926581。</a:t>
            </a:r>
          </a:p>
          <a:p>
            <a:r>
              <a:rPr lang="zh-CN" sz="1200"/>
              <a:t>【BOLLIGER-TEG】血栓弹力图（TEG）原理与应用综述：MA 等参数反映血小板-纤维蛋白共同作用形成的血块强度，可用于围术期/创伤的目标导向输血。证据：Transfus Med Rev 2012;26:1-13，PMID 21872428。</a:t>
            </a:r>
          </a:p>
          <a:p>
            <a:r>
              <a:rPr lang="zh-CN" sz="1200"/>
              <a:t>【FAVALORO-PFA】PFA-100/PFA-200 问世 30 年回顾：以剪切下全血闭合时间评价一级止血，对 VWD 与重度血小板病敏感，对轻中度血小板功能异常与抗血小板监测价值有限。证据：Semin Thromb Hemost 2024;50:320-324，PMID 37903565。</a:t>
            </a:r>
          </a:p>
          <a:p>
            <a:r>
              <a:rPr lang="zh-CN" sz="1200"/>
              <a:t>参考文献：PMID 23382888, 23574625, 24148217</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演讲者备注：【GREMMEL-PHYS】血小板在血管损伤处经黏附、活化、聚集形成止血栓（一级止血），并通过膜表面促凝暴露与颗粒释放参与凝血级联、炎症与免疫。证据：Semin Thromb Hemost 2016;42:191-204，PMID 26926581。</a:t>
            </a:r>
          </a:p>
          <a:p>
            <a:r>
              <a:rPr lang="zh-CN" sz="1200"/>
              <a:t>【CATTANEO-LTA】ISTH SSC 光学比浊聚集标准化共识：规范 PRP 制备、诱导剂浓度、双复管判读与质量控制，LTA 仍是血小板功能检测的参考方法。证据：J Thromb Haemost 2013;11:1183-1189，PMID 23574625。</a:t>
            </a:r>
          </a:p>
          <a:p>
            <a:r>
              <a:rPr lang="zh-CN" sz="1200"/>
              <a:t>讲解提示：呼应第一章“数量+功能双维度”：一张“止血全景”需要 CBC（血小板+涂片）、凝血四项、必要时 VET/血小板功能三者拼图；任何单项“正常”都不能覆盖其余环节。</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演讲者备注：【FAVALORO-VWD-PFA】PFA-100/200 对 VWD 检测/排除的效用评价：对经典 VWD 敏感但对轻型、2B/2M 及血小板型 VWD 可能漏检，需结合 VWF 抗原/活性与血小板功能联合判断。证据：Thromb Res 2020;188:17-24，PMID 32036157。</a:t>
            </a:r>
          </a:p>
          <a:p>
            <a:r>
              <a:rPr lang="zh-CN" sz="1200"/>
              <a:t>【FAVALORO-PFA】PFA-100/PFA-200 问世 30 年回顾：以剪切下全血闭合时间评价一级止血，对 VWD 与重度血小板病敏感，对轻中度血小板功能异常与抗血小板监测价值有限。证据：Semin Thromb Hemost 2024;50:320-324，PMID 37903565。</a:t>
            </a:r>
          </a:p>
          <a:p>
            <a:r>
              <a:rPr lang="zh-CN" sz="1200"/>
              <a:t>讲解提示：给临床一个“出血问卷+初筛（CBC+PFA/涂片）+定位（vWF 全套/聚集/流式）”的最小闭环，避免在 vWD 与血小板病之间绕圈。</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演讲者备注：【FNX-OVERVIEW】血小板功能检测在冠脉介入中的角色演变综述：从 LTA 到床旁设备的可及性提高，但其对缺血/出血结局预测的增量价值仍存争议。证据：Vasc Health Risk Manag 2012;8:65-75，PMID 22371653。</a:t>
            </a:r>
          </a:p>
          <a:p>
            <a:r>
              <a:rPr lang="zh-CN" sz="1200"/>
              <a:t>【GREMMEL-PHYS】血小板在血管损伤处经黏附、活化、聚集形成止血栓（一级止血），并通过膜表面促凝暴露与颗粒释放参与凝血级联、炎症与免疫。证据：Semin Thromb Hemost 2016;42:191-204，PMID 26926581。</a:t>
            </a:r>
          </a:p>
          <a:p>
            <a:r>
              <a:rPr lang="zh-CN" sz="1200"/>
              <a:t>讲解提示：第六章收尾页——把选择权交还临床问题；预告第七、八章将按场景演示“何时启动哪一组检测”。</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七章把血小板减少放到最常见的四大机制框架（生成不足/破坏增加/消耗与扣押/分布异常）里，逐一拆解免疫性（ITP、HIT、药源性）与消耗性（DIC、脓毒症）场景。核心信息：血小板减少只是一个“症状”，治疗方向（升板 vs 抗凝 vs 停肝素）取决于机制。</a:t>
            </a:r>
          </a:p>
          <a:p>
            <a:r>
              <a:t>本页相关核心文献：免疫性/消耗性血小板减少总览：Blood 2016;128:3032（PMID 28034871）。</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演讲者备注：【NEUNERT-ASH】ASH 2019 ITP 指南：糖皮质激素一线；对激素依赖/无效者推荐 TPO-RA、利妥昔单抗或脾切除；以出血而非单纯血小板数为主要治疗决策依据。证据：Blood Adv 2019;3:3829-3866，PMID 31794604。</a:t>
            </a:r>
          </a:p>
          <a:p>
            <a:r>
              <a:rPr lang="zh-CN" sz="1200"/>
              <a:t>【PROVAN-ICR】国际共识报告（ICR）2019：ITP 诊断排除性流程与一线/二线治疗推荐；强调个体化与生活质量的评估。证据：Blood Adv 2019;3:3780-3817，PMID 31770441。</a:t>
            </a:r>
          </a:p>
          <a:p>
            <a:r>
              <a:rPr lang="zh-CN" sz="1200"/>
              <a:t>【CN-ITP-GUIDE】《成人原发免疫性血小板减少症诊断与治疗中国指南（2020）》：诊断标准、出血评分与分层治疗（一线糖皮质激素/IVIG，二线 TPO-RA/利妥昔单抗等）。证据：中华血液学杂志 2020;41:617-623，PMID 32942813。</a:t>
            </a:r>
          </a:p>
          <a:p>
            <a:r>
              <a:rPr lang="zh-CN" sz="1200"/>
              <a:t>讲解提示：展示成人 ITP 诊断路径简图：CBC+涂片（排除假性/白血病）→ 网织红/HP-HIV-HCV 等 → 分新发/持续/慢性；一线激素疗程要短（4-6 周内减停），避免长期激素。</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演讲者备注：【KUTER-ROMI】罗米司亭 III 期 RCT：慢性 ITP 患者血小板应答率显著高于安慰剂，减少挽救治疗与出血事件，确立 TPO-RA 疗效与安全性。证据：Lancet 2008;371:395-403，PMID 18242413。</a:t>
            </a:r>
          </a:p>
          <a:p>
            <a:r>
              <a:rPr lang="zh-CN" sz="1200"/>
              <a:t>【CHENG-RAISE】RAISE：艾曲泊帕 6 个月随机双盲 RCT 显著提高慢性 ITP 血小板计数（中位峰值 50×10^9/L 以上达 59%）并降低出血，支持 TPO-RA 用于二线。证据：Lancet 2011;377:393-402，PMID 20739054。</a:t>
            </a:r>
          </a:p>
          <a:p>
            <a:r>
              <a:rPr lang="zh-CN" sz="1200"/>
              <a:t>讲解提示：对比两药给药方式（皮下每周 vs 口服每日）与随访指标；说明“应答的定义（≥50×10^9/L）”统一了临床与试验语言，第十一章案例 3 会完整走一遍二线启用流程。</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演讲者备注：【LO-4TS】4Ts 评分验证研究：低危（≤3）阴性预测值高可基本排除 HIT；中/高危需行 PF4/肝素抗体与功能学确认。证据：J Thromb Haemost 2006;4:759-765，PMID 16634744。</a:t>
            </a:r>
          </a:p>
          <a:p>
            <a:r>
              <a:rPr lang="zh-CN" sz="1200"/>
              <a:t>【CUKER-ASH-HIT】ASH 2018 VTE-HIT 指南：4Ts 中低危可不检测抗体；HIT 确诊/高度怀疑者停肝素并改用非肝素抗凝（阿加曲班/比伐芦定/磺达肝癸钠/DOAC），避免华法林单用。证据：Blood Adv 2018;2:3360-3392，PMID 30482768。</a:t>
            </a:r>
          </a:p>
          <a:p>
            <a:r>
              <a:rPr lang="zh-CN" sz="1200"/>
              <a:t>【HIT-LAB】HIT 临床与实验室整合诊断：免疫学检测（PF4/肝素 ELISA）敏感性高但特异性低，SRA/血小板活化功能试验特异性高，主张临床+实验室联合解读。证据：Semin Thromb Hemost 2014;40:106-114，PMID 24363239。</a:t>
            </a:r>
          </a:p>
          <a:p>
            <a:r>
              <a:rPr lang="zh-CN" sz="1200"/>
              <a:t>讲解提示：强调 HIT 的“反常识”——血小板低却要抗凝（换非肝素），因为死亡主因是血栓；4Ts 中“血小板下降 &gt;50%”比绝对值更有价值（动态监测的意义，见第九章）。</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演讲者备注：【CUKER-ASH-HIT】ASH 2018 VTE-HIT 指南：4Ts 中低危可不检测抗体；HIT 确诊/高度怀疑者停肝素并改用非肝素抗凝（阿加曲班/比伐芦定/磺达肝癸钠/DOAC），避免华法林单用。证据：Blood Adv 2018;2:3360-3392，PMID 30482768。</a:t>
            </a:r>
          </a:p>
          <a:p>
            <a:r>
              <a:rPr lang="zh-CN" sz="1200"/>
              <a:t>讲解提示：给出 ICU/心外常见落地细节——即使微量肝素冲管也要停；ECMO/透析中 HIT 的替代抗凝选择；第十一章案例 2 将演示完整鉴别与切换过程。</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演讲者备注：【TAYLOR-ISTH-DIC】ISTH 显性 DIC 积分：血小板进行性下降为四项核心指标之一（动态变化较绝对值更关键），强调重复测定与趋势判读。证据：Thromb Haemost 2001;86:1327-1330，PMID 11816725。</a:t>
            </a:r>
          </a:p>
          <a:p>
            <a:r>
              <a:rPr lang="zh-CN" sz="1200"/>
              <a:t>【CN-DIC-2023】中国 DIC 诊治专家共识（2023）：动态监测、分层干预；血小板进行性下降是 DIC 诊断与分期的重要参数。证据：中华血液学杂志 2023;44:624-631，PMID 37803834。</a:t>
            </a:r>
          </a:p>
          <a:p>
            <a:r>
              <a:rPr lang="zh-CN" sz="1200"/>
              <a:t>讲解提示：画 DIC 两条下降曲线对比——脓毒症慢坡下降 vs 急性早幼粒白血病暴发式下降；强调“血小板+PT+FIB+D-D 四联动态”是 DIC 监测的最小套餐。</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演讲者备注：【GREINACHER-ICU】ICU 血小板减少评估与处理：发生率高且常为多因素（消耗、稀释、药物、免疫）；按 4Ts/涂片/骨髓等分步鉴别，避免对假性与轻度减少过度输注。证据：Blood 2016;128:3032-3042，PMID 28034871。</a:t>
            </a:r>
          </a:p>
          <a:p>
            <a:r>
              <a:rPr lang="zh-CN" sz="1200"/>
              <a:t>讲解提示：给出 ICU 三步法：①确认（涂片/换管/Δ趋势）；②机制（破坏/生成/分布/稀释）；③行动（处理原发+按出血风险输注）。第十一章案例 2 即“ICU 骤降”的完整推演。</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演讲者备注：【ASTER-DITP】药源性免疫性血小板减少（DITP）综述：药物依赖性抗体破坏血小板，典型用药后 5-10 天骤降；诊断核心为停药后恢复与药物依赖抗体证据。证据：N Engl J Med 2007;357:580-587，PMID 17687133。</a:t>
            </a:r>
          </a:p>
          <a:p>
            <a:r>
              <a:rPr lang="zh-CN" sz="1200"/>
              <a:t>讲解提示：示范一张“用药-血小板”时间轴表格的查法；强调 ITP 与 DITP 的鉴别点（DITP 骤降伴近期新药、停药自行恢复），避免把 DITP 误诊为 ITP 而错误上激素。</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八章把血小板解读放进“特殊生理/病理状态”与“围术期”场景。这些场景的共同特点是：单纯血小板计数不足以指导决策——肝病要讲再平衡止血、妊娠要讲生理参考下移、创伤/心外要讲数量+功能+VET 的联合管理、抗血小板药要讲停药与监测的平衡。</a:t>
            </a:r>
          </a:p>
          <a:p>
            <a:r>
              <a:t>本页相关核心文献：特殊人群与围术期血小板管理：Crit Care 2023;27:80（PMID 36859355）；J Cardiothorac Vasc Anesth 2018;32:88（PMID 29029100）。</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演讲者备注：【LISMAN-REBAL】肝病再平衡止血概念（ISTH SSC）：促凝与抗凝成分同步下降，常规血小板/PT 异常不一定预示出血；操作与出血决策需整体评估。证据：J Thromb Haemost 2021;19:1116-1122，PMID 33792172。</a:t>
            </a:r>
          </a:p>
          <a:p>
            <a:r>
              <a:rPr lang="zh-CN" sz="1200"/>
              <a:t>【TRIPODI-LIVER】慢性肝病凝血病：血小板减少与凝血因子下降并存于再平衡止血系统中，血小板计数不能单独预测有创操作出血。证据：N Engl J Med 2011;365:147-156，PMID 21751907。</a:t>
            </a:r>
          </a:p>
          <a:p>
            <a:r>
              <a:rPr lang="zh-CN" sz="1200"/>
              <a:t>讲解提示：举反例——Child C 肝硬化血小板 40、PT 延长 3s，做肝活检/腹腔镜：若按“传统纠正观”会输血小板，但指南导向是不常规预防性纠正；反之血小板 &lt;20—30 且操作高危时再考虑 TPO-RA 短程提升。</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演讲者备注：【GERNSHEIMER-PREG】妊娠期血小板减少处理：妊娠期血小板减少症最常见（良性），其次子痫前期/HELLP 与 ITP；分娩与麻醉决策按血小板数与出血风险分层。证据：Blood 2013;121:38-47，PMID 23149846。</a:t>
            </a:r>
          </a:p>
          <a:p>
            <a:r>
              <a:rPr lang="zh-CN" sz="1200"/>
              <a:t>讲解提示：强调两个时间窗——孕早中期出现中重度减少更像 ITP；孕晚期快速下降+高血压/肝损要警惕 HELLP/TMA；产后持续不恢复需重新评估。椎管内麻醉阈值为多学科共识实践，具体以本中心 SOP 为准。</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演讲者备注：【HOLCOMB-PROPPR】PROPPR：严重创伤大出血 1:1:1 与 1:1:2 输注相比，24h/30d 总死亡率无统计学差异，但 1:1:1 组止血更快、24h 内失血性死亡更低。证据：JAMA 2015;313:471-482，PMID 25647203。</a:t>
            </a:r>
          </a:p>
          <a:p>
            <a:r>
              <a:rPr lang="zh-CN" sz="1200"/>
              <a:t>【EU-TRAUMA-6】欧洲创伤大出血与凝血病管理第 6 版指南（2023）：创伤出血期建议维持血小板计数&gt;50×10^9/L，多发性创伤/活动性出血或 TBI 患者目标更高（TBI≥100×10^9/L），推荐 VET 导向管理。证据：Crit Care 2023;27:80，PMID 36859355。</a:t>
            </a:r>
          </a:p>
          <a:p>
            <a:r>
              <a:rPr lang="zh-CN" sz="1200"/>
              <a:t>讲解提示：讲清 PROPPR 的“阴性主终点+阳性次终点”故事——总死亡率未降但止血更快、失血死亡更少，支撑损伤控制复苏“比例更早更足”的实践转变。第十一章案例 5 会演示 TBI 患者血小板管理。</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演讲者备注：【EACTS-PBM】EACTS/EACTA 心脏手术患者血液管理指南（2017 版）：CPB 相关血小板功能障碍是出血重要因素，推荐围术期血小板功能与 VET 监测导向个体化止血治疗。证据：J Cardiothorac Vasc Anesth 2018;32:88-120，PMID 29029100。</a:t>
            </a:r>
          </a:p>
          <a:p>
            <a:r>
              <a:rPr lang="zh-CN" sz="1200"/>
              <a:t>【BOLLIGER-TEG】血栓弹力图（TEG）原理与应用综述：MA 等参数反映血小板-纤维蛋白共同作用形成的血块强度，可用于围术期/创伤的目标导向输血。证据：Transfus Med Rev 2012;26:1-13，PMID 21872428。</a:t>
            </a:r>
          </a:p>
          <a:p>
            <a:r>
              <a:rPr lang="zh-CN" sz="1200"/>
              <a:t>讲解提示：结合案例 4（CPB 后血小板 90 仍渗血，VET 示 MA 低、FIBTEM 正常→输血小板后止血）说明“计数正常≠功能正常”；给出停药时间轴速查。</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演讲者备注：【PRICE-GRAVITAS】GRAVITAS：PCI 后高残留血小板反应者给予高剂量氯吡格雷未降低 6 个月缺血事件，显示常规床旁血小板功能监测导向调药的获益有限。证据：JAMA 2011;305:1097-1105，PMID 21406646。</a:t>
            </a:r>
          </a:p>
          <a:p>
            <a:r>
              <a:rPr lang="zh-CN" sz="1200"/>
              <a:t>【ANTARCTIC】ANTARCTIC：老年 ACS 支架患者基于床旁血小板功能监测调整抗血小板治疗未能减少心血管事件与出血，再次提示监测导向策略未改善临床结局。证据：Lancet 2016;388:2015-2022，PMID 27581531。</a:t>
            </a:r>
          </a:p>
          <a:p>
            <a:r>
              <a:rPr lang="zh-CN" sz="1200"/>
              <a:t>【FNX-MONITOR-REV】抗血小板治疗血小板功能监测为何未转化为临床获益的深度分析：药理异质性、检测切点、样本时机与结局事件频谱等均为原因。证据：Circ Cardiovasc Interv 2019;12:e007749，PMID 31694410。</a:t>
            </a:r>
          </a:p>
          <a:p>
            <a:r>
              <a:rPr lang="zh-CN" sz="1200"/>
              <a:t>讲解提示：解释阴性原因（药理异质性、切点不稳、事件频谱、随访期），并指出这与“出血体质评估”场景不同——不要因监测调药阴性就把血小板功能检测整体否定（见第三章方法定位）。</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演讲者备注：【NURDEN-GT】Glanzmann 血小板无力症（αIIbβ3 缺陷）研究十年进展：出血管理、血小板输注与抗 αIIbβ3 抗体、rFVIIa 等策略不断演进。证据：Semin Thromb Hemost 2025;51:196-208，PMID 38499192。</a:t>
            </a:r>
          </a:p>
          <a:p>
            <a:r>
              <a:rPr lang="zh-CN" sz="1200"/>
              <a:t>【NURDEN-INHERIT】遗传性血小板病涵盖受体（αIIbβ3、GPIb-IX-V）、颗粒、信号与细胞骨架缺陷，表型从轻度出血到重度黏膜皮肤出血谱系广泛，诊断需表型与功能/分子整合。证据：Haemophilia 2012;18 Suppl 4:154-160，PMID 22726100。</a:t>
            </a:r>
          </a:p>
          <a:p>
            <a:r>
              <a:rPr lang="zh-CN" sz="1200"/>
              <a:t>【FLOW-ISTH】ISTH SSC 共识：流式细胞术可用于遗传性与获得性血小板数量/功能疾病评估，推荐作为先天性血小板病的补充诊断平台。证据：J Thromb Haemost 2021;19:3193-3202，PMID 34580997。</a:t>
            </a:r>
          </a:p>
          <a:p>
            <a:r>
              <a:rPr lang="zh-CN" sz="1200"/>
              <a:t>讲解提示：展示鉴别表——BSS（巨血小板+减少+ristocetin 不聚集可被正常血浆纠正）vs GT（血小板数正常+各诱导剂不聚集）vs vWD（血浆因子问题）；强调家族史与幼年起病是“遗传线索”。</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演讲者备注：【KAUFMAN-AABB】AABB 血小板输注指南：病情稳定成人（低增生性血小板减少）预防性输注阈值为 10×10^9/L；有创操作、活动出血等场景阈值分层升高。证据：Ann Intern Med 2015;162:205-213，PMID 25383671。</a:t>
            </a:r>
          </a:p>
          <a:p>
            <a:r>
              <a:rPr lang="zh-CN" sz="1200"/>
              <a:t>【STANWORTH-TOPPS】TOPPS：血液系统肿瘤化疗后不预防性输注血小板未达非劣效（出血显著增多），支持重度低增生性血小板减少仍应预防性输注。证据：N Engl J Med 2013;368:1771-1780，PMID 23656642。</a:t>
            </a:r>
          </a:p>
          <a:p>
            <a:r>
              <a:rPr lang="zh-CN" sz="1200"/>
              <a:t>讲解提示：给出 PTR 计算简式与判读：输注后 1h CCI &lt;7.5 或 24h &lt;4.5 提示无效；按“患者因素→免疫因素→血小板质量”三步归因；呼应第十一章案例中输注管理的细节。</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演讲者备注：第九章回答“临床应用要不要流程化”与“动态监测意义何在”。答案是肯定的：血小板相关决策（尤其危急值响应、输注、DIC/HIT 随访）都应走标准化流程；同时大量疾病的第一线索来自“血小板变化速度”而非单点数值——本章给出可操作的判读树、Δ 规则与监测频率表。</a:t>
            </a:r>
          </a:p>
          <a:p>
            <a:r>
              <a:t>本页相关核心文献：流程化判读与动态监测：Blood 2016;128:3032（PMID 28034871）；Thromb Haemost 2001;86:1327（PMID 11816725）。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演讲者备注：【GREINACHER-ICU】ICU 血小板减少评估与处理：发生率高且常为多因素（消耗、稀释、药物、免疫）；按 4Ts/涂片/骨髓等分步鉴别，避免对假性与轻度减少过度输注。证据：Blood 2016;128:3032-3042，PMID 28034871。</a:t>
            </a:r>
          </a:p>
          <a:p>
            <a:r>
              <a:rPr lang="zh-CN" sz="1200"/>
              <a:t>讲解提示：把本页当作全篇“总纲”——确认（第 5 章）、机制（第 1/7 章）、场景阈值（第 4/7/8 章）、动态（第 9 章其余页）。临床可用作交班/会诊时的口头核对框架。</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演讲者备注：【GREINACHER-ICU】ICU 血小板减少评估与处理：发生率高且常为多因素（消耗、稀释、药物、免疫）；按 4Ts/涂片/骨髓等分步鉴别，避免对假性与轻度减少过度输注。证据：Blood 2016;128:3032-3042，PMID 28034871。</a:t>
            </a:r>
          </a:p>
          <a:p>
            <a:r>
              <a:rPr lang="zh-CN" sz="1200"/>
              <a:t>【TAYLOR-ISTH-DIC】ISTH 显性 DIC 积分：血小板进行性下降为四项核心指标之一（动态变化较绝对值更关键），强调重复测定与趋势判读。证据：Thromb Haemost 2001;86:1327-1330，PMID 11816725。</a:t>
            </a:r>
          </a:p>
          <a:p>
            <a:r>
              <a:rPr lang="zh-CN" sz="1200"/>
              <a:t>讲解提示：举例——同一患者周一 120、周三 60（-50%）比“长期 60”更紧急：前者提示消耗/免疫事件正在发生；Delta check 应写入 LIS 自动规则，异常自动触发复检与通知。</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演讲者备注：【TAYLOR-ISTH-DIC】ISTH 显性 DIC 积分：血小板进行性下降为四项核心指标之一（动态变化较绝对值更关键），强调重复测定与趋势判读。证据：Thromb Haemost 2001;86:1327-1330，PMID 11816725。</a:t>
            </a:r>
          </a:p>
          <a:p>
            <a:r>
              <a:rPr lang="zh-CN" sz="1200"/>
              <a:t>【HOFFMANN-IPF】网织血小板/IPF 反映血小板生成活性：在化疗/移植后恢复预测、ITP 与再生障碍性血小板减少鉴别中具有临床价值，但方法间可比性仍受限。证据：Clin Chem Lab Med 2014;52:1107-1117，PMID 24807169。</a:t>
            </a:r>
          </a:p>
          <a:p>
            <a:r>
              <a:rPr lang="zh-CN" sz="1200"/>
              <a:t>讲解提示：四个场景共用一张“时间-血小板/IPF”曲线图讲解；强调不同场景的监测频率差异很大，应写进科室 SOP 与随访计划。</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演讲者备注：【RODGERS-BT】出血时间（BT）的批判性再评价：操作标准化差、敏感性与预测价值有限，已不作为常规术前出血风险筛查。证据：Semin Thromb Hemost 2024;50:499-516，PMID 38086409。</a:t>
            </a:r>
          </a:p>
          <a:p>
            <a:r>
              <a:rPr lang="zh-CN" sz="1200"/>
              <a:t>【FNX-OVERVIEW】血小板功能检测在冠脉介入中的角色演变综述：从 LTA 到床旁设备的可及性提高，但其对缺血/出血结局预测的增量价值仍存争议。证据：Vasc Health Risk Manag 2012;8:65-75，PMID 22371653。</a:t>
            </a:r>
          </a:p>
          <a:p>
            <a:r>
              <a:rPr lang="zh-CN" sz="1200"/>
              <a:t>讲解提示：把“合理申请”上升为质量改进主题——与检验科共建申请单模板与拒收/降级规则，是减少无效检测与提高解读质量的最快路径。</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演讲者备注：第十章把前文散落的证据集中成“可查表”：两份指南矩阵（含中国指南）与一张关键 RCT 数据表，逐条标注 PMID。用途有二：一是汇报/授课时快速引用；二是作为科室制定 SOP 时的文献底稿。</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演讲者备注：【NEUNERT-ASH】ASH 2019 ITP 指南：糖皮质激素一线；对激素依赖/无效者推荐 TPO-RA、利妥昔单抗或脾切除；以出血而非单纯血小板数为主要治疗决策依据。证据：Blood Adv 2019;3:3829-3866，PMID 31794604。</a:t>
            </a:r>
          </a:p>
          <a:p>
            <a:r>
              <a:rPr lang="zh-CN" sz="1200"/>
              <a:t>【PROVAN-ICR】国际共识报告（ICR）2019：ITP 诊断排除性流程与一线/二线治疗推荐；强调个体化与生活质量的评估。证据：Blood Adv 2019;3:3780-3817，PMID 31770441。</a:t>
            </a:r>
          </a:p>
          <a:p>
            <a:r>
              <a:rPr lang="zh-CN" sz="1200"/>
              <a:t>【CN-ITP-GUIDE】《成人原发免疫性血小板减少症诊断与治疗中国指南（2020）》：诊断标准、出血评分与分层治疗（一线糖皮质激素/IVIG，二线 TPO-RA/利妥昔单抗等）。证据：中华血液学杂志 2020;41:617-623，PMID 32942813。</a:t>
            </a:r>
          </a:p>
          <a:p>
            <a:r>
              <a:rPr lang="zh-CN" sz="1200"/>
              <a:t>【CUKER-ASH-HIT】ASH 2018 VTE-HIT 指南：4Ts 中低危可不检测抗体；HIT 确诊/高度怀疑者停肝素并改用非肝素抗凝（阿加曲班/比伐芦定/磺达肝癸钠/DOAC），避免华法林单用。证据：Blood Adv 2018;2:3360-3392，PMID 30482768。</a:t>
            </a:r>
          </a:p>
          <a:p>
            <a:r>
              <a:rPr lang="zh-CN" sz="1200"/>
              <a:t>【KAUFMAN-AABB】AABB 血小板输注指南：病情稳定成人（低增生性血小板减少）预防性输注阈值为 10×10^9/L；有创操作、活动出血等场景阈值分层升高。证据：Ann Intern Med 2015;162:205-213，PMID 25383671。</a:t>
            </a:r>
          </a:p>
          <a:p>
            <a:r>
              <a:rPr lang="zh-CN" sz="1200"/>
              <a:t>参考文献：PMID 31794604；31770441；32942813；30482768；25383671</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演讲者备注：【EU-TRAUMA-6】欧洲创伤大出血与凝血病管理第 6 版指南（2023）：创伤出血期建议维持血小板计数&gt;50×10^9/L，多发性创伤/活动性出血或 TBI 患者目标更高（TBI≥100×10^9/L），推荐 VET 导向管理。证据：Crit Care 2023;27:80，PMID 36859355。</a:t>
            </a:r>
          </a:p>
          <a:p>
            <a:r>
              <a:rPr lang="zh-CN" sz="1200"/>
              <a:t>【EACTS-PBM】EACTS/EACTA 心脏手术患者血液管理指南（2017 版）：CPB 相关血小板功能障碍是出血重要因素，推荐围术期血小板功能与 VET 监测导向个体化止血治疗。证据：J Cardiothorac Vasc Anesth 2018;32:88-120，PMID 29029100。</a:t>
            </a:r>
          </a:p>
          <a:p>
            <a:r>
              <a:rPr lang="zh-CN" sz="1200"/>
              <a:t>【TAYLOR-ISTH-DIC】ISTH 显性 DIC 积分：血小板进行性下降为四项核心指标之一（动态变化较绝对值更关键），强调重复测定与趋势判读。证据：Thromb Haemost 2001;86:1327-1330，PMID 11816725。</a:t>
            </a:r>
          </a:p>
          <a:p>
            <a:r>
              <a:rPr lang="zh-CN" sz="1200"/>
              <a:t>【CN-DIC-2023】中国 DIC 诊治专家共识（2023）：动态监测、分层干预；血小板进行性下降是 DIC 诊断与分期的重要参数。证据：中华血液学杂志 2023;44:624-631，PMID 37803834。</a:t>
            </a:r>
          </a:p>
          <a:p>
            <a:r>
              <a:rPr lang="zh-CN" sz="1200"/>
              <a:t>【LISMAN-REBAL】肝病再平衡止血概念（ISTH SSC）：促凝与抗凝成分同步下降，常规血小板/PT 异常不一定预示出血；操作与出血决策需整体评估。证据：J Thromb Haemost 2021;19:1116-1122，PMID 33792172。</a:t>
            </a:r>
          </a:p>
          <a:p>
            <a:r>
              <a:rPr lang="zh-CN" sz="1200"/>
              <a:t>【GERNSHEIMER-PREG】妊娠期血小板减少处理：妊娠期血小板减少症最常见（良性），其次子痫前期/HELLP 与 ITP；分娩与麻醉决策按血小板数与出血风险分层。证据：Blood 2013;121:38-47，PMID 23149846。</a:t>
            </a:r>
          </a:p>
          <a:p>
            <a:r>
              <a:rPr lang="zh-CN" sz="1200"/>
              <a:t>参考文献：PMID 36859355；29029100；11816725；37803834；33792172；23149846</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演讲者备注：【KUTER-ROMI】罗米司亭 III 期 RCT：慢性 ITP 患者血小板应答率显著高于安慰剂，减少挽救治疗与出血事件，确立 TPO-RA 疗效与安全性。证据：Lancet 2008;371:395-403，PMID 18242413。</a:t>
            </a:r>
          </a:p>
          <a:p>
            <a:r>
              <a:rPr lang="zh-CN" sz="1200"/>
              <a:t>【CHENG-RAISE】RAISE：艾曲泊帕 6 个月随机双盲 RCT 显著提高慢性 ITP 血小板计数（中位峰值 50×10^9/L 以上达 59%）并降低出血，支持 TPO-RA 用于二线。证据：Lancet 2011;377:393-402，PMID 20739054。</a:t>
            </a:r>
          </a:p>
          <a:p>
            <a:r>
              <a:rPr lang="zh-CN" sz="1200"/>
              <a:t>【STANWORTH-TOPPS】TOPPS：血液系统肿瘤化疗后不预防性输注血小板未达非劣效（出血显著增多），支持重度低增生性血小板减少仍应预防性输注。证据：N Engl J Med 2013;368:1771-1780，PMID 23656642。</a:t>
            </a:r>
          </a:p>
          <a:p>
            <a:r>
              <a:rPr lang="zh-CN" sz="1200"/>
              <a:t>【HOLCOMB-PROPPR】PROPPR：严重创伤大出血 1:1:1 与 1:1:2 输注相比，24h/30d 总死亡率无统计学差异，但 1:1:1 组止血更快、24h 内失血性死亡更低。证据：JAMA 2015;313:471-482，PMID 25647203。</a:t>
            </a:r>
          </a:p>
          <a:p>
            <a:r>
              <a:rPr lang="zh-CN" sz="1200"/>
              <a:t>【PRICE-GRAVITAS】GRAVITAS：PCI 后高残留血小板反应者给予高剂量氯吡格雷未降低 6 个月缺血事件，显示常规床旁血小板功能监测导向调药的获益有限。证据：JAMA 2011;305:1097-1105，PMID 21406646。</a:t>
            </a:r>
          </a:p>
          <a:p>
            <a:r>
              <a:rPr lang="zh-CN" sz="1200"/>
              <a:t>【ANTARCTIC】ANTARCTIC：老年 ACS 支架患者基于床旁血小板功能监测调整抗血小板治疗未能减少心血管事件与出血，再次提示监测导向策略未改善临床结局。证据：Lancet 2016;388:2015-2022，PMID 27581531。</a:t>
            </a:r>
          </a:p>
          <a:p>
            <a:r>
              <a:rPr lang="zh-CN" sz="1200"/>
              <a:t>参考文献：PMID 18242413；20739054；23656642；25647203；21406646；27581531</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演讲者备注：【STANWORTH-TOPPS】TOPPS：血液系统肿瘤化疗后不预防性输注血小板未达非劣效（出血显著增多），支持重度低增生性血小板减少仍应预防性输注。证据：N Engl J Med 2013;368:1771-1780，PMID 23656642。</a:t>
            </a:r>
          </a:p>
          <a:p>
            <a:r>
              <a:rPr lang="zh-CN" sz="1200"/>
              <a:t>【PRICE-GRAVITAS】GRAVITAS：PCI 后高残留血小板反应者给予高剂量氯吡格雷未降低 6 个月缺血事件，显示常规床旁血小板功能监测导向调药的获益有限。证据：JAMA 2011;305:1097-1105，PMID 21406646。</a:t>
            </a:r>
          </a:p>
          <a:p>
            <a:r>
              <a:rPr lang="zh-CN" sz="1200"/>
              <a:t>讲解提示：用四个“争议”把前文证据串联成未来研究清单——适合研究生/科室质量改进立项（PDCA 主题：假性减少识别率、输注合格率、危急值闭环率）。</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演讲者备注：第十一章用五个贴近临床的案例演示“细节如何改变结局”：假性血小板减少的识别、ICU 血小板骤降的 HIT 鉴别、ITP 二线的启用与监测、CPB 后“计数正常≠功能正常”、创伤复苏中的血小板目标管理。每个案例后附可迁移的清单式要点；涉及数据均与正文引用的研究/指南一致（PMID 见备注）。</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讲解提示：可用于科室演练——把同一份“血小板 30”的化验单分别按“直接报危急值”与“先复检”两条路径推演结局，突出流程的价值（呼应第 5、9 章）。</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演讲者备注：【LO-4TS】4Ts 评分验证研究：低危（≤3）阴性预测值高可基本排除 HIT；中/高危需行 PF4/肝素抗体与功能学确认。证据：J Thromb Haemost 2006;4:759-765，PMID 16634744。</a:t>
            </a:r>
          </a:p>
          <a:p>
            <a:r>
              <a:rPr lang="zh-CN" sz="1200"/>
              <a:t>【CUKER-ASH-HIT】ASH 2018 VTE-HIT 指南：4Ts 中低危可不检测抗体；HIT 确诊/高度怀疑者停肝素并改用非肝素抗凝（阿加曲班/比伐芦定/磺达肝癸钠/DOAC），避免华法林单用。证据：Blood Adv 2018;2:3360-3392，PMID 30482768。</a:t>
            </a:r>
          </a:p>
          <a:p>
            <a:r>
              <a:rPr lang="zh-CN" sz="1200"/>
              <a:t>讲解提示：强调“中危即启动管理”而不是等确诊；ELISA 高 OD 值在临床高度符合时可支持治疗性抗凝决策（HIT_LAB 的整合诊断思想）。</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演讲者备注：【CHENG-RAISE】RAISE：艾曲泊帕 6 个月随机双盲 RCT 显著提高慢性 ITP 血小板计数（中位峰值 50×10^9/L 以上达 59%）并降低出血，支持 TPO-RA 用于二线。证据：Lancet 2011;377:393-402，PMID 20739054。</a:t>
            </a:r>
          </a:p>
          <a:p>
            <a:r>
              <a:rPr lang="zh-CN" sz="1200"/>
              <a:t>【KUTER-ROMI】罗米司亭 III 期 RCT：慢性 ITP 患者血小板应答率显著高于安慰剂，减少挽救治疗与出血事件，确立 TPO-RA 疗效与安全性。证据：Lancet 2008;371:395-403，PMID 18242413。</a:t>
            </a:r>
          </a:p>
          <a:p>
            <a:r>
              <a:rPr lang="zh-CN" sz="1200"/>
              <a:t>【NEUNERT-ASH】ASH 2019 ITP 指南：糖皮质激素一线；对激素依赖/无效者推荐 TPO-RA、利妥昔单抗或脾切除；以出血而非单纯血小板数为主要治疗决策依据。证据：Blood Adv 2019;3:3829-3866，PMID 31794604。</a:t>
            </a:r>
          </a:p>
          <a:p>
            <a:r>
              <a:rPr lang="zh-CN" sz="1200"/>
              <a:t>讲解提示：本例刻意省略“血小板必须正常”的执念——用目标区间（如 50—200 或按出血风险 ≥30）管理，呼应第四章“以出血为轴”。</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演讲者备注：【BOLLIGER-TEG】血栓弹力图（TEG）原理与应用综述：MA 等参数反映血小板-纤维蛋白共同作用形成的血块强度，可用于围术期/创伤的目标导向输血。证据：Transfus Med Rev 2012;26:1-13，PMID 21872428。</a:t>
            </a:r>
          </a:p>
          <a:p>
            <a:r>
              <a:rPr lang="zh-CN" sz="1200"/>
              <a:t>【EACTS-PBM】EACTS/EACTA 心脏手术患者血液管理指南（2017 版）：CPB 相关血小板功能障碍是出血重要因素，推荐围术期血小板功能与 VET 监测导向个体化止血治疗。证据：J Cardiothorac Vasc Anesth 2018;32:88-120，PMID 29029100。</a:t>
            </a:r>
          </a:p>
          <a:p>
            <a:r>
              <a:rPr lang="zh-CN" sz="1200"/>
              <a:t>讲解提示：强调“先定位再输注”的成本收益——一次 VET 避免了一次无效的二次开胸与盲目输注；同时示范血小板输注剂量与再评估节点（输后 15—30min 复查 MA）。</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演讲者备注：【HOLCOMB-PROPPR】PROPPR：严重创伤大出血 1:1:1 与 1:1:2 输注相比，24h/30d 总死亡率无统计学差异，但 1:1:1 组止血更快、24h 内失血性死亡更低。证据：JAMA 2015;313:471-482，PMID 25647203。</a:t>
            </a:r>
          </a:p>
          <a:p>
            <a:r>
              <a:rPr lang="zh-CN" sz="1200"/>
              <a:t>【EU-TRAUMA-6】欧洲创伤大出血与凝血病管理第 6 版指南（2023）：创伤出血期建议维持血小板计数&gt;50×10^9/L，多发性创伤/活动性出血或 TBI 患者目标更高（TBI≥100×10^9/L），推荐 VET 导向管理。证据：Crit Care 2023;27:80，PMID 36859355。</a:t>
            </a:r>
          </a:p>
          <a:p>
            <a:r>
              <a:rPr lang="zh-CN" sz="1200"/>
              <a:t>讲解提示：强调与输血科/血库的沟通时点（预判 1:1:1 需求、TBI 目标上报），把“化验驱动”升级为“方案驱动”，减少反应性输血延误。</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演讲者备注：第十二章展望血小板检验的未来：AI 让形态学复检更普及、IPF 让“生成恢复”可预警、免疫血栓机制提供新靶点、微流控等新技术尝试在生理剪切条件下重演血栓形成——最终目标是让血小板检验从“事后解释”走向“实时、个体化、预测性”。</a:t>
            </a:r>
          </a:p>
          <a:p>
            <a:r>
              <a:t>本页相关核心文献：进展与研究方向：复检规则与 AI 形态学（PMID 16024331/17224004）；IPF（PMID 24807169）；免疫血栓（PMID 23222502）。</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演讲者备注：【BARNES-REVIEW41】国际血液学复检共识（41 条）：明确血小板计数触发涂片复检/人工核对的规则（如新发重度减少、仪器报警等），减少假性结果漏报。证据：Lab Hematol 2005;11:83-90，PMID 16024331。</a:t>
            </a:r>
          </a:p>
          <a:p>
            <a:r>
              <a:rPr lang="zh-CN" sz="1200"/>
              <a:t>【ZANDECKI-SPUR】自动化血细胞分析仪血小板部分系统性综述：EDTA 依赖聚集、血小板卫星现象、大血小板漏计等假性结果常见，需直方图/散点图与涂片复检甄别。证据：Int J Lab Hematol 2007;29:4-20，PMID 17224004。</a:t>
            </a:r>
          </a:p>
          <a:p>
            <a:r>
              <a:rPr lang="zh-CN" sz="1200"/>
              <a:t>讲解提示：把“复检规则→AI 分级→危急值解释”画成一条管线；讨论落地时与检验信息化的结合点（LIS 拦截+AI 建议+人工确认）。</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演讲者备注：【HOFFMANN-IPF】网织血小板/IPF 反映血小板生成活性：在化疗/移植后恢复预测、ITP 与再生障碍性血小板减少鉴别中具有临床价值，但方法间可比性仍受限。证据：Clin Chem Lab Med 2014;52:1107-1117，PMID 24807169。</a:t>
            </a:r>
          </a:p>
          <a:p>
            <a:r>
              <a:rPr lang="zh-CN" sz="1200"/>
              <a:t>讲解提示：展示化疗周期中“IPF 先升→计数 3—5 天后回升”的示意图；强调动态而非单点解读（呼应第九章）。</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演讲者备注：【ENGELMANN-INNATE】血小板是固有免疫与血栓形成的交汇节点：通过 P-选择素、聚磷酸盐、趋化因子与中性粒细胞 NETs 互作参与免疫血栓（immunothrombosis）。证据：Nat Rev Immunol 2013;13:34-45，PMID 23222502。</a:t>
            </a:r>
          </a:p>
          <a:p>
            <a:r>
              <a:rPr lang="zh-CN" sz="1200"/>
              <a:t>讲解提示：用 COVID-19 的血栓并发症引出“血小板活化×炎症”的临床直觉；指出 IPF/微粒/活化标志可能成为危重症风险分层的组合工具。</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演讲者备注：【FLOW-ISTH】ISTH SSC 共识：流式细胞术可用于遗传性与获得性血小板数量/功能疾病评估，推荐作为先天性血小板病的补充诊断平台。证据：J Thromb Haemost 2021;19:3193-3202，PMID 34580997。</a:t>
            </a:r>
          </a:p>
          <a:p>
            <a:r>
              <a:rPr lang="zh-CN" sz="1200"/>
              <a:t>【FNX-MONITOR-REV】抗血小板治疗血小板功能监测为何未转化为临床获益的深度分析：药理异质性、检测切点、样本时机与结局事件频谱等均为原因。证据：Circ Cardiovasc Interv 2019;12:e007749，PMID 31694410。</a:t>
            </a:r>
          </a:p>
          <a:p>
            <a:r>
              <a:rPr lang="zh-CN" sz="1200"/>
              <a:t>讲解提示：收束全章——把新技术挂回“是否会改变临床决策”的检验标尺（第三章/第九章的批判视角），避免重复出血时间的覆辙。</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演讲者备注：本页为全篇总结。可作为单页“临床口袋卡”使用：遇血小板异常先问三句话——是真的吗（假性）？什么机制？目标值多少、何时复查？三句话答完，绝大多数临床场景的处理方向已经清晰。</a:t>
            </a:r>
          </a:p>
          <a:p>
            <a:r>
              <a:t>本页相关核心文献：全篇总结页：核心框架与证据地图见 PMID 28034871（ICU 血小板减少）与 PMID 25383671（输注阈值）。</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3"/>
          <p:cNvSpPr>
            <a:spLocks noGrp="1"/>
          </p:cNvSpPr>
          <p:nvPr>
            <p:ph type="body" idx="1"/>
          </p:nvPr>
        </p:nvSpPr>
        <p:spPr>
          <a:off x="0" y="0"/>
          <a:ext cx="0" cy="0"/>
        </p:spPr>
        <p:txBody>
          <a:bodyPr wrap="square">
            <a:spAutoFit/>
          </a:bodyPr>
          <a:lstStyle/>
          <a:p>
            <a:r>
              <a:rPr lang="zh-CN" sz="1200"/>
              <a:t>演讲者备注：本课件《血小板（PLT）计数与功能解读：从检验参数到临床决策》完成。</a:t>
            </a:r>
          </a:p>
          <a:p>
            <a:r>
              <a:rPr lang="zh-CN" sz="1200"/>
              <a:t>内容涵盖定义与生理、计数与功能方法学、阈值与危急值、误差与误读、与其他凝血检测的异同、临床场景解读与治疗指导、流程化判读与动态监测、关键研究/指南/共识证据、案例分享与进展方向，共十二章。</a:t>
            </a:r>
          </a:p>
          <a:p>
            <a:r>
              <a:rPr lang="zh-CN" sz="1200"/>
              <a:t>所有关键结论均附参考文献及 PMID（已在 PubMed 核验）；配套《综述》Word 文档同步交付，供学习与引用。</a:t>
            </a:r>
          </a:p>
          <a:p>
            <a:r>
              <a:rPr lang="zh-CN" sz="1200"/>
              <a:t>致谢：感谢检验医学与出凝血团队提供的病例与讨论素材；如有疏漏，欢迎批评指正。</a:t>
            </a:r>
          </a:p>
        </p:txBody>
      </p:sp>
    </p:spTree>
  </p:cSld>
  <p:clrMapOvr>
    <a:masterClrMapping/>
  </p:clrMapOvr>
</p:notes>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7.xml"/></Relationships>
</file>

<file path=ppt/slides/slide1.xml><?xml version="1.0" encoding="utf-8"?>
<p:sld xmlns:p="http://schemas.openxmlformats.org/presentationml/2006/main" xmlns:a="http://schemas.openxmlformats.org/drawingml/2006/main">
  <p:cSld>
    <p:spTree>
      <p:nvGrpSpPr>
        <p:cNvPr id="1" name="" descr="&lt;Slide notes={`演讲者备注：本套课件围绕“血小板计数与功能”这一主题，从检验与临床双视角展开。全篇主线：先建立血小板生理与病理的概念框架；再讲清计数与功能两大检测体系的方法学、阈值与误差来源；随后用表格对比血小板指标与其他凝血/止血检测的异同；进而按临床场景（ITP、HIT、DIC、ICU、肝病、妊娠、创伤、心脏外科、抗血小板治疗等）讨论如何解读、如何指导治疗；最后落到流程化判读、动态监测的意义、关键临床研究与指南证据、真实案例，以及进展与研究方向。所有关键结论均附参考文献与 PMID，便于溯源与二次学习。本页与目录页为结构说明页。`} style={{ width: '1280px', height: '720px', background: '#0E3F8C', padding: 0 }}&gt;&#13;&#10;  &lt;Box style={{ position: 'absolute', left: 0, top: 0, width: 12, height: 720, background: '#3D7BD9' }} /&gt;&#13;&#10;  &lt;Box style={{ position: 'absolute', right: -90, top: -90, width: 460, height: 460, borderRadius: 230, background: '#164A9E' }} /&gt;&#13;&#10;  &lt;Box style={{ position: 'absolute', right: 80, bottom: -130, width: 320, height: 320, borderRadius: 160, background: '#12448F' }} /&gt;&#13;&#10;  &lt;Box style={{ position: 'absolute', left: 110, top: 150, width: 1000 }}&gt;&#13;&#10;    &lt;Text style={{ fontSize: 22, color: '#9DB8E0', letterSpacing: 4 }}&gt;学 术 讲 座 · 出凝血检验与临床专题&lt;/Text&gt;&#13;&#10;    &lt;Box style={{ width: 90, height: 5, background: '#3D7BD9', marginTop: 22, marginBottom: 26 }} /&gt;&#13;&#10;    &lt;Text style={{ fontSize: 58, color: '#FFFFFF', fontWeight: 'bold', lineHeight: 1.15 }}&gt;血小板（PLT）计数与功能解读&lt;/Text&gt;&#13;&#10;    &lt;Text style={{ fontSize: 24, color: '#C7D6EC', marginTop: 14, fontFamily: 'Times New Roman' }}&gt;Platelet Count &amp;amp; Function: From Laboratory Parameters to Clinical Decision-Making&lt;/Text&gt;&#13;&#10;    &lt;Box style={{ width: 780, height: 1, background: '#2E5BA8', marginTop: 28, marginBottom: 22 }} /&gt;&#13;&#10;    &lt;Text style={{ fontSize: 20, color: '#9DB8E0' }}&gt;定义 · 方法学 · 阈值与误读 · 与其他检测对比 · 场景解读 · 流程与动态监测 · 证据 · 案例 · 进展&lt;/Text&gt;&#13;&#10;  &lt;/Box&gt;&#13;&#10;  &lt;Box style={{ position: 'absolute', left: 110, bottom: 60, flexDirection: 'row', gap: 40 }}&gt;&#13;&#10;    &lt;Text style={{ fontSize: 16, color: '#9DB8E0' }}&gt;汇报人：__________&lt;/Text&gt;&#13;&#10;    &lt;Text style={{ fontSize: 16, color: '#9DB8E0' }}&gt;单位：__________&lt;/Text&gt;&#13;&#10;    &lt;Text style={{ fontSize: 16, color: '#9DB8E0' }}&gt;日期：2026-09-06&lt;/Text&gt;&#13;&#10;  &lt;/Box&gt;&#13;&#10;&lt;/Slide&gt;"/>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E3F8C"/>
          </a:solidFill>
          <a:ln/>
        </p:spPr>
        <p:txBody>
          <a:bodyPr/>
          <a:p/>
        </p:txBody>
      </p:sp>
      <p:sp>
        <p:nvSpPr>
          <p:cNvPr id="3" name=""/>
          <p:cNvSpPr/>
          <p:nvPr/>
        </p:nvSpPr>
        <p:spPr>
          <a:xfrm rot="0" flipH="0" flipV="0">
            <a:off x="0" y="0"/>
            <a:ext cx="114300" cy="6858000"/>
          </a:xfrm>
          <a:prstGeom prst="rect">
            <a:avLst/>
          </a:prstGeom>
          <a:solidFill>
            <a:srgbClr val="3D7BD9"/>
          </a:solidFill>
          <a:ln/>
        </p:spPr>
        <p:txBody>
          <a:bodyPr/>
          <a:p/>
        </p:txBody>
      </p:sp>
      <p:sp>
        <p:nvSpPr>
          <p:cNvPr id="4" name=""/>
          <p:cNvSpPr/>
          <p:nvPr/>
        </p:nvSpPr>
        <p:spPr>
          <a:xfrm rot="0" flipH="0" flipV="0">
            <a:off x="8667750" y="-857250"/>
            <a:ext cx="4381500" cy="4381500"/>
          </a:xfrm>
          <a:prstGeom prst="roundRect">
            <a:avLst>
              <a:gd name="adj" fmla="val 50000"/>
            </a:avLst>
          </a:prstGeom>
          <a:solidFill>
            <a:srgbClr val="164A9E"/>
          </a:solidFill>
          <a:ln/>
        </p:spPr>
        <p:txBody>
          <a:bodyPr/>
          <a:p/>
        </p:txBody>
      </p:sp>
      <p:sp>
        <p:nvSpPr>
          <p:cNvPr id="5" name=""/>
          <p:cNvSpPr/>
          <p:nvPr/>
        </p:nvSpPr>
        <p:spPr>
          <a:xfrm rot="0" flipH="0" flipV="0">
            <a:off x="8382000" y="5048250"/>
            <a:ext cx="3048000" cy="3048000"/>
          </a:xfrm>
          <a:prstGeom prst="roundRect">
            <a:avLst>
              <a:gd name="adj" fmla="val 50000"/>
            </a:avLst>
          </a:prstGeom>
          <a:solidFill>
            <a:srgbClr val="12448F"/>
          </a:solidFill>
          <a:ln/>
        </p:spPr>
        <p:txBody>
          <a:bodyPr/>
          <a:p/>
        </p:txBody>
      </p:sp>
      <p:sp>
        <p:nvSpPr>
          <p:cNvPr id="6" name="" descr="{&quot;isTemplate&quot;:true,&quot;type&quot;:&quot;text&quot;}"/>
          <p:cNvSpPr txBox="1"/>
          <p:nvPr/>
        </p:nvSpPr>
        <p:spPr>
          <a:xfrm rot="0" flipH="0" flipV="0">
            <a:off x="1047750" y="1428750"/>
            <a:ext cx="9525000" cy="257175"/>
          </a:xfrm>
          <a:prstGeom prst="rect"/>
        </p:spPr>
        <p:txBody>
          <a:bodyPr wrap="none" lIns="0" tIns="0" rIns="0" bIns="0"/>
          <a:p>
            <a:pPr>
              <a:lnSpc>
                <a:spcPct val="100000"/>
              </a:lnSpc>
            </a:pPr>
            <a:r>
              <a:rPr lang="zh-CN" sz="1650" spc="300">
                <a:solidFill>
                  <a:srgbClr val="9DB8E0"/>
                </a:solidFill>
                <a:latin typeface="Microsoft YaHei"/>
                <a:ea typeface="Microsoft YaHei"/>
              </a:rPr>
              <a:t>学</a:t>
            </a:r>
            <a:r>
              <a:rPr lang="en-US" sz="1650" spc="300">
                <a:solidFill>
                  <a:srgbClr val="9DB8E0"/>
                </a:solidFill>
                <a:latin typeface="Microsoft YaHei"/>
                <a:ea typeface="Microsoft YaHei"/>
              </a:rPr>
              <a:t> </a:t>
            </a:r>
            <a:r>
              <a:rPr lang="zh-CN" sz="1650" spc="300">
                <a:solidFill>
                  <a:srgbClr val="9DB8E0"/>
                </a:solidFill>
                <a:latin typeface="Microsoft YaHei"/>
                <a:ea typeface="Microsoft YaHei"/>
              </a:rPr>
              <a:t>术</a:t>
            </a:r>
            <a:r>
              <a:rPr lang="en-US" sz="1650" spc="300">
                <a:solidFill>
                  <a:srgbClr val="9DB8E0"/>
                </a:solidFill>
                <a:latin typeface="Microsoft YaHei"/>
                <a:ea typeface="Microsoft YaHei"/>
              </a:rPr>
              <a:t> </a:t>
            </a:r>
            <a:r>
              <a:rPr lang="zh-CN" sz="1650" spc="300">
                <a:solidFill>
                  <a:srgbClr val="9DB8E0"/>
                </a:solidFill>
                <a:latin typeface="Microsoft YaHei"/>
                <a:ea typeface="Microsoft YaHei"/>
              </a:rPr>
              <a:t>讲</a:t>
            </a:r>
            <a:r>
              <a:rPr lang="en-US" sz="1650" spc="300">
                <a:solidFill>
                  <a:srgbClr val="9DB8E0"/>
                </a:solidFill>
                <a:latin typeface="Microsoft YaHei"/>
                <a:ea typeface="Microsoft YaHei"/>
              </a:rPr>
              <a:t> </a:t>
            </a:r>
            <a:r>
              <a:rPr lang="zh-CN" sz="1650" spc="300">
                <a:solidFill>
                  <a:srgbClr val="9DB8E0"/>
                </a:solidFill>
                <a:latin typeface="Microsoft YaHei"/>
                <a:ea typeface="Microsoft YaHei"/>
              </a:rPr>
              <a:t>座</a:t>
            </a:r>
            <a:r>
              <a:rPr lang="en-US" sz="1650" spc="300">
                <a:solidFill>
                  <a:srgbClr val="9DB8E0"/>
                </a:solidFill>
                <a:latin typeface="Microsoft YaHei"/>
                <a:ea typeface="Microsoft YaHei"/>
              </a:rPr>
              <a:t> · </a:t>
            </a:r>
            <a:r>
              <a:rPr lang="zh-CN" sz="1650" spc="300">
                <a:solidFill>
                  <a:srgbClr val="9DB8E0"/>
                </a:solidFill>
                <a:latin typeface="Microsoft YaHei"/>
                <a:ea typeface="Microsoft YaHei"/>
              </a:rPr>
              <a:t>出凝血检验与临床专题</a:t>
            </a:r>
            <a:endParaRPr/>
          </a:p>
        </p:txBody>
      </p:sp>
      <p:sp>
        <p:nvSpPr>
          <p:cNvPr id="7" name=""/>
          <p:cNvSpPr/>
          <p:nvPr/>
        </p:nvSpPr>
        <p:spPr>
          <a:xfrm rot="0" flipH="0" flipV="0">
            <a:off x="1047750" y="1895475"/>
            <a:ext cx="857250" cy="47625"/>
          </a:xfrm>
          <a:prstGeom prst="rect">
            <a:avLst/>
          </a:prstGeom>
          <a:solidFill>
            <a:srgbClr val="3D7BD9"/>
          </a:solidFill>
          <a:ln/>
        </p:spPr>
        <p:txBody>
          <a:bodyPr/>
          <a:p/>
        </p:txBody>
      </p:sp>
      <p:sp>
        <p:nvSpPr>
          <p:cNvPr id="8" name="" descr="{&quot;isTemplate&quot;:true,&quot;type&quot;:&quot;text&quot;}"/>
          <p:cNvSpPr txBox="1"/>
          <p:nvPr/>
        </p:nvSpPr>
        <p:spPr>
          <a:xfrm rot="0" flipH="0" flipV="0">
            <a:off x="1047750" y="2190750"/>
            <a:ext cx="9525000" cy="771525"/>
          </a:xfrm>
          <a:prstGeom prst="rect"/>
        </p:spPr>
        <p:txBody>
          <a:bodyPr wrap="none" lIns="0" tIns="0" rIns="0" bIns="0"/>
          <a:p>
            <a:pPr>
              <a:lnSpc>
                <a:spcPct val="114999"/>
              </a:lnSpc>
            </a:pPr>
            <a:r>
              <a:rPr lang="zh-CN" sz="4350" b="1">
                <a:solidFill>
                  <a:srgbClr val="FFFFFF"/>
                </a:solidFill>
                <a:latin typeface="Microsoft YaHei"/>
                <a:ea typeface="Microsoft YaHei"/>
              </a:rPr>
              <a:t>血小板（</a:t>
            </a:r>
            <a:r>
              <a:rPr lang="en-US" sz="4350" b="1">
                <a:solidFill>
                  <a:srgbClr val="FFFFFF"/>
                </a:solidFill>
                <a:latin typeface="Microsoft YaHei"/>
                <a:ea typeface="Microsoft YaHei"/>
              </a:rPr>
              <a:t>PLT</a:t>
            </a:r>
            <a:r>
              <a:rPr lang="zh-CN" sz="4350" b="1">
                <a:solidFill>
                  <a:srgbClr val="FFFFFF"/>
                </a:solidFill>
                <a:latin typeface="Microsoft YaHei"/>
                <a:ea typeface="Microsoft YaHei"/>
              </a:rPr>
              <a:t>）计数与功能解读</a:t>
            </a:r>
            <a:endParaRPr/>
          </a:p>
        </p:txBody>
      </p:sp>
      <p:sp>
        <p:nvSpPr>
          <p:cNvPr id="9" name="" descr="{&quot;isTemplate&quot;:true,&quot;type&quot;:&quot;text&quot;}"/>
          <p:cNvSpPr txBox="1"/>
          <p:nvPr/>
        </p:nvSpPr>
        <p:spPr>
          <a:xfrm rot="0" flipH="0" flipV="0">
            <a:off x="1047750" y="3095625"/>
            <a:ext cx="9525000" cy="276225"/>
          </a:xfrm>
          <a:prstGeom prst="rect"/>
        </p:spPr>
        <p:txBody>
          <a:bodyPr wrap="none" lIns="0" tIns="0" rIns="0" bIns="0"/>
          <a:p>
            <a:pPr>
              <a:lnSpc>
                <a:spcPct val="100000"/>
              </a:lnSpc>
            </a:pPr>
            <a:r>
              <a:rPr lang="en-US" sz="1800">
                <a:solidFill>
                  <a:srgbClr val="C7D6EC"/>
                </a:solidFill>
                <a:latin typeface="Times New Roman"/>
                <a:ea typeface="Times New Roman"/>
              </a:rPr>
              <a:t>Platelet Count &amp; Function: From Laboratory Parameters to Clinical Decision-Making</a:t>
            </a:r>
            <a:endParaRPr/>
          </a:p>
        </p:txBody>
      </p:sp>
      <p:sp>
        <p:nvSpPr>
          <p:cNvPr id="10" name=""/>
          <p:cNvSpPr/>
          <p:nvPr/>
        </p:nvSpPr>
        <p:spPr>
          <a:xfrm rot="0" flipH="0" flipV="0">
            <a:off x="1047750" y="3638550"/>
            <a:ext cx="7429500" cy="9525"/>
          </a:xfrm>
          <a:prstGeom prst="rect">
            <a:avLst/>
          </a:prstGeom>
          <a:solidFill>
            <a:srgbClr val="2E5BA8"/>
          </a:solidFill>
          <a:ln/>
        </p:spPr>
        <p:txBody>
          <a:bodyPr/>
          <a:p/>
        </p:txBody>
      </p:sp>
      <p:sp>
        <p:nvSpPr>
          <p:cNvPr id="11" name="" descr="{&quot;isTemplate&quot;:true,&quot;type&quot;:&quot;text&quot;}"/>
          <p:cNvSpPr txBox="1"/>
          <p:nvPr/>
        </p:nvSpPr>
        <p:spPr>
          <a:xfrm rot="0" flipH="0" flipV="0">
            <a:off x="1047750" y="3857625"/>
            <a:ext cx="9525000" cy="228600"/>
          </a:xfrm>
          <a:prstGeom prst="rect"/>
        </p:spPr>
        <p:txBody>
          <a:bodyPr wrap="none" lIns="0" tIns="0" rIns="0" bIns="0"/>
          <a:p>
            <a:pPr>
              <a:lnSpc>
                <a:spcPct val="100000"/>
              </a:lnSpc>
            </a:pPr>
            <a:r>
              <a:rPr lang="zh-CN" sz="1500">
                <a:solidFill>
                  <a:srgbClr val="9DB8E0"/>
                </a:solidFill>
                <a:latin typeface="Microsoft YaHei"/>
                <a:ea typeface="Microsoft YaHei"/>
              </a:rPr>
              <a:t>定义</a:t>
            </a:r>
            <a:r>
              <a:rPr lang="en-US" sz="1500">
                <a:solidFill>
                  <a:srgbClr val="9DB8E0"/>
                </a:solidFill>
                <a:latin typeface="Microsoft YaHei"/>
                <a:ea typeface="Microsoft YaHei"/>
              </a:rPr>
              <a:t> · </a:t>
            </a:r>
            <a:r>
              <a:rPr lang="zh-CN" sz="1500">
                <a:solidFill>
                  <a:srgbClr val="9DB8E0"/>
                </a:solidFill>
                <a:latin typeface="Microsoft YaHei"/>
                <a:ea typeface="Microsoft YaHei"/>
              </a:rPr>
              <a:t>方法学</a:t>
            </a:r>
            <a:r>
              <a:rPr lang="en-US" sz="1500">
                <a:solidFill>
                  <a:srgbClr val="9DB8E0"/>
                </a:solidFill>
                <a:latin typeface="Microsoft YaHei"/>
                <a:ea typeface="Microsoft YaHei"/>
              </a:rPr>
              <a:t> · </a:t>
            </a:r>
            <a:r>
              <a:rPr lang="zh-CN" sz="1500">
                <a:solidFill>
                  <a:srgbClr val="9DB8E0"/>
                </a:solidFill>
                <a:latin typeface="Microsoft YaHei"/>
                <a:ea typeface="Microsoft YaHei"/>
              </a:rPr>
              <a:t>阈值与误读</a:t>
            </a:r>
            <a:r>
              <a:rPr lang="en-US" sz="1500">
                <a:solidFill>
                  <a:srgbClr val="9DB8E0"/>
                </a:solidFill>
                <a:latin typeface="Microsoft YaHei"/>
                <a:ea typeface="Microsoft YaHei"/>
              </a:rPr>
              <a:t> · </a:t>
            </a:r>
            <a:r>
              <a:rPr lang="zh-CN" sz="1500">
                <a:solidFill>
                  <a:srgbClr val="9DB8E0"/>
                </a:solidFill>
                <a:latin typeface="Microsoft YaHei"/>
                <a:ea typeface="Microsoft YaHei"/>
              </a:rPr>
              <a:t>与其他检测对比</a:t>
            </a:r>
            <a:r>
              <a:rPr lang="en-US" sz="1500">
                <a:solidFill>
                  <a:srgbClr val="9DB8E0"/>
                </a:solidFill>
                <a:latin typeface="Microsoft YaHei"/>
                <a:ea typeface="Microsoft YaHei"/>
              </a:rPr>
              <a:t> · </a:t>
            </a:r>
            <a:r>
              <a:rPr lang="zh-CN" sz="1500">
                <a:solidFill>
                  <a:srgbClr val="9DB8E0"/>
                </a:solidFill>
                <a:latin typeface="Microsoft YaHei"/>
                <a:ea typeface="Microsoft YaHei"/>
              </a:rPr>
              <a:t>场景解读</a:t>
            </a:r>
            <a:r>
              <a:rPr lang="en-US" sz="1500">
                <a:solidFill>
                  <a:srgbClr val="9DB8E0"/>
                </a:solidFill>
                <a:latin typeface="Microsoft YaHei"/>
                <a:ea typeface="Microsoft YaHei"/>
              </a:rPr>
              <a:t> · </a:t>
            </a:r>
            <a:r>
              <a:rPr lang="zh-CN" sz="1500">
                <a:solidFill>
                  <a:srgbClr val="9DB8E0"/>
                </a:solidFill>
                <a:latin typeface="Microsoft YaHei"/>
                <a:ea typeface="Microsoft YaHei"/>
              </a:rPr>
              <a:t>流程与动态监测</a:t>
            </a:r>
            <a:r>
              <a:rPr lang="en-US" sz="1500">
                <a:solidFill>
                  <a:srgbClr val="9DB8E0"/>
                </a:solidFill>
                <a:latin typeface="Microsoft YaHei"/>
                <a:ea typeface="Microsoft YaHei"/>
              </a:rPr>
              <a:t> · </a:t>
            </a:r>
            <a:r>
              <a:rPr lang="zh-CN" sz="1500">
                <a:solidFill>
                  <a:srgbClr val="9DB8E0"/>
                </a:solidFill>
                <a:latin typeface="Microsoft YaHei"/>
                <a:ea typeface="Microsoft YaHei"/>
              </a:rPr>
              <a:t>证据</a:t>
            </a:r>
            <a:r>
              <a:rPr lang="en-US" sz="1500">
                <a:solidFill>
                  <a:srgbClr val="9DB8E0"/>
                </a:solidFill>
                <a:latin typeface="Microsoft YaHei"/>
                <a:ea typeface="Microsoft YaHei"/>
              </a:rPr>
              <a:t> · </a:t>
            </a:r>
            <a:r>
              <a:rPr lang="zh-CN" sz="1500">
                <a:solidFill>
                  <a:srgbClr val="9DB8E0"/>
                </a:solidFill>
                <a:latin typeface="Microsoft YaHei"/>
                <a:ea typeface="Microsoft YaHei"/>
              </a:rPr>
              <a:t>案例</a:t>
            </a:r>
            <a:r>
              <a:rPr lang="en-US" sz="1500">
                <a:solidFill>
                  <a:srgbClr val="9DB8E0"/>
                </a:solidFill>
                <a:latin typeface="Microsoft YaHei"/>
                <a:ea typeface="Microsoft YaHei"/>
              </a:rPr>
              <a:t> · </a:t>
            </a:r>
            <a:r>
              <a:rPr lang="zh-CN" sz="1500">
                <a:solidFill>
                  <a:srgbClr val="9DB8E0"/>
                </a:solidFill>
                <a:latin typeface="Microsoft YaHei"/>
                <a:ea typeface="Microsoft YaHei"/>
              </a:rPr>
              <a:t>进展</a:t>
            </a:r>
            <a:endParaRPr/>
          </a:p>
        </p:txBody>
      </p:sp>
      <p:sp>
        <p:nvSpPr>
          <p:cNvPr id="12" name="" descr="{&quot;isTemplate&quot;:true,&quot;type&quot;:&quot;text&quot;}"/>
          <p:cNvSpPr txBox="1"/>
          <p:nvPr/>
        </p:nvSpPr>
        <p:spPr>
          <a:xfrm rot="0" flipH="0" flipV="0">
            <a:off x="1047750" y="6096000"/>
            <a:ext cx="1295400" cy="190500"/>
          </a:xfrm>
          <a:prstGeom prst="rect"/>
        </p:spPr>
        <p:txBody>
          <a:bodyPr wrap="none" lIns="0" tIns="0" rIns="0" bIns="0"/>
          <a:p>
            <a:pPr>
              <a:lnSpc>
                <a:spcPct val="100000"/>
              </a:lnSpc>
            </a:pPr>
            <a:r>
              <a:rPr lang="zh-CN" sz="1200">
                <a:solidFill>
                  <a:srgbClr val="9DB8E0"/>
                </a:solidFill>
                <a:latin typeface="Microsoft YaHei"/>
                <a:ea typeface="Microsoft YaHei"/>
              </a:rPr>
              <a:t>汇报人：</a:t>
            </a:r>
            <a:r>
              <a:rPr lang="en-US" sz="1200">
                <a:solidFill>
                  <a:srgbClr val="9DB8E0"/>
                </a:solidFill>
                <a:latin typeface="Microsoft YaHei"/>
                <a:ea typeface="Microsoft YaHei"/>
              </a:rPr>
              <a:t>__________</a:t>
            </a:r>
            <a:endParaRPr/>
          </a:p>
        </p:txBody>
      </p:sp>
      <p:sp>
        <p:nvSpPr>
          <p:cNvPr id="13" name="" descr="{&quot;isTemplate&quot;:true,&quot;type&quot;:&quot;text&quot;}"/>
          <p:cNvSpPr txBox="1"/>
          <p:nvPr/>
        </p:nvSpPr>
        <p:spPr>
          <a:xfrm rot="0" flipH="0" flipV="0">
            <a:off x="2724150" y="6096000"/>
            <a:ext cx="1143000" cy="190500"/>
          </a:xfrm>
          <a:prstGeom prst="rect"/>
        </p:spPr>
        <p:txBody>
          <a:bodyPr wrap="none" lIns="0" tIns="0" rIns="0" bIns="0"/>
          <a:p>
            <a:pPr>
              <a:lnSpc>
                <a:spcPct val="100000"/>
              </a:lnSpc>
            </a:pPr>
            <a:r>
              <a:rPr lang="zh-CN" sz="1200">
                <a:solidFill>
                  <a:srgbClr val="9DB8E0"/>
                </a:solidFill>
                <a:latin typeface="Microsoft YaHei"/>
                <a:ea typeface="Microsoft YaHei"/>
              </a:rPr>
              <a:t>单位：</a:t>
            </a:r>
            <a:r>
              <a:rPr lang="en-US" sz="1200">
                <a:solidFill>
                  <a:srgbClr val="9DB8E0"/>
                </a:solidFill>
                <a:latin typeface="Microsoft YaHei"/>
                <a:ea typeface="Microsoft YaHei"/>
              </a:rPr>
              <a:t>__________</a:t>
            </a:r>
            <a:endParaRPr/>
          </a:p>
        </p:txBody>
      </p:sp>
      <p:sp>
        <p:nvSpPr>
          <p:cNvPr id="14" name="" descr="{&quot;isTemplate&quot;:true,&quot;type&quot;:&quot;text&quot;}"/>
          <p:cNvSpPr txBox="1"/>
          <p:nvPr/>
        </p:nvSpPr>
        <p:spPr>
          <a:xfrm rot="0" flipH="0" flipV="0">
            <a:off x="4248150" y="6096000"/>
            <a:ext cx="1304925" cy="190500"/>
          </a:xfrm>
          <a:prstGeom prst="rect"/>
        </p:spPr>
        <p:txBody>
          <a:bodyPr wrap="none" lIns="0" tIns="0" rIns="0" bIns="0"/>
          <a:p>
            <a:pPr>
              <a:lnSpc>
                <a:spcPct val="100000"/>
              </a:lnSpc>
            </a:pPr>
            <a:r>
              <a:rPr lang="zh-CN" sz="1200">
                <a:solidFill>
                  <a:srgbClr val="9DB8E0"/>
                </a:solidFill>
                <a:latin typeface="Microsoft YaHei"/>
                <a:ea typeface="Microsoft YaHei"/>
              </a:rPr>
              <a:t>日期：</a:t>
            </a:r>
            <a:r>
              <a:rPr lang="en-US" sz="1200">
                <a:solidFill>
                  <a:srgbClr val="9DB8E0"/>
                </a:solidFill>
                <a:latin typeface="Microsoft YaHei"/>
                <a:ea typeface="Microsoft YaHei"/>
              </a:rPr>
              <a:t>2026-09-06</a:t>
            </a:r>
            <a:endParaRPr/>
          </a:p>
        </p:txBody>
      </p:sp>
    </p:spTree>
  </p:cSld>
</p:sld>
</file>

<file path=ppt/slides/slide2.xml><?xml version="1.0" encoding="utf-8"?>
<p:sld xmlns:p="http://schemas.openxmlformats.org/presentationml/2006/main" xmlns:a="http://schemas.openxmlformats.org/drawingml/2006/main">
  <p:cSld>
    <p:spTree>
      <p:nvGrpSpPr>
        <p:cNvPr id="273" name="" descr="&lt;Slide notes={`演讲者备注：本页为全篇目录。十二个章节按“概念→方法学→解读→场景→流程→证据→案例→前沿”展开，覆盖用户要求的定义、检验解读、方法学、阈值、误差/误读、与其他凝血检测异同（表格）、临床意义、场景解读与治疗指导、流程化判读、动态监测、临床研究与指南共识、案例与研究方向。全篇约 70+ 页，页脚与备注均给出可溯源的文献与 PMID。`} style={{ width: '1280px', height: '720px', background: '#FFFFFF', padding: 0 }}&gt;&#13;&#10;  &lt;Box style={{ position: 'absolute', left: 0, top: 0, width: 360, height: 720, background: '#0E3F8C' }}&gt;&#13;&#10;    &lt;Text style={{ position: 'absolute', left: 48, top: 250, fontSize: 40, color: '#FFFFFF', fontWeight: 'bold' }}&gt;目录&lt;/Text&gt;&#13;&#10;    &lt;Text style={{ position: 'absolute', left: 50, top: 302, fontSize: 18, color: '#9DB8E0', fontFamily: 'Times New Roman' }}&gt;CONTENTS&lt;/Text&gt;&#13;&#10;    &lt;Box style={{ position: 'absolute', left: 48, top: 332, width: 80, height: 5, background: '#3D7BD9' }} /&gt;&#13;&#10;    &lt;Text style={{ position: 'absolute', left: 48, top: 366, fontSize: 15, color: '#9DB8E0', lineHeight: 1.6 }}&gt;血小板：定义 · 计数与功能方法学 · 阈值与误读 · 对比 · 场景 · 流程与监测 · 证据 · 案例 · 进展&lt;/Text&gt;&#13;&#10;  &lt;/Box&gt;&#13;&#10;  &lt;Box style={{ position: 'absolute', left: 430, top: 132, width: 790, height: 43, flexDirection: 'row', alignItems: 'center', gap: 20 }}&gt;&#13;&#10;    &lt;Text style={{ fontSize: 30, color: '#3D7BD9', fontWeight: 'bold', width: 52 }}&gt;01&lt;/Text&gt;&#13;&#10;    &lt;Box style={{ width: 1, height: 34, background: '#D6DCE5' }} /&gt;&#13;&#10;    &lt;Box style={{ flexDirection: 'column' }}&gt;&#13;&#10;      &lt;Text style={{ fontSize: 20, color: '#0E3F8C', fontWeight: 'bold' }}&gt;定义与生理基础&lt;/Text&gt;&#13;&#10;      &lt;Text style={{ fontSize: 14, color: '#6B7B8C' }}&gt;血小板生成、结构与一级止血角色；数量与功能双维度&lt;/Text&gt;&#13;&#10;    &lt;/Box&gt;&#13;&#10;  &lt;/Box&gt;&#13;&#10;  &lt;Box style={{ position: 'absolute', left: 430, top: 175, width: 790, height: 43, flexDirection: 'row', alignItems: 'center', gap: 20 }}&gt;&#13;&#10;    &lt;Text style={{ fontSize: 30, color: '#3D7BD9', fontWeight: 'bold', width: 52 }}&gt;02&lt;/Text&gt;&#13;&#10;    &lt;Box style={{ width: 1, height: 34, background: '#D6DCE5' }} /&gt;&#13;&#10;    &lt;Box style={{ flexDirection: 'column' }}&gt;&#13;&#10;      &lt;Text style={{ fontSize: 20, color: '#0E3F8C', fontWeight: 'bold' }}&gt;计数方法与参数解读&lt;/Text&gt;&#13;&#10;      &lt;Text style={{ fontSize: 14, color: '#6B7B8C' }}&gt;阻抗/光学/荧光/参考方法；直方图、MPV、IPF；复检规则与参考区间&lt;/Text&gt;&#13;&#10;    &lt;/Box&gt;&#13;&#10;  &lt;/Box&gt;&#13;&#10;  &lt;Box style={{ position: 'absolute', left: 430, top: 218, width: 790, height: 43, flexDirection: 'row', alignItems: 'center', gap: 20 }}&gt;&#13;&#10;    &lt;Text style={{ fontSize: 30, color: '#3D7BD9', fontWeight: 'bold', width: 52 }}&gt;03&lt;/Text&gt;&#13;&#10;    &lt;Box style={{ width: 1, height: 34, background: '#D6DCE5' }} /&gt;&#13;&#10;    &lt;Box style={{ flexDirection: 'column' }}&gt;&#13;&#10;      &lt;Text style={{ fontSize: 20, color: '#0E3F8C', fontWeight: 'bold' }}&gt;血小板功能检测方法学&lt;/Text&gt;&#13;&#10;      &lt;Text style={{ fontSize: 14, color: '#6B7B8C' }}&gt;LTA、阻抗法、VerifyNow、PFA、VASP、流式、分泌、VET；方法与适用&lt;/Text&gt;&#13;&#10;    &lt;/Box&gt;&#13;&#10;  &lt;/Box&gt;&#13;&#10;  &lt;Box style={{ position: 'absolute', left: 430, top: 261, width: 790, height: 43, flexDirection: 'row', alignItems: 'center', gap: 20 }}&gt;&#13;&#10;    &lt;Text style={{ fontSize: 30, color: '#3D7BD9', fontWeight: 'bold', width: 52 }}&gt;04&lt;/Text&gt;&#13;&#10;    &lt;Box style={{ width: 1, height: 34, background: '#D6DCE5' }} /&gt;&#13;&#10;    &lt;Box style={{ flexDirection: 'column' }}&gt;&#13;&#10;      &lt;Text style={{ fontSize: 20, color: '#0E3F8C', fontWeight: 'bold' }}&gt;阈值、分级与危急值&lt;/Text&gt;&#13;&#10;      &lt;Text style={{ fontSize: 14, color: '#6B7B8C' }}&gt;WHO/CTCAE 分级、预防性输注阈值、增多与血栓风险&lt;/Text&gt;&#13;&#10;    &lt;/Box&gt;&#13;&#10;  &lt;/Box&gt;&#13;&#10;  &lt;Box style={{ position: 'absolute', left: 430, top: 304, width: 790, height: 43, flexDirection: 'row', alignItems: 'center', gap: 20 }}&gt;&#13;&#10;    &lt;Text style={{ fontSize: 30, color: '#3D7BD9', fontWeight: 'bold', width: 52 }}&gt;05&lt;/Text&gt;&#13;&#10;    &lt;Box style={{ width: 1, height: 34, background: '#D6DCE5' }} /&gt;&#13;&#10;    &lt;Box style={{ flexDirection: 'column' }}&gt;&#13;&#10;      &lt;Text style={{ fontSize: 20, color: '#0E3F8C', fontWeight: 'bold' }}&gt;误差来源与误读陷阱&lt;/Text&gt;&#13;&#10;      &lt;Text style={{ fontSize: 14, color: '#6B7B8C' }}&gt;EDTA 假性减少、卫星现象、功能检测干扰、分析前变异&lt;/Text&gt;&#13;&#10;    &lt;/Box&gt;&#13;&#10;  &lt;/Box&gt;&#13;&#10;  &lt;Box style={{ position: 'absolute', left: 430, top: 347, width: 790, height: 43, flexDirection: 'row', alignItems: 'center', gap: 20 }}&gt;&#13;&#10;    &lt;Text style={{ fontSize: 30, color: '#3D7BD9', fontWeight: 'bold', width: 52 }}&gt;06&lt;/Text&gt;&#13;&#10;    &lt;Box style={{ width: 1, height: 34, background: '#D6DCE5' }} /&gt;&#13;&#10;    &lt;Box style={{ flexDirection: 'column' }}&gt;&#13;&#10;      &lt;Text style={{ fontSize: 20, color: '#0E3F8C', fontWeight: 'bold' }}&gt;与其他凝血检测的异同&lt;/Text&gt;&#13;&#10;      &lt;Text style={{ fontSize: 14, color: '#6B7B8C' }}&gt;与 PT/APTT、FIB、D-D、VWF、VET 的分工与互补（表格）&lt;/Text&gt;&#13;&#10;    &lt;/Box&gt;&#13;&#10;  &lt;/Box&gt;&#13;&#10;  &lt;Box style={{ position: 'absolute', left: 430, top: 390, width: 790, height: 43, flexDirection: 'row', alignItems: 'center', gap: 20 }}&gt;&#13;&#10;    &lt;Text style={{ fontSize: 30, color: '#3D7BD9', fontWeight: 'bold', width: 52 }}&gt;07&lt;/Text&gt;&#13;&#10;    &lt;Box style={{ width: 1, height: 34, background: '#D6DCE5' }} /&gt;&#13;&#10;    &lt;Box style={{ flexDirection: 'column' }}&gt;&#13;&#10;      &lt;Text style={{ fontSize: 20, color: '#0E3F8C', fontWeight: 'bold' }}&gt;减少场景：免疫与消耗&lt;/Text&gt;&#13;&#10;      &lt;Text style={{ fontSize: 14, color: '#6B7B8C' }}&gt;ITP、HIT、DIC、ICU、药源性血小板减少的系统解读&lt;/Text&gt;&#13;&#10;    &lt;/Box&gt;&#13;&#10;  &lt;/Box&gt;&#13;&#10;  &lt;Box style={{ position: 'absolute', left: 430, top: 433, width: 790, height: 43, flexDirection: 'row', alignItems: 'center', gap: 20 }}&gt;&#13;&#10;    &lt;Text style={{ fontSize: 30, color: '#3D7BD9', fontWeight: 'bold', width: 52 }}&gt;08&lt;/Text&gt;&#13;&#10;    &lt;Box style={{ width: 1, height: 34, background: '#D6DCE5' }} /&gt;&#13;&#10;    &lt;Box style={{ flexDirection: 'column' }}&gt;&#13;&#10;      &lt;Text style={{ fontSize: 20, color: '#0E3F8C', fontWeight: 'bold' }}&gt;特殊人群与围术期场景&lt;/Text&gt;&#13;&#10;      &lt;Text style={{ fontSize: 14, color: '#6B7B8C' }}&gt;肝病、妊娠、创伤、心脏外科、抗血小板监测、先天缺陷、输注实践&lt;/Text&gt;&#13;&#10;    &lt;/Box&gt;&#13;&#10;  &lt;/Box&gt;&#13;&#10;  &lt;Box style={{ position: 'absolute', left: 430, top: 476, width: 790, height: 43, flexDirection: 'row', alignItems: 'center', gap: 20 }}&gt;&#13;&#10;    &lt;Text style={{ fontSize: 30, color: '#3D7BD9', fontWeight: 'bold', width: 52 }}&gt;09&lt;/Text&gt;&#13;&#10;    &lt;Box style={{ width: 1, height: 34, background: '#D6DCE5' }} /&gt;&#13;&#10;    &lt;Box style={{ flexDirection: 'column' }}&gt;&#13;&#10;      &lt;Text style={{ fontSize: 20, color: '#0E3F8C', fontWeight: 'bold' }}&gt;流程化判读与动态监测&lt;/Text&gt;&#13;&#10;      &lt;Text style={{ fontSize: 14, color: '#6B7B8C' }}&gt;诊断树、危急值闭环、Δ变化预警、动态监测的意义&lt;/Text&gt;&#13;&#10;    &lt;/Box&gt;&#13;&#10;  &lt;/Box&gt;&#13;&#10;  &lt;Box style={{ position: 'absolute', left: 430, top: 519, width: 790, height: 43, flexDirection: 'row', alignItems: 'center', gap: 20 }}&gt;&#13;&#10;    &lt;Text style={{ fontSize: 30, color: '#3D7BD9', fontWeight: 'bold', width: 52 }}&gt;10&lt;/Text&gt;&#13;&#10;    &lt;Box style={{ width: 1, height: 34, background: '#D6DCE5' }} /&gt;&#13;&#10;    &lt;Box style={{ flexDirection: 'column' }}&gt;&#13;&#10;      &lt;Text style={{ fontSize: 20, color: '#0E3F8C', fontWeight: 'bold' }}&gt;关键研究、指南与共识&lt;/Text&gt;&#13;&#10;      &lt;Text style={{ fontSize: 14, color: '#6B7B8C' }}&gt;ITP/HIT/输血/创伤等指南矩阵与关键 RCT 一览&lt;/Text&gt;&#13;&#10;    &lt;/Box&gt;&#13;&#10;  &lt;/Box&gt;&#13;&#10;  &lt;Box style={{ position: 'absolute', left: 430, top: 562, width: 790, height: 43, flexDirection: 'row', alignItems: 'center', gap: 20 }}&gt;&#13;&#10;    &lt;Text style={{ fontSize: 30, color: '#3D7BD9', fontWeight: 'bold', width: 52 }}&gt;11&lt;/Text&gt;&#13;&#10;    &lt;Box style={{ width: 1, height: 34, background: '#D6DCE5' }} /&gt;&#13;&#10;    &lt;Box style={{ flexDirection: 'column' }}&gt;&#13;&#10;      &lt;Text style={{ fontSize: 20, color: '#0E3F8C', fontWeight: 'bold' }}&gt;案例分享&lt;/Text&gt;&#13;&#10;      &lt;Text style={{ fontSize: 14, color: '#6B7B8C' }}&gt;假性减少、HIT 鉴别、ITP 二线、CPB 出血、创伤复苏等实战&lt;/Text&gt;&#13;&#10;    &lt;/Box&gt;&#13;&#10;  &lt;/Box&gt;&#13;&#10;  &lt;Box style={{ position: 'absolute', left: 430, top: 605, width: 790, height: 43, flexDirection: 'row', alignItems: 'center', gap: 20 }}&gt;&#13;&#10;    &lt;Text style={{ fontSize: 30, color: '#3D7BD9', fontWeight: 'bold', width: 52 }}&gt;12&lt;/Text&gt;&#13;&#10;    &lt;Box style={{ width: 1, height: 34, background: '#D6DCE5' }} /&gt;&#13;&#10;    &lt;Box style={{ flexDirection: 'column' }}&gt;&#13;&#10;      &lt;Text style={{ fontSize: 20, color: '#0E3F8C', fontWeight: 'bold' }}&gt;进展与研究方向&lt;/Text&gt;&#13;&#10;      &lt;Text style={{ fontSize: 14, color: '#6B7B8C' }}&gt;AI 形态学、IPF 预警、免疫血栓、功能检测新技术&lt;/Text&gt;&#13;&#10;    &lt;/Box&gt;&#13;&#10;  &lt;/Box&gt;&#13;&#10;  &lt;Text style={{ position: 'absolute', right: 64, top: 660, fontSize: 15, color: '#6B7B8C' }}&gt;2 / 77&lt;/Text&gt;&#13;&#10;&lt;/Slide&gt;"/>
        <p:cNvGrpSpPr/>
        <p:nvPr/>
      </p:nvGrpSpPr>
      <p:grpSpPr>
        <a:xfrm>
          <a:off x="0" y="0"/>
          <a:ext cx="0" cy="0"/>
          <a:chOff x="0" y="0"/>
          <a:chExt cx="0" cy="0"/>
        </a:xfrm>
      </p:grpSpPr>
      <p:sp>
        <p:nvSpPr>
          <p:cNvPr id="274" name=""/>
          <p:cNvSpPr/>
          <p:nvPr/>
        </p:nvSpPr>
        <p:spPr>
          <a:xfrm rot="0" flipH="0" flipV="0">
            <a:off x="0" y="0"/>
            <a:ext cx="12192000" cy="6858000"/>
          </a:xfrm>
          <a:prstGeom prst="rect">
            <a:avLst/>
          </a:prstGeom>
          <a:solidFill>
            <a:srgbClr val="FFFFFF"/>
          </a:solidFill>
          <a:ln/>
        </p:spPr>
        <p:txBody>
          <a:bodyPr/>
          <a:p/>
        </p:txBody>
      </p:sp>
      <p:sp>
        <p:nvSpPr>
          <p:cNvPr id="275" name=""/>
          <p:cNvSpPr/>
          <p:nvPr/>
        </p:nvSpPr>
        <p:spPr>
          <a:xfrm rot="0" flipH="0" flipV="0">
            <a:off x="0" y="0"/>
            <a:ext cx="3429000" cy="6858000"/>
          </a:xfrm>
          <a:prstGeom prst="rect">
            <a:avLst/>
          </a:prstGeom>
          <a:solidFill>
            <a:srgbClr val="0E3F8C"/>
          </a:solidFill>
          <a:ln/>
        </p:spPr>
        <p:txBody>
          <a:bodyPr/>
          <a:p/>
        </p:txBody>
      </p:sp>
      <p:sp>
        <p:nvSpPr>
          <p:cNvPr id="276" name="" descr="{&quot;isTemplate&quot;:true,&quot;type&quot;:&quot;text&quot;}"/>
          <p:cNvSpPr txBox="1"/>
          <p:nvPr/>
        </p:nvSpPr>
        <p:spPr>
          <a:xfrm rot="0" flipH="0" flipV="0">
            <a:off x="457200" y="2381250"/>
            <a:ext cx="762000" cy="457200"/>
          </a:xfrm>
          <a:prstGeom prst="rect"/>
        </p:spPr>
        <p:txBody>
          <a:bodyPr wrap="none" lIns="0" tIns="0" rIns="0" bIns="0"/>
          <a:p>
            <a:pPr>
              <a:lnSpc>
                <a:spcPct val="100000"/>
              </a:lnSpc>
            </a:pPr>
            <a:r>
              <a:rPr lang="zh-CN" sz="3000" b="1">
                <a:solidFill>
                  <a:srgbClr val="FFFFFF"/>
                </a:solidFill>
                <a:latin typeface="Microsoft YaHei"/>
                <a:ea typeface="Microsoft YaHei"/>
              </a:rPr>
              <a:t>目录</a:t>
            </a:r>
            <a:endParaRPr/>
          </a:p>
        </p:txBody>
      </p:sp>
      <p:sp>
        <p:nvSpPr>
          <p:cNvPr id="277" name="" descr="{&quot;isTemplate&quot;:true,&quot;type&quot;:&quot;text&quot;}"/>
          <p:cNvSpPr txBox="1"/>
          <p:nvPr/>
        </p:nvSpPr>
        <p:spPr>
          <a:xfrm rot="0" flipH="0" flipV="0">
            <a:off x="476250" y="2876550"/>
            <a:ext cx="895350" cy="209550"/>
          </a:xfrm>
          <a:prstGeom prst="rect"/>
        </p:spPr>
        <p:txBody>
          <a:bodyPr wrap="none" lIns="0" tIns="0" rIns="0" bIns="0"/>
          <a:p>
            <a:pPr>
              <a:lnSpc>
                <a:spcPct val="100000"/>
              </a:lnSpc>
            </a:pPr>
            <a:r>
              <a:rPr lang="en-US" sz="1350">
                <a:solidFill>
                  <a:srgbClr val="9DB8E0"/>
                </a:solidFill>
                <a:latin typeface="Times New Roman"/>
                <a:ea typeface="Times New Roman"/>
              </a:rPr>
              <a:t>CONTENTS</a:t>
            </a:r>
            <a:endParaRPr/>
          </a:p>
        </p:txBody>
      </p:sp>
      <p:sp>
        <p:nvSpPr>
          <p:cNvPr id="278" name=""/>
          <p:cNvSpPr/>
          <p:nvPr/>
        </p:nvSpPr>
        <p:spPr>
          <a:xfrm rot="0" flipH="0" flipV="0">
            <a:off x="457200" y="3162300"/>
            <a:ext cx="762000" cy="47625"/>
          </a:xfrm>
          <a:prstGeom prst="rect">
            <a:avLst/>
          </a:prstGeom>
          <a:solidFill>
            <a:srgbClr val="3D7BD9"/>
          </a:solidFill>
          <a:ln/>
        </p:spPr>
        <p:txBody>
          <a:bodyPr/>
          <a:p/>
        </p:txBody>
      </p:sp>
      <p:sp>
        <p:nvSpPr>
          <p:cNvPr id="279" name="" descr="{&quot;isTemplate&quot;:true,&quot;type&quot;:&quot;text&quot;}"/>
          <p:cNvSpPr txBox="1"/>
          <p:nvPr/>
        </p:nvSpPr>
        <p:spPr>
          <a:xfrm rot="0" flipH="0" flipV="0">
            <a:off x="457200" y="3486150"/>
            <a:ext cx="3429000" cy="552450"/>
          </a:xfrm>
          <a:prstGeom prst="rect"/>
        </p:spPr>
        <p:txBody>
          <a:bodyPr wrap="square" lIns="0" tIns="0" rIns="0" bIns="0">
            <a:normAutofit/>
          </a:bodyPr>
          <a:p>
            <a:pPr>
              <a:lnSpc>
                <a:spcPct val="160000"/>
              </a:lnSpc>
            </a:pPr>
            <a:r>
              <a:rPr lang="zh-CN" sz="1125">
                <a:solidFill>
                  <a:srgbClr val="9DB8E0"/>
                </a:solidFill>
                <a:latin typeface="Microsoft YaHei"/>
                <a:ea typeface="Microsoft YaHei"/>
              </a:rPr>
              <a:t>血小板：定义</a:t>
            </a:r>
            <a:r>
              <a:rPr lang="en-US" sz="1125">
                <a:solidFill>
                  <a:srgbClr val="9DB8E0"/>
                </a:solidFill>
                <a:latin typeface="Microsoft YaHei"/>
                <a:ea typeface="Microsoft YaHei"/>
              </a:rPr>
              <a:t> · </a:t>
            </a:r>
            <a:r>
              <a:rPr lang="zh-CN" sz="1125">
                <a:solidFill>
                  <a:srgbClr val="9DB8E0"/>
                </a:solidFill>
                <a:latin typeface="Microsoft YaHei"/>
                <a:ea typeface="Microsoft YaHei"/>
              </a:rPr>
              <a:t>计数与功能方法学</a:t>
            </a:r>
            <a:r>
              <a:rPr lang="en-US" sz="1125">
                <a:solidFill>
                  <a:srgbClr val="9DB8E0"/>
                </a:solidFill>
                <a:latin typeface="Microsoft YaHei"/>
                <a:ea typeface="Microsoft YaHei"/>
              </a:rPr>
              <a:t> · </a:t>
            </a:r>
            <a:r>
              <a:rPr lang="zh-CN" sz="1125">
                <a:solidFill>
                  <a:srgbClr val="9DB8E0"/>
                </a:solidFill>
                <a:latin typeface="Microsoft YaHei"/>
                <a:ea typeface="Microsoft YaHei"/>
              </a:rPr>
              <a:t>阈值与误读</a:t>
            </a:r>
            <a:r>
              <a:rPr lang="en-US" sz="1125">
                <a:solidFill>
                  <a:srgbClr val="9DB8E0"/>
                </a:solidFill>
                <a:latin typeface="Microsoft YaHei"/>
                <a:ea typeface="Microsoft YaHei"/>
              </a:rPr>
              <a:t> · </a:t>
            </a:r>
            <a:r>
              <a:rPr lang="zh-CN" sz="1125">
                <a:solidFill>
                  <a:srgbClr val="9DB8E0"/>
                </a:solidFill>
                <a:latin typeface="Microsoft YaHei"/>
                <a:ea typeface="Microsoft YaHei"/>
              </a:rPr>
              <a:t>对比</a:t>
            </a:r>
            <a:r>
              <a:rPr lang="en-US" sz="1125">
                <a:solidFill>
                  <a:srgbClr val="9DB8E0"/>
                </a:solidFill>
                <a:latin typeface="Microsoft YaHei"/>
                <a:ea typeface="Microsoft YaHei"/>
              </a:rPr>
              <a:t> · </a:t>
            </a:r>
            <a:r>
              <a:rPr lang="zh-CN" sz="1125">
                <a:solidFill>
                  <a:srgbClr val="9DB8E0"/>
                </a:solidFill>
                <a:latin typeface="Microsoft YaHei"/>
                <a:ea typeface="Microsoft YaHei"/>
              </a:rPr>
              <a:t>场景</a:t>
            </a:r>
            <a:r>
              <a:rPr lang="en-US" sz="1125">
                <a:solidFill>
                  <a:srgbClr val="9DB8E0"/>
                </a:solidFill>
                <a:latin typeface="Microsoft YaHei"/>
                <a:ea typeface="Microsoft YaHei"/>
              </a:rPr>
              <a:t> · </a:t>
            </a:r>
            <a:r>
              <a:rPr lang="zh-CN" sz="1125">
                <a:solidFill>
                  <a:srgbClr val="9DB8E0"/>
                </a:solidFill>
                <a:latin typeface="Microsoft YaHei"/>
                <a:ea typeface="Microsoft YaHei"/>
              </a:rPr>
              <a:t>流程与监测</a:t>
            </a:r>
            <a:r>
              <a:rPr lang="en-US" sz="1125">
                <a:solidFill>
                  <a:srgbClr val="9DB8E0"/>
                </a:solidFill>
                <a:latin typeface="Microsoft YaHei"/>
                <a:ea typeface="Microsoft YaHei"/>
              </a:rPr>
              <a:t> · </a:t>
            </a:r>
            <a:r>
              <a:rPr lang="zh-CN" sz="1125">
                <a:solidFill>
                  <a:srgbClr val="9DB8E0"/>
                </a:solidFill>
                <a:latin typeface="Microsoft YaHei"/>
                <a:ea typeface="Microsoft YaHei"/>
              </a:rPr>
              <a:t>证据</a:t>
            </a:r>
            <a:r>
              <a:rPr lang="en-US" sz="1125">
                <a:solidFill>
                  <a:srgbClr val="9DB8E0"/>
                </a:solidFill>
                <a:latin typeface="Microsoft YaHei"/>
                <a:ea typeface="Microsoft YaHei"/>
              </a:rPr>
              <a:t> · </a:t>
            </a:r>
            <a:r>
              <a:rPr lang="zh-CN" sz="1125">
                <a:solidFill>
                  <a:srgbClr val="9DB8E0"/>
                </a:solidFill>
                <a:latin typeface="Microsoft YaHei"/>
                <a:ea typeface="Microsoft YaHei"/>
              </a:rPr>
              <a:t>案例</a:t>
            </a:r>
            <a:r>
              <a:rPr lang="en-US" sz="1125">
                <a:solidFill>
                  <a:srgbClr val="9DB8E0"/>
                </a:solidFill>
                <a:latin typeface="Microsoft YaHei"/>
                <a:ea typeface="Microsoft YaHei"/>
              </a:rPr>
              <a:t> · </a:t>
            </a:r>
            <a:r>
              <a:rPr lang="zh-CN" sz="1125">
                <a:solidFill>
                  <a:srgbClr val="9DB8E0"/>
                </a:solidFill>
                <a:latin typeface="Microsoft YaHei"/>
                <a:ea typeface="Microsoft YaHei"/>
              </a:rPr>
              <a:t>进展</a:t>
            </a:r>
            <a:endParaRPr/>
          </a:p>
        </p:txBody>
      </p:sp>
      <p:sp>
        <p:nvSpPr>
          <p:cNvPr id="280" name="" descr="{&quot;isTemplate&quot;:true,&quot;type&quot;:&quot;text&quot;}"/>
          <p:cNvSpPr txBox="1"/>
          <p:nvPr/>
        </p:nvSpPr>
        <p:spPr>
          <a:xfrm rot="0" flipH="0" flipV="0">
            <a:off x="4095750" y="129540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01</a:t>
            </a:r>
            <a:endParaRPr/>
          </a:p>
        </p:txBody>
      </p:sp>
      <p:sp>
        <p:nvSpPr>
          <p:cNvPr id="281" name=""/>
          <p:cNvSpPr/>
          <p:nvPr/>
        </p:nvSpPr>
        <p:spPr>
          <a:xfrm rot="0" flipH="0" flipV="0">
            <a:off x="4781550" y="1304925"/>
            <a:ext cx="9525" cy="323850"/>
          </a:xfrm>
          <a:prstGeom prst="rect">
            <a:avLst/>
          </a:prstGeom>
          <a:solidFill>
            <a:srgbClr val="D6DCE5"/>
          </a:solidFill>
          <a:ln/>
        </p:spPr>
        <p:txBody>
          <a:bodyPr/>
          <a:p/>
        </p:txBody>
      </p:sp>
      <p:sp>
        <p:nvSpPr>
          <p:cNvPr id="282" name="" descr="{&quot;isTemplate&quot;:true,&quot;type&quot;:&quot;text&quot;}"/>
          <p:cNvSpPr txBox="1"/>
          <p:nvPr/>
        </p:nvSpPr>
        <p:spPr>
          <a:xfrm rot="0" flipH="0" flipV="0">
            <a:off x="4981575" y="1266825"/>
            <a:ext cx="3200400" cy="228600"/>
          </a:xfrm>
          <a:prstGeom prst="rect"/>
        </p:spPr>
        <p:txBody>
          <a:bodyPr wrap="none" lIns="0" tIns="0" rIns="0" bIns="0"/>
          <a:p>
            <a:pPr>
              <a:lnSpc>
                <a:spcPct val="100000"/>
              </a:lnSpc>
            </a:pPr>
            <a:r>
              <a:rPr lang="zh-CN" sz="1500" b="1">
                <a:solidFill>
                  <a:srgbClr val="0E3F8C"/>
                </a:solidFill>
                <a:latin typeface="Microsoft YaHei"/>
                <a:ea typeface="Microsoft YaHei"/>
              </a:rPr>
              <a:t>定义与生理基础</a:t>
            </a:r>
            <a:endParaRPr/>
          </a:p>
        </p:txBody>
      </p:sp>
      <p:sp>
        <p:nvSpPr>
          <p:cNvPr id="283" name="" descr="{&quot;isTemplate&quot;:true,&quot;type&quot;:&quot;text&quot;}"/>
          <p:cNvSpPr txBox="1"/>
          <p:nvPr/>
        </p:nvSpPr>
        <p:spPr>
          <a:xfrm rot="0" flipH="0" flipV="0">
            <a:off x="4981575" y="1495425"/>
            <a:ext cx="3200400" cy="161925"/>
          </a:xfrm>
          <a:prstGeom prst="rect"/>
        </p:spPr>
        <p:txBody>
          <a:bodyPr wrap="none" lIns="0" tIns="0" rIns="0" bIns="0"/>
          <a:p>
            <a:pPr>
              <a:lnSpc>
                <a:spcPct val="100000"/>
              </a:lnSpc>
            </a:pPr>
            <a:r>
              <a:rPr lang="zh-CN" sz="1050">
                <a:solidFill>
                  <a:srgbClr val="6B7B8C"/>
                </a:solidFill>
                <a:latin typeface="Microsoft YaHei"/>
                <a:ea typeface="Microsoft YaHei"/>
              </a:rPr>
              <a:t>血小板生成、结构与一级止血角色；数量与功能双维度</a:t>
            </a:r>
            <a:endParaRPr/>
          </a:p>
        </p:txBody>
      </p:sp>
      <p:sp>
        <p:nvSpPr>
          <p:cNvPr id="284" name="" descr="{&quot;isTemplate&quot;:true,&quot;type&quot;:&quot;text&quot;}"/>
          <p:cNvSpPr txBox="1"/>
          <p:nvPr/>
        </p:nvSpPr>
        <p:spPr>
          <a:xfrm rot="0" flipH="0" flipV="0">
            <a:off x="4095750" y="170497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02</a:t>
            </a:r>
            <a:endParaRPr/>
          </a:p>
        </p:txBody>
      </p:sp>
      <p:sp>
        <p:nvSpPr>
          <p:cNvPr id="285" name=""/>
          <p:cNvSpPr/>
          <p:nvPr/>
        </p:nvSpPr>
        <p:spPr>
          <a:xfrm rot="0" flipH="0" flipV="0">
            <a:off x="4781550" y="1714500"/>
            <a:ext cx="9525" cy="323850"/>
          </a:xfrm>
          <a:prstGeom prst="rect">
            <a:avLst/>
          </a:prstGeom>
          <a:solidFill>
            <a:srgbClr val="D6DCE5"/>
          </a:solidFill>
          <a:ln/>
        </p:spPr>
        <p:txBody>
          <a:bodyPr/>
          <a:p/>
        </p:txBody>
      </p:sp>
      <p:sp>
        <p:nvSpPr>
          <p:cNvPr id="286" name="" descr="{&quot;isTemplate&quot;:true,&quot;type&quot;:&quot;text&quot;}"/>
          <p:cNvSpPr txBox="1"/>
          <p:nvPr/>
        </p:nvSpPr>
        <p:spPr>
          <a:xfrm rot="0" flipH="0" flipV="0">
            <a:off x="4981575" y="1676400"/>
            <a:ext cx="4133850" cy="228600"/>
          </a:xfrm>
          <a:prstGeom prst="rect"/>
        </p:spPr>
        <p:txBody>
          <a:bodyPr wrap="none" lIns="0" tIns="0" rIns="0" bIns="0"/>
          <a:p>
            <a:pPr>
              <a:lnSpc>
                <a:spcPct val="100000"/>
              </a:lnSpc>
            </a:pPr>
            <a:r>
              <a:rPr lang="zh-CN" sz="1500" b="1">
                <a:solidFill>
                  <a:srgbClr val="0E3F8C"/>
                </a:solidFill>
                <a:latin typeface="Microsoft YaHei"/>
                <a:ea typeface="Microsoft YaHei"/>
              </a:rPr>
              <a:t>计数方法与参数解读</a:t>
            </a:r>
            <a:endParaRPr/>
          </a:p>
        </p:txBody>
      </p:sp>
      <p:sp>
        <p:nvSpPr>
          <p:cNvPr id="287" name="" descr="{&quot;isTemplate&quot;:true,&quot;type&quot;:&quot;text&quot;}"/>
          <p:cNvSpPr txBox="1"/>
          <p:nvPr/>
        </p:nvSpPr>
        <p:spPr>
          <a:xfrm rot="0" flipH="0" flipV="0">
            <a:off x="4981575" y="1905000"/>
            <a:ext cx="4133850" cy="161925"/>
          </a:xfrm>
          <a:prstGeom prst="rect"/>
        </p:spPr>
        <p:txBody>
          <a:bodyPr wrap="none" lIns="0" tIns="0" rIns="0" bIns="0"/>
          <a:p>
            <a:pPr>
              <a:lnSpc>
                <a:spcPct val="100000"/>
              </a:lnSpc>
            </a:pPr>
            <a:r>
              <a:rPr lang="zh-CN" sz="1050">
                <a:solidFill>
                  <a:srgbClr val="6B7B8C"/>
                </a:solidFill>
                <a:latin typeface="Microsoft YaHei"/>
                <a:ea typeface="Microsoft YaHei"/>
              </a:rPr>
              <a:t>阻抗</a:t>
            </a:r>
            <a:r>
              <a:rPr lang="en-US" sz="1050">
                <a:solidFill>
                  <a:srgbClr val="6B7B8C"/>
                </a:solidFill>
                <a:latin typeface="Microsoft YaHei"/>
                <a:ea typeface="Microsoft YaHei"/>
              </a:rPr>
              <a:t>/</a:t>
            </a:r>
            <a:r>
              <a:rPr lang="zh-CN" sz="1050">
                <a:solidFill>
                  <a:srgbClr val="6B7B8C"/>
                </a:solidFill>
                <a:latin typeface="Microsoft YaHei"/>
                <a:ea typeface="Microsoft YaHei"/>
              </a:rPr>
              <a:t>光学</a:t>
            </a:r>
            <a:r>
              <a:rPr lang="en-US" sz="1050">
                <a:solidFill>
                  <a:srgbClr val="6B7B8C"/>
                </a:solidFill>
                <a:latin typeface="Microsoft YaHei"/>
                <a:ea typeface="Microsoft YaHei"/>
              </a:rPr>
              <a:t>/</a:t>
            </a:r>
            <a:r>
              <a:rPr lang="zh-CN" sz="1050">
                <a:solidFill>
                  <a:srgbClr val="6B7B8C"/>
                </a:solidFill>
                <a:latin typeface="Microsoft YaHei"/>
                <a:ea typeface="Microsoft YaHei"/>
              </a:rPr>
              <a:t>荧光</a:t>
            </a:r>
            <a:r>
              <a:rPr lang="en-US" sz="1050">
                <a:solidFill>
                  <a:srgbClr val="6B7B8C"/>
                </a:solidFill>
                <a:latin typeface="Microsoft YaHei"/>
                <a:ea typeface="Microsoft YaHei"/>
              </a:rPr>
              <a:t>/</a:t>
            </a:r>
            <a:r>
              <a:rPr lang="zh-CN" sz="1050">
                <a:solidFill>
                  <a:srgbClr val="6B7B8C"/>
                </a:solidFill>
                <a:latin typeface="Microsoft YaHei"/>
                <a:ea typeface="Microsoft YaHei"/>
              </a:rPr>
              <a:t>参考方法；直方图、</a:t>
            </a:r>
            <a:r>
              <a:rPr lang="en-US" sz="1050">
                <a:solidFill>
                  <a:srgbClr val="6B7B8C"/>
                </a:solidFill>
                <a:latin typeface="Microsoft YaHei"/>
                <a:ea typeface="Microsoft YaHei"/>
              </a:rPr>
              <a:t>MPV</a:t>
            </a:r>
            <a:r>
              <a:rPr lang="zh-CN" sz="1050">
                <a:solidFill>
                  <a:srgbClr val="6B7B8C"/>
                </a:solidFill>
                <a:latin typeface="Microsoft YaHei"/>
                <a:ea typeface="Microsoft YaHei"/>
              </a:rPr>
              <a:t>、</a:t>
            </a:r>
            <a:r>
              <a:rPr lang="en-US" sz="1050">
                <a:solidFill>
                  <a:srgbClr val="6B7B8C"/>
                </a:solidFill>
                <a:latin typeface="Microsoft YaHei"/>
                <a:ea typeface="Microsoft YaHei"/>
              </a:rPr>
              <a:t>IPF</a:t>
            </a:r>
            <a:r>
              <a:rPr lang="zh-CN" sz="1050">
                <a:solidFill>
                  <a:srgbClr val="6B7B8C"/>
                </a:solidFill>
                <a:latin typeface="Microsoft YaHei"/>
                <a:ea typeface="Microsoft YaHei"/>
              </a:rPr>
              <a:t>；复检规则与参考区间</a:t>
            </a:r>
            <a:endParaRPr/>
          </a:p>
        </p:txBody>
      </p:sp>
      <p:sp>
        <p:nvSpPr>
          <p:cNvPr id="288" name="" descr="{&quot;isTemplate&quot;:true,&quot;type&quot;:&quot;text&quot;}"/>
          <p:cNvSpPr txBox="1"/>
          <p:nvPr/>
        </p:nvSpPr>
        <p:spPr>
          <a:xfrm rot="0" flipH="0" flipV="0">
            <a:off x="4095750" y="211455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03</a:t>
            </a:r>
            <a:endParaRPr/>
          </a:p>
        </p:txBody>
      </p:sp>
      <p:sp>
        <p:nvSpPr>
          <p:cNvPr id="289" name=""/>
          <p:cNvSpPr/>
          <p:nvPr/>
        </p:nvSpPr>
        <p:spPr>
          <a:xfrm rot="0" flipH="0" flipV="0">
            <a:off x="4781550" y="2124075"/>
            <a:ext cx="9525" cy="323850"/>
          </a:xfrm>
          <a:prstGeom prst="rect">
            <a:avLst/>
          </a:prstGeom>
          <a:solidFill>
            <a:srgbClr val="D6DCE5"/>
          </a:solidFill>
          <a:ln/>
        </p:spPr>
        <p:txBody>
          <a:bodyPr/>
          <a:p/>
        </p:txBody>
      </p:sp>
      <p:sp>
        <p:nvSpPr>
          <p:cNvPr id="290" name="" descr="{&quot;isTemplate&quot;:true,&quot;type&quot;:&quot;text&quot;}"/>
          <p:cNvSpPr txBox="1"/>
          <p:nvPr/>
        </p:nvSpPr>
        <p:spPr>
          <a:xfrm rot="0" flipH="0" flipV="0">
            <a:off x="4981575" y="2085975"/>
            <a:ext cx="4362450" cy="228600"/>
          </a:xfrm>
          <a:prstGeom prst="rect"/>
        </p:spPr>
        <p:txBody>
          <a:bodyPr wrap="none" lIns="0" tIns="0" rIns="0" bIns="0"/>
          <a:p>
            <a:pPr>
              <a:lnSpc>
                <a:spcPct val="100000"/>
              </a:lnSpc>
            </a:pPr>
            <a:r>
              <a:rPr lang="zh-CN" sz="1500" b="1">
                <a:solidFill>
                  <a:srgbClr val="0E3F8C"/>
                </a:solidFill>
                <a:latin typeface="Microsoft YaHei"/>
                <a:ea typeface="Microsoft YaHei"/>
              </a:rPr>
              <a:t>血小板功能检测方法学</a:t>
            </a:r>
            <a:endParaRPr/>
          </a:p>
        </p:txBody>
      </p:sp>
      <p:sp>
        <p:nvSpPr>
          <p:cNvPr id="291" name="" descr="{&quot;isTemplate&quot;:true,&quot;type&quot;:&quot;text&quot;}"/>
          <p:cNvSpPr txBox="1"/>
          <p:nvPr/>
        </p:nvSpPr>
        <p:spPr>
          <a:xfrm rot="0" flipH="0" flipV="0">
            <a:off x="4981575" y="2314575"/>
            <a:ext cx="4362450" cy="161925"/>
          </a:xfrm>
          <a:prstGeom prst="rect"/>
        </p:spPr>
        <p:txBody>
          <a:bodyPr wrap="none" lIns="0" tIns="0" rIns="0" bIns="0"/>
          <a:p>
            <a:pPr>
              <a:lnSpc>
                <a:spcPct val="100000"/>
              </a:lnSpc>
            </a:pPr>
            <a:r>
              <a:rPr lang="en-US" sz="1050">
                <a:solidFill>
                  <a:srgbClr val="6B7B8C"/>
                </a:solidFill>
                <a:latin typeface="Microsoft YaHei"/>
                <a:ea typeface="Microsoft YaHei"/>
              </a:rPr>
              <a:t>LTA</a:t>
            </a:r>
            <a:r>
              <a:rPr lang="zh-CN" sz="1050">
                <a:solidFill>
                  <a:srgbClr val="6B7B8C"/>
                </a:solidFill>
                <a:latin typeface="Microsoft YaHei"/>
                <a:ea typeface="Microsoft YaHei"/>
              </a:rPr>
              <a:t>、阻抗法、</a:t>
            </a:r>
            <a:r>
              <a:rPr lang="en-US" sz="1050">
                <a:solidFill>
                  <a:srgbClr val="6B7B8C"/>
                </a:solidFill>
                <a:latin typeface="Microsoft YaHei"/>
                <a:ea typeface="Microsoft YaHei"/>
              </a:rPr>
              <a:t>VerifyNow</a:t>
            </a:r>
            <a:r>
              <a:rPr lang="zh-CN" sz="1050">
                <a:solidFill>
                  <a:srgbClr val="6B7B8C"/>
                </a:solidFill>
                <a:latin typeface="Microsoft YaHei"/>
                <a:ea typeface="Microsoft YaHei"/>
              </a:rPr>
              <a:t>、</a:t>
            </a:r>
            <a:r>
              <a:rPr lang="en-US" sz="1050">
                <a:solidFill>
                  <a:srgbClr val="6B7B8C"/>
                </a:solidFill>
                <a:latin typeface="Microsoft YaHei"/>
                <a:ea typeface="Microsoft YaHei"/>
              </a:rPr>
              <a:t>PFA</a:t>
            </a:r>
            <a:r>
              <a:rPr lang="zh-CN" sz="1050">
                <a:solidFill>
                  <a:srgbClr val="6B7B8C"/>
                </a:solidFill>
                <a:latin typeface="Microsoft YaHei"/>
                <a:ea typeface="Microsoft YaHei"/>
              </a:rPr>
              <a:t>、</a:t>
            </a:r>
            <a:r>
              <a:rPr lang="en-US" sz="1050">
                <a:solidFill>
                  <a:srgbClr val="6B7B8C"/>
                </a:solidFill>
                <a:latin typeface="Microsoft YaHei"/>
                <a:ea typeface="Microsoft YaHei"/>
              </a:rPr>
              <a:t>VASP</a:t>
            </a:r>
            <a:r>
              <a:rPr lang="zh-CN" sz="1050">
                <a:solidFill>
                  <a:srgbClr val="6B7B8C"/>
                </a:solidFill>
                <a:latin typeface="Microsoft YaHei"/>
                <a:ea typeface="Microsoft YaHei"/>
              </a:rPr>
              <a:t>、流式、分泌、</a:t>
            </a:r>
            <a:r>
              <a:rPr lang="en-US" sz="1050">
                <a:solidFill>
                  <a:srgbClr val="6B7B8C"/>
                </a:solidFill>
                <a:latin typeface="Microsoft YaHei"/>
                <a:ea typeface="Microsoft YaHei"/>
              </a:rPr>
              <a:t>VET</a:t>
            </a:r>
            <a:r>
              <a:rPr lang="zh-CN" sz="1050">
                <a:solidFill>
                  <a:srgbClr val="6B7B8C"/>
                </a:solidFill>
                <a:latin typeface="Microsoft YaHei"/>
                <a:ea typeface="Microsoft YaHei"/>
              </a:rPr>
              <a:t>；方法与适用</a:t>
            </a:r>
            <a:endParaRPr/>
          </a:p>
        </p:txBody>
      </p:sp>
      <p:sp>
        <p:nvSpPr>
          <p:cNvPr id="292" name="" descr="{&quot;isTemplate&quot;:true,&quot;type&quot;:&quot;text&quot;}"/>
          <p:cNvSpPr txBox="1"/>
          <p:nvPr/>
        </p:nvSpPr>
        <p:spPr>
          <a:xfrm rot="0" flipH="0" flipV="0">
            <a:off x="4095750" y="252412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04</a:t>
            </a:r>
            <a:endParaRPr/>
          </a:p>
        </p:txBody>
      </p:sp>
      <p:sp>
        <p:nvSpPr>
          <p:cNvPr id="293" name=""/>
          <p:cNvSpPr/>
          <p:nvPr/>
        </p:nvSpPr>
        <p:spPr>
          <a:xfrm rot="0" flipH="0" flipV="0">
            <a:off x="4781550" y="2533650"/>
            <a:ext cx="9525" cy="323850"/>
          </a:xfrm>
          <a:prstGeom prst="rect">
            <a:avLst/>
          </a:prstGeom>
          <a:solidFill>
            <a:srgbClr val="D6DCE5"/>
          </a:solidFill>
          <a:ln/>
        </p:spPr>
        <p:txBody>
          <a:bodyPr/>
          <a:p/>
        </p:txBody>
      </p:sp>
      <p:sp>
        <p:nvSpPr>
          <p:cNvPr id="294" name="" descr="{&quot;isTemplate&quot;:true,&quot;type&quot;:&quot;text&quot;}"/>
          <p:cNvSpPr txBox="1"/>
          <p:nvPr/>
        </p:nvSpPr>
        <p:spPr>
          <a:xfrm rot="0" flipH="0" flipV="0">
            <a:off x="4981575" y="2495550"/>
            <a:ext cx="3267075" cy="228600"/>
          </a:xfrm>
          <a:prstGeom prst="rect"/>
        </p:spPr>
        <p:txBody>
          <a:bodyPr wrap="none" lIns="0" tIns="0" rIns="0" bIns="0"/>
          <a:p>
            <a:pPr>
              <a:lnSpc>
                <a:spcPct val="100000"/>
              </a:lnSpc>
            </a:pPr>
            <a:r>
              <a:rPr lang="zh-CN" sz="1500" b="1">
                <a:solidFill>
                  <a:srgbClr val="0E3F8C"/>
                </a:solidFill>
                <a:latin typeface="Microsoft YaHei"/>
                <a:ea typeface="Microsoft YaHei"/>
              </a:rPr>
              <a:t>阈值、分级与危急值</a:t>
            </a:r>
            <a:endParaRPr/>
          </a:p>
        </p:txBody>
      </p:sp>
      <p:sp>
        <p:nvSpPr>
          <p:cNvPr id="295" name="" descr="{&quot;isTemplate&quot;:true,&quot;type&quot;:&quot;text&quot;}"/>
          <p:cNvSpPr txBox="1"/>
          <p:nvPr/>
        </p:nvSpPr>
        <p:spPr>
          <a:xfrm rot="0" flipH="0" flipV="0">
            <a:off x="4981575" y="2724150"/>
            <a:ext cx="3267075" cy="161925"/>
          </a:xfrm>
          <a:prstGeom prst="rect"/>
        </p:spPr>
        <p:txBody>
          <a:bodyPr wrap="none" lIns="0" tIns="0" rIns="0" bIns="0"/>
          <a:p>
            <a:pPr>
              <a:lnSpc>
                <a:spcPct val="100000"/>
              </a:lnSpc>
            </a:pPr>
            <a:r>
              <a:rPr lang="en-US" sz="1050">
                <a:solidFill>
                  <a:srgbClr val="6B7B8C"/>
                </a:solidFill>
                <a:latin typeface="Microsoft YaHei"/>
                <a:ea typeface="Microsoft YaHei"/>
              </a:rPr>
              <a:t>WHO/CTCAE </a:t>
            </a:r>
            <a:r>
              <a:rPr lang="zh-CN" sz="1050">
                <a:solidFill>
                  <a:srgbClr val="6B7B8C"/>
                </a:solidFill>
                <a:latin typeface="Microsoft YaHei"/>
                <a:ea typeface="Microsoft YaHei"/>
              </a:rPr>
              <a:t>分级、预防性输注阈值、增多与血栓风险</a:t>
            </a:r>
            <a:endParaRPr/>
          </a:p>
        </p:txBody>
      </p:sp>
      <p:sp>
        <p:nvSpPr>
          <p:cNvPr id="296" name="" descr="{&quot;isTemplate&quot;:true,&quot;type&quot;:&quot;text&quot;}"/>
          <p:cNvSpPr txBox="1"/>
          <p:nvPr/>
        </p:nvSpPr>
        <p:spPr>
          <a:xfrm rot="0" flipH="0" flipV="0">
            <a:off x="4095750" y="293370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05</a:t>
            </a:r>
            <a:endParaRPr/>
          </a:p>
        </p:txBody>
      </p:sp>
      <p:sp>
        <p:nvSpPr>
          <p:cNvPr id="297" name=""/>
          <p:cNvSpPr/>
          <p:nvPr/>
        </p:nvSpPr>
        <p:spPr>
          <a:xfrm rot="0" flipH="0" flipV="0">
            <a:off x="4781550" y="2943225"/>
            <a:ext cx="9525" cy="323850"/>
          </a:xfrm>
          <a:prstGeom prst="rect">
            <a:avLst/>
          </a:prstGeom>
          <a:solidFill>
            <a:srgbClr val="D6DCE5"/>
          </a:solidFill>
          <a:ln/>
        </p:spPr>
        <p:txBody>
          <a:bodyPr/>
          <a:p/>
        </p:txBody>
      </p:sp>
      <p:sp>
        <p:nvSpPr>
          <p:cNvPr id="298" name="" descr="{&quot;isTemplate&quot;:true,&quot;type&quot;:&quot;text&quot;}"/>
          <p:cNvSpPr txBox="1"/>
          <p:nvPr/>
        </p:nvSpPr>
        <p:spPr>
          <a:xfrm rot="0" flipH="0" flipV="0">
            <a:off x="4981575" y="2905125"/>
            <a:ext cx="3305175" cy="228600"/>
          </a:xfrm>
          <a:prstGeom prst="rect"/>
        </p:spPr>
        <p:txBody>
          <a:bodyPr wrap="none" lIns="0" tIns="0" rIns="0" bIns="0"/>
          <a:p>
            <a:pPr>
              <a:lnSpc>
                <a:spcPct val="100000"/>
              </a:lnSpc>
            </a:pPr>
            <a:r>
              <a:rPr lang="zh-CN" sz="1500" b="1">
                <a:solidFill>
                  <a:srgbClr val="0E3F8C"/>
                </a:solidFill>
                <a:latin typeface="Microsoft YaHei"/>
                <a:ea typeface="Microsoft YaHei"/>
              </a:rPr>
              <a:t>误差来源与误读陷阱</a:t>
            </a:r>
            <a:endParaRPr/>
          </a:p>
        </p:txBody>
      </p:sp>
      <p:sp>
        <p:nvSpPr>
          <p:cNvPr id="299" name="" descr="{&quot;isTemplate&quot;:true,&quot;type&quot;:&quot;text&quot;}"/>
          <p:cNvSpPr txBox="1"/>
          <p:nvPr/>
        </p:nvSpPr>
        <p:spPr>
          <a:xfrm rot="0" flipH="0" flipV="0">
            <a:off x="4981575" y="3133725"/>
            <a:ext cx="3305175" cy="161925"/>
          </a:xfrm>
          <a:prstGeom prst="rect"/>
        </p:spPr>
        <p:txBody>
          <a:bodyPr wrap="none" lIns="0" tIns="0" rIns="0" bIns="0"/>
          <a:p>
            <a:pPr>
              <a:lnSpc>
                <a:spcPct val="100000"/>
              </a:lnSpc>
            </a:pPr>
            <a:r>
              <a:rPr lang="en-US" sz="1050">
                <a:solidFill>
                  <a:srgbClr val="6B7B8C"/>
                </a:solidFill>
                <a:latin typeface="Microsoft YaHei"/>
                <a:ea typeface="Microsoft YaHei"/>
              </a:rPr>
              <a:t>EDTA </a:t>
            </a:r>
            <a:r>
              <a:rPr lang="zh-CN" sz="1050">
                <a:solidFill>
                  <a:srgbClr val="6B7B8C"/>
                </a:solidFill>
                <a:latin typeface="Microsoft YaHei"/>
                <a:ea typeface="Microsoft YaHei"/>
              </a:rPr>
              <a:t>假性减少、卫星现象、功能检测干扰、分析前变异</a:t>
            </a:r>
            <a:endParaRPr/>
          </a:p>
        </p:txBody>
      </p:sp>
      <p:sp>
        <p:nvSpPr>
          <p:cNvPr id="300" name="" descr="{&quot;isTemplate&quot;:true,&quot;type&quot;:&quot;text&quot;}"/>
          <p:cNvSpPr txBox="1"/>
          <p:nvPr/>
        </p:nvSpPr>
        <p:spPr>
          <a:xfrm rot="0" flipH="0" flipV="0">
            <a:off x="4095750" y="334327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06</a:t>
            </a:r>
            <a:endParaRPr/>
          </a:p>
        </p:txBody>
      </p:sp>
      <p:sp>
        <p:nvSpPr>
          <p:cNvPr id="301" name=""/>
          <p:cNvSpPr/>
          <p:nvPr/>
        </p:nvSpPr>
        <p:spPr>
          <a:xfrm rot="0" flipH="0" flipV="0">
            <a:off x="4781550" y="3352800"/>
            <a:ext cx="9525" cy="323850"/>
          </a:xfrm>
          <a:prstGeom prst="rect">
            <a:avLst/>
          </a:prstGeom>
          <a:solidFill>
            <a:srgbClr val="D6DCE5"/>
          </a:solidFill>
          <a:ln/>
        </p:spPr>
        <p:txBody>
          <a:bodyPr/>
          <a:p/>
        </p:txBody>
      </p:sp>
      <p:sp>
        <p:nvSpPr>
          <p:cNvPr id="302" name="" descr="{&quot;isTemplate&quot;:true,&quot;type&quot;:&quot;text&quot;}"/>
          <p:cNvSpPr txBox="1"/>
          <p:nvPr/>
        </p:nvSpPr>
        <p:spPr>
          <a:xfrm rot="0" flipH="0" flipV="0">
            <a:off x="4981575" y="3314700"/>
            <a:ext cx="3619500" cy="228600"/>
          </a:xfrm>
          <a:prstGeom prst="rect"/>
        </p:spPr>
        <p:txBody>
          <a:bodyPr wrap="none" lIns="0" tIns="0" rIns="0" bIns="0"/>
          <a:p>
            <a:pPr>
              <a:lnSpc>
                <a:spcPct val="100000"/>
              </a:lnSpc>
            </a:pPr>
            <a:r>
              <a:rPr lang="zh-CN" sz="1500" b="1">
                <a:solidFill>
                  <a:srgbClr val="0E3F8C"/>
                </a:solidFill>
                <a:latin typeface="Microsoft YaHei"/>
                <a:ea typeface="Microsoft YaHei"/>
              </a:rPr>
              <a:t>与其他凝血检测的异同</a:t>
            </a:r>
            <a:endParaRPr/>
          </a:p>
        </p:txBody>
      </p:sp>
      <p:sp>
        <p:nvSpPr>
          <p:cNvPr id="303" name="" descr="{&quot;isTemplate&quot;:true,&quot;type&quot;:&quot;text&quot;}"/>
          <p:cNvSpPr txBox="1"/>
          <p:nvPr/>
        </p:nvSpPr>
        <p:spPr>
          <a:xfrm rot="0" flipH="0" flipV="0">
            <a:off x="4981575" y="3543300"/>
            <a:ext cx="3619500" cy="161925"/>
          </a:xfrm>
          <a:prstGeom prst="rect"/>
        </p:spPr>
        <p:txBody>
          <a:bodyPr wrap="none" lIns="0" tIns="0" rIns="0" bIns="0"/>
          <a:p>
            <a:pPr>
              <a:lnSpc>
                <a:spcPct val="100000"/>
              </a:lnSpc>
            </a:pPr>
            <a:r>
              <a:rPr lang="zh-CN" sz="1050">
                <a:solidFill>
                  <a:srgbClr val="6B7B8C"/>
                </a:solidFill>
                <a:latin typeface="Microsoft YaHei"/>
                <a:ea typeface="Microsoft YaHei"/>
              </a:rPr>
              <a:t>与</a:t>
            </a:r>
            <a:r>
              <a:rPr lang="en-US" sz="1050">
                <a:solidFill>
                  <a:srgbClr val="6B7B8C"/>
                </a:solidFill>
                <a:latin typeface="Microsoft YaHei"/>
                <a:ea typeface="Microsoft YaHei"/>
              </a:rPr>
              <a:t> PT/APTT</a:t>
            </a:r>
            <a:r>
              <a:rPr lang="zh-CN" sz="1050">
                <a:solidFill>
                  <a:srgbClr val="6B7B8C"/>
                </a:solidFill>
                <a:latin typeface="Microsoft YaHei"/>
                <a:ea typeface="Microsoft YaHei"/>
              </a:rPr>
              <a:t>、</a:t>
            </a:r>
            <a:r>
              <a:rPr lang="en-US" sz="1050">
                <a:solidFill>
                  <a:srgbClr val="6B7B8C"/>
                </a:solidFill>
                <a:latin typeface="Microsoft YaHei"/>
                <a:ea typeface="Microsoft YaHei"/>
              </a:rPr>
              <a:t>FIB</a:t>
            </a:r>
            <a:r>
              <a:rPr lang="zh-CN" sz="1050">
                <a:solidFill>
                  <a:srgbClr val="6B7B8C"/>
                </a:solidFill>
                <a:latin typeface="Microsoft YaHei"/>
                <a:ea typeface="Microsoft YaHei"/>
              </a:rPr>
              <a:t>、</a:t>
            </a:r>
            <a:r>
              <a:rPr lang="en-US" sz="1050">
                <a:solidFill>
                  <a:srgbClr val="6B7B8C"/>
                </a:solidFill>
                <a:latin typeface="Microsoft YaHei"/>
                <a:ea typeface="Microsoft YaHei"/>
              </a:rPr>
              <a:t>D-D</a:t>
            </a:r>
            <a:r>
              <a:rPr lang="zh-CN" sz="1050">
                <a:solidFill>
                  <a:srgbClr val="6B7B8C"/>
                </a:solidFill>
                <a:latin typeface="Microsoft YaHei"/>
                <a:ea typeface="Microsoft YaHei"/>
              </a:rPr>
              <a:t>、</a:t>
            </a:r>
            <a:r>
              <a:rPr lang="en-US" sz="1050">
                <a:solidFill>
                  <a:srgbClr val="6B7B8C"/>
                </a:solidFill>
                <a:latin typeface="Microsoft YaHei"/>
                <a:ea typeface="Microsoft YaHei"/>
              </a:rPr>
              <a:t>VWF</a:t>
            </a:r>
            <a:r>
              <a:rPr lang="zh-CN" sz="1050">
                <a:solidFill>
                  <a:srgbClr val="6B7B8C"/>
                </a:solidFill>
                <a:latin typeface="Microsoft YaHei"/>
                <a:ea typeface="Microsoft YaHei"/>
              </a:rPr>
              <a:t>、</a:t>
            </a:r>
            <a:r>
              <a:rPr lang="en-US" sz="1050">
                <a:solidFill>
                  <a:srgbClr val="6B7B8C"/>
                </a:solidFill>
                <a:latin typeface="Microsoft YaHei"/>
                <a:ea typeface="Microsoft YaHei"/>
              </a:rPr>
              <a:t>VET </a:t>
            </a:r>
            <a:r>
              <a:rPr lang="zh-CN" sz="1050">
                <a:solidFill>
                  <a:srgbClr val="6B7B8C"/>
                </a:solidFill>
                <a:latin typeface="Microsoft YaHei"/>
                <a:ea typeface="Microsoft YaHei"/>
              </a:rPr>
              <a:t>的分工与互补（表格）</a:t>
            </a:r>
            <a:endParaRPr/>
          </a:p>
        </p:txBody>
      </p:sp>
      <p:sp>
        <p:nvSpPr>
          <p:cNvPr id="304" name="" descr="{&quot;isTemplate&quot;:true,&quot;type&quot;:&quot;text&quot;}"/>
          <p:cNvSpPr txBox="1"/>
          <p:nvPr/>
        </p:nvSpPr>
        <p:spPr>
          <a:xfrm rot="0" flipH="0" flipV="0">
            <a:off x="4095750" y="375285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07</a:t>
            </a:r>
            <a:endParaRPr/>
          </a:p>
        </p:txBody>
      </p:sp>
      <p:sp>
        <p:nvSpPr>
          <p:cNvPr id="305" name=""/>
          <p:cNvSpPr/>
          <p:nvPr/>
        </p:nvSpPr>
        <p:spPr>
          <a:xfrm rot="0" flipH="0" flipV="0">
            <a:off x="4781550" y="3762375"/>
            <a:ext cx="9525" cy="323850"/>
          </a:xfrm>
          <a:prstGeom prst="rect">
            <a:avLst/>
          </a:prstGeom>
          <a:solidFill>
            <a:srgbClr val="D6DCE5"/>
          </a:solidFill>
          <a:ln/>
        </p:spPr>
        <p:txBody>
          <a:bodyPr/>
          <a:p/>
        </p:txBody>
      </p:sp>
      <p:sp>
        <p:nvSpPr>
          <p:cNvPr id="306" name="" descr="{&quot;isTemplate&quot;:true,&quot;type&quot;:&quot;text&quot;}"/>
          <p:cNvSpPr txBox="1"/>
          <p:nvPr/>
        </p:nvSpPr>
        <p:spPr>
          <a:xfrm rot="0" flipH="0" flipV="0">
            <a:off x="4981575" y="3724275"/>
            <a:ext cx="3143250" cy="228600"/>
          </a:xfrm>
          <a:prstGeom prst="rect"/>
        </p:spPr>
        <p:txBody>
          <a:bodyPr wrap="none" lIns="0" tIns="0" rIns="0" bIns="0"/>
          <a:p>
            <a:pPr>
              <a:lnSpc>
                <a:spcPct val="100000"/>
              </a:lnSpc>
            </a:pPr>
            <a:r>
              <a:rPr lang="zh-CN" sz="1500" b="1">
                <a:solidFill>
                  <a:srgbClr val="0E3F8C"/>
                </a:solidFill>
                <a:latin typeface="Microsoft YaHei"/>
                <a:ea typeface="Microsoft YaHei"/>
              </a:rPr>
              <a:t>减少场景：免疫与消耗</a:t>
            </a:r>
            <a:endParaRPr/>
          </a:p>
        </p:txBody>
      </p:sp>
      <p:sp>
        <p:nvSpPr>
          <p:cNvPr id="307" name="" descr="{&quot;isTemplate&quot;:true,&quot;type&quot;:&quot;text&quot;}"/>
          <p:cNvSpPr txBox="1"/>
          <p:nvPr/>
        </p:nvSpPr>
        <p:spPr>
          <a:xfrm rot="0" flipH="0" flipV="0">
            <a:off x="4981575" y="3952875"/>
            <a:ext cx="3143250" cy="161925"/>
          </a:xfrm>
          <a:prstGeom prst="rect"/>
        </p:spPr>
        <p:txBody>
          <a:bodyPr wrap="none" lIns="0" tIns="0" rIns="0" bIns="0"/>
          <a:p>
            <a:pPr>
              <a:lnSpc>
                <a:spcPct val="100000"/>
              </a:lnSpc>
            </a:pPr>
            <a:r>
              <a:rPr lang="en-US" sz="1050">
                <a:solidFill>
                  <a:srgbClr val="6B7B8C"/>
                </a:solidFill>
                <a:latin typeface="Microsoft YaHei"/>
                <a:ea typeface="Microsoft YaHei"/>
              </a:rPr>
              <a:t>ITP</a:t>
            </a:r>
            <a:r>
              <a:rPr lang="zh-CN" sz="1050">
                <a:solidFill>
                  <a:srgbClr val="6B7B8C"/>
                </a:solidFill>
                <a:latin typeface="Microsoft YaHei"/>
                <a:ea typeface="Microsoft YaHei"/>
              </a:rPr>
              <a:t>、</a:t>
            </a:r>
            <a:r>
              <a:rPr lang="en-US" sz="1050">
                <a:solidFill>
                  <a:srgbClr val="6B7B8C"/>
                </a:solidFill>
                <a:latin typeface="Microsoft YaHei"/>
                <a:ea typeface="Microsoft YaHei"/>
              </a:rPr>
              <a:t>HIT</a:t>
            </a:r>
            <a:r>
              <a:rPr lang="zh-CN" sz="1050">
                <a:solidFill>
                  <a:srgbClr val="6B7B8C"/>
                </a:solidFill>
                <a:latin typeface="Microsoft YaHei"/>
                <a:ea typeface="Microsoft YaHei"/>
              </a:rPr>
              <a:t>、</a:t>
            </a:r>
            <a:r>
              <a:rPr lang="en-US" sz="1050">
                <a:solidFill>
                  <a:srgbClr val="6B7B8C"/>
                </a:solidFill>
                <a:latin typeface="Microsoft YaHei"/>
                <a:ea typeface="Microsoft YaHei"/>
              </a:rPr>
              <a:t>DIC</a:t>
            </a:r>
            <a:r>
              <a:rPr lang="zh-CN" sz="1050">
                <a:solidFill>
                  <a:srgbClr val="6B7B8C"/>
                </a:solidFill>
                <a:latin typeface="Microsoft YaHei"/>
                <a:ea typeface="Microsoft YaHei"/>
              </a:rPr>
              <a:t>、</a:t>
            </a:r>
            <a:r>
              <a:rPr lang="en-US" sz="1050">
                <a:solidFill>
                  <a:srgbClr val="6B7B8C"/>
                </a:solidFill>
                <a:latin typeface="Microsoft YaHei"/>
                <a:ea typeface="Microsoft YaHei"/>
              </a:rPr>
              <a:t>ICU</a:t>
            </a:r>
            <a:r>
              <a:rPr lang="zh-CN" sz="1050">
                <a:solidFill>
                  <a:srgbClr val="6B7B8C"/>
                </a:solidFill>
                <a:latin typeface="Microsoft YaHei"/>
                <a:ea typeface="Microsoft YaHei"/>
              </a:rPr>
              <a:t>、药源性血小板减少的系统解读</a:t>
            </a:r>
            <a:endParaRPr/>
          </a:p>
        </p:txBody>
      </p:sp>
      <p:sp>
        <p:nvSpPr>
          <p:cNvPr id="308" name="" descr="{&quot;isTemplate&quot;:true,&quot;type&quot;:&quot;text&quot;}"/>
          <p:cNvSpPr txBox="1"/>
          <p:nvPr/>
        </p:nvSpPr>
        <p:spPr>
          <a:xfrm rot="0" flipH="0" flipV="0">
            <a:off x="4095750" y="416242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08</a:t>
            </a:r>
            <a:endParaRPr/>
          </a:p>
        </p:txBody>
      </p:sp>
      <p:sp>
        <p:nvSpPr>
          <p:cNvPr id="309" name=""/>
          <p:cNvSpPr/>
          <p:nvPr/>
        </p:nvSpPr>
        <p:spPr>
          <a:xfrm rot="0" flipH="0" flipV="0">
            <a:off x="4781550" y="4171950"/>
            <a:ext cx="9525" cy="323850"/>
          </a:xfrm>
          <a:prstGeom prst="rect">
            <a:avLst/>
          </a:prstGeom>
          <a:solidFill>
            <a:srgbClr val="D6DCE5"/>
          </a:solidFill>
          <a:ln/>
        </p:spPr>
        <p:txBody>
          <a:bodyPr/>
          <a:p/>
        </p:txBody>
      </p:sp>
      <p:sp>
        <p:nvSpPr>
          <p:cNvPr id="310" name="" descr="{&quot;isTemplate&quot;:true,&quot;type&quot;:&quot;text&quot;}"/>
          <p:cNvSpPr txBox="1"/>
          <p:nvPr/>
        </p:nvSpPr>
        <p:spPr>
          <a:xfrm rot="0" flipH="0" flipV="0">
            <a:off x="4981575" y="4133850"/>
            <a:ext cx="4000500" cy="228600"/>
          </a:xfrm>
          <a:prstGeom prst="rect"/>
        </p:spPr>
        <p:txBody>
          <a:bodyPr wrap="none" lIns="0" tIns="0" rIns="0" bIns="0"/>
          <a:p>
            <a:pPr>
              <a:lnSpc>
                <a:spcPct val="100000"/>
              </a:lnSpc>
            </a:pPr>
            <a:r>
              <a:rPr lang="zh-CN" sz="1500" b="1">
                <a:solidFill>
                  <a:srgbClr val="0E3F8C"/>
                </a:solidFill>
                <a:latin typeface="Microsoft YaHei"/>
                <a:ea typeface="Microsoft YaHei"/>
              </a:rPr>
              <a:t>特殊人群与围术期场景</a:t>
            </a:r>
            <a:endParaRPr/>
          </a:p>
        </p:txBody>
      </p:sp>
      <p:sp>
        <p:nvSpPr>
          <p:cNvPr id="311" name="" descr="{&quot;isTemplate&quot;:true,&quot;type&quot;:&quot;text&quot;}"/>
          <p:cNvSpPr txBox="1"/>
          <p:nvPr/>
        </p:nvSpPr>
        <p:spPr>
          <a:xfrm rot="0" flipH="0" flipV="0">
            <a:off x="4981575" y="4362450"/>
            <a:ext cx="4000500" cy="161925"/>
          </a:xfrm>
          <a:prstGeom prst="rect"/>
        </p:spPr>
        <p:txBody>
          <a:bodyPr wrap="none" lIns="0" tIns="0" rIns="0" bIns="0"/>
          <a:p>
            <a:pPr>
              <a:lnSpc>
                <a:spcPct val="100000"/>
              </a:lnSpc>
            </a:pPr>
            <a:r>
              <a:rPr lang="zh-CN" sz="1050">
                <a:solidFill>
                  <a:srgbClr val="6B7B8C"/>
                </a:solidFill>
                <a:latin typeface="Microsoft YaHei"/>
                <a:ea typeface="Microsoft YaHei"/>
              </a:rPr>
              <a:t>肝病、妊娠、创伤、心脏外科、抗血小板监测、先天缺陷、输注实践</a:t>
            </a:r>
            <a:endParaRPr/>
          </a:p>
        </p:txBody>
      </p:sp>
      <p:sp>
        <p:nvSpPr>
          <p:cNvPr id="312" name="" descr="{&quot;isTemplate&quot;:true,&quot;type&quot;:&quot;text&quot;}"/>
          <p:cNvSpPr txBox="1"/>
          <p:nvPr/>
        </p:nvSpPr>
        <p:spPr>
          <a:xfrm rot="0" flipH="0" flipV="0">
            <a:off x="4095750" y="457200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09</a:t>
            </a:r>
            <a:endParaRPr/>
          </a:p>
        </p:txBody>
      </p:sp>
      <p:sp>
        <p:nvSpPr>
          <p:cNvPr id="313" name=""/>
          <p:cNvSpPr/>
          <p:nvPr/>
        </p:nvSpPr>
        <p:spPr>
          <a:xfrm rot="0" flipH="0" flipV="0">
            <a:off x="4781550" y="4581525"/>
            <a:ext cx="9525" cy="323850"/>
          </a:xfrm>
          <a:prstGeom prst="rect">
            <a:avLst/>
          </a:prstGeom>
          <a:solidFill>
            <a:srgbClr val="D6DCE5"/>
          </a:solidFill>
          <a:ln/>
        </p:spPr>
        <p:txBody>
          <a:bodyPr/>
          <a:p/>
        </p:txBody>
      </p:sp>
      <p:sp>
        <p:nvSpPr>
          <p:cNvPr id="314" name="" descr="{&quot;isTemplate&quot;:true,&quot;type&quot;:&quot;text&quot;}"/>
          <p:cNvSpPr txBox="1"/>
          <p:nvPr/>
        </p:nvSpPr>
        <p:spPr>
          <a:xfrm rot="0" flipH="0" flipV="0">
            <a:off x="4981575" y="4543425"/>
            <a:ext cx="3028950" cy="228600"/>
          </a:xfrm>
          <a:prstGeom prst="rect"/>
        </p:spPr>
        <p:txBody>
          <a:bodyPr wrap="none" lIns="0" tIns="0" rIns="0" bIns="0"/>
          <a:p>
            <a:pPr>
              <a:lnSpc>
                <a:spcPct val="100000"/>
              </a:lnSpc>
            </a:pPr>
            <a:r>
              <a:rPr lang="zh-CN" sz="1500" b="1">
                <a:solidFill>
                  <a:srgbClr val="0E3F8C"/>
                </a:solidFill>
                <a:latin typeface="Microsoft YaHei"/>
                <a:ea typeface="Microsoft YaHei"/>
              </a:rPr>
              <a:t>流程化判读与动态监测</a:t>
            </a:r>
            <a:endParaRPr/>
          </a:p>
        </p:txBody>
      </p:sp>
      <p:sp>
        <p:nvSpPr>
          <p:cNvPr id="315" name="" descr="{&quot;isTemplate&quot;:true,&quot;type&quot;:&quot;text&quot;}"/>
          <p:cNvSpPr txBox="1"/>
          <p:nvPr/>
        </p:nvSpPr>
        <p:spPr>
          <a:xfrm rot="0" flipH="0" flipV="0">
            <a:off x="4981575" y="4772025"/>
            <a:ext cx="3028950" cy="161925"/>
          </a:xfrm>
          <a:prstGeom prst="rect"/>
        </p:spPr>
        <p:txBody>
          <a:bodyPr wrap="none" lIns="0" tIns="0" rIns="0" bIns="0"/>
          <a:p>
            <a:pPr>
              <a:lnSpc>
                <a:spcPct val="100000"/>
              </a:lnSpc>
            </a:pPr>
            <a:r>
              <a:rPr lang="zh-CN" sz="1050">
                <a:solidFill>
                  <a:srgbClr val="6B7B8C"/>
                </a:solidFill>
                <a:latin typeface="Microsoft YaHei"/>
                <a:ea typeface="Microsoft YaHei"/>
              </a:rPr>
              <a:t>诊断树、危急值闭环、Δ变化预警、动态监测的意义</a:t>
            </a:r>
            <a:endParaRPr/>
          </a:p>
        </p:txBody>
      </p:sp>
      <p:sp>
        <p:nvSpPr>
          <p:cNvPr id="316" name="" descr="{&quot;isTemplate&quot;:true,&quot;type&quot;:&quot;text&quot;}"/>
          <p:cNvSpPr txBox="1"/>
          <p:nvPr/>
        </p:nvSpPr>
        <p:spPr>
          <a:xfrm rot="0" flipH="0" flipV="0">
            <a:off x="4095750" y="498157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10</a:t>
            </a:r>
            <a:endParaRPr/>
          </a:p>
        </p:txBody>
      </p:sp>
      <p:sp>
        <p:nvSpPr>
          <p:cNvPr id="317" name=""/>
          <p:cNvSpPr/>
          <p:nvPr/>
        </p:nvSpPr>
        <p:spPr>
          <a:xfrm rot="0" flipH="0" flipV="0">
            <a:off x="4781550" y="4991100"/>
            <a:ext cx="9525" cy="323850"/>
          </a:xfrm>
          <a:prstGeom prst="rect">
            <a:avLst/>
          </a:prstGeom>
          <a:solidFill>
            <a:srgbClr val="D6DCE5"/>
          </a:solidFill>
          <a:ln/>
        </p:spPr>
        <p:txBody>
          <a:bodyPr/>
          <a:p/>
        </p:txBody>
      </p:sp>
      <p:sp>
        <p:nvSpPr>
          <p:cNvPr id="318" name="" descr="{&quot;isTemplate&quot;:true,&quot;type&quot;:&quot;text&quot;}"/>
          <p:cNvSpPr txBox="1"/>
          <p:nvPr/>
        </p:nvSpPr>
        <p:spPr>
          <a:xfrm rot="0" flipH="0" flipV="0">
            <a:off x="4981575" y="4953000"/>
            <a:ext cx="2790825" cy="228600"/>
          </a:xfrm>
          <a:prstGeom prst="rect"/>
        </p:spPr>
        <p:txBody>
          <a:bodyPr wrap="none" lIns="0" tIns="0" rIns="0" bIns="0"/>
          <a:p>
            <a:pPr>
              <a:lnSpc>
                <a:spcPct val="100000"/>
              </a:lnSpc>
            </a:pPr>
            <a:r>
              <a:rPr lang="zh-CN" sz="1500" b="1">
                <a:solidFill>
                  <a:srgbClr val="0E3F8C"/>
                </a:solidFill>
                <a:latin typeface="Microsoft YaHei"/>
                <a:ea typeface="Microsoft YaHei"/>
              </a:rPr>
              <a:t>关键研究、指南与共识</a:t>
            </a:r>
            <a:endParaRPr/>
          </a:p>
        </p:txBody>
      </p:sp>
      <p:sp>
        <p:nvSpPr>
          <p:cNvPr id="319" name="" descr="{&quot;isTemplate&quot;:true,&quot;type&quot;:&quot;text&quot;}"/>
          <p:cNvSpPr txBox="1"/>
          <p:nvPr/>
        </p:nvSpPr>
        <p:spPr>
          <a:xfrm rot="0" flipH="0" flipV="0">
            <a:off x="4981575" y="5181600"/>
            <a:ext cx="2790825" cy="161925"/>
          </a:xfrm>
          <a:prstGeom prst="rect"/>
        </p:spPr>
        <p:txBody>
          <a:bodyPr wrap="none" lIns="0" tIns="0" rIns="0" bIns="0"/>
          <a:p>
            <a:pPr>
              <a:lnSpc>
                <a:spcPct val="100000"/>
              </a:lnSpc>
            </a:pPr>
            <a:r>
              <a:rPr lang="en-US" sz="1050">
                <a:solidFill>
                  <a:srgbClr val="6B7B8C"/>
                </a:solidFill>
                <a:latin typeface="Microsoft YaHei"/>
                <a:ea typeface="Microsoft YaHei"/>
              </a:rPr>
              <a:t>ITP/HIT/</a:t>
            </a:r>
            <a:r>
              <a:rPr lang="zh-CN" sz="1050">
                <a:solidFill>
                  <a:srgbClr val="6B7B8C"/>
                </a:solidFill>
                <a:latin typeface="Microsoft YaHei"/>
                <a:ea typeface="Microsoft YaHei"/>
              </a:rPr>
              <a:t>输血</a:t>
            </a:r>
            <a:r>
              <a:rPr lang="en-US" sz="1050">
                <a:solidFill>
                  <a:srgbClr val="6B7B8C"/>
                </a:solidFill>
                <a:latin typeface="Microsoft YaHei"/>
                <a:ea typeface="Microsoft YaHei"/>
              </a:rPr>
              <a:t>/</a:t>
            </a:r>
            <a:r>
              <a:rPr lang="zh-CN" sz="1050">
                <a:solidFill>
                  <a:srgbClr val="6B7B8C"/>
                </a:solidFill>
                <a:latin typeface="Microsoft YaHei"/>
                <a:ea typeface="Microsoft YaHei"/>
              </a:rPr>
              <a:t>创伤等指南矩阵与关键</a:t>
            </a:r>
            <a:r>
              <a:rPr lang="en-US" sz="1050">
                <a:solidFill>
                  <a:srgbClr val="6B7B8C"/>
                </a:solidFill>
                <a:latin typeface="Microsoft YaHei"/>
                <a:ea typeface="Microsoft YaHei"/>
              </a:rPr>
              <a:t> RCT </a:t>
            </a:r>
            <a:r>
              <a:rPr lang="zh-CN" sz="1050">
                <a:solidFill>
                  <a:srgbClr val="6B7B8C"/>
                </a:solidFill>
                <a:latin typeface="Microsoft YaHei"/>
                <a:ea typeface="Microsoft YaHei"/>
              </a:rPr>
              <a:t>一览</a:t>
            </a:r>
            <a:endParaRPr/>
          </a:p>
        </p:txBody>
      </p:sp>
      <p:sp>
        <p:nvSpPr>
          <p:cNvPr id="320" name="" descr="{&quot;isTemplate&quot;:true,&quot;type&quot;:&quot;text&quot;}"/>
          <p:cNvSpPr txBox="1"/>
          <p:nvPr/>
        </p:nvSpPr>
        <p:spPr>
          <a:xfrm rot="0" flipH="0" flipV="0">
            <a:off x="4095750" y="5391150"/>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11</a:t>
            </a:r>
            <a:endParaRPr/>
          </a:p>
        </p:txBody>
      </p:sp>
      <p:sp>
        <p:nvSpPr>
          <p:cNvPr id="321" name=""/>
          <p:cNvSpPr/>
          <p:nvPr/>
        </p:nvSpPr>
        <p:spPr>
          <a:xfrm rot="0" flipH="0" flipV="0">
            <a:off x="4781550" y="5400675"/>
            <a:ext cx="9525" cy="323850"/>
          </a:xfrm>
          <a:prstGeom prst="rect">
            <a:avLst/>
          </a:prstGeom>
          <a:solidFill>
            <a:srgbClr val="D6DCE5"/>
          </a:solidFill>
          <a:ln/>
        </p:spPr>
        <p:txBody>
          <a:bodyPr/>
          <a:p/>
        </p:txBody>
      </p:sp>
      <p:sp>
        <p:nvSpPr>
          <p:cNvPr id="322" name="" descr="{&quot;isTemplate&quot;:true,&quot;type&quot;:&quot;text&quot;}"/>
          <p:cNvSpPr txBox="1"/>
          <p:nvPr/>
        </p:nvSpPr>
        <p:spPr>
          <a:xfrm rot="0" flipH="0" flipV="0">
            <a:off x="4981575" y="5362575"/>
            <a:ext cx="3590925" cy="228600"/>
          </a:xfrm>
          <a:prstGeom prst="rect"/>
        </p:spPr>
        <p:txBody>
          <a:bodyPr wrap="none" lIns="0" tIns="0" rIns="0" bIns="0"/>
          <a:p>
            <a:pPr>
              <a:lnSpc>
                <a:spcPct val="100000"/>
              </a:lnSpc>
            </a:pPr>
            <a:r>
              <a:rPr lang="zh-CN" sz="1500" b="1">
                <a:solidFill>
                  <a:srgbClr val="0E3F8C"/>
                </a:solidFill>
                <a:latin typeface="Microsoft YaHei"/>
                <a:ea typeface="Microsoft YaHei"/>
              </a:rPr>
              <a:t>案例分享</a:t>
            </a:r>
            <a:endParaRPr/>
          </a:p>
        </p:txBody>
      </p:sp>
      <p:sp>
        <p:nvSpPr>
          <p:cNvPr id="323" name="" descr="{&quot;isTemplate&quot;:true,&quot;type&quot;:&quot;text&quot;}"/>
          <p:cNvSpPr txBox="1"/>
          <p:nvPr/>
        </p:nvSpPr>
        <p:spPr>
          <a:xfrm rot="0" flipH="0" flipV="0">
            <a:off x="4981575" y="5591175"/>
            <a:ext cx="3590925" cy="161925"/>
          </a:xfrm>
          <a:prstGeom prst="rect"/>
        </p:spPr>
        <p:txBody>
          <a:bodyPr wrap="none" lIns="0" tIns="0" rIns="0" bIns="0"/>
          <a:p>
            <a:pPr>
              <a:lnSpc>
                <a:spcPct val="100000"/>
              </a:lnSpc>
            </a:pPr>
            <a:r>
              <a:rPr lang="zh-CN" sz="1050">
                <a:solidFill>
                  <a:srgbClr val="6B7B8C"/>
                </a:solidFill>
                <a:latin typeface="Microsoft YaHei"/>
                <a:ea typeface="Microsoft YaHei"/>
              </a:rPr>
              <a:t>假性减少、</a:t>
            </a:r>
            <a:r>
              <a:rPr lang="en-US" sz="1050">
                <a:solidFill>
                  <a:srgbClr val="6B7B8C"/>
                </a:solidFill>
                <a:latin typeface="Microsoft YaHei"/>
                <a:ea typeface="Microsoft YaHei"/>
              </a:rPr>
              <a:t>HIT </a:t>
            </a:r>
            <a:r>
              <a:rPr lang="zh-CN" sz="1050">
                <a:solidFill>
                  <a:srgbClr val="6B7B8C"/>
                </a:solidFill>
                <a:latin typeface="Microsoft YaHei"/>
                <a:ea typeface="Microsoft YaHei"/>
              </a:rPr>
              <a:t>鉴别、</a:t>
            </a:r>
            <a:r>
              <a:rPr lang="en-US" sz="1050">
                <a:solidFill>
                  <a:srgbClr val="6B7B8C"/>
                </a:solidFill>
                <a:latin typeface="Microsoft YaHei"/>
                <a:ea typeface="Microsoft YaHei"/>
              </a:rPr>
              <a:t>ITP </a:t>
            </a:r>
            <a:r>
              <a:rPr lang="zh-CN" sz="1050">
                <a:solidFill>
                  <a:srgbClr val="6B7B8C"/>
                </a:solidFill>
                <a:latin typeface="Microsoft YaHei"/>
                <a:ea typeface="Microsoft YaHei"/>
              </a:rPr>
              <a:t>二线、</a:t>
            </a:r>
            <a:r>
              <a:rPr lang="en-US" sz="1050">
                <a:solidFill>
                  <a:srgbClr val="6B7B8C"/>
                </a:solidFill>
                <a:latin typeface="Microsoft YaHei"/>
                <a:ea typeface="Microsoft YaHei"/>
              </a:rPr>
              <a:t>CPB </a:t>
            </a:r>
            <a:r>
              <a:rPr lang="zh-CN" sz="1050">
                <a:solidFill>
                  <a:srgbClr val="6B7B8C"/>
                </a:solidFill>
                <a:latin typeface="Microsoft YaHei"/>
                <a:ea typeface="Microsoft YaHei"/>
              </a:rPr>
              <a:t>出血、创伤复苏等实战</a:t>
            </a:r>
            <a:endParaRPr/>
          </a:p>
        </p:txBody>
      </p:sp>
      <p:sp>
        <p:nvSpPr>
          <p:cNvPr id="324" name="" descr="{&quot;isTemplate&quot;:true,&quot;type&quot;:&quot;text&quot;}"/>
          <p:cNvSpPr txBox="1"/>
          <p:nvPr/>
        </p:nvSpPr>
        <p:spPr>
          <a:xfrm rot="0" flipH="0" flipV="0">
            <a:off x="4095750" y="5800725"/>
            <a:ext cx="495300" cy="342900"/>
          </a:xfrm>
          <a:prstGeom prst="rect"/>
        </p:spPr>
        <p:txBody>
          <a:bodyPr wrap="none" lIns="0" tIns="0" rIns="0" bIns="0"/>
          <a:p>
            <a:pPr>
              <a:lnSpc>
                <a:spcPct val="100000"/>
              </a:lnSpc>
            </a:pPr>
            <a:r>
              <a:rPr lang="en-US" sz="2250" b="1">
                <a:solidFill>
                  <a:srgbClr val="3D7BD9"/>
                </a:solidFill>
                <a:latin typeface="Microsoft YaHei"/>
                <a:ea typeface="Microsoft YaHei"/>
              </a:rPr>
              <a:t>12</a:t>
            </a:r>
            <a:endParaRPr/>
          </a:p>
        </p:txBody>
      </p:sp>
      <p:sp>
        <p:nvSpPr>
          <p:cNvPr id="325" name=""/>
          <p:cNvSpPr/>
          <p:nvPr/>
        </p:nvSpPr>
        <p:spPr>
          <a:xfrm rot="0" flipH="0" flipV="0">
            <a:off x="4781550" y="5810250"/>
            <a:ext cx="9525" cy="323850"/>
          </a:xfrm>
          <a:prstGeom prst="rect">
            <a:avLst/>
          </a:prstGeom>
          <a:solidFill>
            <a:srgbClr val="D6DCE5"/>
          </a:solidFill>
          <a:ln/>
        </p:spPr>
        <p:txBody>
          <a:bodyPr/>
          <a:p/>
        </p:txBody>
      </p:sp>
      <p:sp>
        <p:nvSpPr>
          <p:cNvPr id="326" name="" descr="{&quot;isTemplate&quot;:true,&quot;type&quot;:&quot;text&quot;}"/>
          <p:cNvSpPr txBox="1"/>
          <p:nvPr/>
        </p:nvSpPr>
        <p:spPr>
          <a:xfrm rot="0" flipH="0" flipV="0">
            <a:off x="4981575" y="5772150"/>
            <a:ext cx="2943225" cy="228600"/>
          </a:xfrm>
          <a:prstGeom prst="rect"/>
        </p:spPr>
        <p:txBody>
          <a:bodyPr wrap="none" lIns="0" tIns="0" rIns="0" bIns="0"/>
          <a:p>
            <a:pPr>
              <a:lnSpc>
                <a:spcPct val="100000"/>
              </a:lnSpc>
            </a:pPr>
            <a:r>
              <a:rPr lang="zh-CN" sz="1500" b="1">
                <a:solidFill>
                  <a:srgbClr val="0E3F8C"/>
                </a:solidFill>
                <a:latin typeface="Microsoft YaHei"/>
                <a:ea typeface="Microsoft YaHei"/>
              </a:rPr>
              <a:t>进展与研究方向</a:t>
            </a:r>
            <a:endParaRPr/>
          </a:p>
        </p:txBody>
      </p:sp>
      <p:sp>
        <p:nvSpPr>
          <p:cNvPr id="327" name="" descr="{&quot;isTemplate&quot;:true,&quot;type&quot;:&quot;text&quot;}"/>
          <p:cNvSpPr txBox="1"/>
          <p:nvPr/>
        </p:nvSpPr>
        <p:spPr>
          <a:xfrm rot="0" flipH="0" flipV="0">
            <a:off x="4981575" y="6000750"/>
            <a:ext cx="2943225" cy="161925"/>
          </a:xfrm>
          <a:prstGeom prst="rect"/>
        </p:spPr>
        <p:txBody>
          <a:bodyPr wrap="none" lIns="0" tIns="0" rIns="0" bIns="0"/>
          <a:p>
            <a:pPr>
              <a:lnSpc>
                <a:spcPct val="100000"/>
              </a:lnSpc>
            </a:pPr>
            <a:r>
              <a:rPr lang="en-US" sz="1050">
                <a:solidFill>
                  <a:srgbClr val="6B7B8C"/>
                </a:solidFill>
                <a:latin typeface="Microsoft YaHei"/>
                <a:ea typeface="Microsoft YaHei"/>
              </a:rPr>
              <a:t>AI </a:t>
            </a:r>
            <a:r>
              <a:rPr lang="zh-CN" sz="1050">
                <a:solidFill>
                  <a:srgbClr val="6B7B8C"/>
                </a:solidFill>
                <a:latin typeface="Microsoft YaHei"/>
                <a:ea typeface="Microsoft YaHei"/>
              </a:rPr>
              <a:t>形态学、</a:t>
            </a:r>
            <a:r>
              <a:rPr lang="en-US" sz="1050">
                <a:solidFill>
                  <a:srgbClr val="6B7B8C"/>
                </a:solidFill>
                <a:latin typeface="Microsoft YaHei"/>
                <a:ea typeface="Microsoft YaHei"/>
              </a:rPr>
              <a:t>IPF </a:t>
            </a:r>
            <a:r>
              <a:rPr lang="zh-CN" sz="1050">
                <a:solidFill>
                  <a:srgbClr val="6B7B8C"/>
                </a:solidFill>
                <a:latin typeface="Microsoft YaHei"/>
                <a:ea typeface="Microsoft YaHei"/>
              </a:rPr>
              <a:t>预警、免疫血栓、功能检测新技术</a:t>
            </a:r>
            <a:endParaRPr/>
          </a:p>
        </p:txBody>
      </p:sp>
      <p:sp>
        <p:nvSpPr>
          <p:cNvPr id="328" name="" descr="{&quot;isTemplate&quot;:true,&quot;type&quot;:&quot;text&quot;}"/>
          <p:cNvSpPr txBox="1"/>
          <p:nvPr/>
        </p:nvSpPr>
        <p:spPr>
          <a:xfrm rot="0" flipH="0" flipV="0">
            <a:off x="11182350" y="6286500"/>
            <a:ext cx="400050" cy="171450"/>
          </a:xfrm>
          <a:prstGeom prst="rect"/>
        </p:spPr>
        <p:txBody>
          <a:bodyPr wrap="none" lIns="0" tIns="0" rIns="0" bIns="0"/>
          <a:p>
            <a:pPr>
              <a:lnSpc>
                <a:spcPct val="100000"/>
              </a:lnSpc>
            </a:pPr>
            <a:r>
              <a:rPr lang="en-US" sz="1125">
                <a:solidFill>
                  <a:srgbClr val="6B7B8C"/>
                </a:solidFill>
                <a:latin typeface="Microsoft YaHei"/>
                <a:ea typeface="Microsoft YaHei"/>
              </a:rPr>
              <a:t>2 / 77</a:t>
            </a:r>
            <a:endParaRPr/>
          </a:p>
        </p:txBody>
      </p:sp>
    </p:spTree>
  </p:cSld>
</p:sld>
</file>

<file path=ppt/slides/slide3.xml><?xml version="1.0" encoding="utf-8"?>
<p:sld xmlns:p="http://schemas.openxmlformats.org/presentationml/2006/main" xmlns:a="http://schemas.openxmlformats.org/drawingml/2006/main">
  <p:cSld>
    <p:spTree>
      <p:nvGrpSpPr>
        <p:cNvPr id="563" name="" descr="&lt;Slide notes={`演讲者备注：第一章建立概念框架：血小板从哪里来、在止血中扮演什么角色、细胞结构支撑哪些功能，以及为什么临床解读必须同时看“数量”与“功能”两个维度。这是后续所有章节的基础。`} style={{ width: '1280px', height: '720px', background: '#0E3F8C', padding: 0 }}&gt;&#13;&#10;  &lt;Box style={{ position: 'absolute', left: 0, top: 0, width: 12, height: 720, background: '#3D7BD9' }} /&gt;&#13;&#10;  &lt;Text style={{ position: 'absolute', left: 64, top: 138, fontSize: 22, color: '#9DB8E0', letterSpacing: 4 }}&gt;第 1 章&lt;/Text&gt;&#13;&#10;  &lt;Text style={{ position: 'absolute', left: 56, top: 168, fontSize: 150, color: '#164A9E', fontWeight: 'bold' }}&gt;01&lt;/Text&gt;&#13;&#10;  &lt;Text style={{ position: 'absolute', left: 64, top: 332, fontSize: 50, color: '#FFFFFF', fontWeight: 'bold' }}&gt;定义与生理基础&lt;/Text&gt;&#13;&#10;  &lt;Text style={{ position: 'absolute', left: 64, top: 400, fontSize: 22, color: '#9DB8E0', fontFamily: 'Times New Roman' }}&gt;Definition &amp; Physiology&lt;/Text&gt;&#13;&#10;  &lt;Box key={0} style={{ position: 'absolute', left: 64, top: 472, width: 360, height: 150, background: '#12448F', borderRadius: 12, border: '1px solid #2E5BA8', padding: 20 }}&gt;&#13;&#10;    &lt;Text style={{ fontSize: 18, color: '#9DB8E0', fontWeight: 'bold', marginBottom: 8 }}&gt;数量与功能&lt;/Text&gt;&#13;&#10;    &lt;Text style={{ fontSize: 15, color: '#C7D6EC', lineHeight: 1.5 }}&gt;血小板由巨核细胞生成；循环中数量与功能共同决定止血能力&lt;/Text&gt;&#13;&#10;  &lt;/Box&gt;  &lt;Box key={1} style={{ position: 'absolute', left: 452, top: 472, width: 360, height: 150, background: '#12448F', borderRadius: 12, border: '1px solid #2E5BA8', padding: 20 }}&gt;&#13;&#10;    &lt;Text style={{ fontSize: 18, color: '#9DB8E0', fontWeight: 'bold', marginBottom: 8 }}&gt;一级止血核心&lt;/Text&gt;&#13;&#10;    &lt;Text style={{ fontSize: 15, color: '#C7D6EC', lineHeight: 1.5 }}&gt;黏附-活化-聚集形成血小板栓，是出血的第一道防线&lt;/Text&gt;&#13;&#10;  &lt;/Box&gt;  &lt;Box key={2} style={{ position: 'absolute', left: 840, top: 472, width: 360, height: 150, background: '#12448F', borderRadius: 12, border: '1px solid #2E5BA8', padding: 20 }}&gt;&#13;&#10;    &lt;Text style={{ fontSize: 18, color: '#9DB8E0', fontWeight: 'bold', marginBottom: 8 }}&gt;两大检验维度&lt;/Text&gt;&#13;&#10;    &lt;Text style={{ fontSize: 15, color: '#C7D6EC', lineHeight: 1.5 }}&gt;计数/体积类参数 + 功能试验，构成解读的全部入口&lt;/Text&gt;&#13;&#10;  &lt;/Box&gt;&#13;&#10;  &lt;Text style={{ position: 'absolute', right: 64, top: 660, fontSize: 15, color: '#9DB8E0' }}&gt;3 / 77&lt;/Text&gt;&#13;&#10;&lt;/Slide&gt;"/>
        <p:cNvGrpSpPr/>
        <p:nvPr/>
      </p:nvGrpSpPr>
      <p:grpSpPr>
        <a:xfrm>
          <a:off x="0" y="0"/>
          <a:ext cx="0" cy="0"/>
          <a:chOff x="0" y="0"/>
          <a:chExt cx="0" cy="0"/>
        </a:xfrm>
      </p:grpSpPr>
      <p:sp>
        <p:nvSpPr>
          <p:cNvPr id="564" name=""/>
          <p:cNvSpPr/>
          <p:nvPr/>
        </p:nvSpPr>
        <p:spPr>
          <a:xfrm rot="0" flipH="0" flipV="0">
            <a:off x="0" y="0"/>
            <a:ext cx="12192000" cy="6858000"/>
          </a:xfrm>
          <a:prstGeom prst="rect">
            <a:avLst/>
          </a:prstGeom>
          <a:solidFill>
            <a:srgbClr val="0E3F8C"/>
          </a:solidFill>
          <a:ln/>
        </p:spPr>
        <p:txBody>
          <a:bodyPr/>
          <a:p/>
        </p:txBody>
      </p:sp>
      <p:sp>
        <p:nvSpPr>
          <p:cNvPr id="565" name=""/>
          <p:cNvSpPr/>
          <p:nvPr/>
        </p:nvSpPr>
        <p:spPr>
          <a:xfrm rot="0" flipH="0" flipV="0">
            <a:off x="0" y="0"/>
            <a:ext cx="114300" cy="6858000"/>
          </a:xfrm>
          <a:prstGeom prst="rect">
            <a:avLst/>
          </a:prstGeom>
          <a:solidFill>
            <a:srgbClr val="3D7BD9"/>
          </a:solidFill>
          <a:ln/>
        </p:spPr>
        <p:txBody>
          <a:bodyPr/>
          <a:p/>
        </p:txBody>
      </p:sp>
      <p:sp>
        <p:nvSpPr>
          <p:cNvPr id="566"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1 </a:t>
            </a:r>
            <a:r>
              <a:rPr lang="zh-CN" sz="1650" spc="300">
                <a:solidFill>
                  <a:srgbClr val="9DB8E0"/>
                </a:solidFill>
                <a:latin typeface="Microsoft YaHei"/>
                <a:ea typeface="Microsoft YaHei"/>
              </a:rPr>
              <a:t>章</a:t>
            </a:r>
            <a:endParaRPr/>
          </a:p>
        </p:txBody>
      </p:sp>
      <p:sp>
        <p:nvSpPr>
          <p:cNvPr id="567"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01</a:t>
            </a:r>
            <a:endParaRPr/>
          </a:p>
        </p:txBody>
      </p:sp>
      <p:sp>
        <p:nvSpPr>
          <p:cNvPr id="568" name="" descr="{&quot;isTemplate&quot;:true,&quot;type&quot;:&quot;text&quot;}"/>
          <p:cNvSpPr txBox="1"/>
          <p:nvPr/>
        </p:nvSpPr>
        <p:spPr>
          <a:xfrm rot="0" flipH="0" flipV="0">
            <a:off x="609600" y="3162300"/>
            <a:ext cx="3333750" cy="571500"/>
          </a:xfrm>
          <a:prstGeom prst="rect"/>
        </p:spPr>
        <p:txBody>
          <a:bodyPr wrap="none" lIns="0" tIns="0" rIns="0" bIns="0"/>
          <a:p>
            <a:pPr>
              <a:lnSpc>
                <a:spcPct val="100000"/>
              </a:lnSpc>
            </a:pPr>
            <a:r>
              <a:rPr lang="zh-CN" sz="3750" b="1">
                <a:solidFill>
                  <a:srgbClr val="FFFFFF"/>
                </a:solidFill>
                <a:latin typeface="Microsoft YaHei"/>
                <a:ea typeface="Microsoft YaHei"/>
              </a:rPr>
              <a:t>定义与生理基础</a:t>
            </a:r>
            <a:endParaRPr/>
          </a:p>
        </p:txBody>
      </p:sp>
      <p:sp>
        <p:nvSpPr>
          <p:cNvPr id="569" name="" descr="{&quot;isTemplate&quot;:true,&quot;type&quot;:&quot;text&quot;}"/>
          <p:cNvSpPr txBox="1"/>
          <p:nvPr/>
        </p:nvSpPr>
        <p:spPr>
          <a:xfrm rot="0" flipH="0" flipV="0">
            <a:off x="609600" y="3810000"/>
            <a:ext cx="2076450" cy="257175"/>
          </a:xfrm>
          <a:prstGeom prst="rect"/>
        </p:spPr>
        <p:txBody>
          <a:bodyPr wrap="none" lIns="0" tIns="0" rIns="0" bIns="0"/>
          <a:p>
            <a:pPr>
              <a:lnSpc>
                <a:spcPct val="100000"/>
              </a:lnSpc>
            </a:pPr>
            <a:r>
              <a:rPr lang="en-US" sz="1650">
                <a:solidFill>
                  <a:srgbClr val="9DB8E0"/>
                </a:solidFill>
                <a:latin typeface="Times New Roman"/>
                <a:ea typeface="Times New Roman"/>
              </a:rPr>
              <a:t>Definition &amp; Physiology</a:t>
            </a:r>
            <a:endParaRPr/>
          </a:p>
        </p:txBody>
      </p:sp>
      <p:sp>
        <p:nvSpPr>
          <p:cNvPr id="570"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71"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数量与功能</a:t>
            </a:r>
            <a:endParaRPr/>
          </a:p>
        </p:txBody>
      </p:sp>
      <p:sp>
        <p:nvSpPr>
          <p:cNvPr id="572" name="" descr="{&quot;isTemplate&quot;:true,&quot;type&quot;:&quot;text&quot;}"/>
          <p:cNvSpPr txBox="1"/>
          <p:nvPr/>
        </p:nvSpPr>
        <p:spPr>
          <a:xfrm rot="0" flipH="0" flipV="0">
            <a:off x="800100" y="4972050"/>
            <a:ext cx="3048000" cy="514350"/>
          </a:xfrm>
          <a:prstGeom prst="rect"/>
        </p:spPr>
        <p:txBody>
          <a:bodyPr wrap="square" lIns="0" tIns="0" rIns="0" bIns="0">
            <a:normAutofit/>
          </a:bodyPr>
          <a:p>
            <a:pPr>
              <a:lnSpc>
                <a:spcPct val="150000"/>
              </a:lnSpc>
            </a:pPr>
            <a:r>
              <a:rPr lang="zh-CN" sz="1125">
                <a:solidFill>
                  <a:srgbClr val="C7D6EC"/>
                </a:solidFill>
                <a:latin typeface="Microsoft YaHei"/>
                <a:ea typeface="Microsoft YaHei"/>
              </a:rPr>
              <a:t>血小板由巨核细胞生成；循环中数量与功能共同决定止血能力</a:t>
            </a:r>
            <a:endParaRPr/>
          </a:p>
        </p:txBody>
      </p:sp>
      <p:sp>
        <p:nvSpPr>
          <p:cNvPr id="573"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74"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一级止血核心</a:t>
            </a:r>
            <a:endParaRPr/>
          </a:p>
        </p:txBody>
      </p:sp>
      <p:sp>
        <p:nvSpPr>
          <p:cNvPr id="575" name="" descr="{&quot;isTemplate&quot;:true,&quot;type&quot;:&quot;text&quot;}"/>
          <p:cNvSpPr txBox="1"/>
          <p:nvPr/>
        </p:nvSpPr>
        <p:spPr>
          <a:xfrm rot="0" flipH="0" flipV="0">
            <a:off x="4495800" y="4972050"/>
            <a:ext cx="3048000" cy="514350"/>
          </a:xfrm>
          <a:prstGeom prst="rect"/>
        </p:spPr>
        <p:txBody>
          <a:bodyPr wrap="square" lIns="0" tIns="0" rIns="0" bIns="0">
            <a:normAutofit/>
          </a:bodyPr>
          <a:p>
            <a:pPr>
              <a:lnSpc>
                <a:spcPct val="150000"/>
              </a:lnSpc>
            </a:pPr>
            <a:r>
              <a:rPr lang="zh-CN" sz="1125">
                <a:solidFill>
                  <a:srgbClr val="C7D6EC"/>
                </a:solidFill>
                <a:latin typeface="Microsoft YaHei"/>
                <a:ea typeface="Microsoft YaHei"/>
              </a:rPr>
              <a:t>黏附</a:t>
            </a:r>
            <a:r>
              <a:rPr lang="en-US" sz="1125">
                <a:solidFill>
                  <a:srgbClr val="C7D6EC"/>
                </a:solidFill>
                <a:latin typeface="Microsoft YaHei"/>
                <a:ea typeface="Microsoft YaHei"/>
              </a:rPr>
              <a:t>-</a:t>
            </a:r>
            <a:r>
              <a:rPr lang="zh-CN" sz="1125">
                <a:solidFill>
                  <a:srgbClr val="C7D6EC"/>
                </a:solidFill>
                <a:latin typeface="Microsoft YaHei"/>
                <a:ea typeface="Microsoft YaHei"/>
              </a:rPr>
              <a:t>活化</a:t>
            </a:r>
            <a:r>
              <a:rPr lang="en-US" sz="1125">
                <a:solidFill>
                  <a:srgbClr val="C7D6EC"/>
                </a:solidFill>
                <a:latin typeface="Microsoft YaHei"/>
                <a:ea typeface="Microsoft YaHei"/>
              </a:rPr>
              <a:t>-</a:t>
            </a:r>
            <a:r>
              <a:rPr lang="zh-CN" sz="1125">
                <a:solidFill>
                  <a:srgbClr val="C7D6EC"/>
                </a:solidFill>
                <a:latin typeface="Microsoft YaHei"/>
                <a:ea typeface="Microsoft YaHei"/>
              </a:rPr>
              <a:t>聚集形成血小板栓，是出血的第一道防线</a:t>
            </a:r>
            <a:endParaRPr/>
          </a:p>
        </p:txBody>
      </p:sp>
      <p:sp>
        <p:nvSpPr>
          <p:cNvPr id="576"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77"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两大检验维度</a:t>
            </a:r>
            <a:endParaRPr/>
          </a:p>
        </p:txBody>
      </p:sp>
      <p:sp>
        <p:nvSpPr>
          <p:cNvPr id="578" name="" descr="{&quot;isTemplate&quot;:true,&quot;type&quot;:&quot;text&quot;}"/>
          <p:cNvSpPr txBox="1"/>
          <p:nvPr/>
        </p:nvSpPr>
        <p:spPr>
          <a:xfrm rot="0" flipH="0" flipV="0">
            <a:off x="8191500" y="4972050"/>
            <a:ext cx="3048000" cy="514350"/>
          </a:xfrm>
          <a:prstGeom prst="rect"/>
        </p:spPr>
        <p:txBody>
          <a:bodyPr wrap="square" lIns="0" tIns="0" rIns="0" bIns="0">
            <a:normAutofit/>
          </a:bodyPr>
          <a:p>
            <a:pPr>
              <a:lnSpc>
                <a:spcPct val="150000"/>
              </a:lnSpc>
            </a:pPr>
            <a:r>
              <a:rPr lang="zh-CN" sz="1125">
                <a:solidFill>
                  <a:srgbClr val="C7D6EC"/>
                </a:solidFill>
                <a:latin typeface="Microsoft YaHei"/>
                <a:ea typeface="Microsoft YaHei"/>
              </a:rPr>
              <a:t>计数</a:t>
            </a:r>
            <a:r>
              <a:rPr lang="en-US" sz="1125">
                <a:solidFill>
                  <a:srgbClr val="C7D6EC"/>
                </a:solidFill>
                <a:latin typeface="Microsoft YaHei"/>
                <a:ea typeface="Microsoft YaHei"/>
              </a:rPr>
              <a:t>/</a:t>
            </a:r>
            <a:r>
              <a:rPr lang="zh-CN" sz="1125">
                <a:solidFill>
                  <a:srgbClr val="C7D6EC"/>
                </a:solidFill>
                <a:latin typeface="Microsoft YaHei"/>
                <a:ea typeface="Microsoft YaHei"/>
              </a:rPr>
              <a:t>体积类参数</a:t>
            </a:r>
            <a:r>
              <a:rPr lang="en-US" sz="1125">
                <a:solidFill>
                  <a:srgbClr val="C7D6EC"/>
                </a:solidFill>
                <a:latin typeface="Microsoft YaHei"/>
                <a:ea typeface="Microsoft YaHei"/>
              </a:rPr>
              <a:t> + </a:t>
            </a:r>
            <a:r>
              <a:rPr lang="zh-CN" sz="1125">
                <a:solidFill>
                  <a:srgbClr val="C7D6EC"/>
                </a:solidFill>
                <a:latin typeface="Microsoft YaHei"/>
                <a:ea typeface="Microsoft YaHei"/>
              </a:rPr>
              <a:t>功能试验，构成解读的全部入口</a:t>
            </a:r>
            <a:endParaRPr/>
          </a:p>
        </p:txBody>
      </p:sp>
      <p:sp>
        <p:nvSpPr>
          <p:cNvPr id="579" name="" descr="{&quot;isTemplate&quot;:true,&quot;type&quot;:&quot;text&quot;}"/>
          <p:cNvSpPr txBox="1"/>
          <p:nvPr/>
        </p:nvSpPr>
        <p:spPr>
          <a:xfrm rot="0" flipH="0" flipV="0">
            <a:off x="11182350" y="62865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3 / 77</a:t>
            </a:r>
            <a:endParaRPr/>
          </a:p>
        </p:txBody>
      </p:sp>
    </p:spTree>
  </p:cSld>
</p:sld>
</file>

<file path=ppt/slides/slide4.xml><?xml version="1.0" encoding="utf-8"?>
<p:sld xmlns:p="http://schemas.openxmlformats.org/presentationml/2006/main" xmlns:a="http://schemas.openxmlformats.org/drawingml/2006/main">
  <p:cSld>
    <p:spTree>
      <p:nvGrpSpPr>
        <p:cNvPr id="806" name="" descr="&lt;Slide notes={`演讲者备注：【KAUSHANSKY-TPO】血小板由骨髓巨核细胞生成，受血小板生成素（TPO）及其受体 c-Mpl 调控；TPO 是血小板生成的主要体液调节因子。证据：N Engl J Med 1998;339:746-754，PMID 9731092。&#13;&#10;【GREMMEL-PHYS】血小板在血管损伤处经黏附、活化、聚集形成止血栓（一级止血），并通过膜表面促凝暴露与颗粒释放参与凝血级联、炎症与免疫。证据：Semin Thromb Hemost 2016;42:191-204，PMID 26926581。&#13;&#10;讲解提示：先讲清 TPO 负反馈模型——血小板数越低、游离 TPO 越多，理论上刺激生成；但化疗/再障时巨核细胞池受损，这一代偿失效，是理解“低增生性血小板减少”的关键。`}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一章 定义与生理基础&lt;/Text&gt;&#13;&#10;      &lt;Box style={{ width: 1, height: 24, background: '#3D7BD9' }} /&gt;&#13;&#10;      &lt;Text style={{ fontSize: 16, color: '#C7D6EC' }}&gt;血小板生成：TPO—巨核细胞—血小板轴&lt;/Text&gt;&#13;&#10;    &lt;/Box&gt;&#13;&#10;    &lt;Text style={{ position: 'absolute', right: 64, top: 24, fontSize: 15, color: '#9DB8E0' }}&gt;4 / 77&lt;/Text&gt;&#13;&#10;  &lt;/Box&gt;&#13;&#10;  &lt;Box style={{ position: 'absolute', left: 64, top: 96, width: 562, height: 128, background: '#F0F5FC', borderRadius: 12, border: '1px solid #E5E7EB', padding: 20 }}&gt;&#13;&#10;&lt;Text style={{ fontSize: 19, color: '#0E3F8C', fontWeight: 'bold', textAlign: 'left', lineHeight: 1.5 }}&gt;生成场所&lt;/Text&gt;&#13;&#10;&lt;Text style={{ fontSize: 17, color: '#2C3E50', textAlign: 'left', lineHeight: 1.62 }}&gt;血小板是骨髓巨核细胞（megakaryocyte）胞质脱落形成的无核细胞；巨核细胞由造血干细胞在 TPO 等因子驱动下增殖、多倍体化并成熟，一个巨核细胞可释放上千个血小板。&lt;/Text&gt;&#13;&#10;  &lt;/Box&gt;&#13;&#10;  &lt;Box style={{ position: 'absolute', left: 654, top: 96, width: 562, height: 128, background: '#F0F5FC', borderRadius: 12, border: '1px solid #E5E7EB', padding: 20 }}&gt;&#13;&#10;&lt;Text style={{ fontSize: 19, color: '#0E3F8C', fontWeight: 'bold', textAlign: 'left', lineHeight: 1.5 }}&gt;调控因子&lt;/Text&gt;&#13;&#10;&lt;Text style={{ fontSize: 17, color: '#2C3E50', textAlign: 'left', lineHeight: 1.62 }}&gt;血小板生成素（TPO）是核心调节因子，主要由肝脏产生，通过与巨核细胞及血小板表面 c-Mpl 受体结合调控生成量；血小板本身“消耗”TPO，构成生成与消耗间的负反馈。&lt;/Text&gt;&#13;&#10;  &lt;/Box&gt;&#13;&#10;  &lt;Box style={{ position: 'absolute', left: 64, top: 252, width: 562, height: 128, background: '#F0F5FC', borderRadius: 12, border: '1px solid #E5E7EB', padding: 20 }}&gt;&#13;&#10;&lt;Text style={{ fontSize: 19, color: '#0E3F8C', fontWeight: 'bold', textAlign: 'left', lineHeight: 1.5 }}&gt;循环与清除&lt;/Text&gt;&#13;&#10;&lt;Text style={{ fontSize: 17, color: '#2C3E50', textAlign: 'left', lineHeight: 1.62 }}&gt;正常血小板在循环中寿命约 7—10 天，衰老后经脾脏等网状内皮系统清除；脾大、抗体介导破坏与消耗性凝血均可缩短其生存，直接表现为计数下降。&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血小板计数是“生成—破坏—消耗—分布”平衡的结果，解读任何一次数值都需回到这四个环节。&lt;/Text&gt;&#13;&#10;  &lt;/Box&gt;&#13;&#10;&#13;&#10;  &lt;Box style={{ position: 'absolute', left: 64, top: 556, width: 1152, height: 92, background: '#F0F5FC', borderRadius: 12, border: '1px solid #E5E7EB', padding: 20 }}&gt;&#13;&#10;&lt;Text style={{ fontSize: 17, color: '#2C3E50', textAlign: 'left', lineHeight: 1.6 }}&gt;小结：N Engl J Med 1998;339:746-754 (PMID 973109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807" name=""/>
          <p:cNvSpPr/>
          <p:nvPr/>
        </p:nvSpPr>
        <p:spPr>
          <a:xfrm rot="0" flipH="0" flipV="0">
            <a:off x="0" y="0"/>
            <a:ext cx="12192000" cy="6858000"/>
          </a:xfrm>
          <a:prstGeom prst="rect">
            <a:avLst/>
          </a:prstGeom>
          <a:solidFill>
            <a:srgbClr val="FFFFFF"/>
          </a:solidFill>
          <a:ln/>
        </p:spPr>
        <p:txBody>
          <a:bodyPr/>
          <a:p/>
        </p:txBody>
      </p:sp>
      <p:sp>
        <p:nvSpPr>
          <p:cNvPr id="808" name=""/>
          <p:cNvSpPr/>
          <p:nvPr/>
        </p:nvSpPr>
        <p:spPr>
          <a:xfrm rot="0" flipH="0" flipV="0">
            <a:off x="0" y="0"/>
            <a:ext cx="12192000" cy="685800"/>
          </a:xfrm>
          <a:prstGeom prst="rect">
            <a:avLst/>
          </a:prstGeom>
          <a:solidFill>
            <a:srgbClr val="0E3F8C"/>
          </a:solidFill>
          <a:ln/>
        </p:spPr>
        <p:txBody>
          <a:bodyPr/>
          <a:p/>
        </p:txBody>
      </p:sp>
      <p:sp>
        <p:nvSpPr>
          <p:cNvPr id="809" name="" descr="{&quot;isTemplate&quot;:true,&quot;type&quot;:&quot;text&quot;}"/>
          <p:cNvSpPr txBox="1"/>
          <p:nvPr/>
        </p:nvSpPr>
        <p:spPr>
          <a:xfrm rot="0" flipH="0" flipV="0">
            <a:off x="609600" y="219075"/>
            <a:ext cx="1771650" cy="209550"/>
          </a:xfrm>
          <a:prstGeom prst="rect"/>
        </p:spPr>
        <p:txBody>
          <a:bodyPr wrap="none" lIns="0" tIns="0" rIns="0" bIns="0"/>
          <a:p>
            <a:pPr>
              <a:lnSpc>
                <a:spcPct val="100000"/>
              </a:lnSpc>
            </a:pPr>
            <a:r>
              <a:rPr lang="zh-CN" sz="1350" b="1">
                <a:solidFill>
                  <a:srgbClr val="FFFFFF"/>
                </a:solidFill>
                <a:latin typeface="Microsoft YaHei"/>
                <a:ea typeface="Microsoft YaHei"/>
              </a:rPr>
              <a:t>第一章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定义与生理基础</a:t>
            </a:r>
            <a:endParaRPr/>
          </a:p>
        </p:txBody>
      </p:sp>
      <p:sp>
        <p:nvSpPr>
          <p:cNvPr id="810" name=""/>
          <p:cNvSpPr/>
          <p:nvPr/>
        </p:nvSpPr>
        <p:spPr>
          <a:xfrm rot="0" flipH="0" flipV="0">
            <a:off x="2533650" y="209550"/>
            <a:ext cx="9525" cy="228600"/>
          </a:xfrm>
          <a:prstGeom prst="rect">
            <a:avLst/>
          </a:prstGeom>
          <a:solidFill>
            <a:srgbClr val="3D7BD9"/>
          </a:solidFill>
          <a:ln/>
        </p:spPr>
        <p:txBody>
          <a:bodyPr/>
          <a:p/>
        </p:txBody>
      </p:sp>
      <p:sp>
        <p:nvSpPr>
          <p:cNvPr id="811" name="" descr="{&quot;isTemplate&quot;:true,&quot;type&quot;:&quot;text&quot;}"/>
          <p:cNvSpPr txBox="1"/>
          <p:nvPr/>
        </p:nvSpPr>
        <p:spPr>
          <a:xfrm rot="0" flipH="0" flipV="0">
            <a:off x="2695575" y="228600"/>
            <a:ext cx="2771775" cy="190500"/>
          </a:xfrm>
          <a:prstGeom prst="rect"/>
        </p:spPr>
        <p:txBody>
          <a:bodyPr wrap="none" lIns="0" tIns="0" rIns="0" bIns="0"/>
          <a:p>
            <a:pPr>
              <a:lnSpc>
                <a:spcPct val="100000"/>
              </a:lnSpc>
            </a:pPr>
            <a:r>
              <a:rPr lang="zh-CN" sz="1200">
                <a:solidFill>
                  <a:srgbClr val="C7D6EC"/>
                </a:solidFill>
                <a:latin typeface="Microsoft YaHei"/>
                <a:ea typeface="Microsoft YaHei"/>
              </a:rPr>
              <a:t>血小板生成：</a:t>
            </a:r>
            <a:r>
              <a:rPr lang="en-US" sz="1200">
                <a:solidFill>
                  <a:srgbClr val="C7D6EC"/>
                </a:solidFill>
                <a:latin typeface="Microsoft YaHei"/>
                <a:ea typeface="Microsoft YaHei"/>
              </a:rPr>
              <a:t>TPO—</a:t>
            </a:r>
            <a:r>
              <a:rPr lang="zh-CN" sz="1200">
                <a:solidFill>
                  <a:srgbClr val="C7D6EC"/>
                </a:solidFill>
                <a:latin typeface="Microsoft YaHei"/>
                <a:ea typeface="Microsoft YaHei"/>
              </a:rPr>
              <a:t>巨核细胞—血小板轴</a:t>
            </a:r>
            <a:endParaRPr/>
          </a:p>
        </p:txBody>
      </p:sp>
      <p:sp>
        <p:nvSpPr>
          <p:cNvPr id="812" name="" descr="{&quot;isTemplate&quot;:true,&quot;type&quot;:&quot;text&quot;}"/>
          <p:cNvSpPr txBox="1"/>
          <p:nvPr/>
        </p:nvSpPr>
        <p:spPr>
          <a:xfrm rot="0" flipH="0" flipV="0">
            <a:off x="11182350" y="2286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4 / 77</a:t>
            </a:r>
            <a:endParaRPr/>
          </a:p>
        </p:txBody>
      </p:sp>
      <p:sp>
        <p:nvSpPr>
          <p:cNvPr id="813"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1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生成场所</a:t>
            </a:r>
            <a:endParaRPr/>
          </a:p>
        </p:txBody>
      </p:sp>
      <p:sp>
        <p:nvSpPr>
          <p:cNvPr id="815"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血小板是骨髓巨核细胞（</a:t>
            </a:r>
            <a:r>
              <a:rPr lang="en-US" sz="1275">
                <a:solidFill>
                  <a:srgbClr val="2C3E50"/>
                </a:solidFill>
                <a:latin typeface="Microsoft YaHei"/>
                <a:ea typeface="Microsoft YaHei"/>
              </a:rPr>
              <a:t>megakaryocyte</a:t>
            </a:r>
            <a:r>
              <a:rPr lang="zh-CN" sz="1275">
                <a:solidFill>
                  <a:srgbClr val="2C3E50"/>
                </a:solidFill>
                <a:latin typeface="Microsoft YaHei"/>
                <a:ea typeface="Microsoft YaHei"/>
              </a:rPr>
              <a:t>）胞质脱落形成的无核细胞；巨核细胞由造血干细胞在</a:t>
            </a:r>
            <a:r>
              <a:rPr lang="en-US" sz="1275">
                <a:solidFill>
                  <a:srgbClr val="2C3E50"/>
                </a:solidFill>
                <a:latin typeface="Microsoft YaHei"/>
                <a:ea typeface="Microsoft YaHei"/>
              </a:rPr>
              <a:t> TPO </a:t>
            </a:r>
            <a:r>
              <a:rPr lang="zh-CN" sz="1275">
                <a:solidFill>
                  <a:srgbClr val="2C3E50"/>
                </a:solidFill>
                <a:latin typeface="Microsoft YaHei"/>
                <a:ea typeface="Microsoft YaHei"/>
              </a:rPr>
              <a:t>等因子驱动下增殖、多倍体化并成熟，一个巨核细胞可释放上千个血小板。</a:t>
            </a:r>
            <a:endParaRPr/>
          </a:p>
        </p:txBody>
      </p:sp>
      <p:sp>
        <p:nvSpPr>
          <p:cNvPr id="816"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1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调控因子</a:t>
            </a:r>
            <a:endParaRPr/>
          </a:p>
        </p:txBody>
      </p:sp>
      <p:sp>
        <p:nvSpPr>
          <p:cNvPr id="818"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血小板生成素（</a:t>
            </a:r>
            <a:r>
              <a:rPr lang="en-US" sz="1275">
                <a:solidFill>
                  <a:srgbClr val="2C3E50"/>
                </a:solidFill>
                <a:latin typeface="Microsoft YaHei"/>
                <a:ea typeface="Microsoft YaHei"/>
              </a:rPr>
              <a:t>TPO</a:t>
            </a:r>
            <a:r>
              <a:rPr lang="zh-CN" sz="1275">
                <a:solidFill>
                  <a:srgbClr val="2C3E50"/>
                </a:solidFill>
                <a:latin typeface="Microsoft YaHei"/>
                <a:ea typeface="Microsoft YaHei"/>
              </a:rPr>
              <a:t>）是核心调节因子，主要由肝脏产生，通过与巨核细胞及血小板表面</a:t>
            </a:r>
            <a:r>
              <a:rPr lang="en-US" sz="1275">
                <a:solidFill>
                  <a:srgbClr val="2C3E50"/>
                </a:solidFill>
                <a:latin typeface="Microsoft YaHei"/>
                <a:ea typeface="Microsoft YaHei"/>
              </a:rPr>
              <a:t> c-Mpl </a:t>
            </a:r>
            <a:r>
              <a:rPr lang="zh-CN" sz="1275">
                <a:solidFill>
                  <a:srgbClr val="2C3E50"/>
                </a:solidFill>
                <a:latin typeface="Microsoft YaHei"/>
                <a:ea typeface="Microsoft YaHei"/>
              </a:rPr>
              <a:t>受体结合调控生成量；血小板本身“消耗”</a:t>
            </a:r>
            <a:r>
              <a:rPr lang="en-US" sz="1275">
                <a:solidFill>
                  <a:srgbClr val="2C3E50"/>
                </a:solidFill>
                <a:latin typeface="Microsoft YaHei"/>
                <a:ea typeface="Microsoft YaHei"/>
              </a:rPr>
              <a:t>TPO</a:t>
            </a:r>
            <a:r>
              <a:rPr lang="zh-CN" sz="1275">
                <a:solidFill>
                  <a:srgbClr val="2C3E50"/>
                </a:solidFill>
                <a:latin typeface="Microsoft YaHei"/>
                <a:ea typeface="Microsoft YaHei"/>
              </a:rPr>
              <a:t>，构成生成与消耗间的负反馈。</a:t>
            </a:r>
            <a:endParaRPr/>
          </a:p>
        </p:txBody>
      </p:sp>
      <p:sp>
        <p:nvSpPr>
          <p:cNvPr id="819"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20"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循环与清除</a:t>
            </a:r>
            <a:endParaRPr/>
          </a:p>
        </p:txBody>
      </p:sp>
      <p:sp>
        <p:nvSpPr>
          <p:cNvPr id="821"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正常血小板在循环中寿命约</a:t>
            </a:r>
            <a:r>
              <a:rPr lang="en-US" sz="1275">
                <a:solidFill>
                  <a:srgbClr val="2C3E50"/>
                </a:solidFill>
                <a:latin typeface="Microsoft YaHei"/>
                <a:ea typeface="Microsoft YaHei"/>
              </a:rPr>
              <a:t> 7—10 </a:t>
            </a:r>
            <a:r>
              <a:rPr lang="zh-CN" sz="1275">
                <a:solidFill>
                  <a:srgbClr val="2C3E50"/>
                </a:solidFill>
                <a:latin typeface="Microsoft YaHei"/>
                <a:ea typeface="Microsoft YaHei"/>
              </a:rPr>
              <a:t>天，衰老后经脾脏等网状内皮系统清除；脾大、抗体介导破坏与消耗性凝血均可缩短其生存，直接表现为计数下降。</a:t>
            </a:r>
            <a:endParaRPr/>
          </a:p>
        </p:txBody>
      </p:sp>
      <p:sp>
        <p:nvSpPr>
          <p:cNvPr id="822"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23"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824"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825"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26"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血小板计数是“生成—破坏—消耗—分布”平衡的结果，解读任何一次数值都需回到这四个环节。</a:t>
            </a:r>
            <a:endParaRPr/>
          </a:p>
        </p:txBody>
      </p:sp>
      <p:sp>
        <p:nvSpPr>
          <p:cNvPr id="82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82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N Engl J Med 1998;339:746-754 (PMID 9731092)</a:t>
            </a:r>
            <a:endParaRPr/>
          </a:p>
        </p:txBody>
      </p:sp>
      <p:sp>
        <p:nvSpPr>
          <p:cNvPr id="829" name=""/>
          <p:cNvSpPr/>
          <p:nvPr/>
        </p:nvSpPr>
        <p:spPr>
          <a:xfrm rot="0" flipH="0" flipV="0">
            <a:off x="0" y="6324600"/>
            <a:ext cx="12192000" cy="342900"/>
          </a:xfrm>
          <a:prstGeom prst="rect">
            <a:avLst/>
          </a:prstGeom>
          <a:solidFill>
            <a:srgbClr val="F7F9FC"/>
          </a:solidFill>
          <a:ln/>
        </p:spPr>
        <p:txBody>
          <a:bodyPr/>
          <a:p/>
        </p:txBody>
      </p:sp>
      <p:sp>
        <p:nvSpPr>
          <p:cNvPr id="83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83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081" name="" descr="&lt;Slide notes={`演讲者备注：【JACKSON-ADH】血小板聚集是黏附-活化-聚集-稳定化的多步骤动态过程：vWF-GPIb介导滚动黏附、整合素αIIbβ3介导牢固黏附与聚集，体内外表现远比简单聚集复杂。证据：Blood 2007;109:5087-5095，PMID 17311994。&#13;&#10;【GREMMEL-PHYS】血小板在血管损伤处经黏附、活化、聚集形成止血栓（一级止血），并通过膜表面促凝暴露与颗粒释放参与凝血级联、炎症与免疫。证据：Semin Thromb Hemost 2016;42:191-204，PMID 26926581。&#13;&#10;讲解提示：用“止血第一步”比喻帮助临床理解——为什么阿司匹林（抑 TxA2 通路）与氯吡格雷（抑 ADP 通路）只削弱部分聚集；为什么 αIIbβ3 缺陷（Glanzmann 病）出血最重。这也是功能检测选诱导剂（AA/ADP/胶原）的生理学基础。`}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一章 定义与生理基础&lt;/Text&gt;&#13;&#10;      &lt;Box style={{ width: 1, height: 24, background: '#3D7BD9' }} /&gt;&#13;&#10;      &lt;Text style={{ fontSize: 16, color: '#C7D6EC' }}&gt;一级止血中的血小板：黏附—活化—聚集&lt;/Text&gt;&#13;&#10;    &lt;/Box&gt;&#13;&#10;    &lt;Text style={{ position: 'absolute', right: 64, top: 24, fontSize: 15, color: '#9DB8E0' }}&gt;5 / 77&lt;/Text&gt;&#13;&#10;  &lt;/Box&gt;&#13;&#10;  &lt;Box style={{ position: 'absolute', left: 64, top: 100, width: 560 }}&gt;&#13;&#10;    &lt;Image style={{ width: 560, height: 470, borderRadius: 10, objectFit: 'contain' }} src={'C:/Users/lenovo/WorkBuddy/2026-09-06-22-29-36/血小板PLT/assets_fixed/plt_ipf__PMC10176761_b2.png'} /&gt;&#13;&#10;&#13;&#10;  &lt;/Box&gt;&#13;&#10;  &lt;Box style={{ position: 'absolute', left: 664, top: 100, width: 552, height: 62, background: '#F0F5FC', borderRadius: 12, border: '1px solid #E5E7EB', padding: 20 }}&gt;&#13;&#10;&lt;Text style={{ fontSize: 18, color: '#0E3F8C', fontWeight: 'bold', textAlign: 'left', lineHeight: 1.5 }}&gt;黏附启动&lt;/Text&gt;&#13;&#10;&lt;Text style={{ fontSize: 16, color: '#2C3E50', textAlign: 'left', lineHeight: 1.58 }}&gt;血管损伤暴露内皮下 vWF 与胶原：血小板经 GPIb-IX-V 与 vWF 结合而减速“滚动”，再由 GPVI/整合素与胶原牢固黏附于损伤处。&lt;/Text&gt;&#13;&#10;  &lt;/Box&gt;&#13;&#10;  &lt;Box style={{ position: 'absolute', left: 664, top: 178, width: 552, height: 62, background: '#F0F5FC', borderRadius: 12, border: '1px solid #E5E7EB', padding: 20 }}&gt;&#13;&#10;&lt;Text style={{ fontSize: 18, color: '#0E3F8C', fontWeight: 'bold', textAlign: 'left', lineHeight: 1.5 }}&gt;活化放大&lt;/Text&gt;&#13;&#10;&lt;Text style={{ fontSize: 16, color: '#2C3E50', textAlign: 'left', lineHeight: 1.58 }}&gt;黏附后血小板发生形变、脱颗粒并释放 ADP、TxA2 等激动剂，进一步招募并活化更多血小板；膜磷脂翻转暴露促凝表面。&lt;/Text&gt;&#13;&#10;  &lt;/Box&gt;&#13;&#10;  &lt;Box style={{ position: 'absolute', left: 664, top: 256, width: 552, height: 62, background: '#F0F5FC', borderRadius: 12, border: '1px solid #E5E7EB', padding: 20 }}&gt;&#13;&#10;&lt;Text style={{ fontSize: 18, color: '#0E3F8C', fontWeight: 'bold', textAlign: 'left', lineHeight: 1.5 }}&gt;聚集成栓&lt;/Text&gt;&#13;&#10;&lt;Text style={{ fontSize: 16, color: '#2C3E50', textAlign: 'left', lineHeight: 1.58 }}&gt;活化血小板经整合素 αIIbβ3 与纤维蛋白原交联实现不可逆聚集，形成血小板栓；随后与凝血系统互动形成稳定纤维蛋白网（见第六、八章）。&lt;/Text&gt;&#13;&#10;  &lt;/Box&gt;&#13;&#10;  &lt;Box style={{ position: 'absolute', left: 664, top: 334, width: 552, height: 62, background: '#F0F5FC', borderRadius: 12, border: '1px solid #E5E7EB', padding: 20 }}&gt;&#13;&#10;&lt;Text style={{ fontSize: 18, color: '#0E3F8C', fontWeight: 'bold', textAlign: 'left', lineHeight: 1.5 }}&gt;小结&lt;/Text&gt;&#13;&#10;&lt;Text style={{ fontSize: 16, color: '#2C3E50', textAlign: 'left', lineHeight: 1.58 }}&gt;&lt;/Text&gt;&#13;&#10;  &lt;/Box&gt;&#13;&#10;  &lt;Box style={{ position: 'absolute', left: 664, top: 412, width: 552, height: 62, background: '#F0F5FC', borderRadius: 12, border: '1px solid #E5E7EB', padding: 20 }}&gt;&#13;&#10;&lt;Text style={{ fontSize: 16, color: '#2C3E50', textAlign: 'left', lineHeight: 1.58 }}&gt;血小板聚集是“黏附-活化-聚集-稳定”的级联，任何环节的药物抑制或分子缺陷都会削弱一级止血。&lt;/Text&gt;&#13;&#10;  &lt;/Box&gt;&#13;&#10;  &lt;Box style={{ position: 'absolute', left: 64, top: 494, width: 1152, height: 76, background: '#F0F5FC', borderRadius: 12, border: '1px solid #E5E7EB', padding: 20 }}&gt;&#13;&#10;&lt;Text style={{ fontSize: 16, color: '#2C3E50', textAlign: 'left', lineHeight: 1.55 }}&gt;小结：Blood 2007;109:5087-5095 (PMID 17311994)&lt;/Text&gt;&#13;&#10;  &lt;/Box&gt;&#13;&#10;  &lt;Box style={{ position: 'absolute', left: 64, top: 606, width: 1152, height: 40, background: '#F0F5FC', borderRadius: 12, border: '1px solid #E5E7EB', padding: 20 }}&gt;&#13;&#10;&lt;Text style={{ fontSize: 14, color: '#6B7B8C', textAlign: 'center', lineHeight: 1.5 }}&gt;血小板活化—脱颗粒—聚集机制示意（P-选择素/GPIb-vWF/α6β1/GPVI-胶原/αIIbβ3-纤维蛋白原等通路，摘自开放获取文献）&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082" name=""/>
          <p:cNvSpPr/>
          <p:nvPr/>
        </p:nvSpPr>
        <p:spPr>
          <a:xfrm rot="0" flipH="0" flipV="0">
            <a:off x="0" y="0"/>
            <a:ext cx="12192000" cy="6858000"/>
          </a:xfrm>
          <a:prstGeom prst="rect">
            <a:avLst/>
          </a:prstGeom>
          <a:solidFill>
            <a:srgbClr val="FFFFFF"/>
          </a:solidFill>
          <a:ln/>
        </p:spPr>
        <p:txBody>
          <a:bodyPr/>
          <a:p/>
        </p:txBody>
      </p:sp>
      <p:sp>
        <p:nvSpPr>
          <p:cNvPr id="1083" name=""/>
          <p:cNvSpPr/>
          <p:nvPr/>
        </p:nvSpPr>
        <p:spPr>
          <a:xfrm rot="0" flipH="0" flipV="0">
            <a:off x="0" y="0"/>
            <a:ext cx="12192000" cy="685800"/>
          </a:xfrm>
          <a:prstGeom prst="rect">
            <a:avLst/>
          </a:prstGeom>
          <a:solidFill>
            <a:srgbClr val="0E3F8C"/>
          </a:solidFill>
          <a:ln/>
        </p:spPr>
        <p:txBody>
          <a:bodyPr/>
          <a:p/>
        </p:txBody>
      </p:sp>
      <p:sp>
        <p:nvSpPr>
          <p:cNvPr id="1084" name="" descr="{&quot;isTemplate&quot;:true,&quot;type&quot;:&quot;text&quot;}"/>
          <p:cNvSpPr txBox="1"/>
          <p:nvPr/>
        </p:nvSpPr>
        <p:spPr>
          <a:xfrm rot="0" flipH="0" flipV="0">
            <a:off x="609600" y="219075"/>
            <a:ext cx="1771650" cy="209550"/>
          </a:xfrm>
          <a:prstGeom prst="rect"/>
        </p:spPr>
        <p:txBody>
          <a:bodyPr wrap="none" lIns="0" tIns="0" rIns="0" bIns="0"/>
          <a:p>
            <a:pPr>
              <a:lnSpc>
                <a:spcPct val="100000"/>
              </a:lnSpc>
            </a:pPr>
            <a:r>
              <a:rPr lang="zh-CN" sz="1350" b="1">
                <a:solidFill>
                  <a:srgbClr val="FFFFFF"/>
                </a:solidFill>
                <a:latin typeface="Microsoft YaHei"/>
                <a:ea typeface="Microsoft YaHei"/>
              </a:rPr>
              <a:t>第一章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定义与生理基础</a:t>
            </a:r>
            <a:endParaRPr/>
          </a:p>
        </p:txBody>
      </p:sp>
      <p:sp>
        <p:nvSpPr>
          <p:cNvPr id="1085" name=""/>
          <p:cNvSpPr/>
          <p:nvPr/>
        </p:nvSpPr>
        <p:spPr>
          <a:xfrm rot="0" flipH="0" flipV="0">
            <a:off x="2533650" y="209550"/>
            <a:ext cx="9525" cy="228600"/>
          </a:xfrm>
          <a:prstGeom prst="rect">
            <a:avLst/>
          </a:prstGeom>
          <a:solidFill>
            <a:srgbClr val="3D7BD9"/>
          </a:solidFill>
          <a:ln/>
        </p:spPr>
        <p:txBody>
          <a:bodyPr/>
          <a:p/>
        </p:txBody>
      </p:sp>
      <p:sp>
        <p:nvSpPr>
          <p:cNvPr id="1086" name="" descr="{&quot;isTemplate&quot;:true,&quot;type&quot;:&quot;text&quot;}"/>
          <p:cNvSpPr txBox="1"/>
          <p:nvPr/>
        </p:nvSpPr>
        <p:spPr>
          <a:xfrm rot="0" flipH="0" flipV="0">
            <a:off x="2695575" y="228600"/>
            <a:ext cx="2771775" cy="190500"/>
          </a:xfrm>
          <a:prstGeom prst="rect"/>
        </p:spPr>
        <p:txBody>
          <a:bodyPr wrap="none" lIns="0" tIns="0" rIns="0" bIns="0"/>
          <a:p>
            <a:pPr>
              <a:lnSpc>
                <a:spcPct val="100000"/>
              </a:lnSpc>
            </a:pPr>
            <a:r>
              <a:rPr lang="zh-CN" sz="1200">
                <a:solidFill>
                  <a:srgbClr val="C7D6EC"/>
                </a:solidFill>
                <a:latin typeface="Microsoft YaHei"/>
                <a:ea typeface="Microsoft YaHei"/>
              </a:rPr>
              <a:t>一级止血中的血小板：黏附—活化—聚集</a:t>
            </a:r>
            <a:endParaRPr/>
          </a:p>
        </p:txBody>
      </p:sp>
      <p:sp>
        <p:nvSpPr>
          <p:cNvPr id="1087" name="" descr="{&quot;isTemplate&quot;:true,&quot;type&quot;:&quot;text&quot;}"/>
          <p:cNvSpPr txBox="1"/>
          <p:nvPr/>
        </p:nvSpPr>
        <p:spPr>
          <a:xfrm rot="0" flipH="0" flipV="0">
            <a:off x="11182350" y="2286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5 / 77</a:t>
            </a:r>
            <a:endParaRPr/>
          </a:p>
        </p:txBody>
      </p:sp>
      <p:pic>
        <p:nvPicPr>
          <p:cNvPr id="1088" name=""/>
          <p:cNvPicPr>
            <a:picLocks noChangeAspect="1"/>
          </p:cNvPicPr>
          <p:nvPr/>
        </p:nvPicPr>
        <p:blipFill>
          <a:blip r:embed="rId1"/>
          <a:srcRect l="26045" t="0" r="26045" b="0"/>
          <a:stretch>
            <a:fillRect/>
          </a:stretch>
        </p:blipFill>
        <p:spPr>
          <a:xfrm rot="0" flipH="0" flipV="0">
            <a:off x="609600" y="952500"/>
            <a:ext cx="5334000" cy="4476750"/>
          </a:xfrm>
          <a:prstGeom prst="roundRect">
            <a:avLst>
              <a:gd name="adj" fmla="val 2128"/>
            </a:avLst>
          </a:prstGeom>
          <a:ln/>
        </p:spPr>
      </p:pic>
      <p:sp>
        <p:nvSpPr>
          <p:cNvPr id="1089" name=""/>
          <p:cNvSpPr/>
          <p:nvPr/>
        </p:nvSpPr>
        <p:spPr>
          <a:xfrm rot="0" flipH="0" flipV="0">
            <a:off x="6324600" y="9525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090"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黏附启动</a:t>
            </a:r>
            <a:endParaRPr/>
          </a:p>
        </p:txBody>
      </p:sp>
      <p:sp>
        <p:nvSpPr>
          <p:cNvPr id="1091" name="" descr="{&quot;isTemplate&quot;:true,&quot;type&quot;:&quot;text&quot;}"/>
          <p:cNvSpPr txBox="1"/>
          <p:nvPr/>
        </p:nvSpPr>
        <p:spPr>
          <a:xfrm rot="0" flipH="0" flipV="0">
            <a:off x="6515100" y="1457325"/>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血管损伤暴露内皮下</a:t>
            </a:r>
            <a:r>
              <a:rPr lang="en-US" sz="1200">
                <a:solidFill>
                  <a:srgbClr val="2C3E50"/>
                </a:solidFill>
                <a:latin typeface="Microsoft YaHei"/>
                <a:ea typeface="Microsoft YaHei"/>
              </a:rPr>
              <a:t> vWF </a:t>
            </a:r>
            <a:r>
              <a:rPr lang="zh-CN" sz="1200">
                <a:solidFill>
                  <a:srgbClr val="2C3E50"/>
                </a:solidFill>
                <a:latin typeface="Microsoft YaHei"/>
                <a:ea typeface="Microsoft YaHei"/>
              </a:rPr>
              <a:t>与胶原：血小板经</a:t>
            </a:r>
            <a:r>
              <a:rPr lang="en-US" sz="1200">
                <a:solidFill>
                  <a:srgbClr val="2C3E50"/>
                </a:solidFill>
                <a:latin typeface="Microsoft YaHei"/>
                <a:ea typeface="Microsoft YaHei"/>
              </a:rPr>
              <a:t> GPIb-IX-V </a:t>
            </a:r>
            <a:r>
              <a:rPr lang="zh-CN" sz="1200">
                <a:solidFill>
                  <a:srgbClr val="2C3E50"/>
                </a:solidFill>
                <a:latin typeface="Microsoft YaHei"/>
                <a:ea typeface="Microsoft YaHei"/>
              </a:rPr>
              <a:t>与</a:t>
            </a:r>
            <a:r>
              <a:rPr lang="en-US" sz="1200">
                <a:solidFill>
                  <a:srgbClr val="2C3E50"/>
                </a:solidFill>
                <a:latin typeface="Microsoft YaHei"/>
                <a:ea typeface="Microsoft YaHei"/>
              </a:rPr>
              <a:t> vWF </a:t>
            </a:r>
            <a:r>
              <a:rPr lang="zh-CN" sz="1200">
                <a:solidFill>
                  <a:srgbClr val="2C3E50"/>
                </a:solidFill>
                <a:latin typeface="Microsoft YaHei"/>
                <a:ea typeface="Microsoft YaHei"/>
              </a:rPr>
              <a:t>结合而减速“滚动”，再由</a:t>
            </a:r>
            <a:r>
              <a:rPr lang="en-US" sz="1200">
                <a:solidFill>
                  <a:srgbClr val="2C3E50"/>
                </a:solidFill>
                <a:latin typeface="Microsoft YaHei"/>
                <a:ea typeface="Microsoft YaHei"/>
              </a:rPr>
              <a:t> GPVI/</a:t>
            </a:r>
            <a:r>
              <a:rPr lang="zh-CN" sz="1200">
                <a:solidFill>
                  <a:srgbClr val="2C3E50"/>
                </a:solidFill>
                <a:latin typeface="Microsoft YaHei"/>
                <a:ea typeface="Microsoft YaHei"/>
              </a:rPr>
              <a:t>整合素与胶原牢固黏附于损伤处。</a:t>
            </a:r>
            <a:endParaRPr/>
          </a:p>
        </p:txBody>
      </p:sp>
      <p:sp>
        <p:nvSpPr>
          <p:cNvPr id="1092" name=""/>
          <p:cNvSpPr/>
          <p:nvPr/>
        </p:nvSpPr>
        <p:spPr>
          <a:xfrm rot="0" flipH="0" flipV="0">
            <a:off x="6324600" y="16954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093" name="" descr="{&quot;isTemplate&quot;:true,&quot;type&quot;:&quot;text&quot;}"/>
          <p:cNvSpPr txBox="1"/>
          <p:nvPr/>
        </p:nvSpPr>
        <p:spPr>
          <a:xfrm rot="0" flipH="0" flipV="0">
            <a:off x="6515100" y="18859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活化放大</a:t>
            </a:r>
            <a:endParaRPr/>
          </a:p>
        </p:txBody>
      </p:sp>
      <p:sp>
        <p:nvSpPr>
          <p:cNvPr id="1094" name="" descr="{&quot;isTemplate&quot;:true,&quot;type&quot;:&quot;text&quot;}"/>
          <p:cNvSpPr txBox="1"/>
          <p:nvPr/>
        </p:nvSpPr>
        <p:spPr>
          <a:xfrm rot="0" flipH="0" flipV="0">
            <a:off x="6515100" y="2200275"/>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黏附后血小板发生形变、脱颗粒并释放</a:t>
            </a:r>
            <a:r>
              <a:rPr lang="en-US" sz="1200">
                <a:solidFill>
                  <a:srgbClr val="2C3E50"/>
                </a:solidFill>
                <a:latin typeface="Microsoft YaHei"/>
                <a:ea typeface="Microsoft YaHei"/>
              </a:rPr>
              <a:t> ADP</a:t>
            </a:r>
            <a:r>
              <a:rPr lang="zh-CN" sz="1200">
                <a:solidFill>
                  <a:srgbClr val="2C3E50"/>
                </a:solidFill>
                <a:latin typeface="Microsoft YaHei"/>
                <a:ea typeface="Microsoft YaHei"/>
              </a:rPr>
              <a:t>、</a:t>
            </a:r>
            <a:r>
              <a:rPr lang="en-US" sz="1200">
                <a:solidFill>
                  <a:srgbClr val="2C3E50"/>
                </a:solidFill>
                <a:latin typeface="Microsoft YaHei"/>
                <a:ea typeface="Microsoft YaHei"/>
              </a:rPr>
              <a:t>TxA2 </a:t>
            </a:r>
            <a:r>
              <a:rPr lang="zh-CN" sz="1200">
                <a:solidFill>
                  <a:srgbClr val="2C3E50"/>
                </a:solidFill>
                <a:latin typeface="Microsoft YaHei"/>
                <a:ea typeface="Microsoft YaHei"/>
              </a:rPr>
              <a:t>等激动剂，进一步招募并活化更多血小板；膜磷脂翻转暴露促凝表面。</a:t>
            </a:r>
            <a:endParaRPr/>
          </a:p>
        </p:txBody>
      </p:sp>
      <p:sp>
        <p:nvSpPr>
          <p:cNvPr id="1095" name=""/>
          <p:cNvSpPr/>
          <p:nvPr/>
        </p:nvSpPr>
        <p:spPr>
          <a:xfrm rot="0" flipH="0" flipV="0">
            <a:off x="6324600" y="24384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096" name="" descr="{&quot;isTemplate&quot;:true,&quot;type&quot;:&quot;text&quot;}"/>
          <p:cNvSpPr txBox="1"/>
          <p:nvPr/>
        </p:nvSpPr>
        <p:spPr>
          <a:xfrm rot="0" flipH="0" flipV="0">
            <a:off x="6515100" y="2628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聚集成栓</a:t>
            </a:r>
            <a:endParaRPr/>
          </a:p>
        </p:txBody>
      </p:sp>
      <p:sp>
        <p:nvSpPr>
          <p:cNvPr id="1097" name="" descr="{&quot;isTemplate&quot;:true,&quot;type&quot;:&quot;text&quot;}"/>
          <p:cNvSpPr txBox="1"/>
          <p:nvPr/>
        </p:nvSpPr>
        <p:spPr>
          <a:xfrm rot="0" flipH="0" flipV="0">
            <a:off x="6515100" y="2943225"/>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活化血小板经整合素</a:t>
            </a:r>
            <a:r>
              <a:rPr lang="en-US" sz="1200">
                <a:solidFill>
                  <a:srgbClr val="2C3E50"/>
                </a:solidFill>
                <a:latin typeface="Microsoft YaHei"/>
                <a:ea typeface="Microsoft YaHei"/>
              </a:rPr>
              <a:t> αIIbβ3 </a:t>
            </a:r>
            <a:r>
              <a:rPr lang="zh-CN" sz="1200">
                <a:solidFill>
                  <a:srgbClr val="2C3E50"/>
                </a:solidFill>
                <a:latin typeface="Microsoft YaHei"/>
                <a:ea typeface="Microsoft YaHei"/>
              </a:rPr>
              <a:t>与纤维蛋白原交联实现不可逆聚集，形成血小板栓；随后与凝血系统互动形成稳定纤维蛋白网（见第六、八章）。</a:t>
            </a:r>
            <a:endParaRPr/>
          </a:p>
        </p:txBody>
      </p:sp>
      <p:sp>
        <p:nvSpPr>
          <p:cNvPr id="1098" name=""/>
          <p:cNvSpPr/>
          <p:nvPr/>
        </p:nvSpPr>
        <p:spPr>
          <a:xfrm rot="0" flipH="0" flipV="0">
            <a:off x="6324600" y="31813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099" name="" descr="{&quot;isTemplate&quot;:true,&quot;type&quot;:&quot;text&quot;}"/>
          <p:cNvSpPr txBox="1"/>
          <p:nvPr/>
        </p:nvSpPr>
        <p:spPr>
          <a:xfrm rot="0" flipH="0" flipV="0">
            <a:off x="6515100" y="33718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1100" name="" descr="{&quot;isTemplate&quot;:true,&quot;type&quot;:&quot;text&quot;}"/>
          <p:cNvSpPr txBox="1"/>
          <p:nvPr/>
        </p:nvSpPr>
        <p:spPr>
          <a:xfrm rot="0" flipH="0" flipV="0">
            <a:off x="6515100" y="3686175"/>
            <a:ext cx="4876800" cy="0"/>
          </a:xfrm>
          <a:prstGeom prst="rect"/>
        </p:spPr>
        <p:txBody>
          <a:bodyPr wrap="none" lIns="0" tIns="0" rIns="0" bIns="0"/>
          <a:p>
            <a:pPr/>
            <a:endParaRPr/>
          </a:p>
        </p:txBody>
      </p:sp>
      <p:sp>
        <p:nvSpPr>
          <p:cNvPr id="1101" name=""/>
          <p:cNvSpPr/>
          <p:nvPr/>
        </p:nvSpPr>
        <p:spPr>
          <a:xfrm rot="0" flipH="0" flipV="0">
            <a:off x="6324600" y="39243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102" name="" descr="{&quot;isTemplate&quot;:true,&quot;type&quot;:&quot;text&quot;}"/>
          <p:cNvSpPr txBox="1"/>
          <p:nvPr/>
        </p:nvSpPr>
        <p:spPr>
          <a:xfrm rot="0" flipH="0" flipV="0">
            <a:off x="6515100" y="4114800"/>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血小板聚集是“黏附</a:t>
            </a:r>
            <a:r>
              <a:rPr lang="en-US" sz="1200">
                <a:solidFill>
                  <a:srgbClr val="2C3E50"/>
                </a:solidFill>
                <a:latin typeface="Microsoft YaHei"/>
                <a:ea typeface="Microsoft YaHei"/>
              </a:rPr>
              <a:t>-</a:t>
            </a:r>
            <a:r>
              <a:rPr lang="zh-CN" sz="1200">
                <a:solidFill>
                  <a:srgbClr val="2C3E50"/>
                </a:solidFill>
                <a:latin typeface="Microsoft YaHei"/>
                <a:ea typeface="Microsoft YaHei"/>
              </a:rPr>
              <a:t>活化</a:t>
            </a:r>
            <a:r>
              <a:rPr lang="en-US" sz="1200">
                <a:solidFill>
                  <a:srgbClr val="2C3E50"/>
                </a:solidFill>
                <a:latin typeface="Microsoft YaHei"/>
                <a:ea typeface="Microsoft YaHei"/>
              </a:rPr>
              <a:t>-</a:t>
            </a:r>
            <a:r>
              <a:rPr lang="zh-CN" sz="1200">
                <a:solidFill>
                  <a:srgbClr val="2C3E50"/>
                </a:solidFill>
                <a:latin typeface="Microsoft YaHei"/>
                <a:ea typeface="Microsoft YaHei"/>
              </a:rPr>
              <a:t>聚集</a:t>
            </a:r>
            <a:r>
              <a:rPr lang="en-US" sz="1200">
                <a:solidFill>
                  <a:srgbClr val="2C3E50"/>
                </a:solidFill>
                <a:latin typeface="Microsoft YaHei"/>
                <a:ea typeface="Microsoft YaHei"/>
              </a:rPr>
              <a:t>-</a:t>
            </a:r>
            <a:r>
              <a:rPr lang="zh-CN" sz="1200">
                <a:solidFill>
                  <a:srgbClr val="2C3E50"/>
                </a:solidFill>
                <a:latin typeface="Microsoft YaHei"/>
                <a:ea typeface="Microsoft YaHei"/>
              </a:rPr>
              <a:t>稳定”的级联，任何环节的药物抑制或分子缺陷都会削弱一级止血。</a:t>
            </a:r>
            <a:endParaRPr/>
          </a:p>
        </p:txBody>
      </p:sp>
      <p:sp>
        <p:nvSpPr>
          <p:cNvPr id="1103"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1104"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Blood 2007;109:5087-5095 (PMID 17311994)</a:t>
            </a:r>
            <a:endParaRPr/>
          </a:p>
        </p:txBody>
      </p:sp>
      <p:sp>
        <p:nvSpPr>
          <p:cNvPr id="1105"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1106"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zh-CN" sz="1050">
                <a:solidFill>
                  <a:srgbClr val="6B7B8C"/>
                </a:solidFill>
                <a:latin typeface="Microsoft YaHei"/>
                <a:ea typeface="Microsoft YaHei"/>
              </a:rPr>
              <a:t>血小板活化—脱颗粒—聚集机制示意（</a:t>
            </a:r>
            <a:r>
              <a:rPr lang="en-US" sz="1050">
                <a:solidFill>
                  <a:srgbClr val="6B7B8C"/>
                </a:solidFill>
                <a:latin typeface="Microsoft YaHei"/>
                <a:ea typeface="Microsoft YaHei"/>
              </a:rPr>
              <a:t>P-</a:t>
            </a:r>
            <a:r>
              <a:rPr lang="zh-CN" sz="1050">
                <a:solidFill>
                  <a:srgbClr val="6B7B8C"/>
                </a:solidFill>
                <a:latin typeface="Microsoft YaHei"/>
                <a:ea typeface="Microsoft YaHei"/>
              </a:rPr>
              <a:t>选择素</a:t>
            </a:r>
            <a:r>
              <a:rPr lang="en-US" sz="1050">
                <a:solidFill>
                  <a:srgbClr val="6B7B8C"/>
                </a:solidFill>
                <a:latin typeface="Microsoft YaHei"/>
                <a:ea typeface="Microsoft YaHei"/>
              </a:rPr>
              <a:t>/GPIb-vWF/α6β1/GPVI-</a:t>
            </a:r>
            <a:r>
              <a:rPr lang="zh-CN" sz="1050">
                <a:solidFill>
                  <a:srgbClr val="6B7B8C"/>
                </a:solidFill>
                <a:latin typeface="Microsoft YaHei"/>
                <a:ea typeface="Microsoft YaHei"/>
              </a:rPr>
              <a:t>胶原</a:t>
            </a:r>
            <a:r>
              <a:rPr lang="en-US" sz="1050">
                <a:solidFill>
                  <a:srgbClr val="6B7B8C"/>
                </a:solidFill>
                <a:latin typeface="Microsoft YaHei"/>
                <a:ea typeface="Microsoft YaHei"/>
              </a:rPr>
              <a:t>/αIIbβ3-</a:t>
            </a:r>
            <a:r>
              <a:rPr lang="zh-CN" sz="1050">
                <a:solidFill>
                  <a:srgbClr val="6B7B8C"/>
                </a:solidFill>
                <a:latin typeface="Microsoft YaHei"/>
                <a:ea typeface="Microsoft YaHei"/>
              </a:rPr>
              <a:t>纤维蛋白原等通路，摘自开放获取文献）</a:t>
            </a:r>
            <a:endParaRPr/>
          </a:p>
        </p:txBody>
      </p:sp>
      <p:sp>
        <p:nvSpPr>
          <p:cNvPr id="1107" name=""/>
          <p:cNvSpPr/>
          <p:nvPr/>
        </p:nvSpPr>
        <p:spPr>
          <a:xfrm rot="0" flipH="0" flipV="0">
            <a:off x="0" y="6324600"/>
            <a:ext cx="12192000" cy="342900"/>
          </a:xfrm>
          <a:prstGeom prst="rect">
            <a:avLst/>
          </a:prstGeom>
          <a:solidFill>
            <a:srgbClr val="F7F9FC"/>
          </a:solidFill>
          <a:ln/>
        </p:spPr>
        <p:txBody>
          <a:bodyPr/>
          <a:p/>
        </p:txBody>
      </p:sp>
      <p:sp>
        <p:nvSpPr>
          <p:cNvPr id="110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10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xml><?xml version="1.0" encoding="utf-8"?>
<p:sld xmlns:p="http://schemas.openxmlformats.org/presentationml/2006/main" xmlns:a="http://schemas.openxmlformats.org/drawingml/2006/main">
  <p:cSld>
    <p:spTree>
      <p:nvGrpSpPr>
        <p:cNvPr id="1365" name="" descr="&lt;Slide notes={`演讲者备注：【GREMMEL-PHYS】血小板在血管损伤处经黏附、活化、聚集形成止血栓（一级止血），并通过膜表面促凝暴露与颗粒释放参与凝血级联、炎症与免疫。证据：Semin Thromb Hemost 2016;42:191-204，PMID 26926581。&#13;&#10;【JACKSON-ADH】血小板聚集是黏附-活化-聚集-稳定化的多步骤动态过程：vWF-GPIb介导滚动黏附、整合素αIIbβ3介导牢固黏附与聚集，体内外表现远比简单聚集复杂。证据：Blood 2007;109:5087-5095，PMID 17311994。&#13;&#10;讲解提示：结合流式检测 PAC-1/P-选择素讲颗粒与活化标志的关系；指出 αIIbβ3 阻断剂（替罗非班等）会造成假性血小板减少（见第五章），正是由于该糖蛋白在 EDTA 与抗体作用下的构象变化。`}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一章 定义与生理基础&lt;/Text&gt;&#13;&#10;      &lt;Box style={{ width: 1, height: 24, background: '#3D7BD9' }} /&gt;&#13;&#10;      &lt;Text style={{ fontSize: 16, color: '#C7D6EC' }}&gt;血小板结构：颗粒、膜糖蛋白与效应分子&lt;/Text&gt;&#13;&#10;    &lt;/Box&gt;&#13;&#10;    &lt;Text style={{ position: 'absolute', right: 64, top: 24, fontSize: 15, color: '#9DB8E0' }}&gt;6 / 77&lt;/Text&gt;&#13;&#10;  &lt;/Box&gt;&#13;&#10;  &lt;Box style={{ position: 'absolute', left: 64, top: 96, width: 562, height: 206, background: '#F0F5FC', borderRadius: 12, border: '1px solid #E5E7EB', padding: 20 }}&gt;&#13;&#10;&lt;Text style={{ fontSize: 19, color: '#0E3F8C', fontWeight: 'bold', textAlign: 'left', lineHeight: 1.5 }}&gt;α 颗粒&lt;/Text&gt;&#13;&#10;&lt;Text style={{ fontSize: 17, color: '#2C3E50', textAlign: 'left', lineHeight: 1.62 }}&gt;含高分子量蛋白：PF4、β-血栓球蛋白、vWF、纤维蛋白原、生长因子（PDGF/TGF-β）；活化时膜表面 P-选择素表达增加（可用流式检测）。&lt;/Text&gt;&#13;&#10;  &lt;/Box&gt;&#13;&#10;  &lt;Box style={{ position: 'absolute', left: 654, top: 96, width: 562, height: 206, background: '#F0F5FC', borderRadius: 12, border: '1px solid #E5E7EB', padding: 20 }}&gt;&#13;&#10;&lt;Text style={{ fontSize: 19, color: '#0E3F8C', fontWeight: 'bold', textAlign: 'left', lineHeight: 1.5 }}&gt;致密颗粒&lt;/Text&gt;&#13;&#10;&lt;Text style={{ fontSize: 17, color: '#2C3E50', textAlign: 'left', lineHeight: 1.62 }}&gt;含小分子介质：ADP、ATP、5-羟色胺、Ca²⁺；ADP 是放大聚集的核心激动剂，也是 LTA/阻抗法常用诱导剂。&lt;/Text&gt;&#13;&#10;  &lt;/Box&gt;&#13;&#10;  &lt;Box style={{ position: 'absolute', left: 64, top: 330, width: 562, height: 206, background: '#F0F5FC', borderRadius: 12, border: '1px solid #E5E7EB', padding: 20 }}&gt;&#13;&#10;&lt;Text style={{ fontSize: 19, color: '#0E3F8C', fontWeight: 'bold', textAlign: 'left', lineHeight: 1.5 }}&gt;膜糖蛋白与磷脂&lt;/Text&gt;&#13;&#10;&lt;Text style={{ fontSize: 17, color: '#2C3E50', textAlign: 'left', lineHeight: 1.62 }}&gt;GPIb-IX-V（vWF 受体）、αIIbβ3（纤维蛋白原受体）、GPVI（胶原受体）；活化后磷脂酰丝氨酸外翻，为凝血酶原复合物与 tenase 提供装配表面。&lt;/Text&gt;&#13;&#10;  &lt;/Box&gt;&#13;&#10;  &lt;Box style={{ position: 'absolute', left: 654, top: 330, width: 562, height: 206, background: '#F0F5FC', borderRadius: 12, border: '1px solid #E5E7EB', padding: 20 }}&gt;&#13;&#10;&lt;Text style={{ fontSize: 19, color: '#0E3F8C', fontWeight: 'bold', textAlign: 'left', lineHeight: 1.5 }}&gt;小结&lt;/Text&gt;&#13;&#10;&lt;Text style={{ fontSize: 17, color: '#2C3E50', textAlign: 'left', lineHeight: 1.62 }}&gt;血小板是“颗粒库+膜平台”：颗粒内容物介导正反馈，膜糖蛋白执行黏附聚集，促凝表面把血小板与凝血系统连接起来。&lt;/Text&gt;&#13;&#10;  &lt;/Box&gt;&#13;&#10;&#13;&#10;  &lt;Box style={{ position: 'absolute', left: 64, top: 556, width: 1152, height: 92, background: '#F0F5FC', borderRadius: 12, border: '1px solid #E5E7EB', padding: 20 }}&gt;&#13;&#10;&lt;Text style={{ fontSize: 17, color: '#2C3E50', textAlign: 'left', lineHeight: 1.6 }}&gt;小结：Semin Thromb Hemost 2016;42:191-204 (PMID 2692658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366" name=""/>
          <p:cNvSpPr/>
          <p:nvPr/>
        </p:nvSpPr>
        <p:spPr>
          <a:xfrm rot="0" flipH="0" flipV="0">
            <a:off x="0" y="0"/>
            <a:ext cx="12192000" cy="6858000"/>
          </a:xfrm>
          <a:prstGeom prst="rect">
            <a:avLst/>
          </a:prstGeom>
          <a:solidFill>
            <a:srgbClr val="FFFFFF"/>
          </a:solidFill>
          <a:ln/>
        </p:spPr>
        <p:txBody>
          <a:bodyPr/>
          <a:p/>
        </p:txBody>
      </p:sp>
      <p:sp>
        <p:nvSpPr>
          <p:cNvPr id="1367" name=""/>
          <p:cNvSpPr/>
          <p:nvPr/>
        </p:nvSpPr>
        <p:spPr>
          <a:xfrm rot="0" flipH="0" flipV="0">
            <a:off x="0" y="0"/>
            <a:ext cx="12192000" cy="685800"/>
          </a:xfrm>
          <a:prstGeom prst="rect">
            <a:avLst/>
          </a:prstGeom>
          <a:solidFill>
            <a:srgbClr val="0E3F8C"/>
          </a:solidFill>
          <a:ln/>
        </p:spPr>
        <p:txBody>
          <a:bodyPr/>
          <a:p/>
        </p:txBody>
      </p:sp>
      <p:sp>
        <p:nvSpPr>
          <p:cNvPr id="1368" name="" descr="{&quot;isTemplate&quot;:true,&quot;type&quot;:&quot;text&quot;}"/>
          <p:cNvSpPr txBox="1"/>
          <p:nvPr/>
        </p:nvSpPr>
        <p:spPr>
          <a:xfrm rot="0" flipH="0" flipV="0">
            <a:off x="609600" y="219075"/>
            <a:ext cx="1771650" cy="209550"/>
          </a:xfrm>
          <a:prstGeom prst="rect"/>
        </p:spPr>
        <p:txBody>
          <a:bodyPr wrap="none" lIns="0" tIns="0" rIns="0" bIns="0"/>
          <a:p>
            <a:pPr>
              <a:lnSpc>
                <a:spcPct val="100000"/>
              </a:lnSpc>
            </a:pPr>
            <a:r>
              <a:rPr lang="zh-CN" sz="1350" b="1">
                <a:solidFill>
                  <a:srgbClr val="FFFFFF"/>
                </a:solidFill>
                <a:latin typeface="Microsoft YaHei"/>
                <a:ea typeface="Microsoft YaHei"/>
              </a:rPr>
              <a:t>第一章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定义与生理基础</a:t>
            </a:r>
            <a:endParaRPr/>
          </a:p>
        </p:txBody>
      </p:sp>
      <p:sp>
        <p:nvSpPr>
          <p:cNvPr id="1369" name=""/>
          <p:cNvSpPr/>
          <p:nvPr/>
        </p:nvSpPr>
        <p:spPr>
          <a:xfrm rot="0" flipH="0" flipV="0">
            <a:off x="2533650" y="209550"/>
            <a:ext cx="9525" cy="228600"/>
          </a:xfrm>
          <a:prstGeom prst="rect">
            <a:avLst/>
          </a:prstGeom>
          <a:solidFill>
            <a:srgbClr val="3D7BD9"/>
          </a:solidFill>
          <a:ln/>
        </p:spPr>
        <p:txBody>
          <a:bodyPr/>
          <a:p/>
        </p:txBody>
      </p:sp>
      <p:sp>
        <p:nvSpPr>
          <p:cNvPr id="1370" name="" descr="{&quot;isTemplate&quot;:true,&quot;type&quot;:&quot;text&quot;}"/>
          <p:cNvSpPr txBox="1"/>
          <p:nvPr/>
        </p:nvSpPr>
        <p:spPr>
          <a:xfrm rot="0" flipH="0" flipV="0">
            <a:off x="2695575" y="228600"/>
            <a:ext cx="2743200" cy="190500"/>
          </a:xfrm>
          <a:prstGeom prst="rect"/>
        </p:spPr>
        <p:txBody>
          <a:bodyPr wrap="none" lIns="0" tIns="0" rIns="0" bIns="0"/>
          <a:p>
            <a:pPr>
              <a:lnSpc>
                <a:spcPct val="100000"/>
              </a:lnSpc>
            </a:pPr>
            <a:r>
              <a:rPr lang="zh-CN" sz="1200">
                <a:solidFill>
                  <a:srgbClr val="C7D6EC"/>
                </a:solidFill>
                <a:latin typeface="Microsoft YaHei"/>
                <a:ea typeface="Microsoft YaHei"/>
              </a:rPr>
              <a:t>血小板结构：颗粒、膜糖蛋白与效应分子</a:t>
            </a:r>
            <a:endParaRPr/>
          </a:p>
        </p:txBody>
      </p:sp>
      <p:sp>
        <p:nvSpPr>
          <p:cNvPr id="1371" name="" descr="{&quot;isTemplate&quot;:true,&quot;type&quot;:&quot;text&quot;}"/>
          <p:cNvSpPr txBox="1"/>
          <p:nvPr/>
        </p:nvSpPr>
        <p:spPr>
          <a:xfrm rot="0" flipH="0" flipV="0">
            <a:off x="11182350" y="2286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6 / 77</a:t>
            </a:r>
            <a:endParaRPr/>
          </a:p>
        </p:txBody>
      </p:sp>
      <p:sp>
        <p:nvSpPr>
          <p:cNvPr id="1372" name=""/>
          <p:cNvSpPr/>
          <p:nvPr/>
        </p:nvSpPr>
        <p:spPr>
          <a:xfrm rot="0" flipH="0" flipV="0">
            <a:off x="60960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37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α </a:t>
            </a:r>
            <a:r>
              <a:rPr lang="zh-CN" sz="1425" b="1">
                <a:solidFill>
                  <a:srgbClr val="0E3F8C"/>
                </a:solidFill>
                <a:latin typeface="Microsoft YaHei"/>
                <a:ea typeface="Microsoft YaHei"/>
              </a:rPr>
              <a:t>颗粒</a:t>
            </a:r>
            <a:endParaRPr/>
          </a:p>
        </p:txBody>
      </p:sp>
      <p:sp>
        <p:nvSpPr>
          <p:cNvPr id="1374"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含高分子量蛋白：</a:t>
            </a:r>
            <a:r>
              <a:rPr lang="en-US" sz="1275">
                <a:solidFill>
                  <a:srgbClr val="2C3E50"/>
                </a:solidFill>
                <a:latin typeface="Microsoft YaHei"/>
                <a:ea typeface="Microsoft YaHei"/>
              </a:rPr>
              <a:t>PF4</a:t>
            </a:r>
            <a:r>
              <a:rPr lang="zh-CN" sz="1275">
                <a:solidFill>
                  <a:srgbClr val="2C3E50"/>
                </a:solidFill>
                <a:latin typeface="Microsoft YaHei"/>
                <a:ea typeface="Microsoft YaHei"/>
              </a:rPr>
              <a:t>、β</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血栓球蛋白、</a:t>
            </a:r>
            <a:r>
              <a:rPr lang="en-US" sz="1275">
                <a:solidFill>
                  <a:srgbClr val="2C3E50"/>
                </a:solidFill>
                <a:latin typeface="Microsoft YaHei"/>
                <a:ea typeface="Microsoft YaHei"/>
              </a:rPr>
              <a:t>vWF</a:t>
            </a:r>
            <a:r>
              <a:rPr lang="zh-CN" sz="1275">
                <a:solidFill>
                  <a:srgbClr val="2C3E50"/>
                </a:solidFill>
                <a:latin typeface="Microsoft YaHei"/>
                <a:ea typeface="Microsoft YaHei"/>
              </a:rPr>
              <a:t>、纤维蛋白原、生长因子（</a:t>
            </a:r>
            <a:r>
              <a:rPr lang="en-US" sz="1275">
                <a:solidFill>
                  <a:srgbClr val="2C3E50"/>
                </a:solidFill>
                <a:latin typeface="Microsoft YaHei"/>
                <a:ea typeface="Microsoft YaHei"/>
              </a:rPr>
              <a:t>PDGF/TGF-β</a:t>
            </a:r>
            <a:r>
              <a:rPr lang="zh-CN" sz="1275">
                <a:solidFill>
                  <a:srgbClr val="2C3E50"/>
                </a:solidFill>
                <a:latin typeface="Microsoft YaHei"/>
                <a:ea typeface="Microsoft YaHei"/>
              </a:rPr>
              <a:t>）；活化时膜表面</a:t>
            </a:r>
            <a:r>
              <a:rPr lang="en-US" sz="1275">
                <a:solidFill>
                  <a:srgbClr val="2C3E50"/>
                </a:solidFill>
                <a:latin typeface="Microsoft YaHei"/>
                <a:ea typeface="Microsoft YaHei"/>
              </a:rPr>
              <a:t> P-</a:t>
            </a:r>
            <a:r>
              <a:rPr lang="zh-CN" sz="1275">
                <a:solidFill>
                  <a:srgbClr val="2C3E50"/>
                </a:solidFill>
                <a:latin typeface="Microsoft YaHei"/>
                <a:ea typeface="Microsoft YaHei"/>
              </a:rPr>
              <a:t>选择素表达增加（可用流式检测）。</a:t>
            </a:r>
            <a:endParaRPr/>
          </a:p>
        </p:txBody>
      </p:sp>
      <p:sp>
        <p:nvSpPr>
          <p:cNvPr id="1375" name=""/>
          <p:cNvSpPr/>
          <p:nvPr/>
        </p:nvSpPr>
        <p:spPr>
          <a:xfrm rot="0" flipH="0" flipV="0">
            <a:off x="622935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37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致密颗粒</a:t>
            </a:r>
            <a:endParaRPr/>
          </a:p>
        </p:txBody>
      </p:sp>
      <p:sp>
        <p:nvSpPr>
          <p:cNvPr id="1377" name="" descr="{&quot;isTemplate&quot;:true,&quot;type&quot;:&quot;text&quot;}"/>
          <p:cNvSpPr txBox="1"/>
          <p:nvPr/>
        </p:nvSpPr>
        <p:spPr>
          <a:xfrm rot="0" flipH="0" flipV="0">
            <a:off x="641985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含小分子介质：</a:t>
            </a:r>
            <a:r>
              <a:rPr lang="en-US" sz="1275">
                <a:solidFill>
                  <a:srgbClr val="2C3E50"/>
                </a:solidFill>
                <a:latin typeface="Microsoft YaHei"/>
                <a:ea typeface="Microsoft YaHei"/>
              </a:rPr>
              <a:t>ADP</a:t>
            </a:r>
            <a:r>
              <a:rPr lang="zh-CN" sz="1275">
                <a:solidFill>
                  <a:srgbClr val="2C3E50"/>
                </a:solidFill>
                <a:latin typeface="Microsoft YaHei"/>
                <a:ea typeface="Microsoft YaHei"/>
              </a:rPr>
              <a:t>、</a:t>
            </a:r>
            <a:r>
              <a:rPr lang="en-US" sz="1275">
                <a:solidFill>
                  <a:srgbClr val="2C3E50"/>
                </a:solidFill>
                <a:latin typeface="Microsoft YaHei"/>
                <a:ea typeface="Microsoft YaHei"/>
              </a:rPr>
              <a:t>ATP</a:t>
            </a:r>
            <a:r>
              <a:rPr lang="zh-CN" sz="1275">
                <a:solidFill>
                  <a:srgbClr val="2C3E50"/>
                </a:solidFill>
                <a:latin typeface="Microsoft YaHei"/>
                <a:ea typeface="Microsoft YaHei"/>
              </a:rPr>
              <a:t>、</a:t>
            </a:r>
            <a:r>
              <a:rPr lang="en-US" sz="1275">
                <a:solidFill>
                  <a:srgbClr val="2C3E50"/>
                </a:solidFill>
                <a:latin typeface="Microsoft YaHei"/>
                <a:ea typeface="Microsoft YaHei"/>
              </a:rPr>
              <a:t>5-</a:t>
            </a:r>
            <a:r>
              <a:rPr lang="zh-CN" sz="1275">
                <a:solidFill>
                  <a:srgbClr val="2C3E50"/>
                </a:solidFill>
                <a:latin typeface="Microsoft YaHei"/>
                <a:ea typeface="Microsoft YaHei"/>
              </a:rPr>
              <a:t>羟色胺、</a:t>
            </a:r>
            <a:r>
              <a:rPr lang="en-US" sz="1275">
                <a:solidFill>
                  <a:srgbClr val="2C3E50"/>
                </a:solidFill>
                <a:latin typeface="Microsoft YaHei"/>
                <a:ea typeface="Microsoft YaHei"/>
              </a:rPr>
              <a:t>Ca²⁺</a:t>
            </a:r>
            <a:r>
              <a:rPr lang="zh-CN" sz="1275">
                <a:solidFill>
                  <a:srgbClr val="2C3E50"/>
                </a:solidFill>
                <a:latin typeface="Microsoft YaHei"/>
                <a:ea typeface="Microsoft YaHei"/>
              </a:rPr>
              <a:t>；</a:t>
            </a:r>
            <a:r>
              <a:rPr lang="en-US" sz="1275">
                <a:solidFill>
                  <a:srgbClr val="2C3E50"/>
                </a:solidFill>
                <a:latin typeface="Microsoft YaHei"/>
                <a:ea typeface="Microsoft YaHei"/>
              </a:rPr>
              <a:t>ADP </a:t>
            </a:r>
            <a:r>
              <a:rPr lang="zh-CN" sz="1275">
                <a:solidFill>
                  <a:srgbClr val="2C3E50"/>
                </a:solidFill>
                <a:latin typeface="Microsoft YaHei"/>
                <a:ea typeface="Microsoft YaHei"/>
              </a:rPr>
              <a:t>是放大聚集的核心激动剂，也是</a:t>
            </a:r>
            <a:r>
              <a:rPr lang="en-US" sz="1275">
                <a:solidFill>
                  <a:srgbClr val="2C3E50"/>
                </a:solidFill>
                <a:latin typeface="Microsoft YaHei"/>
                <a:ea typeface="Microsoft YaHei"/>
              </a:rPr>
              <a:t> LTA/</a:t>
            </a:r>
            <a:r>
              <a:rPr lang="zh-CN" sz="1275">
                <a:solidFill>
                  <a:srgbClr val="2C3E50"/>
                </a:solidFill>
                <a:latin typeface="Microsoft YaHei"/>
                <a:ea typeface="Microsoft YaHei"/>
              </a:rPr>
              <a:t>阻抗法常用诱导剂。</a:t>
            </a:r>
            <a:endParaRPr/>
          </a:p>
        </p:txBody>
      </p:sp>
      <p:sp>
        <p:nvSpPr>
          <p:cNvPr id="1378" name=""/>
          <p:cNvSpPr/>
          <p:nvPr/>
        </p:nvSpPr>
        <p:spPr>
          <a:xfrm rot="0" flipH="0" flipV="0">
            <a:off x="60960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379" name="" descr="{&quot;isTemplate&quot;:true,&quot;type&quot;:&quot;text&quot;}"/>
          <p:cNvSpPr txBox="1"/>
          <p:nvPr/>
        </p:nvSpPr>
        <p:spPr>
          <a:xfrm rot="0" flipH="0" flipV="0">
            <a:off x="80010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膜糖蛋白与磷脂</a:t>
            </a:r>
            <a:endParaRPr/>
          </a:p>
        </p:txBody>
      </p:sp>
      <p:sp>
        <p:nvSpPr>
          <p:cNvPr id="1380" name="" descr="{&quot;isTemplate&quot;:true,&quot;type&quot;:&quot;text&quot;}"/>
          <p:cNvSpPr txBox="1"/>
          <p:nvPr/>
        </p:nvSpPr>
        <p:spPr>
          <a:xfrm rot="0" flipH="0" flipV="0">
            <a:off x="800100" y="366712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GPIb-IX-V</a:t>
            </a:r>
            <a:r>
              <a:rPr lang="zh-CN" sz="1275">
                <a:solidFill>
                  <a:srgbClr val="2C3E50"/>
                </a:solidFill>
                <a:latin typeface="Microsoft YaHei"/>
                <a:ea typeface="Microsoft YaHei"/>
              </a:rPr>
              <a:t>（</a:t>
            </a:r>
            <a:r>
              <a:rPr lang="en-US" sz="1275">
                <a:solidFill>
                  <a:srgbClr val="2C3E50"/>
                </a:solidFill>
                <a:latin typeface="Microsoft YaHei"/>
                <a:ea typeface="Microsoft YaHei"/>
              </a:rPr>
              <a:t>vWF </a:t>
            </a:r>
            <a:r>
              <a:rPr lang="zh-CN" sz="1275">
                <a:solidFill>
                  <a:srgbClr val="2C3E50"/>
                </a:solidFill>
                <a:latin typeface="Microsoft YaHei"/>
                <a:ea typeface="Microsoft YaHei"/>
              </a:rPr>
              <a:t>受体）、α</a:t>
            </a:r>
            <a:r>
              <a:rPr lang="en-US" sz="1275">
                <a:solidFill>
                  <a:srgbClr val="2C3E50"/>
                </a:solidFill>
                <a:latin typeface="Microsoft YaHei"/>
                <a:ea typeface="Microsoft YaHei"/>
              </a:rPr>
              <a:t>IIbβ3</a:t>
            </a:r>
            <a:r>
              <a:rPr lang="zh-CN" sz="1275">
                <a:solidFill>
                  <a:srgbClr val="2C3E50"/>
                </a:solidFill>
                <a:latin typeface="Microsoft YaHei"/>
                <a:ea typeface="Microsoft YaHei"/>
              </a:rPr>
              <a:t>（纤维蛋白原受体）、</a:t>
            </a:r>
            <a:r>
              <a:rPr lang="en-US" sz="1275">
                <a:solidFill>
                  <a:srgbClr val="2C3E50"/>
                </a:solidFill>
                <a:latin typeface="Microsoft YaHei"/>
                <a:ea typeface="Microsoft YaHei"/>
              </a:rPr>
              <a:t>GPVI</a:t>
            </a:r>
            <a:r>
              <a:rPr lang="zh-CN" sz="1275">
                <a:solidFill>
                  <a:srgbClr val="2C3E50"/>
                </a:solidFill>
                <a:latin typeface="Microsoft YaHei"/>
                <a:ea typeface="Microsoft YaHei"/>
              </a:rPr>
              <a:t>（胶原受体）；活化后磷脂酰丝氨酸外翻，为凝血酶原复合物与</a:t>
            </a:r>
            <a:r>
              <a:rPr lang="en-US" sz="1275">
                <a:solidFill>
                  <a:srgbClr val="2C3E50"/>
                </a:solidFill>
                <a:latin typeface="Microsoft YaHei"/>
                <a:ea typeface="Microsoft YaHei"/>
              </a:rPr>
              <a:t> tenase </a:t>
            </a:r>
            <a:r>
              <a:rPr lang="zh-CN" sz="1275">
                <a:solidFill>
                  <a:srgbClr val="2C3E50"/>
                </a:solidFill>
                <a:latin typeface="Microsoft YaHei"/>
                <a:ea typeface="Microsoft YaHei"/>
              </a:rPr>
              <a:t>提供装配表面。</a:t>
            </a:r>
            <a:endParaRPr/>
          </a:p>
        </p:txBody>
      </p:sp>
      <p:sp>
        <p:nvSpPr>
          <p:cNvPr id="1381" name=""/>
          <p:cNvSpPr/>
          <p:nvPr/>
        </p:nvSpPr>
        <p:spPr>
          <a:xfrm rot="0" flipH="0" flipV="0">
            <a:off x="622935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382" name="" descr="{&quot;isTemplate&quot;:true,&quot;type&quot;:&quot;text&quot;}"/>
          <p:cNvSpPr txBox="1"/>
          <p:nvPr/>
        </p:nvSpPr>
        <p:spPr>
          <a:xfrm rot="0" flipH="0" flipV="0">
            <a:off x="641985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383" name="" descr="{&quot;isTemplate&quot;:true,&quot;type&quot;:&quot;text&quot;}"/>
          <p:cNvSpPr txBox="1"/>
          <p:nvPr/>
        </p:nvSpPr>
        <p:spPr>
          <a:xfrm rot="0" flipH="0" flipV="0">
            <a:off x="6419850" y="366712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血小板是“颗粒库</a:t>
            </a:r>
            <a:r>
              <a:rPr lang="en-US" sz="1275">
                <a:solidFill>
                  <a:srgbClr val="2C3E50"/>
                </a:solidFill>
                <a:latin typeface="Microsoft YaHei"/>
                <a:ea typeface="Microsoft YaHei"/>
              </a:rPr>
              <a:t>+</a:t>
            </a:r>
            <a:r>
              <a:rPr lang="zh-CN" sz="1275">
                <a:solidFill>
                  <a:srgbClr val="2C3E50"/>
                </a:solidFill>
                <a:latin typeface="Microsoft YaHei"/>
                <a:ea typeface="Microsoft YaHei"/>
              </a:rPr>
              <a:t>膜平台”：颗粒内容物介导正反馈，膜糖蛋白执行黏附聚集，促凝表面把血小板与凝血系统连接起来。</a:t>
            </a:r>
            <a:endParaRPr/>
          </a:p>
        </p:txBody>
      </p:sp>
      <p:sp>
        <p:nvSpPr>
          <p:cNvPr id="1384"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385"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2016;42:191-204 (PMID 26926581)</a:t>
            </a:r>
            <a:endParaRPr/>
          </a:p>
        </p:txBody>
      </p:sp>
      <p:sp>
        <p:nvSpPr>
          <p:cNvPr id="1386" name=""/>
          <p:cNvSpPr/>
          <p:nvPr/>
        </p:nvSpPr>
        <p:spPr>
          <a:xfrm rot="0" flipH="0" flipV="0">
            <a:off x="0" y="6324600"/>
            <a:ext cx="12192000" cy="342900"/>
          </a:xfrm>
          <a:prstGeom prst="rect">
            <a:avLst/>
          </a:prstGeom>
          <a:solidFill>
            <a:srgbClr val="F7F9FC"/>
          </a:solidFill>
          <a:ln/>
        </p:spPr>
        <p:txBody>
          <a:bodyPr/>
          <a:p/>
        </p:txBody>
      </p:sp>
      <p:sp>
        <p:nvSpPr>
          <p:cNvPr id="1387"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38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xml><?xml version="1.0" encoding="utf-8"?>
<p:sld xmlns:p="http://schemas.openxmlformats.org/presentationml/2006/main" xmlns:a="http://schemas.openxmlformats.org/drawingml/2006/main">
  <p:cSld>
    <p:spTree>
      <p:nvGrpSpPr>
        <p:cNvPr id="1598" name="" descr="&lt;Slide notes={`演讲者备注：【GREMMEL-PHYS】血小板在血管损伤处经黏附、活化、聚集形成止血栓（一级止血），并通过膜表面促凝暴露与颗粒释放参与凝血级联、炎症与免疫。证据：Semin Thromb Hemost 2016;42:191-204，PMID 26926581。&#13;&#10;【FNX-OVERVIEW】血小板功能检测在冠脉介入中的角色演变综述：从 LTA 到床旁设备的可及性提高，但其对缺血/出血结局预测的增量价值仍存争议。证据：Vasc Health Risk Manag 2012;8:65-75，PMID 22371653。&#13;&#10;讲解提示：本章收尾强调“检验语言”的双轨结构；预告第二、三章分别展开数量与功能两大体系的方法学，第四章给阈值，第五章讲误差。`}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一章 定义与生理基础&lt;/Text&gt;&#13;&#10;      &lt;Box style={{ width: 1, height: 24, background: '#3D7BD9' }} /&gt;&#13;&#10;      &lt;Text style={{ fontSize: 16, color: '#C7D6EC' }}&gt;“数量”与“功能”：两个维度的检验语言&lt;/Text&gt;&#13;&#10;    &lt;/Box&gt;&#13;&#10;    &lt;Text style={{ position: 'absolute', right: 64, top: 24, fontSize: 15, color: '#9DB8E0' }}&gt;7 / 77&lt;/Text&gt;&#13;&#10;  &lt;/Box&gt;&#13;&#10;  &lt;Box style={{ position: 'absolute', left: 64, top: 96, width: 562, height: 128, background: '#F0F5FC', borderRadius: 12, border: '1px solid #E5E7EB', padding: 20 }}&gt;&#13;&#10;&lt;Text style={{ fontSize: 19, color: '#0E3F8C', fontWeight: 'bold', textAlign: 'left', lineHeight: 1.5 }}&gt;数量维度&lt;/Text&gt;&#13;&#10;&lt;Text style={{ fontSize: 17, color: '#2C3E50', textAlign: 'left', lineHeight: 1.62 }}&gt;血小板计数（PLT）与衍生参数（MPV/PDW/PCT/IPF）回答“有多少血小板、新不新”；异常表现为血小板减少症或血小板增多症。&lt;/Text&gt;&#13;&#10;  &lt;/Box&gt;&#13;&#10;  &lt;Box style={{ position: 'absolute', left: 654, top: 96, width: 562, height: 128, background: '#F0F5FC', borderRadius: 12, border: '1px solid #E5E7EB', padding: 20 }}&gt;&#13;&#10;&lt;Text style={{ fontSize: 19, color: '#0E3F8C', fontWeight: 'bold', textAlign: 'left', lineHeight: 1.5 }}&gt;功能维度&lt;/Text&gt;&#13;&#10;&lt;Text style={{ fontSize: 17, color: '#2C3E50', textAlign: 'left', lineHeight: 1.62 }}&gt;血小板功能检测回答“血小板能不能干活”：聚集、分泌、黏附与促凝能力；异常即血小板功能障碍（先天或获得性，如抗血小板药物、尿毒症、CPB）。&lt;/Text&gt;&#13;&#10;  &lt;/Box&gt;&#13;&#10;  &lt;Box style={{ position: 'absolute', left: 64, top: 252, width: 562, height: 128, background: '#F0F5FC', borderRadius: 12, border: '1px solid #E5E7EB', padding: 20 }}&gt;&#13;&#10;&lt;Text style={{ fontSize: 19, color: '#0E3F8C', fontWeight: 'bold', textAlign: 'left', lineHeight: 1.5 }}&gt;两者交叉&lt;/Text&gt;&#13;&#10;&lt;Text style={{ fontSize: 17, color: '#2C3E50', textAlign: 'left', lineHeight: 1.62 }}&gt;低计数可伴功能增强（如 ITP 的“年轻大血小板”相对高功能），正常计数也可有严重功能缺陷（CPB 后、服用抗血小板药）；反之血小板增多可伴获得性 vWD 样功能异常。&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临床出血风险评估必须“计数+功能+血管/凝血”三元整合，单看任何一项都可能误判。&lt;/Text&gt;&#13;&#10;  &lt;/Box&gt;&#13;&#10;&#13;&#10;  &lt;Box style={{ position: 'absolute', left: 64, top: 556, width: 1152, height: 92, background: '#F0F5FC', borderRadius: 12, border: '1px solid #E5E7EB', padding: 20 }}&gt;&#13;&#10;&lt;Text style={{ fontSize: 17, color: '#2C3E50', textAlign: 'left', lineHeight: 1.6 }}&gt;小结：Semin Thromb Hemost 2016;42:191-204 (PMID 2692658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599" name=""/>
          <p:cNvSpPr/>
          <p:nvPr/>
        </p:nvSpPr>
        <p:spPr>
          <a:xfrm rot="0" flipH="0" flipV="0">
            <a:off x="0" y="0"/>
            <a:ext cx="12192000" cy="6858000"/>
          </a:xfrm>
          <a:prstGeom prst="rect">
            <a:avLst/>
          </a:prstGeom>
          <a:solidFill>
            <a:srgbClr val="FFFFFF"/>
          </a:solidFill>
          <a:ln/>
        </p:spPr>
        <p:txBody>
          <a:bodyPr/>
          <a:p/>
        </p:txBody>
      </p:sp>
      <p:sp>
        <p:nvSpPr>
          <p:cNvPr id="1600" name=""/>
          <p:cNvSpPr/>
          <p:nvPr/>
        </p:nvSpPr>
        <p:spPr>
          <a:xfrm rot="0" flipH="0" flipV="0">
            <a:off x="0" y="0"/>
            <a:ext cx="12192000" cy="685800"/>
          </a:xfrm>
          <a:prstGeom prst="rect">
            <a:avLst/>
          </a:prstGeom>
          <a:solidFill>
            <a:srgbClr val="0E3F8C"/>
          </a:solidFill>
          <a:ln/>
        </p:spPr>
        <p:txBody>
          <a:bodyPr/>
          <a:p/>
        </p:txBody>
      </p:sp>
      <p:sp>
        <p:nvSpPr>
          <p:cNvPr id="1601" name="" descr="{&quot;isTemplate&quot;:true,&quot;type&quot;:&quot;text&quot;}"/>
          <p:cNvSpPr txBox="1"/>
          <p:nvPr/>
        </p:nvSpPr>
        <p:spPr>
          <a:xfrm rot="0" flipH="0" flipV="0">
            <a:off x="609600" y="219075"/>
            <a:ext cx="1771650" cy="209550"/>
          </a:xfrm>
          <a:prstGeom prst="rect"/>
        </p:spPr>
        <p:txBody>
          <a:bodyPr wrap="none" lIns="0" tIns="0" rIns="0" bIns="0"/>
          <a:p>
            <a:pPr>
              <a:lnSpc>
                <a:spcPct val="100000"/>
              </a:lnSpc>
            </a:pPr>
            <a:r>
              <a:rPr lang="zh-CN" sz="1350" b="1">
                <a:solidFill>
                  <a:srgbClr val="FFFFFF"/>
                </a:solidFill>
                <a:latin typeface="Microsoft YaHei"/>
                <a:ea typeface="Microsoft YaHei"/>
              </a:rPr>
              <a:t>第一章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定义与生理基础</a:t>
            </a:r>
            <a:endParaRPr/>
          </a:p>
        </p:txBody>
      </p:sp>
      <p:sp>
        <p:nvSpPr>
          <p:cNvPr id="1602" name=""/>
          <p:cNvSpPr/>
          <p:nvPr/>
        </p:nvSpPr>
        <p:spPr>
          <a:xfrm rot="0" flipH="0" flipV="0">
            <a:off x="2533650" y="209550"/>
            <a:ext cx="9525" cy="228600"/>
          </a:xfrm>
          <a:prstGeom prst="rect">
            <a:avLst/>
          </a:prstGeom>
          <a:solidFill>
            <a:srgbClr val="3D7BD9"/>
          </a:solidFill>
          <a:ln/>
        </p:spPr>
        <p:txBody>
          <a:bodyPr/>
          <a:p/>
        </p:txBody>
      </p:sp>
      <p:sp>
        <p:nvSpPr>
          <p:cNvPr id="1603" name="" descr="{&quot;isTemplate&quot;:true,&quot;type&quot;:&quot;text&quot;}"/>
          <p:cNvSpPr txBox="1"/>
          <p:nvPr/>
        </p:nvSpPr>
        <p:spPr>
          <a:xfrm rot="0" flipH="0" flipV="0">
            <a:off x="2695575" y="228600"/>
            <a:ext cx="2895600" cy="190500"/>
          </a:xfrm>
          <a:prstGeom prst="rect"/>
        </p:spPr>
        <p:txBody>
          <a:bodyPr wrap="none" lIns="0" tIns="0" rIns="0" bIns="0"/>
          <a:p>
            <a:pPr>
              <a:lnSpc>
                <a:spcPct val="100000"/>
              </a:lnSpc>
            </a:pPr>
            <a:r>
              <a:rPr lang="zh-CN" sz="1200">
                <a:solidFill>
                  <a:srgbClr val="C7D6EC"/>
                </a:solidFill>
                <a:latin typeface="Microsoft YaHei"/>
                <a:ea typeface="Microsoft YaHei"/>
              </a:rPr>
              <a:t>“数量”与“功能”：两个维度的检验语言</a:t>
            </a:r>
            <a:endParaRPr/>
          </a:p>
        </p:txBody>
      </p:sp>
      <p:sp>
        <p:nvSpPr>
          <p:cNvPr id="1604" name="" descr="{&quot;isTemplate&quot;:true,&quot;type&quot;:&quot;text&quot;}"/>
          <p:cNvSpPr txBox="1"/>
          <p:nvPr/>
        </p:nvSpPr>
        <p:spPr>
          <a:xfrm rot="0" flipH="0" flipV="0">
            <a:off x="11182350" y="2286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7 / 77</a:t>
            </a:r>
            <a:endParaRPr/>
          </a:p>
        </p:txBody>
      </p:sp>
      <p:sp>
        <p:nvSpPr>
          <p:cNvPr id="1605"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06"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数量维度</a:t>
            </a:r>
            <a:endParaRPr/>
          </a:p>
        </p:txBody>
      </p:sp>
      <p:sp>
        <p:nvSpPr>
          <p:cNvPr id="1607"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血小板计数（</a:t>
            </a:r>
            <a:r>
              <a:rPr lang="en-US" sz="1275">
                <a:solidFill>
                  <a:srgbClr val="2C3E50"/>
                </a:solidFill>
                <a:latin typeface="Microsoft YaHei"/>
                <a:ea typeface="Microsoft YaHei"/>
              </a:rPr>
              <a:t>PLT</a:t>
            </a:r>
            <a:r>
              <a:rPr lang="zh-CN" sz="1275">
                <a:solidFill>
                  <a:srgbClr val="2C3E50"/>
                </a:solidFill>
                <a:latin typeface="Microsoft YaHei"/>
                <a:ea typeface="Microsoft YaHei"/>
              </a:rPr>
              <a:t>）与衍生参数（</a:t>
            </a:r>
            <a:r>
              <a:rPr lang="en-US" sz="1275">
                <a:solidFill>
                  <a:srgbClr val="2C3E50"/>
                </a:solidFill>
                <a:latin typeface="Microsoft YaHei"/>
                <a:ea typeface="Microsoft YaHei"/>
              </a:rPr>
              <a:t>MPV/PDW/PCT/IPF</a:t>
            </a:r>
            <a:r>
              <a:rPr lang="zh-CN" sz="1275">
                <a:solidFill>
                  <a:srgbClr val="2C3E50"/>
                </a:solidFill>
                <a:latin typeface="Microsoft YaHei"/>
                <a:ea typeface="Microsoft YaHei"/>
              </a:rPr>
              <a:t>）回答“有多少血小板、新不新”；异常表现为血小板减少症或血小板增多症。</a:t>
            </a:r>
            <a:endParaRPr/>
          </a:p>
        </p:txBody>
      </p:sp>
      <p:sp>
        <p:nvSpPr>
          <p:cNvPr id="1608"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09"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功能维度</a:t>
            </a:r>
            <a:endParaRPr/>
          </a:p>
        </p:txBody>
      </p:sp>
      <p:sp>
        <p:nvSpPr>
          <p:cNvPr id="1610"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血小板功能检测回答“血小板能不能干活”：聚集、分泌、黏附与促凝能力；异常即血小板功能障碍（先天或获得性，如抗血小板药物、尿毒症、</a:t>
            </a:r>
            <a:r>
              <a:rPr lang="en-US" sz="1275">
                <a:solidFill>
                  <a:srgbClr val="2C3E50"/>
                </a:solidFill>
                <a:latin typeface="Microsoft YaHei"/>
                <a:ea typeface="Microsoft YaHei"/>
              </a:rPr>
              <a:t>CPB</a:t>
            </a:r>
            <a:r>
              <a:rPr lang="zh-CN" sz="1275">
                <a:solidFill>
                  <a:srgbClr val="2C3E50"/>
                </a:solidFill>
                <a:latin typeface="Microsoft YaHei"/>
                <a:ea typeface="Microsoft YaHei"/>
              </a:rPr>
              <a:t>）。</a:t>
            </a:r>
            <a:endParaRPr/>
          </a:p>
        </p:txBody>
      </p:sp>
      <p:sp>
        <p:nvSpPr>
          <p:cNvPr id="1611"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12"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两者交叉</a:t>
            </a:r>
            <a:endParaRPr/>
          </a:p>
        </p:txBody>
      </p:sp>
      <p:sp>
        <p:nvSpPr>
          <p:cNvPr id="1613"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低计数可伴功能增强（如</a:t>
            </a:r>
            <a:r>
              <a:rPr lang="en-US" sz="1275">
                <a:solidFill>
                  <a:srgbClr val="2C3E50"/>
                </a:solidFill>
                <a:latin typeface="Microsoft YaHei"/>
                <a:ea typeface="Microsoft YaHei"/>
              </a:rPr>
              <a:t> ITP </a:t>
            </a:r>
            <a:r>
              <a:rPr lang="zh-CN" sz="1275">
                <a:solidFill>
                  <a:srgbClr val="2C3E50"/>
                </a:solidFill>
                <a:latin typeface="Microsoft YaHei"/>
                <a:ea typeface="Microsoft YaHei"/>
              </a:rPr>
              <a:t>的“年轻大血小板”相对高功能），正常计数也可有严重功能缺陷（</a:t>
            </a:r>
            <a:r>
              <a:rPr lang="en-US" sz="1275">
                <a:solidFill>
                  <a:srgbClr val="2C3E50"/>
                </a:solidFill>
                <a:latin typeface="Microsoft YaHei"/>
                <a:ea typeface="Microsoft YaHei"/>
              </a:rPr>
              <a:t>CPB </a:t>
            </a:r>
            <a:r>
              <a:rPr lang="zh-CN" sz="1275">
                <a:solidFill>
                  <a:srgbClr val="2C3E50"/>
                </a:solidFill>
                <a:latin typeface="Microsoft YaHei"/>
                <a:ea typeface="Microsoft YaHei"/>
              </a:rPr>
              <a:t>后、服用抗血小板药）；反之血小板增多可伴获得性</a:t>
            </a:r>
            <a:r>
              <a:rPr lang="en-US" sz="1275">
                <a:solidFill>
                  <a:srgbClr val="2C3E50"/>
                </a:solidFill>
                <a:latin typeface="Microsoft YaHei"/>
                <a:ea typeface="Microsoft YaHei"/>
              </a:rPr>
              <a:t> vWD </a:t>
            </a:r>
            <a:r>
              <a:rPr lang="zh-CN" sz="1275">
                <a:solidFill>
                  <a:srgbClr val="2C3E50"/>
                </a:solidFill>
                <a:latin typeface="Microsoft YaHei"/>
                <a:ea typeface="Microsoft YaHei"/>
              </a:rPr>
              <a:t>样功能异常。</a:t>
            </a:r>
            <a:endParaRPr/>
          </a:p>
        </p:txBody>
      </p:sp>
      <p:sp>
        <p:nvSpPr>
          <p:cNvPr id="1614"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15"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616"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617"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18"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临床出血风险评估必须“计数</a:t>
            </a:r>
            <a:r>
              <a:rPr lang="en-US" sz="1275">
                <a:solidFill>
                  <a:srgbClr val="2C3E50"/>
                </a:solidFill>
                <a:latin typeface="Microsoft YaHei"/>
                <a:ea typeface="Microsoft YaHei"/>
              </a:rPr>
              <a:t>+</a:t>
            </a:r>
            <a:r>
              <a:rPr lang="zh-CN" sz="1275">
                <a:solidFill>
                  <a:srgbClr val="2C3E50"/>
                </a:solidFill>
                <a:latin typeface="Microsoft YaHei"/>
                <a:ea typeface="Microsoft YaHei"/>
              </a:rPr>
              <a:t>功能</a:t>
            </a:r>
            <a:r>
              <a:rPr lang="en-US" sz="1275">
                <a:solidFill>
                  <a:srgbClr val="2C3E50"/>
                </a:solidFill>
                <a:latin typeface="Microsoft YaHei"/>
                <a:ea typeface="Microsoft YaHei"/>
              </a:rPr>
              <a:t>+</a:t>
            </a:r>
            <a:r>
              <a:rPr lang="zh-CN" sz="1275">
                <a:solidFill>
                  <a:srgbClr val="2C3E50"/>
                </a:solidFill>
                <a:latin typeface="Microsoft YaHei"/>
                <a:ea typeface="Microsoft YaHei"/>
              </a:rPr>
              <a:t>血管</a:t>
            </a:r>
            <a:r>
              <a:rPr lang="en-US" sz="1275">
                <a:solidFill>
                  <a:srgbClr val="2C3E50"/>
                </a:solidFill>
                <a:latin typeface="Microsoft YaHei"/>
                <a:ea typeface="Microsoft YaHei"/>
              </a:rPr>
              <a:t>/</a:t>
            </a:r>
            <a:r>
              <a:rPr lang="zh-CN" sz="1275">
                <a:solidFill>
                  <a:srgbClr val="2C3E50"/>
                </a:solidFill>
                <a:latin typeface="Microsoft YaHei"/>
                <a:ea typeface="Microsoft YaHei"/>
              </a:rPr>
              <a:t>凝血”三元整合，单看任何一项都可能误判。</a:t>
            </a:r>
            <a:endParaRPr/>
          </a:p>
        </p:txBody>
      </p:sp>
      <p:sp>
        <p:nvSpPr>
          <p:cNvPr id="161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62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2016;42:191-204 (PMID 26926581)</a:t>
            </a:r>
            <a:endParaRPr/>
          </a:p>
        </p:txBody>
      </p:sp>
      <p:sp>
        <p:nvSpPr>
          <p:cNvPr id="1621" name=""/>
          <p:cNvSpPr/>
          <p:nvPr/>
        </p:nvSpPr>
        <p:spPr>
          <a:xfrm rot="0" flipH="0" flipV="0">
            <a:off x="0" y="6324600"/>
            <a:ext cx="12192000" cy="342900"/>
          </a:xfrm>
          <a:prstGeom prst="rect">
            <a:avLst/>
          </a:prstGeom>
          <a:solidFill>
            <a:srgbClr val="F7F9FC"/>
          </a:solidFill>
          <a:ln/>
        </p:spPr>
        <p:txBody>
          <a:bodyPr/>
          <a:p/>
        </p:txBody>
      </p:sp>
      <p:sp>
        <p:nvSpPr>
          <p:cNvPr id="162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62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8.xml><?xml version="1.0" encoding="utf-8"?>
<p:sld xmlns:p="http://schemas.openxmlformats.org/presentationml/2006/main" xmlns:a="http://schemas.openxmlformats.org/drawingml/2006/main">
  <p:cSld>
    <p:spTree>
      <p:nvGrpSpPr>
        <p:cNvPr id="1795" name="" descr="&lt;Slide notes={`演讲者备注：第二章聚焦“数得准不准、数的是什么”。同一管血在不同原理仪器上结果可能不同；低值血小板尤其考验方法学。临床医生需要理解：仪器报出的每一个数字背后是哪种检测原理，何时该怀疑它错了（详见第五章），以及 MPV、IPF 等参数能提供什么额外信息。`} style={{ width: '1280px', height: '720px', background: '#0E3F8C', padding: 0 }}&gt;&#13;&#10;  &lt;Box style={{ position: 'absolute', left: 0, top: 0, width: 12, height: 720, background: '#3D7BD9' }} /&gt;&#13;&#10;  &lt;Text style={{ position: 'absolute', left: 64, top: 138, fontSize: 22, color: '#9DB8E0', letterSpacing: 4 }}&gt;第 2 章&lt;/Text&gt;&#13;&#10;  &lt;Text style={{ position: 'absolute', left: 56, top: 168, fontSize: 150, color: '#164A9E', fontWeight: 'bold' }}&gt;02&lt;/Text&gt;&#13;&#10;  &lt;Text style={{ position: 'absolute', left: 64, top: 332, fontSize: 50, color: '#FFFFFF', fontWeight: 'bold' }}&gt;计数方法与参数解读&lt;/Text&gt;&#13;&#10;  &lt;Text style={{ position: 'absolute', left: 64, top: 400, fontSize: 22, color: '#9DB8E0', fontFamily: 'Times New Roman' }}&gt;Platelet Counting &amp; Parameters&lt;/Text&gt;&#13;&#10;  &lt;Box key={0} style={{ position: 'absolute', left: 64, top: 472, width: 360, height: 150, background: '#12448F', borderRadius: 12, border: '1px solid #2E5BA8', padding: 20 }}&gt;&#13;&#10;    &lt;Text style={{ fontSize: 18, color: '#9DB8E0', fontWeight: 'bold', marginBottom: 8 }}&gt;四大技术路线&lt;/Text&gt;&#13;&#10;    &lt;Text style={{ fontSize: 15, color: '#C7D6EC', lineHeight: 1.5 }}&gt;阻抗、光学、荧光/免疫、手工与流式参考方法&lt;/Text&gt;&#13;&#10;  &lt;/Box&gt;  &lt;Box key={1} style={{ position: 'absolute', left: 452, top: 472, width: 360, height: 150, background: '#12448F', borderRadius: 12, border: '1px solid #2E5BA8', padding: 20 }}&gt;&#13;&#10;    &lt;Text style={{ fontSize: 18, color: '#9DB8E0', fontWeight: 'bold', marginBottom: 8 }}&gt;衍生参数&lt;/Text&gt;&#13;&#10;    &lt;Text style={{ fontSize: 15, color: '#C7D6EC', lineHeight: 1.5 }}&gt;MPV/PDW/PCT/直方图与网织血小板（IPF）&lt;/Text&gt;&#13;&#10;  &lt;/Box&gt;  &lt;Box key={2} style={{ position: 'absolute', left: 840, top: 472, width: 360, height: 150, background: '#12448F', borderRadius: 12, border: '1px solid #2E5BA8', padding: 20 }}&gt;&#13;&#10;    &lt;Text style={{ fontSize: 18, color: '#9DB8E0', fontWeight: 'bold', marginBottom: 8 }}&gt;质量防线&lt;/Text&gt;&#13;&#10;    &lt;Text style={{ fontSize: 15, color: '#C7D6EC', lineHeight: 1.5 }}&gt;复检规则、血涂片核对与参考区间分层&lt;/Text&gt;&#13;&#10;  &lt;/Box&gt;&#13;&#10;  &lt;Text style={{ position: 'absolute', right: 64, top: 660, fontSize: 15, color: '#9DB8E0' }}&gt;8 / 77&lt;/Text&gt;&#13;&#10;&lt;/Slide&gt;"/>
        <p:cNvGrpSpPr/>
        <p:nvPr/>
      </p:nvGrpSpPr>
      <p:grpSpPr>
        <a:xfrm>
          <a:off x="0" y="0"/>
          <a:ext cx="0" cy="0"/>
          <a:chOff x="0" y="0"/>
          <a:chExt cx="0" cy="0"/>
        </a:xfrm>
      </p:grpSpPr>
      <p:sp>
        <p:nvSpPr>
          <p:cNvPr id="1796" name=""/>
          <p:cNvSpPr/>
          <p:nvPr/>
        </p:nvSpPr>
        <p:spPr>
          <a:xfrm rot="0" flipH="0" flipV="0">
            <a:off x="0" y="0"/>
            <a:ext cx="12192000" cy="6858000"/>
          </a:xfrm>
          <a:prstGeom prst="rect">
            <a:avLst/>
          </a:prstGeom>
          <a:solidFill>
            <a:srgbClr val="0E3F8C"/>
          </a:solidFill>
          <a:ln/>
        </p:spPr>
        <p:txBody>
          <a:bodyPr/>
          <a:p/>
        </p:txBody>
      </p:sp>
      <p:sp>
        <p:nvSpPr>
          <p:cNvPr id="1797" name=""/>
          <p:cNvSpPr/>
          <p:nvPr/>
        </p:nvSpPr>
        <p:spPr>
          <a:xfrm rot="0" flipH="0" flipV="0">
            <a:off x="0" y="0"/>
            <a:ext cx="114300" cy="6858000"/>
          </a:xfrm>
          <a:prstGeom prst="rect">
            <a:avLst/>
          </a:prstGeom>
          <a:solidFill>
            <a:srgbClr val="3D7BD9"/>
          </a:solidFill>
          <a:ln/>
        </p:spPr>
        <p:txBody>
          <a:bodyPr/>
          <a:p/>
        </p:txBody>
      </p:sp>
      <p:sp>
        <p:nvSpPr>
          <p:cNvPr id="1798"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2 </a:t>
            </a:r>
            <a:r>
              <a:rPr lang="zh-CN" sz="1650" spc="300">
                <a:solidFill>
                  <a:srgbClr val="9DB8E0"/>
                </a:solidFill>
                <a:latin typeface="Microsoft YaHei"/>
                <a:ea typeface="Microsoft YaHei"/>
              </a:rPr>
              <a:t>章</a:t>
            </a:r>
            <a:endParaRPr/>
          </a:p>
        </p:txBody>
      </p:sp>
      <p:sp>
        <p:nvSpPr>
          <p:cNvPr id="1799"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02</a:t>
            </a:r>
            <a:endParaRPr/>
          </a:p>
        </p:txBody>
      </p:sp>
      <p:sp>
        <p:nvSpPr>
          <p:cNvPr id="1800" name="" descr="{&quot;isTemplate&quot;:true,&quot;type&quot;:&quot;text&quot;}"/>
          <p:cNvSpPr txBox="1"/>
          <p:nvPr/>
        </p:nvSpPr>
        <p:spPr>
          <a:xfrm rot="0" flipH="0" flipV="0">
            <a:off x="609600" y="3162300"/>
            <a:ext cx="4286250" cy="571500"/>
          </a:xfrm>
          <a:prstGeom prst="rect"/>
        </p:spPr>
        <p:txBody>
          <a:bodyPr wrap="none" lIns="0" tIns="0" rIns="0" bIns="0"/>
          <a:p>
            <a:pPr>
              <a:lnSpc>
                <a:spcPct val="100000"/>
              </a:lnSpc>
            </a:pPr>
            <a:r>
              <a:rPr lang="zh-CN" sz="3750" b="1">
                <a:solidFill>
                  <a:srgbClr val="FFFFFF"/>
                </a:solidFill>
                <a:latin typeface="Microsoft YaHei"/>
                <a:ea typeface="Microsoft YaHei"/>
              </a:rPr>
              <a:t>计数方法与参数解读</a:t>
            </a:r>
            <a:endParaRPr/>
          </a:p>
        </p:txBody>
      </p:sp>
      <p:sp>
        <p:nvSpPr>
          <p:cNvPr id="1801" name="" descr="{&quot;isTemplate&quot;:true,&quot;type&quot;:&quot;text&quot;}"/>
          <p:cNvSpPr txBox="1"/>
          <p:nvPr/>
        </p:nvSpPr>
        <p:spPr>
          <a:xfrm rot="0" flipH="0" flipV="0">
            <a:off x="609600" y="3810000"/>
            <a:ext cx="2667000" cy="257175"/>
          </a:xfrm>
          <a:prstGeom prst="rect"/>
        </p:spPr>
        <p:txBody>
          <a:bodyPr wrap="none" lIns="0" tIns="0" rIns="0" bIns="0"/>
          <a:p>
            <a:pPr>
              <a:lnSpc>
                <a:spcPct val="100000"/>
              </a:lnSpc>
            </a:pPr>
            <a:r>
              <a:rPr lang="en-US" sz="1650">
                <a:solidFill>
                  <a:srgbClr val="9DB8E0"/>
                </a:solidFill>
                <a:latin typeface="Times New Roman"/>
                <a:ea typeface="Times New Roman"/>
              </a:rPr>
              <a:t>Platelet Counting &amp; Parameters</a:t>
            </a:r>
            <a:endParaRPr/>
          </a:p>
        </p:txBody>
      </p:sp>
      <p:sp>
        <p:nvSpPr>
          <p:cNvPr id="1802"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803"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四大技术路线</a:t>
            </a:r>
            <a:endParaRPr/>
          </a:p>
        </p:txBody>
      </p:sp>
      <p:sp>
        <p:nvSpPr>
          <p:cNvPr id="1804"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阻抗、光学、荧光</a:t>
            </a:r>
            <a:r>
              <a:rPr lang="en-US" sz="1125">
                <a:solidFill>
                  <a:srgbClr val="C7D6EC"/>
                </a:solidFill>
                <a:latin typeface="Microsoft YaHei"/>
                <a:ea typeface="Microsoft YaHei"/>
              </a:rPr>
              <a:t>/</a:t>
            </a:r>
            <a:r>
              <a:rPr lang="zh-CN" sz="1125">
                <a:solidFill>
                  <a:srgbClr val="C7D6EC"/>
                </a:solidFill>
                <a:latin typeface="Microsoft YaHei"/>
                <a:ea typeface="Microsoft YaHei"/>
              </a:rPr>
              <a:t>免疫、手工与流式参考方法</a:t>
            </a:r>
            <a:endParaRPr/>
          </a:p>
        </p:txBody>
      </p:sp>
      <p:sp>
        <p:nvSpPr>
          <p:cNvPr id="1805"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806"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衍生参数</a:t>
            </a:r>
            <a:endParaRPr/>
          </a:p>
        </p:txBody>
      </p:sp>
      <p:sp>
        <p:nvSpPr>
          <p:cNvPr id="1807"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MPV/PDW/PCT/</a:t>
            </a:r>
            <a:r>
              <a:rPr lang="zh-CN" sz="1125">
                <a:solidFill>
                  <a:srgbClr val="C7D6EC"/>
                </a:solidFill>
                <a:latin typeface="Microsoft YaHei"/>
                <a:ea typeface="Microsoft YaHei"/>
              </a:rPr>
              <a:t>直方图与网织血小板（</a:t>
            </a:r>
            <a:r>
              <a:rPr lang="en-US" sz="1125">
                <a:solidFill>
                  <a:srgbClr val="C7D6EC"/>
                </a:solidFill>
                <a:latin typeface="Microsoft YaHei"/>
                <a:ea typeface="Microsoft YaHei"/>
              </a:rPr>
              <a:t>IPF</a:t>
            </a:r>
            <a:r>
              <a:rPr lang="zh-CN" sz="1125">
                <a:solidFill>
                  <a:srgbClr val="C7D6EC"/>
                </a:solidFill>
                <a:latin typeface="Microsoft YaHei"/>
                <a:ea typeface="Microsoft YaHei"/>
              </a:rPr>
              <a:t>）</a:t>
            </a:r>
            <a:endParaRPr/>
          </a:p>
        </p:txBody>
      </p:sp>
      <p:sp>
        <p:nvSpPr>
          <p:cNvPr id="1808"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809"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质量防线</a:t>
            </a:r>
            <a:endParaRPr/>
          </a:p>
        </p:txBody>
      </p:sp>
      <p:sp>
        <p:nvSpPr>
          <p:cNvPr id="1810"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复检规则、血涂片核对与参考区间分层</a:t>
            </a:r>
            <a:endParaRPr/>
          </a:p>
        </p:txBody>
      </p:sp>
      <p:sp>
        <p:nvSpPr>
          <p:cNvPr id="1811" name="" descr="{&quot;isTemplate&quot;:true,&quot;type&quot;:&quot;text&quot;}"/>
          <p:cNvSpPr txBox="1"/>
          <p:nvPr/>
        </p:nvSpPr>
        <p:spPr>
          <a:xfrm rot="0" flipH="0" flipV="0">
            <a:off x="11182350" y="62865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8 / 77</a:t>
            </a:r>
            <a:endParaRPr/>
          </a:p>
        </p:txBody>
      </p:sp>
    </p:spTree>
  </p:cSld>
</p:sld>
</file>

<file path=ppt/slides/slide9.xml><?xml version="1.0" encoding="utf-8"?>
<p:sld xmlns:p="http://schemas.openxmlformats.org/presentationml/2006/main" xmlns:r="http://schemas.openxmlformats.org/officeDocument/2006/relationships" xmlns:a="http://schemas.openxmlformats.org/drawingml/2006/main">
  <p:cSld>
    <p:spTree>
      <p:nvGrpSpPr>
        <p:cNvPr id="1812" name="" descr="&lt;Slide notes={`演讲者备注：【ZANDECKI-SPUR】自动化血细胞分析仪血小板部分系统性综述：EDTA 依赖聚集、血小板卫星现象、大血小板漏计等假性结果常见，需直方图/散点图与涂片复检甄别。证据：Int J Lab Hematol 2007;29:4-20，PMID 17224004。&#13;&#10;【HARRISON-REF】多中心研究确立以流式细胞术 CD61 标记 + RBC 比值的候选参考方法计数血小板，显著改善低值血小板计数的一致性。证据：Am J Clin Pathol 2001;115:448-459，PMID 11242802。&#13;&#10;讲解提示：举例——巨大血小板综合征（BSS）血小板体积大，阻抗法可能漏计致“假性减少”，而荧光/免疫法计数更准确；这正是第五章“大血小板漏计”的原理伏笔。`}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血小板计数的自动化路线：阻抗/光学/荧光&lt;/Text&gt;&#13;&#10;    &lt;/Box&gt;&#13;&#10;    &lt;Text style={{ position: 'absolute', right: 64, top: 24, fontSize: 15, color: '#9DB8E0' }}&gt;9 / 77&lt;/Text&gt;&#13;&#10;  &lt;/Box&gt;&#13;&#10;  &lt;Box style={{ position: 'absolute', left: 64, top: 100, width: 560 }}&gt;&#13;&#10;    &lt;Image style={{ width: 560, height: 470, borderRadius: 10, objectFit: 'contain' }} src={'C:/Users/lenovo/WorkBuddy/2026-09-06-22-29-36/血小板PLT/assets_fixed/plt_count_methods__PMC7125710_p10_355.png'} /&gt;&#13;&#10;&#13;&#10;  &lt;/Box&gt;&#13;&#10;  &lt;Box style={{ position: 'absolute', left: 664, top: 100, width: 552, height: 62, background: '#F0F5FC', borderRadius: 12, border: '1px solid #E5E7EB', padding: 20 }}&gt;&#13;&#10;&lt;Text style={{ fontSize: 18, color: '#0E3F8C', fontWeight: 'bold', textAlign: 'left', lineHeight: 1.5 }}&gt;阻抗法（PLT-I）&lt;/Text&gt;&#13;&#10;&lt;Text style={{ fontSize: 16, color: '#2C3E50', textAlign: 'left', lineHeight: 1.58 }}&gt;基于库尔特原理：细胞通过小孔时按体积产生脉冲，红细胞/血小板按体积阈值（约 2—20 fL）分区；成本低、使用最广，但受大血小板、小红细胞、碎片与聚集干扰。&lt;/Text&gt;&#13;&#10;  &lt;/Box&gt;&#13;&#10;  &lt;Box style={{ position: 'absolute', left: 664, top: 178, width: 552, height: 62, background: '#F0F5FC', borderRadius: 12, border: '1px solid #E5E7EB', padding: 20 }}&gt;&#13;&#10;&lt;Text style={{ fontSize: 18, color: '#0E3F8C', fontWeight: 'bold', textAlign: 'left', lineHeight: 1.5 }}&gt;光学法（PLT-O）&lt;/Text&gt;&#13;&#10;&lt;Text style={{ fontSize: 16, color: '#2C3E50', textAlign: 'left', lineHeight: 1.58 }}&gt;用激光散射+荧光染料（如核酸染料）区分血小板与红细胞碎片/白细胞，对异常标本更稳健；不同品牌以 PLT-O/PLT-F 等形式报告。&lt;/Text&gt;&#13;&#10;  &lt;/Box&gt;&#13;&#10;  &lt;Box style={{ position: 'absolute', left: 664, top: 256, width: 552, height: 62, background: '#F0F5FC', borderRadius: 12, border: '1px solid #E5E7EB', padding: 20 }}&gt;&#13;&#10;&lt;Text style={{ fontSize: 18, color: '#0E3F8C', fontWeight: 'bold', textAlign: 'left', lineHeight: 1.5 }}&gt;方法学差异的现实意义&lt;/Text&gt;&#13;&#10;&lt;Text style={{ fontSize: 16, color: '#2C3E50', textAlign: 'left', lineHeight: 1.58 }}&gt;同一标本在阻抗与光学通道间可出现显著差异；实验室应在直方图异常、仪器报警或结果与临床不符时切换通道或镜检复核，避免把“假性低”当成真性减少。&lt;/Text&gt;&#13;&#10;  &lt;/Box&gt;&#13;&#10;  &lt;Box style={{ position: 'absolute', left: 664, top: 334, width: 552, height: 62, background: '#F0F5FC', borderRadius: 12, border: '1px solid #E5E7EB', padding: 20 }}&gt;&#13;&#10;&lt;Text style={{ fontSize: 18, color: '#0E3F8C', fontWeight: 'bold', textAlign: 'left', lineHeight: 1.5 }}&gt;小结&lt;/Text&gt;&#13;&#10;&lt;Text style={{ fontSize: 16, color: '#2C3E50', textAlign: 'left', lineHeight: 1.58 }}&gt;&lt;/Text&gt;&#13;&#10;  &lt;/Box&gt;&#13;&#10;  &lt;Box style={{ position: 'absolute', left: 664, top: 412, width: 552, height: 62, background: '#F0F5FC', borderRadius: 12, border: '1px solid #E5E7EB', padding: 20 }}&gt;&#13;&#10;&lt;Text style={{ fontSize: 16, color: '#2C3E50', textAlign: 'left', lineHeight: 1.58 }}&gt;自动化计数是“筛查+报警”系统：数值重要，报警旗标与直方图形状同样重要。&lt;/Text&gt;&#13;&#10;  &lt;/Box&gt;&#13;&#10;  &lt;Box style={{ position: 'absolute', left: 64, top: 494, width: 1152, height: 76, background: '#F0F5FC', borderRadius: 12, border: '1px solid #E5E7EB', padding: 20 }}&gt;&#13;&#10;&lt;Text style={{ fontSize: 16, color: '#2C3E50', textAlign: 'left', lineHeight: 1.55 }}&gt;小结：Int J Lab Hematol 2007;29:4-20 (PMID 17224004)&lt;/Text&gt;&#13;&#10;  &lt;/Box&gt;&#13;&#10;  &lt;Box style={{ position: 'absolute', left: 64, top: 606, width: 1152, height: 40, background: '#F0F5FC', borderRadius: 12, border: '1px solid #E5E7EB', padding: 20 }}&gt;&#13;&#10;&lt;Text style={{ fontSize: 14, color: '#6B7B8C', textAlign: 'center', lineHeight: 1.5 }}&gt;自动化血细胞分析仪血小板计数原理（阻抗/光学/荧光通道）&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813" name=""/>
          <p:cNvSpPr/>
          <p:nvPr/>
        </p:nvSpPr>
        <p:spPr>
          <a:xfrm rot="0" flipH="0" flipV="0">
            <a:off x="0" y="0"/>
            <a:ext cx="12192000" cy="6858000"/>
          </a:xfrm>
          <a:prstGeom prst="rect">
            <a:avLst/>
          </a:prstGeom>
          <a:solidFill>
            <a:srgbClr val="FFFFFF"/>
          </a:solidFill>
          <a:ln/>
        </p:spPr>
        <p:txBody>
          <a:bodyPr/>
          <a:p/>
        </p:txBody>
      </p:sp>
      <p:sp>
        <p:nvSpPr>
          <p:cNvPr id="1814" name=""/>
          <p:cNvSpPr/>
          <p:nvPr/>
        </p:nvSpPr>
        <p:spPr>
          <a:xfrm rot="0" flipH="0" flipV="0">
            <a:off x="0" y="0"/>
            <a:ext cx="12192000" cy="685800"/>
          </a:xfrm>
          <a:prstGeom prst="rect">
            <a:avLst/>
          </a:prstGeom>
          <a:solidFill>
            <a:srgbClr val="0E3F8C"/>
          </a:solidFill>
          <a:ln/>
        </p:spPr>
        <p:txBody>
          <a:bodyPr/>
          <a:p/>
        </p:txBody>
      </p:sp>
      <p:sp>
        <p:nvSpPr>
          <p:cNvPr id="1815"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1816" name=""/>
          <p:cNvSpPr/>
          <p:nvPr/>
        </p:nvSpPr>
        <p:spPr>
          <a:xfrm rot="0" flipH="0" flipV="0">
            <a:off x="2876550" y="209550"/>
            <a:ext cx="9525" cy="228600"/>
          </a:xfrm>
          <a:prstGeom prst="rect">
            <a:avLst/>
          </a:prstGeom>
          <a:solidFill>
            <a:srgbClr val="3D7BD9"/>
          </a:solidFill>
          <a:ln/>
        </p:spPr>
        <p:txBody>
          <a:bodyPr/>
          <a:p/>
        </p:txBody>
      </p:sp>
      <p:sp>
        <p:nvSpPr>
          <p:cNvPr id="1817" name="" descr="{&quot;isTemplate&quot;:true,&quot;type&quot;:&quot;text&quot;}"/>
          <p:cNvSpPr txBox="1"/>
          <p:nvPr/>
        </p:nvSpPr>
        <p:spPr>
          <a:xfrm rot="0" flipH="0" flipV="0">
            <a:off x="3038475" y="228600"/>
            <a:ext cx="2876550" cy="190500"/>
          </a:xfrm>
          <a:prstGeom prst="rect"/>
        </p:spPr>
        <p:txBody>
          <a:bodyPr wrap="none" lIns="0" tIns="0" rIns="0" bIns="0"/>
          <a:p>
            <a:pPr>
              <a:lnSpc>
                <a:spcPct val="100000"/>
              </a:lnSpc>
            </a:pPr>
            <a:r>
              <a:rPr lang="zh-CN" sz="1200">
                <a:solidFill>
                  <a:srgbClr val="C7D6EC"/>
                </a:solidFill>
                <a:latin typeface="Microsoft YaHei"/>
                <a:ea typeface="Microsoft YaHei"/>
              </a:rPr>
              <a:t>血小板计数的自动化路线：阻抗</a:t>
            </a:r>
            <a:r>
              <a:rPr lang="en-US" sz="1200">
                <a:solidFill>
                  <a:srgbClr val="C7D6EC"/>
                </a:solidFill>
                <a:latin typeface="Microsoft YaHei"/>
                <a:ea typeface="Microsoft YaHei"/>
              </a:rPr>
              <a:t>/</a:t>
            </a:r>
            <a:r>
              <a:rPr lang="zh-CN" sz="1200">
                <a:solidFill>
                  <a:srgbClr val="C7D6EC"/>
                </a:solidFill>
                <a:latin typeface="Microsoft YaHei"/>
                <a:ea typeface="Microsoft YaHei"/>
              </a:rPr>
              <a:t>光学</a:t>
            </a:r>
            <a:r>
              <a:rPr lang="en-US" sz="1200">
                <a:solidFill>
                  <a:srgbClr val="C7D6EC"/>
                </a:solidFill>
                <a:latin typeface="Microsoft YaHei"/>
                <a:ea typeface="Microsoft YaHei"/>
              </a:rPr>
              <a:t>/</a:t>
            </a:r>
            <a:r>
              <a:rPr lang="zh-CN" sz="1200">
                <a:solidFill>
                  <a:srgbClr val="C7D6EC"/>
                </a:solidFill>
                <a:latin typeface="Microsoft YaHei"/>
                <a:ea typeface="Microsoft YaHei"/>
              </a:rPr>
              <a:t>荧光</a:t>
            </a:r>
            <a:endParaRPr/>
          </a:p>
        </p:txBody>
      </p:sp>
      <p:sp>
        <p:nvSpPr>
          <p:cNvPr id="1818" name="" descr="{&quot;isTemplate&quot;:true,&quot;type&quot;:&quot;text&quot;}"/>
          <p:cNvSpPr txBox="1"/>
          <p:nvPr/>
        </p:nvSpPr>
        <p:spPr>
          <a:xfrm rot="0" flipH="0" flipV="0">
            <a:off x="11182350" y="228600"/>
            <a:ext cx="400050" cy="171450"/>
          </a:xfrm>
          <a:prstGeom prst="rect"/>
        </p:spPr>
        <p:txBody>
          <a:bodyPr wrap="none" lIns="0" tIns="0" rIns="0" bIns="0"/>
          <a:p>
            <a:pPr>
              <a:lnSpc>
                <a:spcPct val="100000"/>
              </a:lnSpc>
            </a:pPr>
            <a:r>
              <a:rPr lang="en-US" sz="1125">
                <a:solidFill>
                  <a:srgbClr val="9DB8E0"/>
                </a:solidFill>
                <a:latin typeface="Microsoft YaHei"/>
                <a:ea typeface="Microsoft YaHei"/>
              </a:rPr>
              <a:t>9 / 77</a:t>
            </a:r>
            <a:endParaRPr/>
          </a:p>
        </p:txBody>
      </p:sp>
      <p:pic>
        <p:nvPicPr>
          <p:cNvPr id="1819" name=""/>
          <p:cNvPicPr>
            <a:picLocks noChangeAspect="1"/>
          </p:cNvPicPr>
          <p:nvPr/>
        </p:nvPicPr>
        <p:blipFill>
          <a:blip r:embed="rId1"/>
          <a:srcRect l="2032" t="0" r="2032" b="0"/>
          <a:stretch>
            <a:fillRect/>
          </a:stretch>
        </p:blipFill>
        <p:spPr>
          <a:xfrm rot="0" flipH="0" flipV="0">
            <a:off x="609600" y="952500"/>
            <a:ext cx="5334000" cy="4476750"/>
          </a:xfrm>
          <a:prstGeom prst="roundRect">
            <a:avLst>
              <a:gd name="adj" fmla="val 2128"/>
            </a:avLst>
          </a:prstGeom>
          <a:ln/>
        </p:spPr>
      </p:pic>
      <p:sp>
        <p:nvSpPr>
          <p:cNvPr id="1820" name=""/>
          <p:cNvSpPr/>
          <p:nvPr/>
        </p:nvSpPr>
        <p:spPr>
          <a:xfrm rot="0" flipH="0" flipV="0">
            <a:off x="6324600" y="9525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821"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阻抗法（</a:t>
            </a:r>
            <a:r>
              <a:rPr lang="en-US" sz="1350" b="1">
                <a:solidFill>
                  <a:srgbClr val="0E3F8C"/>
                </a:solidFill>
                <a:latin typeface="Microsoft YaHei"/>
                <a:ea typeface="Microsoft YaHei"/>
              </a:rPr>
              <a:t>PLT-I</a:t>
            </a:r>
            <a:r>
              <a:rPr lang="zh-CN" sz="1350" b="1">
                <a:solidFill>
                  <a:srgbClr val="0E3F8C"/>
                </a:solidFill>
                <a:latin typeface="Microsoft YaHei"/>
                <a:ea typeface="Microsoft YaHei"/>
              </a:rPr>
              <a:t>）</a:t>
            </a:r>
            <a:endParaRPr/>
          </a:p>
        </p:txBody>
      </p:sp>
      <p:sp>
        <p:nvSpPr>
          <p:cNvPr id="1822" name="" descr="{&quot;isTemplate&quot;:true,&quot;type&quot;:&quot;text&quot;}"/>
          <p:cNvSpPr txBox="1"/>
          <p:nvPr/>
        </p:nvSpPr>
        <p:spPr>
          <a:xfrm rot="0" flipH="0" flipV="0">
            <a:off x="6515100" y="145732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基于库尔特原理：细胞通过小孔时按体积产生脉冲，红细胞</a:t>
            </a:r>
            <a:r>
              <a:rPr lang="en-US" sz="1200">
                <a:solidFill>
                  <a:srgbClr val="2C3E50"/>
                </a:solidFill>
                <a:latin typeface="Microsoft YaHei"/>
                <a:ea typeface="Microsoft YaHei"/>
              </a:rPr>
              <a:t>/</a:t>
            </a:r>
            <a:r>
              <a:rPr lang="zh-CN" sz="1200">
                <a:solidFill>
                  <a:srgbClr val="2C3E50"/>
                </a:solidFill>
                <a:latin typeface="Microsoft YaHei"/>
                <a:ea typeface="Microsoft YaHei"/>
              </a:rPr>
              <a:t>血小板按体积阈值（约</a:t>
            </a:r>
            <a:r>
              <a:rPr lang="en-US" sz="1200">
                <a:solidFill>
                  <a:srgbClr val="2C3E50"/>
                </a:solidFill>
                <a:latin typeface="Microsoft YaHei"/>
                <a:ea typeface="Microsoft YaHei"/>
              </a:rPr>
              <a:t> 2—20 fL</a:t>
            </a:r>
            <a:r>
              <a:rPr lang="zh-CN" sz="1200">
                <a:solidFill>
                  <a:srgbClr val="2C3E50"/>
                </a:solidFill>
                <a:latin typeface="Microsoft YaHei"/>
                <a:ea typeface="Microsoft YaHei"/>
              </a:rPr>
              <a:t>）分区；成本低、使用最广，但受大血小板、小红细胞、碎片与聚集干扰。</a:t>
            </a:r>
            <a:endParaRPr/>
          </a:p>
        </p:txBody>
      </p:sp>
      <p:sp>
        <p:nvSpPr>
          <p:cNvPr id="1823" name=""/>
          <p:cNvSpPr/>
          <p:nvPr/>
        </p:nvSpPr>
        <p:spPr>
          <a:xfrm rot="0" flipH="0" flipV="0">
            <a:off x="6324600" y="16954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824" name="" descr="{&quot;isTemplate&quot;:true,&quot;type&quot;:&quot;text&quot;}"/>
          <p:cNvSpPr txBox="1"/>
          <p:nvPr/>
        </p:nvSpPr>
        <p:spPr>
          <a:xfrm rot="0" flipH="0" flipV="0">
            <a:off x="6515100" y="18859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光学法（</a:t>
            </a:r>
            <a:r>
              <a:rPr lang="en-US" sz="1350" b="1">
                <a:solidFill>
                  <a:srgbClr val="0E3F8C"/>
                </a:solidFill>
                <a:latin typeface="Microsoft YaHei"/>
                <a:ea typeface="Microsoft YaHei"/>
              </a:rPr>
              <a:t>PLT-O</a:t>
            </a:r>
            <a:r>
              <a:rPr lang="zh-CN" sz="1350" b="1">
                <a:solidFill>
                  <a:srgbClr val="0E3F8C"/>
                </a:solidFill>
                <a:latin typeface="Microsoft YaHei"/>
                <a:ea typeface="Microsoft YaHei"/>
              </a:rPr>
              <a:t>）</a:t>
            </a:r>
            <a:endParaRPr/>
          </a:p>
        </p:txBody>
      </p:sp>
      <p:sp>
        <p:nvSpPr>
          <p:cNvPr id="1825" name="" descr="{&quot;isTemplate&quot;:true,&quot;type&quot;:&quot;text&quot;}"/>
          <p:cNvSpPr txBox="1"/>
          <p:nvPr/>
        </p:nvSpPr>
        <p:spPr>
          <a:xfrm rot="0" flipH="0" flipV="0">
            <a:off x="6515100" y="2200275"/>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用激光散射</a:t>
            </a:r>
            <a:r>
              <a:rPr lang="en-US" sz="1200">
                <a:solidFill>
                  <a:srgbClr val="2C3E50"/>
                </a:solidFill>
                <a:latin typeface="Microsoft YaHei"/>
                <a:ea typeface="Microsoft YaHei"/>
              </a:rPr>
              <a:t>+</a:t>
            </a:r>
            <a:r>
              <a:rPr lang="zh-CN" sz="1200">
                <a:solidFill>
                  <a:srgbClr val="2C3E50"/>
                </a:solidFill>
                <a:latin typeface="Microsoft YaHei"/>
                <a:ea typeface="Microsoft YaHei"/>
              </a:rPr>
              <a:t>荧光染料（如核酸染料）区分血小板与红细胞碎片</a:t>
            </a:r>
            <a:r>
              <a:rPr lang="en-US" sz="1200">
                <a:solidFill>
                  <a:srgbClr val="2C3E50"/>
                </a:solidFill>
                <a:latin typeface="Microsoft YaHei"/>
                <a:ea typeface="Microsoft YaHei"/>
              </a:rPr>
              <a:t>/</a:t>
            </a:r>
            <a:r>
              <a:rPr lang="zh-CN" sz="1200">
                <a:solidFill>
                  <a:srgbClr val="2C3E50"/>
                </a:solidFill>
                <a:latin typeface="Microsoft YaHei"/>
                <a:ea typeface="Microsoft YaHei"/>
              </a:rPr>
              <a:t>白细胞，对异常标本更稳健；不同品牌以</a:t>
            </a:r>
            <a:r>
              <a:rPr lang="en-US" sz="1200">
                <a:solidFill>
                  <a:srgbClr val="2C3E50"/>
                </a:solidFill>
                <a:latin typeface="Microsoft YaHei"/>
                <a:ea typeface="Microsoft YaHei"/>
              </a:rPr>
              <a:t> PLT-O/PLT-F </a:t>
            </a:r>
            <a:r>
              <a:rPr lang="zh-CN" sz="1200">
                <a:solidFill>
                  <a:srgbClr val="2C3E50"/>
                </a:solidFill>
                <a:latin typeface="Microsoft YaHei"/>
                <a:ea typeface="Microsoft YaHei"/>
              </a:rPr>
              <a:t>等形式报告。</a:t>
            </a:r>
            <a:endParaRPr/>
          </a:p>
        </p:txBody>
      </p:sp>
      <p:sp>
        <p:nvSpPr>
          <p:cNvPr id="1826" name=""/>
          <p:cNvSpPr/>
          <p:nvPr/>
        </p:nvSpPr>
        <p:spPr>
          <a:xfrm rot="0" flipH="0" flipV="0">
            <a:off x="6324600" y="24384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827" name="" descr="{&quot;isTemplate&quot;:true,&quot;type&quot;:&quot;text&quot;}"/>
          <p:cNvSpPr txBox="1"/>
          <p:nvPr/>
        </p:nvSpPr>
        <p:spPr>
          <a:xfrm rot="0" flipH="0" flipV="0">
            <a:off x="6515100" y="2628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方法学差异的现实意义</a:t>
            </a:r>
            <a:endParaRPr/>
          </a:p>
        </p:txBody>
      </p:sp>
      <p:sp>
        <p:nvSpPr>
          <p:cNvPr id="1828" name="" descr="{&quot;isTemplate&quot;:true,&quot;type&quot;:&quot;text&quot;}"/>
          <p:cNvSpPr txBox="1"/>
          <p:nvPr/>
        </p:nvSpPr>
        <p:spPr>
          <a:xfrm rot="0" flipH="0" flipV="0">
            <a:off x="6515100" y="294322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同一标本在阻抗与光学通道间可出现显著差异；实验室应在直方图异常、仪器报警或结果与临床不符时切换通道或镜检复核，避免把“假性低”当成真性减少。</a:t>
            </a:r>
            <a:endParaRPr/>
          </a:p>
        </p:txBody>
      </p:sp>
      <p:sp>
        <p:nvSpPr>
          <p:cNvPr id="1829" name=""/>
          <p:cNvSpPr/>
          <p:nvPr/>
        </p:nvSpPr>
        <p:spPr>
          <a:xfrm rot="0" flipH="0" flipV="0">
            <a:off x="6324600" y="31813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830" name="" descr="{&quot;isTemplate&quot;:true,&quot;type&quot;:&quot;text&quot;}"/>
          <p:cNvSpPr txBox="1"/>
          <p:nvPr/>
        </p:nvSpPr>
        <p:spPr>
          <a:xfrm rot="0" flipH="0" flipV="0">
            <a:off x="6515100" y="33718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1831" name="" descr="{&quot;isTemplate&quot;:true,&quot;type&quot;:&quot;text&quot;}"/>
          <p:cNvSpPr txBox="1"/>
          <p:nvPr/>
        </p:nvSpPr>
        <p:spPr>
          <a:xfrm rot="0" flipH="0" flipV="0">
            <a:off x="6515100" y="3686175"/>
            <a:ext cx="4876800" cy="0"/>
          </a:xfrm>
          <a:prstGeom prst="rect"/>
        </p:spPr>
        <p:txBody>
          <a:bodyPr wrap="none" lIns="0" tIns="0" rIns="0" bIns="0"/>
          <a:p>
            <a:pPr/>
            <a:endParaRPr/>
          </a:p>
        </p:txBody>
      </p:sp>
      <p:sp>
        <p:nvSpPr>
          <p:cNvPr id="1832" name=""/>
          <p:cNvSpPr/>
          <p:nvPr/>
        </p:nvSpPr>
        <p:spPr>
          <a:xfrm rot="0" flipH="0" flipV="0">
            <a:off x="6324600" y="39243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1833" name="" descr="{&quot;isTemplate&quot;:true,&quot;type&quot;:&quot;text&quot;}"/>
          <p:cNvSpPr txBox="1"/>
          <p:nvPr/>
        </p:nvSpPr>
        <p:spPr>
          <a:xfrm rot="0" flipH="0" flipV="0">
            <a:off x="6515100" y="4114800"/>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自动化计数是“筛查</a:t>
            </a:r>
            <a:r>
              <a:rPr lang="en-US" sz="1200">
                <a:solidFill>
                  <a:srgbClr val="2C3E50"/>
                </a:solidFill>
                <a:latin typeface="Microsoft YaHei"/>
                <a:ea typeface="Microsoft YaHei"/>
              </a:rPr>
              <a:t>+</a:t>
            </a:r>
            <a:r>
              <a:rPr lang="zh-CN" sz="1200">
                <a:solidFill>
                  <a:srgbClr val="2C3E50"/>
                </a:solidFill>
                <a:latin typeface="Microsoft YaHei"/>
                <a:ea typeface="Microsoft YaHei"/>
              </a:rPr>
              <a:t>报警”系统：数值重要，报警旗标与直方图形状同样重要。</a:t>
            </a:r>
            <a:endParaRPr/>
          </a:p>
        </p:txBody>
      </p:sp>
      <p:sp>
        <p:nvSpPr>
          <p:cNvPr id="1834"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1835"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Int J Lab Hematol 2007;29:4-20 (PMID 17224004)</a:t>
            </a:r>
            <a:endParaRPr/>
          </a:p>
        </p:txBody>
      </p:sp>
      <p:sp>
        <p:nvSpPr>
          <p:cNvPr id="1836"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1837"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zh-CN" sz="1050">
                <a:solidFill>
                  <a:srgbClr val="6B7B8C"/>
                </a:solidFill>
                <a:latin typeface="Microsoft YaHei"/>
                <a:ea typeface="Microsoft YaHei"/>
              </a:rPr>
              <a:t>自动化血细胞分析仪血小板计数原理（阻抗</a:t>
            </a:r>
            <a:r>
              <a:rPr lang="en-US" sz="1050">
                <a:solidFill>
                  <a:srgbClr val="6B7B8C"/>
                </a:solidFill>
                <a:latin typeface="Microsoft YaHei"/>
                <a:ea typeface="Microsoft YaHei"/>
              </a:rPr>
              <a:t>/</a:t>
            </a:r>
            <a:r>
              <a:rPr lang="zh-CN" sz="1050">
                <a:solidFill>
                  <a:srgbClr val="6B7B8C"/>
                </a:solidFill>
                <a:latin typeface="Microsoft YaHei"/>
                <a:ea typeface="Microsoft YaHei"/>
              </a:rPr>
              <a:t>光学</a:t>
            </a:r>
            <a:r>
              <a:rPr lang="en-US" sz="1050">
                <a:solidFill>
                  <a:srgbClr val="6B7B8C"/>
                </a:solidFill>
                <a:latin typeface="Microsoft YaHei"/>
                <a:ea typeface="Microsoft YaHei"/>
              </a:rPr>
              <a:t>/</a:t>
            </a:r>
            <a:r>
              <a:rPr lang="zh-CN" sz="1050">
                <a:solidFill>
                  <a:srgbClr val="6B7B8C"/>
                </a:solidFill>
                <a:latin typeface="Microsoft YaHei"/>
                <a:ea typeface="Microsoft YaHei"/>
              </a:rPr>
              <a:t>荧光通道）</a:t>
            </a:r>
            <a:endParaRPr/>
          </a:p>
        </p:txBody>
      </p:sp>
      <p:sp>
        <p:nvSpPr>
          <p:cNvPr id="1838" name=""/>
          <p:cNvSpPr/>
          <p:nvPr/>
        </p:nvSpPr>
        <p:spPr>
          <a:xfrm rot="0" flipH="0" flipV="0">
            <a:off x="0" y="6324600"/>
            <a:ext cx="12192000" cy="342900"/>
          </a:xfrm>
          <a:prstGeom prst="rect">
            <a:avLst/>
          </a:prstGeom>
          <a:solidFill>
            <a:srgbClr val="F7F9FC"/>
          </a:solidFill>
          <a:ln/>
        </p:spPr>
        <p:txBody>
          <a:bodyPr/>
          <a:p/>
        </p:txBody>
      </p:sp>
      <p:sp>
        <p:nvSpPr>
          <p:cNvPr id="183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84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0.xml><?xml version="1.0" encoding="utf-8"?>
<p:sld xmlns:p="http://schemas.openxmlformats.org/presentationml/2006/main" xmlns:a="http://schemas.openxmlformats.org/drawingml/2006/main">
  <p:cSld>
    <p:spTree>
      <p:nvGrpSpPr>
        <p:cNvPr id="15" name="" descr="&lt;Slide notes={`演讲者备注：【HARRISON-REF】多中心研究确立以流式细胞术 CD61 标记 + RBC 比值的候选参考方法计数血小板，显著改善低值血小板计数的一致性。证据：Am J Clin Pathol 2001;115:448-459，PMID 11242802。&#13;&#10;【ZANDECKI-SPUR】自动化血细胞分析仪血小板部分系统性综述：EDTA 依赖聚集、血小板卫星现象、大血小板漏计等假性结果常见，需直方图/散点图与涂片复检甄别。证据：Int J Lab Hematol 2007;29:4-20，PMID 17224004。&#13;&#10;讲解提示：本页为方法学“天花板”页——回答检验科为何要保 CD61 免疫通道/流式参考方法：因为临床在 &lt;10–20×10^9/L 时的输血决策，必须建立在可信计数之上。`}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参考方法与低值血小板计数&lt;/Text&gt;&#13;&#10;    &lt;/Box&gt;&#13;&#10;    &lt;Text style={{ position: 'absolute', right: 64, top: 24, fontSize: 15, color: '#9DB8E0' }}&gt;10 / 77&lt;/Text&gt;&#13;&#10;  &lt;/Box&gt;&#13;&#10;  &lt;Box style={{ position: 'absolute', left: 64, top: 96, width: 562, height: 128, background: '#F0F5FC', borderRadius: 12, border: '1px solid #E5E7EB', padding: 20 }}&gt;&#13;&#10;&lt;Text style={{ fontSize: 19, color: '#0E3F8C', fontWeight: 'bold', textAlign: 'left', lineHeight: 1.5 }}&gt;免疫-流式参考方法&lt;/Text&gt;&#13;&#10;&lt;Text style={{ fontSize: 17, color: '#2C3E50', textAlign: 'left', lineHeight: 1.62 }}&gt;以荧光标记抗 CD41/CD61 抗体识别血小板，用 RBC 比值法（或单平台绝对计数）定量，是国际公认的候选参考方法，尤其改善 &amp;lt;20×10^9/L 时的准确性。&lt;/Text&gt;&#13;&#10;  &lt;/Box&gt;&#13;&#10;  &lt;Box style={{ position: 'absolute', left: 654, top: 96, width: 562, height: 128, background: '#F0F5FC', borderRadius: 12, border: '1px solid #E5E7EB', padding: 20 }}&gt;&#13;&#10;&lt;Text style={{ fontSize: 19, color: '#0E3F8C', fontWeight: 'bold', textAlign: 'left', lineHeight: 1.5 }}&gt;多中心验证&lt;/Text&gt;&#13;&#10;&lt;Text style={{ fontSize: 17, color: '#2C3E50', textAlign: 'left', lineHeight: 1.62 }}&gt;&lt;/Text&gt;&#13;&#10;  &lt;/Box&gt;&#13;&#10;  &lt;Box style={{ position: 'absolute', left: 64, top: 252, width: 562, height: 128, background: '#F0F5FC', borderRadius: 12, border: '1px solid #E5E7EB', padding: 20 }}&gt;&#13;&#10;&lt;Text style={{ fontSize: 17, color: '#2C3E50', textAlign: 'left', lineHeight: 1.62 }}&gt;多中心协作研究显示参考方法在低值区显著提高室间一致性，可作为仪器校准与真实值仲裁的“金标准”。&lt;/Text&gt;&#13;&#10;  &lt;/Box&gt;&#13;&#10;  &lt;Box style={{ position: 'absolute', left: 654, top: 252, width: 562, height: 128, background: '#F0F5FC', borderRadius: 12, border: '1px solid #E5E7EB', padding: 20 }}&gt;&#13;&#10;&lt;Text style={{ fontSize: 19, color: '#0E3F8C', fontWeight: 'bold', textAlign: 'left', lineHeight: 1.5 }}&gt;临床启示&lt;/Text&gt;&#13;&#10;&lt;Text style={{ fontSize: 17, color: '#2C3E50', textAlign: 'left', lineHeight: 1.62 }}&gt;血小板重度减少（如 &amp;lt;20×10^9/L）时，自动法 CV 增大、误差更常见；输注决策前若临床与计数不符，应考虑以光学/荧光或手工镜检核实。&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7, color: '#2C3E50', textAlign: 'left', lineHeight: 1.62 }}&gt;“数不准低值”是血小板计数的老问题，参考方法提供校准锚点；实验室方法学选择直接影响危急值管理。&lt;/Text&gt;&#13;&#10;  &lt;/Box&gt;&#13;&#10;&#13;&#10;  &lt;Box style={{ position: 'absolute', left: 64, top: 556, width: 1152, height: 92, background: '#F0F5FC', borderRadius: 12, border: '1px solid #E5E7EB', padding: 20 }}&gt;&#13;&#10;&lt;Text style={{ fontSize: 17, color: '#2C3E50', textAlign: 'left', lineHeight: 1.6 }}&gt;小结：Am J Clin Pathol 2001;115:448-459 (PMID 1124280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6" name=""/>
          <p:cNvSpPr/>
          <p:nvPr/>
        </p:nvSpPr>
        <p:spPr>
          <a:xfrm rot="0" flipH="0" flipV="0">
            <a:off x="0" y="0"/>
            <a:ext cx="12192000" cy="6858000"/>
          </a:xfrm>
          <a:prstGeom prst="rect">
            <a:avLst/>
          </a:prstGeom>
          <a:solidFill>
            <a:srgbClr val="FFFFFF"/>
          </a:solidFill>
          <a:ln/>
        </p:spPr>
        <p:txBody>
          <a:bodyPr/>
          <a:p/>
        </p:txBody>
      </p:sp>
      <p:sp>
        <p:nvSpPr>
          <p:cNvPr id="17" name=""/>
          <p:cNvSpPr/>
          <p:nvPr/>
        </p:nvSpPr>
        <p:spPr>
          <a:xfrm rot="0" flipH="0" flipV="0">
            <a:off x="0" y="0"/>
            <a:ext cx="12192000" cy="685800"/>
          </a:xfrm>
          <a:prstGeom prst="rect">
            <a:avLst/>
          </a:prstGeom>
          <a:solidFill>
            <a:srgbClr val="0E3F8C"/>
          </a:solidFill>
          <a:ln/>
        </p:spPr>
        <p:txBody>
          <a:bodyPr/>
          <a:p/>
        </p:txBody>
      </p:sp>
      <p:sp>
        <p:nvSpPr>
          <p:cNvPr id="18"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19" name=""/>
          <p:cNvSpPr/>
          <p:nvPr/>
        </p:nvSpPr>
        <p:spPr>
          <a:xfrm rot="0" flipH="0" flipV="0">
            <a:off x="2876550" y="209550"/>
            <a:ext cx="9525" cy="228600"/>
          </a:xfrm>
          <a:prstGeom prst="rect">
            <a:avLst/>
          </a:prstGeom>
          <a:solidFill>
            <a:srgbClr val="3D7BD9"/>
          </a:solidFill>
          <a:ln/>
        </p:spPr>
        <p:txBody>
          <a:bodyPr/>
          <a:p/>
        </p:txBody>
      </p:sp>
      <p:sp>
        <p:nvSpPr>
          <p:cNvPr id="20" name="" descr="{&quot;isTemplate&quot;:true,&quot;type&quot;:&quot;text&quot;}"/>
          <p:cNvSpPr txBox="1"/>
          <p:nvPr/>
        </p:nvSpPr>
        <p:spPr>
          <a:xfrm rot="0" flipH="0" flipV="0">
            <a:off x="3038475" y="228600"/>
            <a:ext cx="1828800" cy="190500"/>
          </a:xfrm>
          <a:prstGeom prst="rect"/>
        </p:spPr>
        <p:txBody>
          <a:bodyPr wrap="none" lIns="0" tIns="0" rIns="0" bIns="0"/>
          <a:p>
            <a:pPr>
              <a:lnSpc>
                <a:spcPct val="100000"/>
              </a:lnSpc>
            </a:pPr>
            <a:r>
              <a:rPr lang="zh-CN" sz="1200">
                <a:solidFill>
                  <a:srgbClr val="C7D6EC"/>
                </a:solidFill>
                <a:latin typeface="Microsoft YaHei"/>
                <a:ea typeface="Microsoft YaHei"/>
              </a:rPr>
              <a:t>参考方法与低值血小板计数</a:t>
            </a:r>
            <a:endParaRPr/>
          </a:p>
        </p:txBody>
      </p:sp>
      <p:sp>
        <p:nvSpPr>
          <p:cNvPr id="2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10 / 77</a:t>
            </a:r>
            <a:endParaRPr/>
          </a:p>
        </p:txBody>
      </p:sp>
      <p:sp>
        <p:nvSpPr>
          <p:cNvPr id="22"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免疫</a:t>
            </a:r>
            <a:r>
              <a:rPr lang="en-US" sz="1425" b="1">
                <a:solidFill>
                  <a:srgbClr val="0E3F8C"/>
                </a:solidFill>
                <a:latin typeface="Microsoft YaHei"/>
                <a:ea typeface="Microsoft YaHei"/>
              </a:rPr>
              <a:t>-</a:t>
            </a:r>
            <a:r>
              <a:rPr lang="zh-CN" sz="1425" b="1">
                <a:solidFill>
                  <a:srgbClr val="0E3F8C"/>
                </a:solidFill>
                <a:latin typeface="Microsoft YaHei"/>
                <a:ea typeface="Microsoft YaHei"/>
              </a:rPr>
              <a:t>流式参考方法</a:t>
            </a:r>
            <a:endParaRPr/>
          </a:p>
        </p:txBody>
      </p:sp>
      <p:sp>
        <p:nvSpPr>
          <p:cNvPr id="24"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以荧光标记抗</a:t>
            </a:r>
            <a:r>
              <a:rPr lang="en-US" sz="1275">
                <a:solidFill>
                  <a:srgbClr val="2C3E50"/>
                </a:solidFill>
                <a:latin typeface="Microsoft YaHei"/>
                <a:ea typeface="Microsoft YaHei"/>
              </a:rPr>
              <a:t> CD41/CD61 </a:t>
            </a:r>
            <a:r>
              <a:rPr lang="zh-CN" sz="1275">
                <a:solidFill>
                  <a:srgbClr val="2C3E50"/>
                </a:solidFill>
                <a:latin typeface="Microsoft YaHei"/>
                <a:ea typeface="Microsoft YaHei"/>
              </a:rPr>
              <a:t>抗体识别血小板，用</a:t>
            </a:r>
            <a:r>
              <a:rPr lang="en-US" sz="1275">
                <a:solidFill>
                  <a:srgbClr val="2C3E50"/>
                </a:solidFill>
                <a:latin typeface="Microsoft YaHei"/>
                <a:ea typeface="Microsoft YaHei"/>
              </a:rPr>
              <a:t> RBC </a:t>
            </a:r>
            <a:r>
              <a:rPr lang="zh-CN" sz="1275">
                <a:solidFill>
                  <a:srgbClr val="2C3E50"/>
                </a:solidFill>
                <a:latin typeface="Microsoft YaHei"/>
                <a:ea typeface="Microsoft YaHei"/>
              </a:rPr>
              <a:t>比值法（或单平台绝对计数）定量，是国际公认的候选参考方法，尤其改善</a:t>
            </a:r>
            <a:r>
              <a:rPr lang="en-US" sz="1275">
                <a:solidFill>
                  <a:srgbClr val="2C3E50"/>
                </a:solidFill>
                <a:latin typeface="Microsoft YaHei"/>
                <a:ea typeface="Microsoft YaHei"/>
              </a:rPr>
              <a:t> &lt;20×10^9/L </a:t>
            </a:r>
            <a:r>
              <a:rPr lang="zh-CN" sz="1275">
                <a:solidFill>
                  <a:srgbClr val="2C3E50"/>
                </a:solidFill>
                <a:latin typeface="Microsoft YaHei"/>
                <a:ea typeface="Microsoft YaHei"/>
              </a:rPr>
              <a:t>时的准确性。</a:t>
            </a:r>
            <a:endParaRPr/>
          </a:p>
        </p:txBody>
      </p:sp>
      <p:sp>
        <p:nvSpPr>
          <p:cNvPr id="25"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多中心验证</a:t>
            </a:r>
            <a:endParaRPr/>
          </a:p>
        </p:txBody>
      </p:sp>
      <p:sp>
        <p:nvSpPr>
          <p:cNvPr id="27" name="" descr="{&quot;isTemplate&quot;:true,&quot;type&quot;:&quot;text&quot;}"/>
          <p:cNvSpPr txBox="1"/>
          <p:nvPr/>
        </p:nvSpPr>
        <p:spPr>
          <a:xfrm rot="0" flipH="0" flipV="0">
            <a:off x="6419850" y="1438275"/>
            <a:ext cx="4972050" cy="0"/>
          </a:xfrm>
          <a:prstGeom prst="rect"/>
        </p:spPr>
        <p:txBody>
          <a:bodyPr wrap="none" lIns="0" tIns="0" rIns="0" bIns="0"/>
          <a:p>
            <a:pPr/>
            <a:endParaRPr/>
          </a:p>
        </p:txBody>
      </p:sp>
      <p:sp>
        <p:nvSpPr>
          <p:cNvPr id="28"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9" name="" descr="{&quot;isTemplate&quot;:true,&quot;type&quot;:&quot;text&quot;}"/>
          <p:cNvSpPr txBox="1"/>
          <p:nvPr/>
        </p:nvSpPr>
        <p:spPr>
          <a:xfrm rot="0" flipH="0" flipV="0">
            <a:off x="800100" y="25908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多中心协作研究显示参考方法在低值区显著提高室间一致性，可作为仪器校准与真实值仲裁的“金标准”。</a:t>
            </a:r>
            <a:endParaRPr/>
          </a:p>
        </p:txBody>
      </p:sp>
      <p:sp>
        <p:nvSpPr>
          <p:cNvPr id="3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临床启示</a:t>
            </a:r>
            <a:endParaRPr/>
          </a:p>
        </p:txBody>
      </p:sp>
      <p:sp>
        <p:nvSpPr>
          <p:cNvPr id="32" name="" descr="{&quot;isTemplate&quot;:true,&quot;type&quot;:&quot;text&quot;}"/>
          <p:cNvSpPr txBox="1"/>
          <p:nvPr/>
        </p:nvSpPr>
        <p:spPr>
          <a:xfrm rot="0" flipH="0" flipV="0">
            <a:off x="641985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血小板重度减少（如</a:t>
            </a:r>
            <a:r>
              <a:rPr lang="en-US" sz="1275">
                <a:solidFill>
                  <a:srgbClr val="2C3E50"/>
                </a:solidFill>
                <a:latin typeface="Microsoft YaHei"/>
                <a:ea typeface="Microsoft YaHei"/>
              </a:rPr>
              <a:t> &lt;20×10^9/L</a:t>
            </a:r>
            <a:r>
              <a:rPr lang="zh-CN" sz="1275">
                <a:solidFill>
                  <a:srgbClr val="2C3E50"/>
                </a:solidFill>
                <a:latin typeface="Microsoft YaHei"/>
                <a:ea typeface="Microsoft YaHei"/>
              </a:rPr>
              <a:t>）时，自动法</a:t>
            </a:r>
            <a:r>
              <a:rPr lang="en-US" sz="1275">
                <a:solidFill>
                  <a:srgbClr val="2C3E50"/>
                </a:solidFill>
                <a:latin typeface="Microsoft YaHei"/>
                <a:ea typeface="Microsoft YaHei"/>
              </a:rPr>
              <a:t> CV </a:t>
            </a:r>
            <a:r>
              <a:rPr lang="zh-CN" sz="1275">
                <a:solidFill>
                  <a:srgbClr val="2C3E50"/>
                </a:solidFill>
                <a:latin typeface="Microsoft YaHei"/>
                <a:ea typeface="Microsoft YaHei"/>
              </a:rPr>
              <a:t>增大、误差更常见；输注决策前若临床与计数不符，应考虑以光学</a:t>
            </a:r>
            <a:r>
              <a:rPr lang="en-US" sz="1275">
                <a:solidFill>
                  <a:srgbClr val="2C3E50"/>
                </a:solidFill>
                <a:latin typeface="Microsoft YaHei"/>
                <a:ea typeface="Microsoft YaHei"/>
              </a:rPr>
              <a:t>/</a:t>
            </a:r>
            <a:r>
              <a:rPr lang="zh-CN" sz="1275">
                <a:solidFill>
                  <a:srgbClr val="2C3E50"/>
                </a:solidFill>
                <a:latin typeface="Microsoft YaHei"/>
                <a:ea typeface="Microsoft YaHei"/>
              </a:rPr>
              <a:t>荧光或手工镜检核实。</a:t>
            </a:r>
            <a:endParaRPr/>
          </a:p>
        </p:txBody>
      </p:sp>
      <p:sp>
        <p:nvSpPr>
          <p:cNvPr id="3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4"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35"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36"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7" name="" descr="{&quot;isTemplate&quot;:true,&quot;type&quot;:&quot;text&quot;}"/>
          <p:cNvSpPr txBox="1"/>
          <p:nvPr/>
        </p:nvSpPr>
        <p:spPr>
          <a:xfrm rot="0" flipH="0" flipV="0">
            <a:off x="641985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“数不准低值”是血小板计数的老问题，参考方法提供校准锚点；实验室方法学选择直接影响危急值管理。</a:t>
            </a:r>
            <a:endParaRPr/>
          </a:p>
        </p:txBody>
      </p:sp>
      <p:sp>
        <p:nvSpPr>
          <p:cNvPr id="38"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39"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Am J Clin Pathol 2001;115:448-459 (PMID 11242802)</a:t>
            </a:r>
            <a:endParaRPr/>
          </a:p>
        </p:txBody>
      </p:sp>
      <p:sp>
        <p:nvSpPr>
          <p:cNvPr id="40" name=""/>
          <p:cNvSpPr/>
          <p:nvPr/>
        </p:nvSpPr>
        <p:spPr>
          <a:xfrm rot="0" flipH="0" flipV="0">
            <a:off x="0" y="6324600"/>
            <a:ext cx="12192000" cy="342900"/>
          </a:xfrm>
          <a:prstGeom prst="rect">
            <a:avLst/>
          </a:prstGeom>
          <a:solidFill>
            <a:srgbClr val="F7F9FC"/>
          </a:solidFill>
          <a:ln/>
        </p:spPr>
        <p:txBody>
          <a:bodyPr/>
          <a:p/>
        </p:txBody>
      </p:sp>
      <p:sp>
        <p:nvSpPr>
          <p:cNvPr id="41"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42"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1.xml><?xml version="1.0" encoding="utf-8"?>
<p:sld xmlns:p="http://schemas.openxmlformats.org/presentationml/2006/main" xmlns:a="http://schemas.openxmlformats.org/drawingml/2006/main">
  <p:cSld>
    <p:spTree>
      <p:nvGrpSpPr>
        <p:cNvPr id="43" name="" descr="&lt;Slide notes={`演讲者备注：【ZANDECKI-SPUR】自动化血细胞分析仪血小板部分系统性综述：EDTA 依赖聚集、血小板卫星现象、大血小板漏计等假性结果常见，需直方图/散点图与涂片复检甄别。证据：Int J Lab Hematol 2007;29:4-20，PMID 17224004。&#13;&#10;【HOFFMANN-IPF】网织血小板/IPF 反映血小板生成活性：在化疗/移植后恢复预测、ITP 与再生障碍性血小板减少鉴别中具有临床价值，但方法间可比性仍受限。证据：Clin Chem Lab Med 2014;52:1107-1117，PMID 24807169。&#13;&#10;讲解提示：强调“看图”习惯——直方图平台消失/锯齿常提示聚集；结合下一章的 IPF 讲“血小板年龄”概念，MPV 与 IPF 共同反映巨核细胞输出。`}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直方图与 MPV/PDW/PCT：衍生参数的解读边界&lt;/Text&gt;&#13;&#10;    &lt;/Box&gt;&#13;&#10;    &lt;Text style={{ position: 'absolute', right: 64, top: 24, fontSize: 15, color: '#9DB8E0' }}&gt;11 / 77&lt;/Text&gt;&#13;&#10;  &lt;/Box&gt;&#13;&#10;  &lt;Box style={{ position: 'absolute', left: 64, top: 96, width: 562, height: 128, background: '#F0F5FC', borderRadius: 12, border: '1px solid #E5E7EB', padding: 20 }}&gt;&#13;&#10;&lt;Text style={{ fontSize: 19, color: '#0E3F8C', fontWeight: 'bold', textAlign: 'left', lineHeight: 1.5 }}&gt;MPV（平均血小板体积）&lt;/Text&gt;&#13;&#10;&lt;Text style={{ fontSize: 17, color: '#2C3E50', textAlign: 'left', lineHeight: 1.62 }}&gt;反映血小板平均大小：大血小板提示生成活跃（如 ITP、恢复期）或存在巨血小板；但不同仪器参考区间不一，不能单凭 MPV 作诊断。&lt;/Text&gt;&#13;&#10;  &lt;/Box&gt;&#13;&#10;  &lt;Box style={{ position: 'absolute', left: 654, top: 96, width: 562, height: 128, background: '#F0F5FC', borderRadius: 12, border: '1px solid #E5E7EB', padding: 20 }}&gt;&#13;&#10;&lt;Text style={{ fontSize: 19, color: '#0E3F8C', fontWeight: 'bold', textAlign: 'left', lineHeight: 1.5 }}&gt;PDW/PCT 与直方图&lt;/Text&gt;&#13;&#10;&lt;Text style={{ fontSize: 17, color: '#2C3E50', textAlign: 'left', lineHeight: 1.62 }}&gt;PDW 反映体积异质性、PCT 为血小板压积；直方图右移/拖尾提示大血小板或聚集，左移提示碎片/小红细胞干扰——是审核数值前必看的“图形证据”。&lt;/Text&gt;&#13;&#10;  &lt;/Box&gt;&#13;&#10;  &lt;Box style={{ position: 'absolute', left: 64, top: 252, width: 562, height: 128, background: '#F0F5FC', borderRadius: 12, border: '1px solid #E5E7EB', padding: 20 }}&gt;&#13;&#10;&lt;Text style={{ fontSize: 19, color: '#0E3F8C', fontWeight: 'bold', textAlign: 'left', lineHeight: 1.5 }}&gt;解读边界&lt;/Text&gt;&#13;&#10;&lt;Text style={{ fontSize: 17, color: '#2C3E50', textAlign: 'left', lineHeight: 1.62 }}&gt;MPV/PDW 受标本储存时间、抗凝剂、仪器原理影响大，跨仪器不可比；其临床增量价值（如鉴别 ITP 与再障）有限，只能作为辅助线索而非诊断依据。&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衍生参数是“线索”不是“诊断”；对异常结果应回到直方图+涂片双核对。&lt;/Text&gt;&#13;&#10;  &lt;/Box&gt;&#13;&#10;&#13;&#10;  &lt;Box style={{ position: 'absolute', left: 64, top: 556, width: 1152, height: 92, background: '#F0F5FC', borderRadius: 12, border: '1px solid #E5E7EB', padding: 20 }}&gt;&#13;&#10;&lt;Text style={{ fontSize: 17, color: '#2C3E50', textAlign: 'left', lineHeight: 1.6 }}&gt;小结：Int J Lab Hematol 2007;29:4-20 (PMID 172240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44" name=""/>
          <p:cNvSpPr/>
          <p:nvPr/>
        </p:nvSpPr>
        <p:spPr>
          <a:xfrm rot="0" flipH="0" flipV="0">
            <a:off x="0" y="0"/>
            <a:ext cx="12192000" cy="6858000"/>
          </a:xfrm>
          <a:prstGeom prst="rect">
            <a:avLst/>
          </a:prstGeom>
          <a:solidFill>
            <a:srgbClr val="FFFFFF"/>
          </a:solidFill>
          <a:ln/>
        </p:spPr>
        <p:txBody>
          <a:bodyPr/>
          <a:p/>
        </p:txBody>
      </p:sp>
      <p:sp>
        <p:nvSpPr>
          <p:cNvPr id="45" name=""/>
          <p:cNvSpPr/>
          <p:nvPr/>
        </p:nvSpPr>
        <p:spPr>
          <a:xfrm rot="0" flipH="0" flipV="0">
            <a:off x="0" y="0"/>
            <a:ext cx="12192000" cy="685800"/>
          </a:xfrm>
          <a:prstGeom prst="rect">
            <a:avLst/>
          </a:prstGeom>
          <a:solidFill>
            <a:srgbClr val="0E3F8C"/>
          </a:solidFill>
          <a:ln/>
        </p:spPr>
        <p:txBody>
          <a:bodyPr/>
          <a:p/>
        </p:txBody>
      </p:sp>
      <p:sp>
        <p:nvSpPr>
          <p:cNvPr id="46"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47" name=""/>
          <p:cNvSpPr/>
          <p:nvPr/>
        </p:nvSpPr>
        <p:spPr>
          <a:xfrm rot="0" flipH="0" flipV="0">
            <a:off x="2876550" y="209550"/>
            <a:ext cx="9525" cy="228600"/>
          </a:xfrm>
          <a:prstGeom prst="rect">
            <a:avLst/>
          </a:prstGeom>
          <a:solidFill>
            <a:srgbClr val="3D7BD9"/>
          </a:solidFill>
          <a:ln/>
        </p:spPr>
        <p:txBody>
          <a:bodyPr/>
          <a:p/>
        </p:txBody>
      </p:sp>
      <p:sp>
        <p:nvSpPr>
          <p:cNvPr id="48" name="" descr="{&quot;isTemplate&quot;:true,&quot;type&quot;:&quot;text&quot;}"/>
          <p:cNvSpPr txBox="1"/>
          <p:nvPr/>
        </p:nvSpPr>
        <p:spPr>
          <a:xfrm rot="0" flipH="0" flipV="0">
            <a:off x="3038475" y="228600"/>
            <a:ext cx="3305175" cy="190500"/>
          </a:xfrm>
          <a:prstGeom prst="rect"/>
        </p:spPr>
        <p:txBody>
          <a:bodyPr wrap="none" lIns="0" tIns="0" rIns="0" bIns="0"/>
          <a:p>
            <a:pPr>
              <a:lnSpc>
                <a:spcPct val="100000"/>
              </a:lnSpc>
            </a:pPr>
            <a:r>
              <a:rPr lang="zh-CN" sz="1200">
                <a:solidFill>
                  <a:srgbClr val="C7D6EC"/>
                </a:solidFill>
                <a:latin typeface="Microsoft YaHei"/>
                <a:ea typeface="Microsoft YaHei"/>
              </a:rPr>
              <a:t>直方图与</a:t>
            </a:r>
            <a:r>
              <a:rPr lang="en-US" sz="1200">
                <a:solidFill>
                  <a:srgbClr val="C7D6EC"/>
                </a:solidFill>
                <a:latin typeface="Microsoft YaHei"/>
                <a:ea typeface="Microsoft YaHei"/>
              </a:rPr>
              <a:t> MPV/PDW/PCT</a:t>
            </a:r>
            <a:r>
              <a:rPr lang="zh-CN" sz="1200">
                <a:solidFill>
                  <a:srgbClr val="C7D6EC"/>
                </a:solidFill>
                <a:latin typeface="Microsoft YaHei"/>
                <a:ea typeface="Microsoft YaHei"/>
              </a:rPr>
              <a:t>：衍生参数的解读边界</a:t>
            </a:r>
            <a:endParaRPr/>
          </a:p>
        </p:txBody>
      </p:sp>
      <p:sp>
        <p:nvSpPr>
          <p:cNvPr id="49"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11 / 77</a:t>
            </a:r>
            <a:endParaRPr/>
          </a:p>
        </p:txBody>
      </p:sp>
      <p:sp>
        <p:nvSpPr>
          <p:cNvPr id="50"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1"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MPV</a:t>
            </a:r>
            <a:r>
              <a:rPr lang="zh-CN" sz="1425" b="1">
                <a:solidFill>
                  <a:srgbClr val="0E3F8C"/>
                </a:solidFill>
                <a:latin typeface="Microsoft YaHei"/>
                <a:ea typeface="Microsoft YaHei"/>
              </a:rPr>
              <a:t>（平均血小板体积）</a:t>
            </a:r>
            <a:endParaRPr/>
          </a:p>
        </p:txBody>
      </p:sp>
      <p:sp>
        <p:nvSpPr>
          <p:cNvPr id="52"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反映血小板平均大小：大血小板提示生成活跃（如</a:t>
            </a:r>
            <a:r>
              <a:rPr lang="en-US" sz="1275">
                <a:solidFill>
                  <a:srgbClr val="2C3E50"/>
                </a:solidFill>
                <a:latin typeface="Microsoft YaHei"/>
                <a:ea typeface="Microsoft YaHei"/>
              </a:rPr>
              <a:t> ITP</a:t>
            </a:r>
            <a:r>
              <a:rPr lang="zh-CN" sz="1275">
                <a:solidFill>
                  <a:srgbClr val="2C3E50"/>
                </a:solidFill>
                <a:latin typeface="Microsoft YaHei"/>
                <a:ea typeface="Microsoft YaHei"/>
              </a:rPr>
              <a:t>、恢复期）或存在巨血小板；但不同仪器参考区间不一，不能单凭</a:t>
            </a:r>
            <a:r>
              <a:rPr lang="en-US" sz="1275">
                <a:solidFill>
                  <a:srgbClr val="2C3E50"/>
                </a:solidFill>
                <a:latin typeface="Microsoft YaHei"/>
                <a:ea typeface="Microsoft YaHei"/>
              </a:rPr>
              <a:t> MPV </a:t>
            </a:r>
            <a:r>
              <a:rPr lang="zh-CN" sz="1275">
                <a:solidFill>
                  <a:srgbClr val="2C3E50"/>
                </a:solidFill>
                <a:latin typeface="Microsoft YaHei"/>
                <a:ea typeface="Microsoft YaHei"/>
              </a:rPr>
              <a:t>作诊断。</a:t>
            </a:r>
            <a:endParaRPr/>
          </a:p>
        </p:txBody>
      </p:sp>
      <p:sp>
        <p:nvSpPr>
          <p:cNvPr id="53"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4"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PDW/PCT </a:t>
            </a:r>
            <a:r>
              <a:rPr lang="zh-CN" sz="1425" b="1">
                <a:solidFill>
                  <a:srgbClr val="0E3F8C"/>
                </a:solidFill>
                <a:latin typeface="Microsoft YaHei"/>
                <a:ea typeface="Microsoft YaHei"/>
              </a:rPr>
              <a:t>与直方图</a:t>
            </a:r>
            <a:endParaRPr/>
          </a:p>
        </p:txBody>
      </p:sp>
      <p:sp>
        <p:nvSpPr>
          <p:cNvPr id="55"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PDW </a:t>
            </a:r>
            <a:r>
              <a:rPr lang="zh-CN" sz="1275">
                <a:solidFill>
                  <a:srgbClr val="2C3E50"/>
                </a:solidFill>
                <a:latin typeface="Microsoft YaHei"/>
                <a:ea typeface="Microsoft YaHei"/>
              </a:rPr>
              <a:t>反映体积异质性、</a:t>
            </a:r>
            <a:r>
              <a:rPr lang="en-US" sz="1275">
                <a:solidFill>
                  <a:srgbClr val="2C3E50"/>
                </a:solidFill>
                <a:latin typeface="Microsoft YaHei"/>
                <a:ea typeface="Microsoft YaHei"/>
              </a:rPr>
              <a:t>PCT </a:t>
            </a:r>
            <a:r>
              <a:rPr lang="zh-CN" sz="1275">
                <a:solidFill>
                  <a:srgbClr val="2C3E50"/>
                </a:solidFill>
                <a:latin typeface="Microsoft YaHei"/>
                <a:ea typeface="Microsoft YaHei"/>
              </a:rPr>
              <a:t>为血小板压积；直方图右移</a:t>
            </a:r>
            <a:r>
              <a:rPr lang="en-US" sz="1275">
                <a:solidFill>
                  <a:srgbClr val="2C3E50"/>
                </a:solidFill>
                <a:latin typeface="Microsoft YaHei"/>
                <a:ea typeface="Microsoft YaHei"/>
              </a:rPr>
              <a:t>/</a:t>
            </a:r>
            <a:r>
              <a:rPr lang="zh-CN" sz="1275">
                <a:solidFill>
                  <a:srgbClr val="2C3E50"/>
                </a:solidFill>
                <a:latin typeface="Microsoft YaHei"/>
                <a:ea typeface="Microsoft YaHei"/>
              </a:rPr>
              <a:t>拖尾提示大血小板或聚集，左移提示碎片</a:t>
            </a:r>
            <a:r>
              <a:rPr lang="en-US" sz="1275">
                <a:solidFill>
                  <a:srgbClr val="2C3E50"/>
                </a:solidFill>
                <a:latin typeface="Microsoft YaHei"/>
                <a:ea typeface="Microsoft YaHei"/>
              </a:rPr>
              <a:t>/</a:t>
            </a:r>
            <a:r>
              <a:rPr lang="zh-CN" sz="1275">
                <a:solidFill>
                  <a:srgbClr val="2C3E50"/>
                </a:solidFill>
                <a:latin typeface="Microsoft YaHei"/>
                <a:ea typeface="Microsoft YaHei"/>
              </a:rPr>
              <a:t>小红细胞干扰——是审核数值前必看的“图形证据”。</a:t>
            </a:r>
            <a:endParaRPr/>
          </a:p>
        </p:txBody>
      </p:sp>
      <p:sp>
        <p:nvSpPr>
          <p:cNvPr id="56"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7"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解读边界</a:t>
            </a:r>
            <a:endParaRPr/>
          </a:p>
        </p:txBody>
      </p:sp>
      <p:sp>
        <p:nvSpPr>
          <p:cNvPr id="58"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MPV/PDW </a:t>
            </a:r>
            <a:r>
              <a:rPr lang="zh-CN" sz="1275">
                <a:solidFill>
                  <a:srgbClr val="2C3E50"/>
                </a:solidFill>
                <a:latin typeface="Microsoft YaHei"/>
                <a:ea typeface="Microsoft YaHei"/>
              </a:rPr>
              <a:t>受标本储存时间、抗凝剂、仪器原理影响大，跨仪器不可比；其临床增量价值（如鉴别</a:t>
            </a:r>
            <a:r>
              <a:rPr lang="en-US" sz="1275">
                <a:solidFill>
                  <a:srgbClr val="2C3E50"/>
                </a:solidFill>
                <a:latin typeface="Microsoft YaHei"/>
                <a:ea typeface="Microsoft YaHei"/>
              </a:rPr>
              <a:t> ITP </a:t>
            </a:r>
            <a:r>
              <a:rPr lang="zh-CN" sz="1275">
                <a:solidFill>
                  <a:srgbClr val="2C3E50"/>
                </a:solidFill>
                <a:latin typeface="Microsoft YaHei"/>
                <a:ea typeface="Microsoft YaHei"/>
              </a:rPr>
              <a:t>与再障）有限，只能作为辅助线索而非诊断依据。</a:t>
            </a:r>
            <a:endParaRPr/>
          </a:p>
        </p:txBody>
      </p:sp>
      <p:sp>
        <p:nvSpPr>
          <p:cNvPr id="59"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0"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61"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62"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3"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衍生参数是“线索”不是“诊断”；对异常结果应回到直方图</a:t>
            </a:r>
            <a:r>
              <a:rPr lang="en-US" sz="1275">
                <a:solidFill>
                  <a:srgbClr val="2C3E50"/>
                </a:solidFill>
                <a:latin typeface="Microsoft YaHei"/>
                <a:ea typeface="Microsoft YaHei"/>
              </a:rPr>
              <a:t>+</a:t>
            </a:r>
            <a:r>
              <a:rPr lang="zh-CN" sz="1275">
                <a:solidFill>
                  <a:srgbClr val="2C3E50"/>
                </a:solidFill>
                <a:latin typeface="Microsoft YaHei"/>
                <a:ea typeface="Microsoft YaHei"/>
              </a:rPr>
              <a:t>涂片双核对。</a:t>
            </a:r>
            <a:endParaRPr/>
          </a:p>
        </p:txBody>
      </p:sp>
      <p:sp>
        <p:nvSpPr>
          <p:cNvPr id="64"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65"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Int J Lab Hematol 2007;29:4-20 (PMID 17224004)</a:t>
            </a:r>
            <a:endParaRPr/>
          </a:p>
        </p:txBody>
      </p:sp>
      <p:sp>
        <p:nvSpPr>
          <p:cNvPr id="66" name=""/>
          <p:cNvSpPr/>
          <p:nvPr/>
        </p:nvSpPr>
        <p:spPr>
          <a:xfrm rot="0" flipH="0" flipV="0">
            <a:off x="0" y="6324600"/>
            <a:ext cx="12192000" cy="342900"/>
          </a:xfrm>
          <a:prstGeom prst="rect">
            <a:avLst/>
          </a:prstGeom>
          <a:solidFill>
            <a:srgbClr val="F7F9FC"/>
          </a:solidFill>
          <a:ln/>
        </p:spPr>
        <p:txBody>
          <a:bodyPr/>
          <a:p/>
        </p:txBody>
      </p:sp>
      <p:sp>
        <p:nvSpPr>
          <p:cNvPr id="67"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6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2.xml><?xml version="1.0" encoding="utf-8"?>
<p:sld xmlns:p="http://schemas.openxmlformats.org/presentationml/2006/main" xmlns:a="http://schemas.openxmlformats.org/drawingml/2006/main">
  <p:cSld>
    <p:spTree>
      <p:nvGrpSpPr>
        <p:cNvPr id="69" name="" descr="&lt;Slide notes={`演讲者备注：【HOFFMANN-IPF】网织血小板/IPF 反映血小板生成活性：在化疗/移植后恢复预测、ITP 与再生障碍性血小板减少鉴别中具有临床价值，但方法间可比性仍受限。证据：Clin Chem Lab Med 2014;52:1107-1117，PMID 24807169。&#13;&#10;讲解提示：案例化讲解——AML 化疗后 PLT 15×10^9/L、IPF 12%：提示巨核细胞已恢复、即将回升，可暂缓预防性输注；反之 PLT 8、IPF 0.8% 提示仍在骨髓抑制期。这是“动态监测”的典型应用。`}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网织血小板与 IPF：血小板“年龄”的窗口&lt;/Text&gt;&#13;&#10;    &lt;/Box&gt;&#13;&#10;    &lt;Text style={{ position: 'absolute', right: 64, top: 24, fontSize: 15, color: '#9DB8E0' }}&gt;12 / 77&lt;/Text&gt;&#13;&#10;  &lt;/Box&gt;&#13;&#10;  &lt;Box style={{ position: 'absolute', left: 64, top: 96, width: 562, height: 128, background: '#F0F5FC', borderRadius: 12, border: '1px solid #E5E7EB', padding: 20 }}&gt;&#13;&#10;&lt;Text style={{ fontSize: 19, color: '#0E3F8C', fontWeight: 'bold', textAlign: 'left', lineHeight: 1.5 }}&gt;什么是 IPF&lt;/Text&gt;&#13;&#10;&lt;Text style={{ fontSize: 17, color: '#2C3E50', textAlign: 'left', lineHeight: 1.62 }}&gt;未成熟血小板（网织血小板）含残余 RNA，经核酸荧光染色可定量为未成熟血小板分数（IPF）；正常约 1—5%，生成活跃时升高。&lt;/Text&gt;&#13;&#10;  &lt;/Box&gt;&#13;&#10;  &lt;Box style={{ position: 'absolute', left: 654, top: 96, width: 562, height: 128, background: '#F0F5FC', borderRadius: 12, border: '1px solid #E5E7EB', padding: 20 }}&gt;&#13;&#10;&lt;Text style={{ fontSize: 19, color: '#0E3F8C', fontWeight: 'bold', textAlign: 'left', lineHeight: 1.5 }}&gt;临床价值&lt;/Text&gt;&#13;&#10;&lt;Text style={{ fontSize: 17, color: '#2C3E50', textAlign: 'left', lineHeight: 1.62 }}&gt;IPF 升高提示骨髓代偿性生成增加：支持 ITP（破坏为主）而再障/化疗（生成低下）时 IPF 多不高；化疗后 IPF 回升先于计数恢复，可预测血小板回升时机。&lt;/Text&gt;&#13;&#10;  &lt;/Box&gt;&#13;&#10;  &lt;Box style={{ position: 'absolute', left: 64, top: 252, width: 562, height: 128, background: '#F0F5FC', borderRadius: 12, border: '1px solid #E5E7EB', padding: 20 }}&gt;&#13;&#10;&lt;Text style={{ fontSize: 19, color: '#0E3F8C', fontWeight: 'bold', textAlign: 'left', lineHeight: 1.5 }}&gt;解读注意&lt;/Text&gt;&#13;&#10;&lt;Text style={{ fontSize: 17, color: '#2C3E50', textAlign: 'left', lineHeight: 1.62 }}&gt;IPF 各仪器算法与参考区间不同，需与计数结合、动态看趋势；单次低 IPF 不能排除早期恢复，动态监测意义更大（见第九章）。&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IPF 是把“生成活性”变成可测指标的实用工具，尤其适合化疗/移植后与鉴别诊断场景。&lt;/Text&gt;&#13;&#10;  &lt;/Box&gt;&#13;&#10;&#13;&#10;  &lt;Box style={{ position: 'absolute', left: 64, top: 556, width: 1152, height: 92, background: '#F0F5FC', borderRadius: 12, border: '1px solid #E5E7EB', padding: 20 }}&gt;&#13;&#10;&lt;Text style={{ fontSize: 17, color: '#2C3E50', textAlign: 'left', lineHeight: 1.6 }}&gt;小结：Clin Chem Lab Med 2014;52:1107-1117 (PMID 24807169)&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70" name=""/>
          <p:cNvSpPr/>
          <p:nvPr/>
        </p:nvSpPr>
        <p:spPr>
          <a:xfrm rot="0" flipH="0" flipV="0">
            <a:off x="0" y="0"/>
            <a:ext cx="12192000" cy="6858000"/>
          </a:xfrm>
          <a:prstGeom prst="rect">
            <a:avLst/>
          </a:prstGeom>
          <a:solidFill>
            <a:srgbClr val="FFFFFF"/>
          </a:solidFill>
          <a:ln/>
        </p:spPr>
        <p:txBody>
          <a:bodyPr/>
          <a:p/>
        </p:txBody>
      </p:sp>
      <p:sp>
        <p:nvSpPr>
          <p:cNvPr id="71" name=""/>
          <p:cNvSpPr/>
          <p:nvPr/>
        </p:nvSpPr>
        <p:spPr>
          <a:xfrm rot="0" flipH="0" flipV="0">
            <a:off x="0" y="0"/>
            <a:ext cx="12192000" cy="685800"/>
          </a:xfrm>
          <a:prstGeom prst="rect">
            <a:avLst/>
          </a:prstGeom>
          <a:solidFill>
            <a:srgbClr val="0E3F8C"/>
          </a:solidFill>
          <a:ln/>
        </p:spPr>
        <p:txBody>
          <a:bodyPr/>
          <a:p/>
        </p:txBody>
      </p:sp>
      <p:sp>
        <p:nvSpPr>
          <p:cNvPr id="72"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73" name=""/>
          <p:cNvSpPr/>
          <p:nvPr/>
        </p:nvSpPr>
        <p:spPr>
          <a:xfrm rot="0" flipH="0" flipV="0">
            <a:off x="2876550" y="209550"/>
            <a:ext cx="9525" cy="228600"/>
          </a:xfrm>
          <a:prstGeom prst="rect">
            <a:avLst/>
          </a:prstGeom>
          <a:solidFill>
            <a:srgbClr val="3D7BD9"/>
          </a:solidFill>
          <a:ln/>
        </p:spPr>
        <p:txBody>
          <a:bodyPr/>
          <a:p/>
        </p:txBody>
      </p:sp>
      <p:sp>
        <p:nvSpPr>
          <p:cNvPr id="74" name="" descr="{&quot;isTemplate&quot;:true,&quot;type&quot;:&quot;text&quot;}"/>
          <p:cNvSpPr txBox="1"/>
          <p:nvPr/>
        </p:nvSpPr>
        <p:spPr>
          <a:xfrm rot="0" flipH="0" flipV="0">
            <a:off x="3038475" y="228600"/>
            <a:ext cx="2857500" cy="190500"/>
          </a:xfrm>
          <a:prstGeom prst="rect"/>
        </p:spPr>
        <p:txBody>
          <a:bodyPr wrap="none" lIns="0" tIns="0" rIns="0" bIns="0"/>
          <a:p>
            <a:pPr>
              <a:lnSpc>
                <a:spcPct val="100000"/>
              </a:lnSpc>
            </a:pPr>
            <a:r>
              <a:rPr lang="zh-CN" sz="1200">
                <a:solidFill>
                  <a:srgbClr val="C7D6EC"/>
                </a:solidFill>
                <a:latin typeface="Microsoft YaHei"/>
                <a:ea typeface="Microsoft YaHei"/>
              </a:rPr>
              <a:t>网织血小板与</a:t>
            </a:r>
            <a:r>
              <a:rPr lang="en-US" sz="1200">
                <a:solidFill>
                  <a:srgbClr val="C7D6EC"/>
                </a:solidFill>
                <a:latin typeface="Microsoft YaHei"/>
                <a:ea typeface="Microsoft YaHei"/>
              </a:rPr>
              <a:t> IPF</a:t>
            </a:r>
            <a:r>
              <a:rPr lang="zh-CN" sz="1200">
                <a:solidFill>
                  <a:srgbClr val="C7D6EC"/>
                </a:solidFill>
                <a:latin typeface="Microsoft YaHei"/>
                <a:ea typeface="Microsoft YaHei"/>
              </a:rPr>
              <a:t>：血小板“年龄”的窗口</a:t>
            </a:r>
            <a:endParaRPr/>
          </a:p>
        </p:txBody>
      </p:sp>
      <p:sp>
        <p:nvSpPr>
          <p:cNvPr id="75"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12 / 77</a:t>
            </a:r>
            <a:endParaRPr/>
          </a:p>
        </p:txBody>
      </p:sp>
      <p:sp>
        <p:nvSpPr>
          <p:cNvPr id="76"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7"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什么是</a:t>
            </a:r>
            <a:r>
              <a:rPr lang="en-US" sz="1425" b="1">
                <a:solidFill>
                  <a:srgbClr val="0E3F8C"/>
                </a:solidFill>
                <a:latin typeface="Microsoft YaHei"/>
                <a:ea typeface="Microsoft YaHei"/>
              </a:rPr>
              <a:t> IPF</a:t>
            </a:r>
            <a:endParaRPr/>
          </a:p>
        </p:txBody>
      </p:sp>
      <p:sp>
        <p:nvSpPr>
          <p:cNvPr id="78"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未成熟血小板（网织血小板）含残余</a:t>
            </a:r>
            <a:r>
              <a:rPr lang="en-US" sz="1275">
                <a:solidFill>
                  <a:srgbClr val="2C3E50"/>
                </a:solidFill>
                <a:latin typeface="Microsoft YaHei"/>
                <a:ea typeface="Microsoft YaHei"/>
              </a:rPr>
              <a:t> RNA</a:t>
            </a:r>
            <a:r>
              <a:rPr lang="zh-CN" sz="1275">
                <a:solidFill>
                  <a:srgbClr val="2C3E50"/>
                </a:solidFill>
                <a:latin typeface="Microsoft YaHei"/>
                <a:ea typeface="Microsoft YaHei"/>
              </a:rPr>
              <a:t>，经核酸荧光染色可定量为未成熟血小板分数（</a:t>
            </a:r>
            <a:r>
              <a:rPr lang="en-US" sz="1275">
                <a:solidFill>
                  <a:srgbClr val="2C3E50"/>
                </a:solidFill>
                <a:latin typeface="Microsoft YaHei"/>
                <a:ea typeface="Microsoft YaHei"/>
              </a:rPr>
              <a:t>IPF</a:t>
            </a:r>
            <a:r>
              <a:rPr lang="zh-CN" sz="1275">
                <a:solidFill>
                  <a:srgbClr val="2C3E50"/>
                </a:solidFill>
                <a:latin typeface="Microsoft YaHei"/>
                <a:ea typeface="Microsoft YaHei"/>
              </a:rPr>
              <a:t>）；正常约</a:t>
            </a:r>
            <a:r>
              <a:rPr lang="en-US" sz="1275">
                <a:solidFill>
                  <a:srgbClr val="2C3E50"/>
                </a:solidFill>
                <a:latin typeface="Microsoft YaHei"/>
                <a:ea typeface="Microsoft YaHei"/>
              </a:rPr>
              <a:t> 1—5%</a:t>
            </a:r>
            <a:r>
              <a:rPr lang="zh-CN" sz="1275">
                <a:solidFill>
                  <a:srgbClr val="2C3E50"/>
                </a:solidFill>
                <a:latin typeface="Microsoft YaHei"/>
                <a:ea typeface="Microsoft YaHei"/>
              </a:rPr>
              <a:t>，生成活跃时升高。</a:t>
            </a:r>
            <a:endParaRPr/>
          </a:p>
        </p:txBody>
      </p:sp>
      <p:sp>
        <p:nvSpPr>
          <p:cNvPr id="79"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0"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临床价值</a:t>
            </a:r>
            <a:endParaRPr/>
          </a:p>
        </p:txBody>
      </p:sp>
      <p:sp>
        <p:nvSpPr>
          <p:cNvPr id="81"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IPF </a:t>
            </a:r>
            <a:r>
              <a:rPr lang="zh-CN" sz="1275">
                <a:solidFill>
                  <a:srgbClr val="2C3E50"/>
                </a:solidFill>
                <a:latin typeface="Microsoft YaHei"/>
                <a:ea typeface="Microsoft YaHei"/>
              </a:rPr>
              <a:t>升高提示骨髓代偿性生成增加：支持</a:t>
            </a:r>
            <a:r>
              <a:rPr lang="en-US" sz="1275">
                <a:solidFill>
                  <a:srgbClr val="2C3E50"/>
                </a:solidFill>
                <a:latin typeface="Microsoft YaHei"/>
                <a:ea typeface="Microsoft YaHei"/>
              </a:rPr>
              <a:t> ITP</a:t>
            </a:r>
            <a:r>
              <a:rPr lang="zh-CN" sz="1275">
                <a:solidFill>
                  <a:srgbClr val="2C3E50"/>
                </a:solidFill>
                <a:latin typeface="Microsoft YaHei"/>
                <a:ea typeface="Microsoft YaHei"/>
              </a:rPr>
              <a:t>（破坏为主）而再障</a:t>
            </a:r>
            <a:r>
              <a:rPr lang="en-US" sz="1275">
                <a:solidFill>
                  <a:srgbClr val="2C3E50"/>
                </a:solidFill>
                <a:latin typeface="Microsoft YaHei"/>
                <a:ea typeface="Microsoft YaHei"/>
              </a:rPr>
              <a:t>/</a:t>
            </a:r>
            <a:r>
              <a:rPr lang="zh-CN" sz="1275">
                <a:solidFill>
                  <a:srgbClr val="2C3E50"/>
                </a:solidFill>
                <a:latin typeface="Microsoft YaHei"/>
                <a:ea typeface="Microsoft YaHei"/>
              </a:rPr>
              <a:t>化疗（生成低下）时</a:t>
            </a:r>
            <a:r>
              <a:rPr lang="en-US" sz="1275">
                <a:solidFill>
                  <a:srgbClr val="2C3E50"/>
                </a:solidFill>
                <a:latin typeface="Microsoft YaHei"/>
                <a:ea typeface="Microsoft YaHei"/>
              </a:rPr>
              <a:t> IPF </a:t>
            </a:r>
            <a:r>
              <a:rPr lang="zh-CN" sz="1275">
                <a:solidFill>
                  <a:srgbClr val="2C3E50"/>
                </a:solidFill>
                <a:latin typeface="Microsoft YaHei"/>
                <a:ea typeface="Microsoft YaHei"/>
              </a:rPr>
              <a:t>多不高；化疗后</a:t>
            </a:r>
            <a:r>
              <a:rPr lang="en-US" sz="1275">
                <a:solidFill>
                  <a:srgbClr val="2C3E50"/>
                </a:solidFill>
                <a:latin typeface="Microsoft YaHei"/>
                <a:ea typeface="Microsoft YaHei"/>
              </a:rPr>
              <a:t> IPF </a:t>
            </a:r>
            <a:r>
              <a:rPr lang="zh-CN" sz="1275">
                <a:solidFill>
                  <a:srgbClr val="2C3E50"/>
                </a:solidFill>
                <a:latin typeface="Microsoft YaHei"/>
                <a:ea typeface="Microsoft YaHei"/>
              </a:rPr>
              <a:t>回升先于计数恢复，可预测血小板回升时机。</a:t>
            </a:r>
            <a:endParaRPr/>
          </a:p>
        </p:txBody>
      </p:sp>
      <p:sp>
        <p:nvSpPr>
          <p:cNvPr id="82"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3"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解读注意</a:t>
            </a:r>
            <a:endParaRPr/>
          </a:p>
        </p:txBody>
      </p:sp>
      <p:sp>
        <p:nvSpPr>
          <p:cNvPr id="84" name="" descr="{&quot;isTemplate&quot;:true,&quot;type&quot;:&quot;text&quot;}"/>
          <p:cNvSpPr txBox="1"/>
          <p:nvPr/>
        </p:nvSpPr>
        <p:spPr>
          <a:xfrm rot="0" flipH="0" flipV="0">
            <a:off x="800100" y="29241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IPF </a:t>
            </a:r>
            <a:r>
              <a:rPr lang="zh-CN" sz="1275">
                <a:solidFill>
                  <a:srgbClr val="2C3E50"/>
                </a:solidFill>
                <a:latin typeface="Microsoft YaHei"/>
                <a:ea typeface="Microsoft YaHei"/>
              </a:rPr>
              <a:t>各仪器算法与参考区间不同，需与计数结合、动态看趋势；单次低</a:t>
            </a:r>
            <a:r>
              <a:rPr lang="en-US" sz="1275">
                <a:solidFill>
                  <a:srgbClr val="2C3E50"/>
                </a:solidFill>
                <a:latin typeface="Microsoft YaHei"/>
                <a:ea typeface="Microsoft YaHei"/>
              </a:rPr>
              <a:t> IPF </a:t>
            </a:r>
            <a:r>
              <a:rPr lang="zh-CN" sz="1275">
                <a:solidFill>
                  <a:srgbClr val="2C3E50"/>
                </a:solidFill>
                <a:latin typeface="Microsoft YaHei"/>
                <a:ea typeface="Microsoft YaHei"/>
              </a:rPr>
              <a:t>不能排除早期恢复，动态监测意义更大（见第九章）。</a:t>
            </a:r>
            <a:endParaRPr/>
          </a:p>
        </p:txBody>
      </p:sp>
      <p:sp>
        <p:nvSpPr>
          <p:cNvPr id="85"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6"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87"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88"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9"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IPF </a:t>
            </a:r>
            <a:r>
              <a:rPr lang="zh-CN" sz="1275">
                <a:solidFill>
                  <a:srgbClr val="2C3E50"/>
                </a:solidFill>
                <a:latin typeface="Microsoft YaHei"/>
                <a:ea typeface="Microsoft YaHei"/>
              </a:rPr>
              <a:t>是把“生成活性”变成可测指标的实用工具，尤其适合化疗</a:t>
            </a:r>
            <a:r>
              <a:rPr lang="en-US" sz="1275">
                <a:solidFill>
                  <a:srgbClr val="2C3E50"/>
                </a:solidFill>
                <a:latin typeface="Microsoft YaHei"/>
                <a:ea typeface="Microsoft YaHei"/>
              </a:rPr>
              <a:t>/</a:t>
            </a:r>
            <a:r>
              <a:rPr lang="zh-CN" sz="1275">
                <a:solidFill>
                  <a:srgbClr val="2C3E50"/>
                </a:solidFill>
                <a:latin typeface="Microsoft YaHei"/>
                <a:ea typeface="Microsoft YaHei"/>
              </a:rPr>
              <a:t>移植后与鉴别诊断场景。</a:t>
            </a:r>
            <a:endParaRPr/>
          </a:p>
        </p:txBody>
      </p:sp>
      <p:sp>
        <p:nvSpPr>
          <p:cNvPr id="90"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91"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Clin Chem Lab Med 2014;52:1107-1117 (PMID 24807169)</a:t>
            </a:r>
            <a:endParaRPr/>
          </a:p>
        </p:txBody>
      </p:sp>
      <p:sp>
        <p:nvSpPr>
          <p:cNvPr id="92" name=""/>
          <p:cNvSpPr/>
          <p:nvPr/>
        </p:nvSpPr>
        <p:spPr>
          <a:xfrm rot="0" flipH="0" flipV="0">
            <a:off x="0" y="6324600"/>
            <a:ext cx="12192000" cy="342900"/>
          </a:xfrm>
          <a:prstGeom prst="rect">
            <a:avLst/>
          </a:prstGeom>
          <a:solidFill>
            <a:srgbClr val="F7F9FC"/>
          </a:solidFill>
          <a:ln/>
        </p:spPr>
        <p:txBody>
          <a:bodyPr/>
          <a:p/>
        </p:txBody>
      </p:sp>
      <p:sp>
        <p:nvSpPr>
          <p:cNvPr id="93"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94"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3.xml><?xml version="1.0" encoding="utf-8"?>
<p:sld xmlns:p="http://schemas.openxmlformats.org/presentationml/2006/main" xmlns:a="http://schemas.openxmlformats.org/drawingml/2006/main">
  <p:cSld>
    <p:spTree>
      <p:nvGrpSpPr>
        <p:cNvPr id="95" name="" descr="&lt;Slide notes={`演讲者备注：【BARNES-REVIEW41】国际血液学复检共识（41 条）：明确血小板计数触发涂片复检/人工核对的规则（如新发重度减少、仪器报警等），减少假性结果漏报。证据：Lab Hematol 2005;11:83-90，PMID 16024331。&#13;&#10;【ZANDECKI-SPUR】自动化血细胞分析仪血小板部分系统性综述：EDTA 依赖聚集、血小板卫星现象、大血小板漏计等假性结果常见，需直方图/散点图与涂片复检甄别。证据：Int J Lab Hematol 2007;29:4-20，PMID 17224004。&#13;&#10;讲解提示：临床医生视角——收到“血小板 30”的危急值时，先问检验科是否已复检涂片；若未复检可主动要求“涂片复核+换管复查”。这能在源头拦截大量 EDTA 假性减少（第五章案例 1）。`}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复检规则与血涂片核对：质量防线（41 条）&lt;/Text&gt;&#13;&#10;    &lt;/Box&gt;&#13;&#10;    &lt;Text style={{ position: 'absolute', right: 64, top: 24, fontSize: 15, color: '#9DB8E0' }}&gt;13 / 77&lt;/Text&gt;&#13;&#10;  &lt;/Box&gt;&#13;&#10;  &lt;Box style={{ position: 'absolute', left: 64, top: 96, width: 562, height: 128, background: '#F0F5FC', borderRadius: 12, border: '1px solid #E5E7EB', padding: 20 }}&gt;&#13;&#10;&lt;Text style={{ fontSize: 19, color: '#0E3F8C', fontWeight: 'bold', textAlign: 'left', lineHeight: 1.5 }}&gt;为什么要复检&lt;/Text&gt;&#13;&#10;&lt;Text style={{ fontSize: 17, color: '#2C3E50', textAlign: 'left', lineHeight: 1.62 }}&gt;自动化仅按体积/散射/荧光特征分类，无法识别聚集、卫星现象、肿瘤细胞碎片等；国际血液学复检共识（ICSH/ISLH 41 条）列出触发人工复检的规则。&lt;/Text&gt;&#13;&#10;  &lt;/Box&gt;&#13;&#10;  &lt;Box style={{ position: 'absolute', left: 654, top: 96, width: 562, height: 128, background: '#F0F5FC', borderRadius: 12, border: '1px solid #E5E7EB', padding: 20 }}&gt;&#13;&#10;&lt;Text style={{ fontSize: 19, color: '#0E3F8C', fontWeight: 'bold', textAlign: 'left', lineHeight: 1.5 }}&gt;典型触发情形&lt;/Text&gt;&#13;&#10;&lt;Text style={{ fontSize: 17, color: '#2C3E50', textAlign: 'left', lineHeight: 1.62 }}&gt;包括：首次血小板 &amp;lt;100×10^9/L 或 &amp;gt;1000×10^9/L、较前次显著下降（Δ变化）、仪器血小板聚集/大血小板报警、直方图异常、临床信息不符等。&lt;/Text&gt;&#13;&#10;  &lt;/Box&gt;&#13;&#10;  &lt;Box style={{ position: 'absolute', left: 64, top: 252, width: 562, height: 128, background: '#F0F5FC', borderRadius: 12, border: '1px solid #E5E7EB', padding: 20 }}&gt;&#13;&#10;&lt;Text style={{ fontSize: 19, color: '#0E3F8C', fontWeight: 'bold', textAlign: 'left', lineHeight: 1.5 }}&gt;复检内容&lt;/Text&gt;&#13;&#10;&lt;Text style={{ fontSize: 17, color: '#2C3E50', textAlign: 'left', lineHeight: 1.62 }}&gt;血涂片油镜估数、观察聚集与卫星现象、核对直方图，必要时换抗凝管或改用光学/免疫通道重测；实验室应以 SOP 固化“先复检后报告”流程。&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41 条复检规则是把“人机结合”变成制度：减少假性危急值，也减少漏报。&lt;/Text&gt;&#13;&#10;  &lt;/Box&gt;&#13;&#10;&#13;&#10;  &lt;Box style={{ position: 'absolute', left: 64, top: 556, width: 1152, height: 92, background: '#F0F5FC', borderRadius: 12, border: '1px solid #E5E7EB', padding: 20 }}&gt;&#13;&#10;&lt;Text style={{ fontSize: 17, color: '#2C3E50', textAlign: 'left', lineHeight: 1.6 }}&gt;小结：Lab Hematol 2005;11:83-90 (PMID 1602433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96" name=""/>
          <p:cNvSpPr/>
          <p:nvPr/>
        </p:nvSpPr>
        <p:spPr>
          <a:xfrm rot="0" flipH="0" flipV="0">
            <a:off x="0" y="0"/>
            <a:ext cx="12192000" cy="6858000"/>
          </a:xfrm>
          <a:prstGeom prst="rect">
            <a:avLst/>
          </a:prstGeom>
          <a:solidFill>
            <a:srgbClr val="FFFFFF"/>
          </a:solidFill>
          <a:ln/>
        </p:spPr>
        <p:txBody>
          <a:bodyPr/>
          <a:p/>
        </p:txBody>
      </p:sp>
      <p:sp>
        <p:nvSpPr>
          <p:cNvPr id="97" name=""/>
          <p:cNvSpPr/>
          <p:nvPr/>
        </p:nvSpPr>
        <p:spPr>
          <a:xfrm rot="0" flipH="0" flipV="0">
            <a:off x="0" y="0"/>
            <a:ext cx="12192000" cy="685800"/>
          </a:xfrm>
          <a:prstGeom prst="rect">
            <a:avLst/>
          </a:prstGeom>
          <a:solidFill>
            <a:srgbClr val="0E3F8C"/>
          </a:solidFill>
          <a:ln/>
        </p:spPr>
        <p:txBody>
          <a:bodyPr/>
          <a:p/>
        </p:txBody>
      </p:sp>
      <p:sp>
        <p:nvSpPr>
          <p:cNvPr id="98"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99" name=""/>
          <p:cNvSpPr/>
          <p:nvPr/>
        </p:nvSpPr>
        <p:spPr>
          <a:xfrm rot="0" flipH="0" flipV="0">
            <a:off x="2876550" y="209550"/>
            <a:ext cx="9525" cy="228600"/>
          </a:xfrm>
          <a:prstGeom prst="rect">
            <a:avLst/>
          </a:prstGeom>
          <a:solidFill>
            <a:srgbClr val="3D7BD9"/>
          </a:solidFill>
          <a:ln/>
        </p:spPr>
        <p:txBody>
          <a:bodyPr/>
          <a:p/>
        </p:txBody>
      </p:sp>
      <p:sp>
        <p:nvSpPr>
          <p:cNvPr id="100" name="" descr="{&quot;isTemplate&quot;:true,&quot;type&quot;:&quot;text&quot;}"/>
          <p:cNvSpPr txBox="1"/>
          <p:nvPr/>
        </p:nvSpPr>
        <p:spPr>
          <a:xfrm rot="0" flipH="0" flipV="0">
            <a:off x="3038475" y="228600"/>
            <a:ext cx="2971800" cy="190500"/>
          </a:xfrm>
          <a:prstGeom prst="rect"/>
        </p:spPr>
        <p:txBody>
          <a:bodyPr wrap="none" lIns="0" tIns="0" rIns="0" bIns="0"/>
          <a:p>
            <a:pPr>
              <a:lnSpc>
                <a:spcPct val="100000"/>
              </a:lnSpc>
            </a:pPr>
            <a:r>
              <a:rPr lang="zh-CN" sz="1200">
                <a:solidFill>
                  <a:srgbClr val="C7D6EC"/>
                </a:solidFill>
                <a:latin typeface="Microsoft YaHei"/>
                <a:ea typeface="Microsoft YaHei"/>
              </a:rPr>
              <a:t>复检规则与血涂片核对：质量防线（</a:t>
            </a:r>
            <a:r>
              <a:rPr lang="en-US" sz="1200">
                <a:solidFill>
                  <a:srgbClr val="C7D6EC"/>
                </a:solidFill>
                <a:latin typeface="Microsoft YaHei"/>
                <a:ea typeface="Microsoft YaHei"/>
              </a:rPr>
              <a:t>41 </a:t>
            </a:r>
            <a:r>
              <a:rPr lang="zh-CN" sz="1200">
                <a:solidFill>
                  <a:srgbClr val="C7D6EC"/>
                </a:solidFill>
                <a:latin typeface="Microsoft YaHei"/>
                <a:ea typeface="Microsoft YaHei"/>
              </a:rPr>
              <a:t>条）</a:t>
            </a:r>
            <a:endParaRPr/>
          </a:p>
        </p:txBody>
      </p:sp>
      <p:sp>
        <p:nvSpPr>
          <p:cNvPr id="10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13 / 77</a:t>
            </a:r>
            <a:endParaRPr/>
          </a:p>
        </p:txBody>
      </p:sp>
      <p:sp>
        <p:nvSpPr>
          <p:cNvPr id="102"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为什么要复检</a:t>
            </a:r>
            <a:endParaRPr/>
          </a:p>
        </p:txBody>
      </p:sp>
      <p:sp>
        <p:nvSpPr>
          <p:cNvPr id="104"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自动化仅按体积</a:t>
            </a:r>
            <a:r>
              <a:rPr lang="en-US" sz="1275">
                <a:solidFill>
                  <a:srgbClr val="2C3E50"/>
                </a:solidFill>
                <a:latin typeface="Microsoft YaHei"/>
                <a:ea typeface="Microsoft YaHei"/>
              </a:rPr>
              <a:t>/</a:t>
            </a:r>
            <a:r>
              <a:rPr lang="zh-CN" sz="1275">
                <a:solidFill>
                  <a:srgbClr val="2C3E50"/>
                </a:solidFill>
                <a:latin typeface="Microsoft YaHei"/>
                <a:ea typeface="Microsoft YaHei"/>
              </a:rPr>
              <a:t>散射</a:t>
            </a:r>
            <a:r>
              <a:rPr lang="en-US" sz="1275">
                <a:solidFill>
                  <a:srgbClr val="2C3E50"/>
                </a:solidFill>
                <a:latin typeface="Microsoft YaHei"/>
                <a:ea typeface="Microsoft YaHei"/>
              </a:rPr>
              <a:t>/</a:t>
            </a:r>
            <a:r>
              <a:rPr lang="zh-CN" sz="1275">
                <a:solidFill>
                  <a:srgbClr val="2C3E50"/>
                </a:solidFill>
                <a:latin typeface="Microsoft YaHei"/>
                <a:ea typeface="Microsoft YaHei"/>
              </a:rPr>
              <a:t>荧光特征分类，无法识别聚集、卫星现象、肿瘤细胞碎片等；国际血液学复检共识（</a:t>
            </a:r>
            <a:r>
              <a:rPr lang="en-US" sz="1275">
                <a:solidFill>
                  <a:srgbClr val="2C3E50"/>
                </a:solidFill>
                <a:latin typeface="Microsoft YaHei"/>
                <a:ea typeface="Microsoft YaHei"/>
              </a:rPr>
              <a:t>ICSH/ISLH 41 </a:t>
            </a:r>
            <a:r>
              <a:rPr lang="zh-CN" sz="1275">
                <a:solidFill>
                  <a:srgbClr val="2C3E50"/>
                </a:solidFill>
                <a:latin typeface="Microsoft YaHei"/>
                <a:ea typeface="Microsoft YaHei"/>
              </a:rPr>
              <a:t>条）列出触发人工复检的规则。</a:t>
            </a:r>
            <a:endParaRPr/>
          </a:p>
        </p:txBody>
      </p:sp>
      <p:sp>
        <p:nvSpPr>
          <p:cNvPr id="105"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典型触发情形</a:t>
            </a:r>
            <a:endParaRPr/>
          </a:p>
        </p:txBody>
      </p:sp>
      <p:sp>
        <p:nvSpPr>
          <p:cNvPr id="107"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包括：首次血小板</a:t>
            </a:r>
            <a:r>
              <a:rPr lang="en-US" sz="1275">
                <a:solidFill>
                  <a:srgbClr val="2C3E50"/>
                </a:solidFill>
                <a:latin typeface="Microsoft YaHei"/>
                <a:ea typeface="Microsoft YaHei"/>
              </a:rPr>
              <a:t> &lt;100×10^9/L </a:t>
            </a:r>
            <a:r>
              <a:rPr lang="zh-CN" sz="1275">
                <a:solidFill>
                  <a:srgbClr val="2C3E50"/>
                </a:solidFill>
                <a:latin typeface="Microsoft YaHei"/>
                <a:ea typeface="Microsoft YaHei"/>
              </a:rPr>
              <a:t>或</a:t>
            </a:r>
            <a:r>
              <a:rPr lang="en-US" sz="1275">
                <a:solidFill>
                  <a:srgbClr val="2C3E50"/>
                </a:solidFill>
                <a:latin typeface="Microsoft YaHei"/>
                <a:ea typeface="Microsoft YaHei"/>
              </a:rPr>
              <a:t> &gt;1000×10^9/L</a:t>
            </a:r>
            <a:r>
              <a:rPr lang="zh-CN" sz="1275">
                <a:solidFill>
                  <a:srgbClr val="2C3E50"/>
                </a:solidFill>
                <a:latin typeface="Microsoft YaHei"/>
                <a:ea typeface="Microsoft YaHei"/>
              </a:rPr>
              <a:t>、较前次显著下降（Δ变化）、仪器血小板聚集</a:t>
            </a:r>
            <a:r>
              <a:rPr lang="en-US" sz="1275">
                <a:solidFill>
                  <a:srgbClr val="2C3E50"/>
                </a:solidFill>
                <a:latin typeface="Microsoft YaHei"/>
                <a:ea typeface="Microsoft YaHei"/>
              </a:rPr>
              <a:t>/</a:t>
            </a:r>
            <a:r>
              <a:rPr lang="zh-CN" sz="1275">
                <a:solidFill>
                  <a:srgbClr val="2C3E50"/>
                </a:solidFill>
                <a:latin typeface="Microsoft YaHei"/>
                <a:ea typeface="Microsoft YaHei"/>
              </a:rPr>
              <a:t>大血小板报警、直方图异常、临床信息不符等。</a:t>
            </a:r>
            <a:endParaRPr/>
          </a:p>
        </p:txBody>
      </p:sp>
      <p:sp>
        <p:nvSpPr>
          <p:cNvPr id="108"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9"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复检内容</a:t>
            </a:r>
            <a:endParaRPr/>
          </a:p>
        </p:txBody>
      </p:sp>
      <p:sp>
        <p:nvSpPr>
          <p:cNvPr id="110"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血涂片油镜估数、观察聚集与卫星现象、核对直方图，必要时换抗凝管或改用光学</a:t>
            </a:r>
            <a:r>
              <a:rPr lang="en-US" sz="1275">
                <a:solidFill>
                  <a:srgbClr val="2C3E50"/>
                </a:solidFill>
                <a:latin typeface="Microsoft YaHei"/>
                <a:ea typeface="Microsoft YaHei"/>
              </a:rPr>
              <a:t>/</a:t>
            </a:r>
            <a:r>
              <a:rPr lang="zh-CN" sz="1275">
                <a:solidFill>
                  <a:srgbClr val="2C3E50"/>
                </a:solidFill>
                <a:latin typeface="Microsoft YaHei"/>
                <a:ea typeface="Microsoft YaHei"/>
              </a:rPr>
              <a:t>免疫通道重测；实验室应以</a:t>
            </a:r>
            <a:r>
              <a:rPr lang="en-US" sz="1275">
                <a:solidFill>
                  <a:srgbClr val="2C3E50"/>
                </a:solidFill>
                <a:latin typeface="Microsoft YaHei"/>
                <a:ea typeface="Microsoft YaHei"/>
              </a:rPr>
              <a:t> SOP </a:t>
            </a:r>
            <a:r>
              <a:rPr lang="zh-CN" sz="1275">
                <a:solidFill>
                  <a:srgbClr val="2C3E50"/>
                </a:solidFill>
                <a:latin typeface="Microsoft YaHei"/>
                <a:ea typeface="Microsoft YaHei"/>
              </a:rPr>
              <a:t>固化“先复检后报告”流程。</a:t>
            </a:r>
            <a:endParaRPr/>
          </a:p>
        </p:txBody>
      </p:sp>
      <p:sp>
        <p:nvSpPr>
          <p:cNvPr id="111"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2"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13"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14"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5"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41 </a:t>
            </a:r>
            <a:r>
              <a:rPr lang="zh-CN" sz="1275">
                <a:solidFill>
                  <a:srgbClr val="2C3E50"/>
                </a:solidFill>
                <a:latin typeface="Microsoft YaHei"/>
                <a:ea typeface="Microsoft YaHei"/>
              </a:rPr>
              <a:t>条复检规则是把“人机结合”变成制度：减少假性危急值，也减少漏报。</a:t>
            </a:r>
            <a:endParaRPr/>
          </a:p>
        </p:txBody>
      </p:sp>
      <p:sp>
        <p:nvSpPr>
          <p:cNvPr id="11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1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Lab Hematol 2005;11:83-90 (PMID 16024331)</a:t>
            </a:r>
            <a:endParaRPr/>
          </a:p>
        </p:txBody>
      </p:sp>
      <p:sp>
        <p:nvSpPr>
          <p:cNvPr id="118" name=""/>
          <p:cNvSpPr/>
          <p:nvPr/>
        </p:nvSpPr>
        <p:spPr>
          <a:xfrm rot="0" flipH="0" flipV="0">
            <a:off x="0" y="6324600"/>
            <a:ext cx="12192000" cy="342900"/>
          </a:xfrm>
          <a:prstGeom prst="rect">
            <a:avLst/>
          </a:prstGeom>
          <a:solidFill>
            <a:srgbClr val="F7F9FC"/>
          </a:solidFill>
          <a:ln/>
        </p:spPr>
        <p:txBody>
          <a:bodyPr/>
          <a:p/>
        </p:txBody>
      </p:sp>
      <p:sp>
        <p:nvSpPr>
          <p:cNvPr id="11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2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4.xml><?xml version="1.0" encoding="utf-8"?>
<p:sld xmlns:p="http://schemas.openxmlformats.org/presentationml/2006/main" xmlns:a="http://schemas.openxmlformats.org/drawingml/2006/main">
  <p:cSld>
    <p:spTree>
      <p:nvGrpSpPr>
        <p:cNvPr id="121" name="" descr="&lt;Slide notes={`演讲者备注：【BIINO-RANGE】意大利 40987 人大样本显示血小板计数参考区间随年龄与性别显著变异（女性更低、随年龄下降），提出年龄/性别分层参考范围。证据：PLoS One 2013;8:e54289，PMID 23382888。&#13;&#10;讲解提示：抛出问题——“血小板 145 是病吗？”答案：多数不是，要看变化与场景。第四、九章将给出分级阈值与 Δ 变化规则，这里先建立“参考区间≠治疗阈值”的观念。`}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二章 计数方法与参数解读&lt;/Text&gt;&#13;&#10;      &lt;Box style={{ width: 1, height: 24, background: '#3D7BD9' }} /&gt;&#13;&#10;      &lt;Text style={{ fontSize: 16, color: '#C7D6EC' }}&gt;参考区间：从“150 起”到分层解读&lt;/Text&gt;&#13;&#10;    &lt;/Box&gt;&#13;&#10;    &lt;Text style={{ position: 'absolute', right: 64, top: 24, fontSize: 15, color: '#9DB8E0' }}&gt;14 / 77&lt;/Text&gt;&#13;&#10;  &lt;/Box&gt;&#13;&#10;  &lt;Box style={{ position: 'absolute', left: 64, top: 96, width: 562, height: 128, background: '#F0F5FC', borderRadius: 12, border: '1px solid #E5E7EB', padding: 20 }}&gt;&#13;&#10;&lt;Text style={{ fontSize: 19, color: '#0E3F8C', fontWeight: 'bold', textAlign: 'left', lineHeight: 1.5 }}&gt;经典范围&lt;/Text&gt;&#13;&#10;&lt;Text style={{ fontSize: 17, color: '#2C3E50', textAlign: 'left', lineHeight: 1.62 }}&gt;传统血小板参考区间多为 150–350 或 150–450×10^9/L；&amp;lt;150 定义为血小板减少，&amp;gt;450 为增多——但这只是人群统计切点，不是生物学“安全线”。&lt;/Text&gt;&#13;&#10;  &lt;/Box&gt;&#13;&#10;  &lt;Box style={{ position: 'absolute', left: 654, top: 96, width: 562, height: 128, background: '#F0F5FC', borderRadius: 12, border: '1px solid #E5E7EB', padding: 20 }}&gt;&#13;&#10;&lt;Text style={{ fontSize: 19, color: '#0E3F8C', fontWeight: 'bold', textAlign: 'left', lineHeight: 1.5 }}&gt;年龄/性别变异&lt;/Text&gt;&#13;&#10;&lt;Text style={{ fontSize: 17, color: '#2C3E50', textAlign: 'left', lineHeight: 1.62 }}&gt;大样本（如意大利 4 万余人研究）显示：女性计数低于男性且随年龄下降更快；老年与儿童各有分布差异，提示一刀切参考区间会误分层。&lt;/Text&gt;&#13;&#10;  &lt;/Box&gt;&#13;&#10;  &lt;Box style={{ position: 'absolute', left: 64, top: 252, width: 562, height: 128, background: '#F0F5FC', borderRadius: 12, border: '1px solid #E5E7EB', padding: 20 }}&gt;&#13;&#10;&lt;Text style={{ fontSize: 19, color: '#0E3F8C', fontWeight: 'bold', textAlign: 'left', lineHeight: 1.5 }}&gt;解读原则&lt;/Text&gt;&#13;&#10;&lt;Text style={{ fontSize: 17, color: '#2C3E50', textAlign: 'left', lineHeight: 1.62 }}&gt;对个体而言，比“是否在参考区间内”更重要的是“相对其基线的变化趋势”；妊娠、脾功能、海拔、药物等均造成生理性偏移（分见各场景章节）。&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参考区间用于筛查报警，临床决策请用“个体基线+变化速率+场景阈值”。&lt;/Text&gt;&#13;&#10;  &lt;/Box&gt;&#13;&#10;&#13;&#10;  &lt;Box style={{ position: 'absolute', left: 64, top: 556, width: 1152, height: 92, background: '#F0F5FC', borderRadius: 12, border: '1px solid #E5E7EB', padding: 20 }}&gt;&#13;&#10;&lt;Text style={{ fontSize: 17, color: '#2C3E50', textAlign: 'left', lineHeight: 1.6 }}&gt;小结：PLoS One 2013;8:e54289 (PMID 23382888)&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22" name=""/>
          <p:cNvSpPr/>
          <p:nvPr/>
        </p:nvSpPr>
        <p:spPr>
          <a:xfrm rot="0" flipH="0" flipV="0">
            <a:off x="0" y="0"/>
            <a:ext cx="12192000" cy="6858000"/>
          </a:xfrm>
          <a:prstGeom prst="rect">
            <a:avLst/>
          </a:prstGeom>
          <a:solidFill>
            <a:srgbClr val="FFFFFF"/>
          </a:solidFill>
          <a:ln/>
        </p:spPr>
        <p:txBody>
          <a:bodyPr/>
          <a:p/>
        </p:txBody>
      </p:sp>
      <p:sp>
        <p:nvSpPr>
          <p:cNvPr id="123" name=""/>
          <p:cNvSpPr/>
          <p:nvPr/>
        </p:nvSpPr>
        <p:spPr>
          <a:xfrm rot="0" flipH="0" flipV="0">
            <a:off x="0" y="0"/>
            <a:ext cx="12192000" cy="685800"/>
          </a:xfrm>
          <a:prstGeom prst="rect">
            <a:avLst/>
          </a:prstGeom>
          <a:solidFill>
            <a:srgbClr val="0E3F8C"/>
          </a:solidFill>
          <a:ln/>
        </p:spPr>
        <p:txBody>
          <a:bodyPr/>
          <a:p/>
        </p:txBody>
      </p:sp>
      <p:sp>
        <p:nvSpPr>
          <p:cNvPr id="124"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计数方法与参数解读</a:t>
            </a:r>
            <a:endParaRPr/>
          </a:p>
        </p:txBody>
      </p:sp>
      <p:sp>
        <p:nvSpPr>
          <p:cNvPr id="125" name=""/>
          <p:cNvSpPr/>
          <p:nvPr/>
        </p:nvSpPr>
        <p:spPr>
          <a:xfrm rot="0" flipH="0" flipV="0">
            <a:off x="2876550" y="209550"/>
            <a:ext cx="9525" cy="228600"/>
          </a:xfrm>
          <a:prstGeom prst="rect">
            <a:avLst/>
          </a:prstGeom>
          <a:solidFill>
            <a:srgbClr val="3D7BD9"/>
          </a:solidFill>
          <a:ln/>
        </p:spPr>
        <p:txBody>
          <a:bodyPr/>
          <a:p/>
        </p:txBody>
      </p:sp>
      <p:sp>
        <p:nvSpPr>
          <p:cNvPr id="126" name="" descr="{&quot;isTemplate&quot;:true,&quot;type&quot;:&quot;text&quot;}"/>
          <p:cNvSpPr txBox="1"/>
          <p:nvPr/>
        </p:nvSpPr>
        <p:spPr>
          <a:xfrm rot="0" flipH="0" flipV="0">
            <a:off x="3038475" y="228600"/>
            <a:ext cx="2447925" cy="190500"/>
          </a:xfrm>
          <a:prstGeom prst="rect"/>
        </p:spPr>
        <p:txBody>
          <a:bodyPr wrap="none" lIns="0" tIns="0" rIns="0" bIns="0"/>
          <a:p>
            <a:pPr>
              <a:lnSpc>
                <a:spcPct val="100000"/>
              </a:lnSpc>
            </a:pPr>
            <a:r>
              <a:rPr lang="zh-CN" sz="1200">
                <a:solidFill>
                  <a:srgbClr val="C7D6EC"/>
                </a:solidFill>
                <a:latin typeface="Microsoft YaHei"/>
                <a:ea typeface="Microsoft YaHei"/>
              </a:rPr>
              <a:t>参考区间：从“</a:t>
            </a:r>
            <a:r>
              <a:rPr lang="en-US" sz="1200">
                <a:solidFill>
                  <a:srgbClr val="C7D6EC"/>
                </a:solidFill>
                <a:latin typeface="Microsoft YaHei"/>
                <a:ea typeface="Microsoft YaHei"/>
              </a:rPr>
              <a:t>150 </a:t>
            </a:r>
            <a:r>
              <a:rPr lang="zh-CN" sz="1200">
                <a:solidFill>
                  <a:srgbClr val="C7D6EC"/>
                </a:solidFill>
                <a:latin typeface="Microsoft YaHei"/>
                <a:ea typeface="Microsoft YaHei"/>
              </a:rPr>
              <a:t>起”到分层解读</a:t>
            </a:r>
            <a:endParaRPr/>
          </a:p>
        </p:txBody>
      </p:sp>
      <p:sp>
        <p:nvSpPr>
          <p:cNvPr id="12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14 / 77</a:t>
            </a:r>
            <a:endParaRPr/>
          </a:p>
        </p:txBody>
      </p:sp>
      <p:sp>
        <p:nvSpPr>
          <p:cNvPr id="12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经典范围</a:t>
            </a:r>
            <a:endParaRPr/>
          </a:p>
        </p:txBody>
      </p:sp>
      <p:sp>
        <p:nvSpPr>
          <p:cNvPr id="130"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传统血小板参考区间多为</a:t>
            </a:r>
            <a:r>
              <a:rPr lang="en-US" sz="1275">
                <a:solidFill>
                  <a:srgbClr val="2C3E50"/>
                </a:solidFill>
                <a:latin typeface="Microsoft YaHei"/>
                <a:ea typeface="Microsoft YaHei"/>
              </a:rPr>
              <a:t> 150–350 </a:t>
            </a:r>
            <a:r>
              <a:rPr lang="zh-CN" sz="1275">
                <a:solidFill>
                  <a:srgbClr val="2C3E50"/>
                </a:solidFill>
                <a:latin typeface="Microsoft YaHei"/>
                <a:ea typeface="Microsoft YaHei"/>
              </a:rPr>
              <a:t>或</a:t>
            </a:r>
            <a:r>
              <a:rPr lang="en-US" sz="1275">
                <a:solidFill>
                  <a:srgbClr val="2C3E50"/>
                </a:solidFill>
                <a:latin typeface="Microsoft YaHei"/>
                <a:ea typeface="Microsoft YaHei"/>
              </a:rPr>
              <a:t> 150–450×10^9/L</a:t>
            </a:r>
            <a:r>
              <a:rPr lang="zh-CN" sz="1275">
                <a:solidFill>
                  <a:srgbClr val="2C3E50"/>
                </a:solidFill>
                <a:latin typeface="Microsoft YaHei"/>
                <a:ea typeface="Microsoft YaHei"/>
              </a:rPr>
              <a:t>；</a:t>
            </a:r>
            <a:r>
              <a:rPr lang="en-US" sz="1275">
                <a:solidFill>
                  <a:srgbClr val="2C3E50"/>
                </a:solidFill>
                <a:latin typeface="Microsoft YaHei"/>
                <a:ea typeface="Microsoft YaHei"/>
              </a:rPr>
              <a:t>&lt;150 </a:t>
            </a:r>
            <a:r>
              <a:rPr lang="zh-CN" sz="1275">
                <a:solidFill>
                  <a:srgbClr val="2C3E50"/>
                </a:solidFill>
                <a:latin typeface="Microsoft YaHei"/>
                <a:ea typeface="Microsoft YaHei"/>
              </a:rPr>
              <a:t>定义为血小板减少，</a:t>
            </a:r>
            <a:r>
              <a:rPr lang="en-US" sz="1275">
                <a:solidFill>
                  <a:srgbClr val="2C3E50"/>
                </a:solidFill>
                <a:latin typeface="Microsoft YaHei"/>
                <a:ea typeface="Microsoft YaHei"/>
              </a:rPr>
              <a:t>&gt;450 </a:t>
            </a:r>
            <a:r>
              <a:rPr lang="zh-CN" sz="1275">
                <a:solidFill>
                  <a:srgbClr val="2C3E50"/>
                </a:solidFill>
                <a:latin typeface="Microsoft YaHei"/>
                <a:ea typeface="Microsoft YaHei"/>
              </a:rPr>
              <a:t>为增多——但这只是人群统计切点，不是生物学“安全线”。</a:t>
            </a:r>
            <a:endParaRPr/>
          </a:p>
        </p:txBody>
      </p:sp>
      <p:sp>
        <p:nvSpPr>
          <p:cNvPr id="13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年龄</a:t>
            </a:r>
            <a:r>
              <a:rPr lang="en-US" sz="1425" b="1">
                <a:solidFill>
                  <a:srgbClr val="0E3F8C"/>
                </a:solidFill>
                <a:latin typeface="Microsoft YaHei"/>
                <a:ea typeface="Microsoft YaHei"/>
              </a:rPr>
              <a:t>/</a:t>
            </a:r>
            <a:r>
              <a:rPr lang="zh-CN" sz="1425" b="1">
                <a:solidFill>
                  <a:srgbClr val="0E3F8C"/>
                </a:solidFill>
                <a:latin typeface="Microsoft YaHei"/>
                <a:ea typeface="Microsoft YaHei"/>
              </a:rPr>
              <a:t>性别变异</a:t>
            </a:r>
            <a:endParaRPr/>
          </a:p>
        </p:txBody>
      </p:sp>
      <p:sp>
        <p:nvSpPr>
          <p:cNvPr id="133"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大样本（如意大利</a:t>
            </a:r>
            <a:r>
              <a:rPr lang="en-US" sz="1275">
                <a:solidFill>
                  <a:srgbClr val="2C3E50"/>
                </a:solidFill>
                <a:latin typeface="Microsoft YaHei"/>
                <a:ea typeface="Microsoft YaHei"/>
              </a:rPr>
              <a:t> 4 </a:t>
            </a:r>
            <a:r>
              <a:rPr lang="zh-CN" sz="1275">
                <a:solidFill>
                  <a:srgbClr val="2C3E50"/>
                </a:solidFill>
                <a:latin typeface="Microsoft YaHei"/>
                <a:ea typeface="Microsoft YaHei"/>
              </a:rPr>
              <a:t>万余人研究）显示：女性计数低于男性且随年龄下降更快；老年与儿童各有分布差异，提示一刀切参考区间会误分层。</a:t>
            </a:r>
            <a:endParaRPr/>
          </a:p>
        </p:txBody>
      </p:sp>
      <p:sp>
        <p:nvSpPr>
          <p:cNvPr id="13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解读原则</a:t>
            </a:r>
            <a:endParaRPr/>
          </a:p>
        </p:txBody>
      </p:sp>
      <p:sp>
        <p:nvSpPr>
          <p:cNvPr id="136"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对个体而言，比“是否在参考区间内”更重要的是“相对其基线的变化趋势”；妊娠、脾功能、海拔、药物等均造成生理性偏移（分见各场景章节）。</a:t>
            </a:r>
            <a:endParaRPr/>
          </a:p>
        </p:txBody>
      </p:sp>
      <p:sp>
        <p:nvSpPr>
          <p:cNvPr id="13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3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4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1"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参考区间用于筛查报警，临床决策请用“个体基线</a:t>
            </a:r>
            <a:r>
              <a:rPr lang="en-US" sz="1275">
                <a:solidFill>
                  <a:srgbClr val="2C3E50"/>
                </a:solidFill>
                <a:latin typeface="Microsoft YaHei"/>
                <a:ea typeface="Microsoft YaHei"/>
              </a:rPr>
              <a:t>+</a:t>
            </a:r>
            <a:r>
              <a:rPr lang="zh-CN" sz="1275">
                <a:solidFill>
                  <a:srgbClr val="2C3E50"/>
                </a:solidFill>
                <a:latin typeface="Microsoft YaHei"/>
                <a:ea typeface="Microsoft YaHei"/>
              </a:rPr>
              <a:t>变化速率</a:t>
            </a:r>
            <a:r>
              <a:rPr lang="en-US" sz="1275">
                <a:solidFill>
                  <a:srgbClr val="2C3E50"/>
                </a:solidFill>
                <a:latin typeface="Microsoft YaHei"/>
                <a:ea typeface="Microsoft YaHei"/>
              </a:rPr>
              <a:t>+</a:t>
            </a:r>
            <a:r>
              <a:rPr lang="zh-CN" sz="1275">
                <a:solidFill>
                  <a:srgbClr val="2C3E50"/>
                </a:solidFill>
                <a:latin typeface="Microsoft YaHei"/>
                <a:ea typeface="Microsoft YaHei"/>
              </a:rPr>
              <a:t>场景阈值”。</a:t>
            </a:r>
            <a:endParaRPr/>
          </a:p>
        </p:txBody>
      </p:sp>
      <p:sp>
        <p:nvSpPr>
          <p:cNvPr id="142"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43"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PLoS One 2013;8:e54289 (PMID 23382888)</a:t>
            </a:r>
            <a:endParaRPr/>
          </a:p>
        </p:txBody>
      </p:sp>
      <p:sp>
        <p:nvSpPr>
          <p:cNvPr id="144" name=""/>
          <p:cNvSpPr/>
          <p:nvPr/>
        </p:nvSpPr>
        <p:spPr>
          <a:xfrm rot="0" flipH="0" flipV="0">
            <a:off x="0" y="6324600"/>
            <a:ext cx="12192000" cy="342900"/>
          </a:xfrm>
          <a:prstGeom prst="rect">
            <a:avLst/>
          </a:prstGeom>
          <a:solidFill>
            <a:srgbClr val="F7F9FC"/>
          </a:solidFill>
          <a:ln/>
        </p:spPr>
        <p:txBody>
          <a:bodyPr/>
          <a:p/>
        </p:txBody>
      </p:sp>
      <p:sp>
        <p:nvSpPr>
          <p:cNvPr id="145"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46"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5.xml><?xml version="1.0" encoding="utf-8"?>
<p:sld xmlns:p="http://schemas.openxmlformats.org/presentationml/2006/main" xmlns:a="http://schemas.openxmlformats.org/drawingml/2006/main">
  <p:cSld>
    <p:spTree>
      <p:nvGrpSpPr>
        <p:cNvPr id="147" name="" descr="&lt;Slide notes={`演讲者备注：第三章是功能检测的“方法学地图”。与计数不同，血小板功能检测方法多、标准化难、干扰因素多，没有“包打天下”的单一体外试验能完美复现体内止血。本章逐个讲清各方法的原理、读出什么参数、适合什么场景、有哪些局限，并在末页给出“何时选哪种”的决策小结。`} style={{ width: '1280px', height: '720px', background: '#0E3F8C', padding: 0 }}&gt;&#13;&#10;  &lt;Box style={{ position: 'absolute', left: 0, top: 0, width: 12, height: 720, background: '#3D7BD9' }} /&gt;&#13;&#10;  &lt;Text style={{ position: 'absolute', left: 64, top: 138, fontSize: 22, color: '#9DB8E0', letterSpacing: 4 }}&gt;第 3 章&lt;/Text&gt;&#13;&#10;  &lt;Text style={{ position: 'absolute', left: 56, top: 168, fontSize: 150, color: '#164A9E', fontWeight: 'bold' }}&gt;03&lt;/Text&gt;&#13;&#10;  &lt;Text style={{ position: 'absolute', left: 64, top: 332, fontSize: 50, color: '#FFFFFF', fontWeight: 'bold' }}&gt;血小板功能检测方法学&lt;/Text&gt;&#13;&#10;  &lt;Text style={{ position: 'absolute', left: 64, top: 400, fontSize: 22, color: '#9DB8E0', fontFamily: 'Times New Roman' }}&gt;Platelet Function Testing&lt;/Text&gt;&#13;&#10;  &lt;Box key={0} style={{ position: 'absolute', left: 64, top: 472, width: 360, height: 150, background: '#12448F', borderRadius: 12, border: '1px solid #2E5BA8', padding: 20 }}&gt;&#13;&#10;    &lt;Text style={{ fontSize: 18, color: '#9DB8E0', fontWeight: 'bold', marginBottom: 8 }}&gt;四大平台&lt;/Text&gt;&#13;&#10;    &lt;Text style={{ fontSize: 15, color: '#C7D6EC', lineHeight: 1.5 }}&gt;比浊聚集、全血阻抗、床旁快速、流式/VET 体系&lt;/Text&gt;&#13;&#10;  &lt;/Box&gt;  &lt;Box key={1} style={{ position: 'absolute', left: 452, top: 472, width: 360, height: 150, background: '#12448F', borderRadius: 12, border: '1px solid #2E5BA8', padding: 20 }}&gt;&#13;&#10;    &lt;Text style={{ fontSize: 18, color: '#9DB8E0', fontWeight: 'bold', marginBottom: 8 }}&gt;从“形态”到“动力学”&lt;/Text&gt;&#13;&#10;    &lt;Text style={{ fontSize: 15, color: '#C7D6EC', lineHeight: 1.5 }}&gt;把黏附-活化-聚集-分泌还原为可测参数&lt;/Text&gt;&#13;&#10;  &lt;/Box&gt;  &lt;Box key={2} style={{ position: 'absolute', left: 840, top: 472, width: 360, height: 150, background: '#12448F', borderRadius: 12, border: '1px solid #2E5BA8', padding: 20 }}&gt;&#13;&#10;    &lt;Text style={{ fontSize: 18, color: '#9DB8E0', fontWeight: 'bold', marginBottom: 8 }}&gt;目的决定方法&lt;/Text&gt;&#13;&#10;    &lt;Text style={{ fontSize: 15, color: '#C7D6EC', lineHeight: 1.5 }}&gt;出血体质评估、抗血小板监测、围术期各有首选&lt;/Text&gt;&#13;&#10;  &lt;/Box&gt;&#13;&#10;  &lt;Text style={{ position: 'absolute', right: 64, top: 660, fontSize: 15, color: '#9DB8E0' }}&gt;15 / 77&lt;/Text&gt;&#13;&#10;&lt;/Slide&gt;"/>
        <p:cNvGrpSpPr/>
        <p:nvPr/>
      </p:nvGrpSpPr>
      <p:grpSpPr>
        <a:xfrm>
          <a:off x="0" y="0"/>
          <a:ext cx="0" cy="0"/>
          <a:chOff x="0" y="0"/>
          <a:chExt cx="0" cy="0"/>
        </a:xfrm>
      </p:grpSpPr>
      <p:sp>
        <p:nvSpPr>
          <p:cNvPr id="148" name=""/>
          <p:cNvSpPr/>
          <p:nvPr/>
        </p:nvSpPr>
        <p:spPr>
          <a:xfrm rot="0" flipH="0" flipV="0">
            <a:off x="0" y="0"/>
            <a:ext cx="12192000" cy="6858000"/>
          </a:xfrm>
          <a:prstGeom prst="rect">
            <a:avLst/>
          </a:prstGeom>
          <a:solidFill>
            <a:srgbClr val="0E3F8C"/>
          </a:solidFill>
          <a:ln/>
        </p:spPr>
        <p:txBody>
          <a:bodyPr/>
          <a:p/>
        </p:txBody>
      </p:sp>
      <p:sp>
        <p:nvSpPr>
          <p:cNvPr id="149" name=""/>
          <p:cNvSpPr/>
          <p:nvPr/>
        </p:nvSpPr>
        <p:spPr>
          <a:xfrm rot="0" flipH="0" flipV="0">
            <a:off x="0" y="0"/>
            <a:ext cx="114300" cy="6858000"/>
          </a:xfrm>
          <a:prstGeom prst="rect">
            <a:avLst/>
          </a:prstGeom>
          <a:solidFill>
            <a:srgbClr val="3D7BD9"/>
          </a:solidFill>
          <a:ln/>
        </p:spPr>
        <p:txBody>
          <a:bodyPr/>
          <a:p/>
        </p:txBody>
      </p:sp>
      <p:sp>
        <p:nvSpPr>
          <p:cNvPr id="150"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3 </a:t>
            </a:r>
            <a:r>
              <a:rPr lang="zh-CN" sz="1650" spc="300">
                <a:solidFill>
                  <a:srgbClr val="9DB8E0"/>
                </a:solidFill>
                <a:latin typeface="Microsoft YaHei"/>
                <a:ea typeface="Microsoft YaHei"/>
              </a:rPr>
              <a:t>章</a:t>
            </a:r>
            <a:endParaRPr/>
          </a:p>
        </p:txBody>
      </p:sp>
      <p:sp>
        <p:nvSpPr>
          <p:cNvPr id="151"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03</a:t>
            </a:r>
            <a:endParaRPr/>
          </a:p>
        </p:txBody>
      </p:sp>
      <p:sp>
        <p:nvSpPr>
          <p:cNvPr id="152" name="" descr="{&quot;isTemplate&quot;:true,&quot;type&quot;:&quot;text&quot;}"/>
          <p:cNvSpPr txBox="1"/>
          <p:nvPr/>
        </p:nvSpPr>
        <p:spPr>
          <a:xfrm rot="0" flipH="0" flipV="0">
            <a:off x="609600" y="3162300"/>
            <a:ext cx="4762500" cy="571500"/>
          </a:xfrm>
          <a:prstGeom prst="rect"/>
        </p:spPr>
        <p:txBody>
          <a:bodyPr wrap="none" lIns="0" tIns="0" rIns="0" bIns="0"/>
          <a:p>
            <a:pPr>
              <a:lnSpc>
                <a:spcPct val="100000"/>
              </a:lnSpc>
            </a:pPr>
            <a:r>
              <a:rPr lang="zh-CN" sz="3750" b="1">
                <a:solidFill>
                  <a:srgbClr val="FFFFFF"/>
                </a:solidFill>
                <a:latin typeface="Microsoft YaHei"/>
                <a:ea typeface="Microsoft YaHei"/>
              </a:rPr>
              <a:t>血小板功能检测方法学</a:t>
            </a:r>
            <a:endParaRPr/>
          </a:p>
        </p:txBody>
      </p:sp>
      <p:sp>
        <p:nvSpPr>
          <p:cNvPr id="153" name="" descr="{&quot;isTemplate&quot;:true,&quot;type&quot;:&quot;text&quot;}"/>
          <p:cNvSpPr txBox="1"/>
          <p:nvPr/>
        </p:nvSpPr>
        <p:spPr>
          <a:xfrm rot="0" flipH="0" flipV="0">
            <a:off x="609600" y="3810000"/>
            <a:ext cx="2095500" cy="257175"/>
          </a:xfrm>
          <a:prstGeom prst="rect"/>
        </p:spPr>
        <p:txBody>
          <a:bodyPr wrap="none" lIns="0" tIns="0" rIns="0" bIns="0"/>
          <a:p>
            <a:pPr>
              <a:lnSpc>
                <a:spcPct val="100000"/>
              </a:lnSpc>
            </a:pPr>
            <a:r>
              <a:rPr lang="en-US" sz="1650">
                <a:solidFill>
                  <a:srgbClr val="9DB8E0"/>
                </a:solidFill>
                <a:latin typeface="Times New Roman"/>
                <a:ea typeface="Times New Roman"/>
              </a:rPr>
              <a:t>Platelet Function Testing</a:t>
            </a:r>
            <a:endParaRPr/>
          </a:p>
        </p:txBody>
      </p:sp>
      <p:sp>
        <p:nvSpPr>
          <p:cNvPr id="154"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55"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四大平台</a:t>
            </a:r>
            <a:endParaRPr/>
          </a:p>
        </p:txBody>
      </p:sp>
      <p:sp>
        <p:nvSpPr>
          <p:cNvPr id="156" name="" descr="{&quot;isTemplate&quot;:true,&quot;type&quot;:&quot;text&quot;}"/>
          <p:cNvSpPr txBox="1"/>
          <p:nvPr/>
        </p:nvSpPr>
        <p:spPr>
          <a:xfrm rot="0" flipH="0" flipV="0">
            <a:off x="800100" y="4972050"/>
            <a:ext cx="3048000" cy="514350"/>
          </a:xfrm>
          <a:prstGeom prst="rect"/>
        </p:spPr>
        <p:txBody>
          <a:bodyPr wrap="square" lIns="0" tIns="0" rIns="0" bIns="0">
            <a:normAutofit/>
          </a:bodyPr>
          <a:p>
            <a:pPr>
              <a:lnSpc>
                <a:spcPct val="150000"/>
              </a:lnSpc>
            </a:pPr>
            <a:r>
              <a:rPr lang="zh-CN" sz="1125">
                <a:solidFill>
                  <a:srgbClr val="C7D6EC"/>
                </a:solidFill>
                <a:latin typeface="Microsoft YaHei"/>
                <a:ea typeface="Microsoft YaHei"/>
              </a:rPr>
              <a:t>比浊聚集、全血阻抗、床旁快速、流式</a:t>
            </a:r>
            <a:r>
              <a:rPr lang="en-US" sz="1125">
                <a:solidFill>
                  <a:srgbClr val="C7D6EC"/>
                </a:solidFill>
                <a:latin typeface="Microsoft YaHei"/>
                <a:ea typeface="Microsoft YaHei"/>
              </a:rPr>
              <a:t>/VET </a:t>
            </a:r>
            <a:r>
              <a:rPr lang="zh-CN" sz="1125">
                <a:solidFill>
                  <a:srgbClr val="C7D6EC"/>
                </a:solidFill>
                <a:latin typeface="Microsoft YaHei"/>
                <a:ea typeface="Microsoft YaHei"/>
              </a:rPr>
              <a:t>体系</a:t>
            </a:r>
            <a:endParaRPr/>
          </a:p>
        </p:txBody>
      </p:sp>
      <p:sp>
        <p:nvSpPr>
          <p:cNvPr id="157"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58"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从“形态”到“动力学”</a:t>
            </a:r>
            <a:endParaRPr/>
          </a:p>
        </p:txBody>
      </p:sp>
      <p:sp>
        <p:nvSpPr>
          <p:cNvPr id="159"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把黏附</a:t>
            </a:r>
            <a:r>
              <a:rPr lang="en-US" sz="1125">
                <a:solidFill>
                  <a:srgbClr val="C7D6EC"/>
                </a:solidFill>
                <a:latin typeface="Microsoft YaHei"/>
                <a:ea typeface="Microsoft YaHei"/>
              </a:rPr>
              <a:t>-</a:t>
            </a:r>
            <a:r>
              <a:rPr lang="zh-CN" sz="1125">
                <a:solidFill>
                  <a:srgbClr val="C7D6EC"/>
                </a:solidFill>
                <a:latin typeface="Microsoft YaHei"/>
                <a:ea typeface="Microsoft YaHei"/>
              </a:rPr>
              <a:t>活化</a:t>
            </a:r>
            <a:r>
              <a:rPr lang="en-US" sz="1125">
                <a:solidFill>
                  <a:srgbClr val="C7D6EC"/>
                </a:solidFill>
                <a:latin typeface="Microsoft YaHei"/>
                <a:ea typeface="Microsoft YaHei"/>
              </a:rPr>
              <a:t>-</a:t>
            </a:r>
            <a:r>
              <a:rPr lang="zh-CN" sz="1125">
                <a:solidFill>
                  <a:srgbClr val="C7D6EC"/>
                </a:solidFill>
                <a:latin typeface="Microsoft YaHei"/>
                <a:ea typeface="Microsoft YaHei"/>
              </a:rPr>
              <a:t>聚集</a:t>
            </a:r>
            <a:r>
              <a:rPr lang="en-US" sz="1125">
                <a:solidFill>
                  <a:srgbClr val="C7D6EC"/>
                </a:solidFill>
                <a:latin typeface="Microsoft YaHei"/>
                <a:ea typeface="Microsoft YaHei"/>
              </a:rPr>
              <a:t>-</a:t>
            </a:r>
            <a:r>
              <a:rPr lang="zh-CN" sz="1125">
                <a:solidFill>
                  <a:srgbClr val="C7D6EC"/>
                </a:solidFill>
                <a:latin typeface="Microsoft YaHei"/>
                <a:ea typeface="Microsoft YaHei"/>
              </a:rPr>
              <a:t>分泌还原为可测参数</a:t>
            </a:r>
            <a:endParaRPr/>
          </a:p>
        </p:txBody>
      </p:sp>
      <p:sp>
        <p:nvSpPr>
          <p:cNvPr id="160"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61"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目的决定方法</a:t>
            </a:r>
            <a:endParaRPr/>
          </a:p>
        </p:txBody>
      </p:sp>
      <p:sp>
        <p:nvSpPr>
          <p:cNvPr id="162"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出血体质评估、抗血小板监测、围术期各有首选</a:t>
            </a:r>
            <a:endParaRPr/>
          </a:p>
        </p:txBody>
      </p:sp>
      <p:sp>
        <p:nvSpPr>
          <p:cNvPr id="163"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15 / 77</a:t>
            </a:r>
            <a:endParaRPr/>
          </a:p>
        </p:txBody>
      </p:sp>
    </p:spTree>
  </p:cSld>
</p:sld>
</file>

<file path=ppt/slides/slide16.xml><?xml version="1.0" encoding="utf-8"?>
<p:sld xmlns:p="http://schemas.openxmlformats.org/presentationml/2006/main" xmlns:a="http://schemas.openxmlformats.org/drawingml/2006/main">
  <p:cSld>
    <p:spTree>
      <p:nvGrpSpPr>
        <p:cNvPr id="164" name="" descr="&lt;Slide notes={`演讲者备注：【FNX-OVERVIEW】血小板功能检测在冠脉介入中的角色演变综述：从 LTA 到床旁设备的可及性提高，但其对缺血/出血结局预测的增量价值仍存争议。证据：Vasc Health Risk Manag 2012;8:65-75，PMID 22371653。&#13;&#10;【GREMMEL-PHYS】血小板在血管损伤处经黏附、活化、聚集形成止血栓（一级止血），并通过膜表面促凝暴露与颗粒释放参与凝血级联、炎症与免疫。证据：Semin Thromb Hemost 2016;42:191-204，PMID 26926581。&#13;&#10;讲解提示：用“一张桌子四条腿”比喻——黏附、活化、聚集、分泌四大环节需不同试验覆盖；临床上最常见的失败是“症状像血小板病但只做了血小板计数”。`}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功能检测总览：目的、平台与原则&lt;/Text&gt;&#13;&#10;    &lt;/Box&gt;&#13;&#10;    &lt;Text style={{ position: 'absolute', right: 64, top: 24, fontSize: 15, color: '#9DB8E0' }}&gt;16 / 77&lt;/Text&gt;&#13;&#10;  &lt;/Box&gt;&#13;&#10;  &lt;Box style={{ position: 'absolute', left: 64, top: 96, width: 562, height: 128, background: '#F0F5FC', borderRadius: 12, border: '1px solid #E5E7EB', padding: 20 }}&gt;&#13;&#10;&lt;Text style={{ fontSize: 19, color: '#0E3F8C', fontWeight: 'bold', textAlign: 'left', lineHeight: 1.5 }}&gt;检测目的&lt;/Text&gt;&#13;&#10;&lt;Text style={{ fontSize: 17, color: '#2C3E50', textAlign: 'left', lineHeight: 1.62 }}&gt;回答“血小板能不能正常止血”：用于出血体质评估（黏膜皮肤出血、手术史）、抗血小板药物疗效/停药决策、围术期出血风险与获得性功能障碍（尿毒症、CPB）评估。&lt;/Text&gt;&#13;&#10;  &lt;/Box&gt;&#13;&#10;  &lt;Box style={{ position: 'absolute', left: 654, top: 96, width: 562, height: 128, background: '#F0F5FC', borderRadius: 12, border: '1px solid #E5E7EB', padding: 20 }}&gt;&#13;&#10;&lt;Text style={{ fontSize: 19, color: '#0E3F8C', fontWeight: 'bold', textAlign: 'left', lineHeight: 1.5 }}&gt;平台分层&lt;/Text&gt;&#13;&#10;&lt;Text style={{ fontSize: 17, color: '#2C3E50', textAlign: 'left', lineHeight: 1.62 }}&gt;①LTA（参考方法）；②全血阻抗/床旁（VerifyNow、PFA、Multiplate）；③流式活化标志；④VET（TEG/ROTEM 血小板贡献）；⑤分子/基因（先天性缺陷分型）。&lt;/Text&gt;&#13;&#10;  &lt;/Box&gt;&#13;&#10;  &lt;Box style={{ position: 'absolute', left: 64, top: 252, width: 562, height: 128, background: '#F0F5FC', borderRadius: 12, border: '1px solid #E5E7EB', padding: 20 }}&gt;&#13;&#10;&lt;Text style={{ fontSize: 19, color: '#0E3F8C', fontWeight: 'bold', textAlign: 'left', lineHeight: 1.5 }}&gt;总体原则&lt;/Text&gt;&#13;&#10;&lt;Text style={{ fontSize: 17, color: '#2C3E50', textAlign: 'left', lineHeight: 1.62 }}&gt;没有单一试验覆盖所有功能环节；轻中度缺陷可能仅在特定诱导剂下暴露；结果解释必须结合药物史、采血时间、血小板数与临床出血表型。&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先问目的再选方法”，避免把功能检测当常规筛查滥用。&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Vasc Health Risk Manag 2012;8:65-75 (PMID 2237165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65" name=""/>
          <p:cNvSpPr/>
          <p:nvPr/>
        </p:nvSpPr>
        <p:spPr>
          <a:xfrm rot="0" flipH="0" flipV="0">
            <a:off x="0" y="0"/>
            <a:ext cx="12192000" cy="6858000"/>
          </a:xfrm>
          <a:prstGeom prst="rect">
            <a:avLst/>
          </a:prstGeom>
          <a:solidFill>
            <a:srgbClr val="FFFFFF"/>
          </a:solidFill>
          <a:ln/>
        </p:spPr>
        <p:txBody>
          <a:bodyPr/>
          <a:p/>
        </p:txBody>
      </p:sp>
      <p:sp>
        <p:nvSpPr>
          <p:cNvPr id="166" name=""/>
          <p:cNvSpPr/>
          <p:nvPr/>
        </p:nvSpPr>
        <p:spPr>
          <a:xfrm rot="0" flipH="0" flipV="0">
            <a:off x="0" y="0"/>
            <a:ext cx="12192000" cy="685800"/>
          </a:xfrm>
          <a:prstGeom prst="rect">
            <a:avLst/>
          </a:prstGeom>
          <a:solidFill>
            <a:srgbClr val="0E3F8C"/>
          </a:solidFill>
          <a:ln/>
        </p:spPr>
        <p:txBody>
          <a:bodyPr/>
          <a:p/>
        </p:txBody>
      </p:sp>
      <p:sp>
        <p:nvSpPr>
          <p:cNvPr id="167"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168" name=""/>
          <p:cNvSpPr/>
          <p:nvPr/>
        </p:nvSpPr>
        <p:spPr>
          <a:xfrm rot="0" flipH="0" flipV="0">
            <a:off x="3048000" y="209550"/>
            <a:ext cx="9525" cy="228600"/>
          </a:xfrm>
          <a:prstGeom prst="rect">
            <a:avLst/>
          </a:prstGeom>
          <a:solidFill>
            <a:srgbClr val="3D7BD9"/>
          </a:solidFill>
          <a:ln/>
        </p:spPr>
        <p:txBody>
          <a:bodyPr/>
          <a:p/>
        </p:txBody>
      </p:sp>
      <p:sp>
        <p:nvSpPr>
          <p:cNvPr id="169" name="" descr="{&quot;isTemplate&quot;:true,&quot;type&quot;:&quot;text&quot;}"/>
          <p:cNvSpPr txBox="1"/>
          <p:nvPr/>
        </p:nvSpPr>
        <p:spPr>
          <a:xfrm rot="0" flipH="0" flipV="0">
            <a:off x="3209925" y="228600"/>
            <a:ext cx="2286000" cy="190500"/>
          </a:xfrm>
          <a:prstGeom prst="rect"/>
        </p:spPr>
        <p:txBody>
          <a:bodyPr wrap="none" lIns="0" tIns="0" rIns="0" bIns="0"/>
          <a:p>
            <a:pPr>
              <a:lnSpc>
                <a:spcPct val="100000"/>
              </a:lnSpc>
            </a:pPr>
            <a:r>
              <a:rPr lang="zh-CN" sz="1200">
                <a:solidFill>
                  <a:srgbClr val="C7D6EC"/>
                </a:solidFill>
                <a:latin typeface="Microsoft YaHei"/>
                <a:ea typeface="Microsoft YaHei"/>
              </a:rPr>
              <a:t>功能检测总览：目的、平台与原则</a:t>
            </a:r>
            <a:endParaRPr/>
          </a:p>
        </p:txBody>
      </p:sp>
      <p:sp>
        <p:nvSpPr>
          <p:cNvPr id="17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16 / 77</a:t>
            </a:r>
            <a:endParaRPr/>
          </a:p>
        </p:txBody>
      </p:sp>
      <p:sp>
        <p:nvSpPr>
          <p:cNvPr id="17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检测目的</a:t>
            </a:r>
            <a:endParaRPr/>
          </a:p>
        </p:txBody>
      </p:sp>
      <p:sp>
        <p:nvSpPr>
          <p:cNvPr id="17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回答“血小板能不能正常止血”：用于出血体质评估（黏膜皮肤出血、手术史）、抗血小板药物疗效</a:t>
            </a:r>
            <a:r>
              <a:rPr lang="en-US" sz="1275">
                <a:solidFill>
                  <a:srgbClr val="2C3E50"/>
                </a:solidFill>
                <a:latin typeface="Microsoft YaHei"/>
                <a:ea typeface="Microsoft YaHei"/>
              </a:rPr>
              <a:t>/</a:t>
            </a:r>
            <a:r>
              <a:rPr lang="zh-CN" sz="1275">
                <a:solidFill>
                  <a:srgbClr val="2C3E50"/>
                </a:solidFill>
                <a:latin typeface="Microsoft YaHei"/>
                <a:ea typeface="Microsoft YaHei"/>
              </a:rPr>
              <a:t>停药决策、围术期出血风险与获得性功能障碍（尿毒症、</a:t>
            </a:r>
            <a:r>
              <a:rPr lang="en-US" sz="1275">
                <a:solidFill>
                  <a:srgbClr val="2C3E50"/>
                </a:solidFill>
                <a:latin typeface="Microsoft YaHei"/>
                <a:ea typeface="Microsoft YaHei"/>
              </a:rPr>
              <a:t>CPB</a:t>
            </a:r>
            <a:r>
              <a:rPr lang="zh-CN" sz="1275">
                <a:solidFill>
                  <a:srgbClr val="2C3E50"/>
                </a:solidFill>
                <a:latin typeface="Microsoft YaHei"/>
                <a:ea typeface="Microsoft YaHei"/>
              </a:rPr>
              <a:t>）评估。</a:t>
            </a:r>
            <a:endParaRPr/>
          </a:p>
        </p:txBody>
      </p:sp>
      <p:sp>
        <p:nvSpPr>
          <p:cNvPr id="17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平台分层</a:t>
            </a:r>
            <a:endParaRPr/>
          </a:p>
        </p:txBody>
      </p:sp>
      <p:sp>
        <p:nvSpPr>
          <p:cNvPr id="176"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①LTA</a:t>
            </a:r>
            <a:r>
              <a:rPr lang="zh-CN" sz="1275">
                <a:solidFill>
                  <a:srgbClr val="2C3E50"/>
                </a:solidFill>
                <a:latin typeface="Microsoft YaHei"/>
                <a:ea typeface="Microsoft YaHei"/>
              </a:rPr>
              <a:t>（参考方法）；②全血阻抗</a:t>
            </a:r>
            <a:r>
              <a:rPr lang="en-US" sz="1275">
                <a:solidFill>
                  <a:srgbClr val="2C3E50"/>
                </a:solidFill>
                <a:latin typeface="Microsoft YaHei"/>
                <a:ea typeface="Microsoft YaHei"/>
              </a:rPr>
              <a:t>/</a:t>
            </a:r>
            <a:r>
              <a:rPr lang="zh-CN" sz="1275">
                <a:solidFill>
                  <a:srgbClr val="2C3E50"/>
                </a:solidFill>
                <a:latin typeface="Microsoft YaHei"/>
                <a:ea typeface="Microsoft YaHei"/>
              </a:rPr>
              <a:t>床旁（</a:t>
            </a:r>
            <a:r>
              <a:rPr lang="en-US" sz="1275">
                <a:solidFill>
                  <a:srgbClr val="2C3E50"/>
                </a:solidFill>
                <a:latin typeface="Microsoft YaHei"/>
                <a:ea typeface="Microsoft YaHei"/>
              </a:rPr>
              <a:t>VerifyNow</a:t>
            </a:r>
            <a:r>
              <a:rPr lang="zh-CN" sz="1275">
                <a:solidFill>
                  <a:srgbClr val="2C3E50"/>
                </a:solidFill>
                <a:latin typeface="Microsoft YaHei"/>
                <a:ea typeface="Microsoft YaHei"/>
              </a:rPr>
              <a:t>、</a:t>
            </a:r>
            <a:r>
              <a:rPr lang="en-US" sz="1275">
                <a:solidFill>
                  <a:srgbClr val="2C3E50"/>
                </a:solidFill>
                <a:latin typeface="Microsoft YaHei"/>
                <a:ea typeface="Microsoft YaHei"/>
              </a:rPr>
              <a:t>PFA</a:t>
            </a:r>
            <a:r>
              <a:rPr lang="zh-CN" sz="1275">
                <a:solidFill>
                  <a:srgbClr val="2C3E50"/>
                </a:solidFill>
                <a:latin typeface="Microsoft YaHei"/>
                <a:ea typeface="Microsoft YaHei"/>
              </a:rPr>
              <a:t>、</a:t>
            </a:r>
            <a:r>
              <a:rPr lang="en-US" sz="1275">
                <a:solidFill>
                  <a:srgbClr val="2C3E50"/>
                </a:solidFill>
                <a:latin typeface="Microsoft YaHei"/>
                <a:ea typeface="Microsoft YaHei"/>
              </a:rPr>
              <a:t>Multiplate</a:t>
            </a:r>
            <a:r>
              <a:rPr lang="zh-CN" sz="1275">
                <a:solidFill>
                  <a:srgbClr val="2C3E50"/>
                </a:solidFill>
                <a:latin typeface="Microsoft YaHei"/>
                <a:ea typeface="Microsoft YaHei"/>
              </a:rPr>
              <a:t>）；③流式活化标志；④</a:t>
            </a:r>
            <a:r>
              <a:rPr lang="en-US" sz="1275">
                <a:solidFill>
                  <a:srgbClr val="2C3E50"/>
                </a:solidFill>
                <a:latin typeface="Microsoft YaHei"/>
                <a:ea typeface="Microsoft YaHei"/>
              </a:rPr>
              <a:t>VET</a:t>
            </a:r>
            <a:r>
              <a:rPr lang="zh-CN" sz="1275">
                <a:solidFill>
                  <a:srgbClr val="2C3E50"/>
                </a:solidFill>
                <a:latin typeface="Microsoft YaHei"/>
                <a:ea typeface="Microsoft YaHei"/>
              </a:rPr>
              <a:t>（</a:t>
            </a:r>
            <a:r>
              <a:rPr lang="en-US" sz="1275">
                <a:solidFill>
                  <a:srgbClr val="2C3E50"/>
                </a:solidFill>
                <a:latin typeface="Microsoft YaHei"/>
                <a:ea typeface="Microsoft YaHei"/>
              </a:rPr>
              <a:t>TEG/ROTEM </a:t>
            </a:r>
            <a:r>
              <a:rPr lang="zh-CN" sz="1275">
                <a:solidFill>
                  <a:srgbClr val="2C3E50"/>
                </a:solidFill>
                <a:latin typeface="Microsoft YaHei"/>
                <a:ea typeface="Microsoft YaHei"/>
              </a:rPr>
              <a:t>血小板贡献）；⑤分子</a:t>
            </a:r>
            <a:r>
              <a:rPr lang="en-US" sz="1275">
                <a:solidFill>
                  <a:srgbClr val="2C3E50"/>
                </a:solidFill>
                <a:latin typeface="Microsoft YaHei"/>
                <a:ea typeface="Microsoft YaHei"/>
              </a:rPr>
              <a:t>/</a:t>
            </a:r>
            <a:r>
              <a:rPr lang="zh-CN" sz="1275">
                <a:solidFill>
                  <a:srgbClr val="2C3E50"/>
                </a:solidFill>
                <a:latin typeface="Microsoft YaHei"/>
                <a:ea typeface="Microsoft YaHei"/>
              </a:rPr>
              <a:t>基因（先天性缺陷分型）。</a:t>
            </a:r>
            <a:endParaRPr/>
          </a:p>
        </p:txBody>
      </p:sp>
      <p:sp>
        <p:nvSpPr>
          <p:cNvPr id="17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总体原则</a:t>
            </a:r>
            <a:endParaRPr/>
          </a:p>
        </p:txBody>
      </p:sp>
      <p:sp>
        <p:nvSpPr>
          <p:cNvPr id="17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没有单一试验覆盖所有功能环节；轻中度缺陷可能仅在特定诱导剂下暴露；结果解释必须结合药物史、采血时间、血小板数与临床出血表型。</a:t>
            </a:r>
            <a:endParaRPr/>
          </a:p>
        </p:txBody>
      </p:sp>
      <p:sp>
        <p:nvSpPr>
          <p:cNvPr id="18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8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8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8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84"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“先问目的再选方法”，避免把功能检测当常规筛查滥用。</a:t>
            </a:r>
            <a:endParaRPr/>
          </a:p>
        </p:txBody>
      </p:sp>
      <p:sp>
        <p:nvSpPr>
          <p:cNvPr id="185"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8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8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Vasc Health Risk Manag 2012;8:65-75 (PMID 22371653)</a:t>
            </a:r>
            <a:endParaRPr/>
          </a:p>
        </p:txBody>
      </p:sp>
      <p:sp>
        <p:nvSpPr>
          <p:cNvPr id="188" name=""/>
          <p:cNvSpPr/>
          <p:nvPr/>
        </p:nvSpPr>
        <p:spPr>
          <a:xfrm rot="0" flipH="0" flipV="0">
            <a:off x="0" y="6324600"/>
            <a:ext cx="12192000" cy="342900"/>
          </a:xfrm>
          <a:prstGeom prst="rect">
            <a:avLst/>
          </a:prstGeom>
          <a:solidFill>
            <a:srgbClr val="F7F9FC"/>
          </a:solidFill>
          <a:ln/>
        </p:spPr>
        <p:txBody>
          <a:bodyPr/>
          <a:p/>
        </p:txBody>
      </p:sp>
      <p:sp>
        <p:nvSpPr>
          <p:cNvPr id="18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9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7.xml><?xml version="1.0" encoding="utf-8"?>
<p:sld xmlns:p="http://schemas.openxmlformats.org/presentationml/2006/main" xmlns:a="http://schemas.openxmlformats.org/drawingml/2006/main">
  <p:cSld>
    <p:spTree>
      <p:nvGrpSpPr>
        <p:cNvPr id="191" name="" descr="&lt;Slide notes={`演讲者备注：【CATTANEO-LTA】ISTH SSC 光学比浊聚集标准化共识：规范 PRP 制备、诱导剂浓度、双复管判读与质量控制，LTA 仍是血小板功能检测的参考方法。证据：J Thromb Haemost 2013;11:1183-1189，PMID 23574625。&#13;&#10;【BORN-LTA】Born 1962 年建立比浊法血小板聚集测定：以 PRP 透光率增加反映血小板聚集，成为光学比浊聚集（LTA）的奠基方法。证据：Nature 1962;194:927-929，PMID 13871375。&#13;&#10;讲解提示：展示典型曲线——阿司匹林服用者 AA 诱导聚集消失、ADP 双相变单相；P2Y12 抑制剂使 ADP 聚集率显著下降；Glanzmann 病对所有生理诱导剂几乎无聚集。这些“曲线指纹”是本章与第八章案例的读图基础。`}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LTA 光学比浊聚集：参考方法&lt;/Text&gt;&#13;&#10;    &lt;/Box&gt;&#13;&#10;    &lt;Text style={{ position: 'absolute', right: 64, top: 24, fontSize: 15, color: '#9DB8E0' }}&gt;17 / 77&lt;/Text&gt;&#13;&#10;  &lt;/Box&gt;&#13;&#10;  &lt;Box style={{ position: 'absolute', left: 64, top: 96, width: 562, height: 128, background: '#F0F5FC', borderRadius: 12, border: '1px solid #E5E7EB', padding: 20 }}&gt;&#13;&#10;&lt;Text style={{ fontSize: 19, color: '#0E3F8C', fontWeight: 'bold', textAlign: 'left', lineHeight: 1.5 }}&gt;原理（Born 法）&lt;/Text&gt;&#13;&#10;&lt;Text style={{ fontSize: 17, color: '#2C3E50', textAlign: 'left', lineHeight: 1.62 }}&gt;富血小板血浆（PRP）中加入诱导剂（ADP、胶原、花生四烯酸、肾上腺素、ristocetin 等），血小板聚集使悬液浊度下降、透光率上升，仪器记录聚集曲线与最大聚集率。&lt;/Text&gt;&#13;&#10;  &lt;/Box&gt;&#13;&#10;  &lt;Box style={{ position: 'absolute', left: 654, top: 96, width: 562, height: 128, background: '#F0F5FC', borderRadius: 12, border: '1px solid #E5E7EB', padding: 20 }}&gt;&#13;&#10;&lt;Text style={{ fontSize: 19, color: '#0E3F8C', fontWeight: 'bold', textAlign: 'left', lineHeight: 1.5 }}&gt;读出什么&lt;/Text&gt;&#13;&#10;&lt;Text style={{ fontSize: 17, color: '#2C3E50', textAlign: 'left', lineHeight: 1.62 }}&gt;最大聚集率（MA%）、聚集速度、双相聚集形态（ADP 正常呈双相）、低浓度诱导剂敏感性等；不同诱导剂分别映射不同受体/通路（AA→TxA2 通路、ADP→P2Y12 等）。&lt;/Text&gt;&#13;&#10;  &lt;/Box&gt;&#13;&#10;  &lt;Box style={{ position: 'absolute', left: 64, top: 252, width: 562, height: 128, background: '#F0F5FC', borderRadius: 12, border: '1px solid #E5E7EB', padding: 20 }}&gt;&#13;&#10;&lt;Text style={{ fontSize: 19, color: '#0E3F8C', fontWeight: 'bold', textAlign: 'left', lineHeight: 1.5 }}&gt;标准化要点&lt;/Text&gt;&#13;&#10;&lt;Text style={{ fontSize: 17, color: '#2C3E50', textAlign: 'left', lineHeight: 1.62 }}&gt;PRP 血小板数需调至标准范围（如 150–300×10^9/L）；采血后 2–4 小时内完成；双复管判读；异常曲线需结合分泌试验与流式进一步分型。&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LTA 信息最丰富但最“娇气”：对标本质量与操作者要求高，是血小板病诊断的参考方法。&lt;/Text&gt;&#13;&#10;  &lt;/Box&gt;&#13;&#10;&#13;&#10;  &lt;Box style={{ position: 'absolute', left: 64, top: 556, width: 1152, height: 92, background: '#F0F5FC', borderRadius: 12, border: '1px solid #E5E7EB', padding: 20 }}&gt;&#13;&#10;&lt;Text style={{ fontSize: 17, color: '#2C3E50', textAlign: 'left', lineHeight: 1.6 }}&gt;小结：J Thromb Haemost 2013;11:1183-1189 (PMID 23574625)&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92" name=""/>
          <p:cNvSpPr/>
          <p:nvPr/>
        </p:nvSpPr>
        <p:spPr>
          <a:xfrm rot="0" flipH="0" flipV="0">
            <a:off x="0" y="0"/>
            <a:ext cx="12192000" cy="6858000"/>
          </a:xfrm>
          <a:prstGeom prst="rect">
            <a:avLst/>
          </a:prstGeom>
          <a:solidFill>
            <a:srgbClr val="FFFFFF"/>
          </a:solidFill>
          <a:ln/>
        </p:spPr>
        <p:txBody>
          <a:bodyPr/>
          <a:p/>
        </p:txBody>
      </p:sp>
      <p:sp>
        <p:nvSpPr>
          <p:cNvPr id="193" name=""/>
          <p:cNvSpPr/>
          <p:nvPr/>
        </p:nvSpPr>
        <p:spPr>
          <a:xfrm rot="0" flipH="0" flipV="0">
            <a:off x="0" y="0"/>
            <a:ext cx="12192000" cy="685800"/>
          </a:xfrm>
          <a:prstGeom prst="rect">
            <a:avLst/>
          </a:prstGeom>
          <a:solidFill>
            <a:srgbClr val="0E3F8C"/>
          </a:solidFill>
          <a:ln/>
        </p:spPr>
        <p:txBody>
          <a:bodyPr/>
          <a:p/>
        </p:txBody>
      </p:sp>
      <p:sp>
        <p:nvSpPr>
          <p:cNvPr id="194"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195" name=""/>
          <p:cNvSpPr/>
          <p:nvPr/>
        </p:nvSpPr>
        <p:spPr>
          <a:xfrm rot="0" flipH="0" flipV="0">
            <a:off x="3048000" y="209550"/>
            <a:ext cx="9525" cy="228600"/>
          </a:xfrm>
          <a:prstGeom prst="rect">
            <a:avLst/>
          </a:prstGeom>
          <a:solidFill>
            <a:srgbClr val="3D7BD9"/>
          </a:solidFill>
          <a:ln/>
        </p:spPr>
        <p:txBody>
          <a:bodyPr/>
          <a:p/>
        </p:txBody>
      </p:sp>
      <p:sp>
        <p:nvSpPr>
          <p:cNvPr id="196" name="" descr="{&quot;isTemplate&quot;:true,&quot;type&quot;:&quot;text&quot;}"/>
          <p:cNvSpPr txBox="1"/>
          <p:nvPr/>
        </p:nvSpPr>
        <p:spPr>
          <a:xfrm rot="0" flipH="0" flipV="0">
            <a:off x="3209925" y="228600"/>
            <a:ext cx="1981200" cy="190500"/>
          </a:xfrm>
          <a:prstGeom prst="rect"/>
        </p:spPr>
        <p:txBody>
          <a:bodyPr wrap="none" lIns="0" tIns="0" rIns="0" bIns="0"/>
          <a:p>
            <a:pPr>
              <a:lnSpc>
                <a:spcPct val="100000"/>
              </a:lnSpc>
            </a:pPr>
            <a:r>
              <a:rPr lang="en-US" sz="1200">
                <a:solidFill>
                  <a:srgbClr val="C7D6EC"/>
                </a:solidFill>
                <a:latin typeface="Microsoft YaHei"/>
                <a:ea typeface="Microsoft YaHei"/>
              </a:rPr>
              <a:t>LTA </a:t>
            </a:r>
            <a:r>
              <a:rPr lang="zh-CN" sz="1200">
                <a:solidFill>
                  <a:srgbClr val="C7D6EC"/>
                </a:solidFill>
                <a:latin typeface="Microsoft YaHei"/>
                <a:ea typeface="Microsoft YaHei"/>
              </a:rPr>
              <a:t>光学比浊聚集：参考方法</a:t>
            </a:r>
            <a:endParaRPr/>
          </a:p>
        </p:txBody>
      </p:sp>
      <p:sp>
        <p:nvSpPr>
          <p:cNvPr id="19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17 / 77</a:t>
            </a:r>
            <a:endParaRPr/>
          </a:p>
        </p:txBody>
      </p:sp>
      <p:sp>
        <p:nvSpPr>
          <p:cNvPr id="19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9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原理（</a:t>
            </a:r>
            <a:r>
              <a:rPr lang="en-US" sz="1425" b="1">
                <a:solidFill>
                  <a:srgbClr val="0E3F8C"/>
                </a:solidFill>
                <a:latin typeface="Microsoft YaHei"/>
                <a:ea typeface="Microsoft YaHei"/>
              </a:rPr>
              <a:t>Born </a:t>
            </a:r>
            <a:r>
              <a:rPr lang="zh-CN" sz="1425" b="1">
                <a:solidFill>
                  <a:srgbClr val="0E3F8C"/>
                </a:solidFill>
                <a:latin typeface="Microsoft YaHei"/>
                <a:ea typeface="Microsoft YaHei"/>
              </a:rPr>
              <a:t>法）</a:t>
            </a:r>
            <a:endParaRPr/>
          </a:p>
        </p:txBody>
      </p:sp>
      <p:sp>
        <p:nvSpPr>
          <p:cNvPr id="200"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富血小板血浆（</a:t>
            </a:r>
            <a:r>
              <a:rPr lang="en-US" sz="1275">
                <a:solidFill>
                  <a:srgbClr val="2C3E50"/>
                </a:solidFill>
                <a:latin typeface="Microsoft YaHei"/>
                <a:ea typeface="Microsoft YaHei"/>
              </a:rPr>
              <a:t>PRP</a:t>
            </a:r>
            <a:r>
              <a:rPr lang="zh-CN" sz="1275">
                <a:solidFill>
                  <a:srgbClr val="2C3E50"/>
                </a:solidFill>
                <a:latin typeface="Microsoft YaHei"/>
                <a:ea typeface="Microsoft YaHei"/>
              </a:rPr>
              <a:t>）中加入诱导剂（</a:t>
            </a:r>
            <a:r>
              <a:rPr lang="en-US" sz="1275">
                <a:solidFill>
                  <a:srgbClr val="2C3E50"/>
                </a:solidFill>
                <a:latin typeface="Microsoft YaHei"/>
                <a:ea typeface="Microsoft YaHei"/>
              </a:rPr>
              <a:t>ADP</a:t>
            </a:r>
            <a:r>
              <a:rPr lang="zh-CN" sz="1275">
                <a:solidFill>
                  <a:srgbClr val="2C3E50"/>
                </a:solidFill>
                <a:latin typeface="Microsoft YaHei"/>
                <a:ea typeface="Microsoft YaHei"/>
              </a:rPr>
              <a:t>、胶原、花生四烯酸、肾上腺素、</a:t>
            </a:r>
            <a:r>
              <a:rPr lang="en-US" sz="1275">
                <a:solidFill>
                  <a:srgbClr val="2C3E50"/>
                </a:solidFill>
                <a:latin typeface="Microsoft YaHei"/>
                <a:ea typeface="Microsoft YaHei"/>
              </a:rPr>
              <a:t>ristocetin </a:t>
            </a:r>
            <a:r>
              <a:rPr lang="zh-CN" sz="1275">
                <a:solidFill>
                  <a:srgbClr val="2C3E50"/>
                </a:solidFill>
                <a:latin typeface="Microsoft YaHei"/>
                <a:ea typeface="Microsoft YaHei"/>
              </a:rPr>
              <a:t>等），血小板聚集使悬液浊度下降、透光率上升，仪器记录聚集曲线与最大聚集率。</a:t>
            </a:r>
            <a:endParaRPr/>
          </a:p>
        </p:txBody>
      </p:sp>
      <p:sp>
        <p:nvSpPr>
          <p:cNvPr id="20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0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读出什么</a:t>
            </a:r>
            <a:endParaRPr/>
          </a:p>
        </p:txBody>
      </p:sp>
      <p:sp>
        <p:nvSpPr>
          <p:cNvPr id="203"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最大聚集率（</a:t>
            </a:r>
            <a:r>
              <a:rPr lang="en-US" sz="1275">
                <a:solidFill>
                  <a:srgbClr val="2C3E50"/>
                </a:solidFill>
                <a:latin typeface="Microsoft YaHei"/>
                <a:ea typeface="Microsoft YaHei"/>
              </a:rPr>
              <a:t>MA%</a:t>
            </a:r>
            <a:r>
              <a:rPr lang="zh-CN" sz="1275">
                <a:solidFill>
                  <a:srgbClr val="2C3E50"/>
                </a:solidFill>
                <a:latin typeface="Microsoft YaHei"/>
                <a:ea typeface="Microsoft YaHei"/>
              </a:rPr>
              <a:t>）、聚集速度、双相聚集形态（</a:t>
            </a:r>
            <a:r>
              <a:rPr lang="en-US" sz="1275">
                <a:solidFill>
                  <a:srgbClr val="2C3E50"/>
                </a:solidFill>
                <a:latin typeface="Microsoft YaHei"/>
                <a:ea typeface="Microsoft YaHei"/>
              </a:rPr>
              <a:t>ADP </a:t>
            </a:r>
            <a:r>
              <a:rPr lang="zh-CN" sz="1275">
                <a:solidFill>
                  <a:srgbClr val="2C3E50"/>
                </a:solidFill>
                <a:latin typeface="Microsoft YaHei"/>
                <a:ea typeface="Microsoft YaHei"/>
              </a:rPr>
              <a:t>正常呈双相）、低浓度诱导剂敏感性等；不同诱导剂分别映射不同受体</a:t>
            </a:r>
            <a:r>
              <a:rPr lang="en-US" sz="1275">
                <a:solidFill>
                  <a:srgbClr val="2C3E50"/>
                </a:solidFill>
                <a:latin typeface="Microsoft YaHei"/>
                <a:ea typeface="Microsoft YaHei"/>
              </a:rPr>
              <a:t>/</a:t>
            </a:r>
            <a:r>
              <a:rPr lang="zh-CN" sz="1275">
                <a:solidFill>
                  <a:srgbClr val="2C3E50"/>
                </a:solidFill>
                <a:latin typeface="Microsoft YaHei"/>
                <a:ea typeface="Microsoft YaHei"/>
              </a:rPr>
              <a:t>通路（</a:t>
            </a:r>
            <a:r>
              <a:rPr lang="en-US" sz="1275">
                <a:solidFill>
                  <a:srgbClr val="2C3E50"/>
                </a:solidFill>
                <a:latin typeface="Microsoft YaHei"/>
                <a:ea typeface="Microsoft YaHei"/>
              </a:rPr>
              <a:t>AA→TxA2 </a:t>
            </a:r>
            <a:r>
              <a:rPr lang="zh-CN" sz="1275">
                <a:solidFill>
                  <a:srgbClr val="2C3E50"/>
                </a:solidFill>
                <a:latin typeface="Microsoft YaHei"/>
                <a:ea typeface="Microsoft YaHei"/>
              </a:rPr>
              <a:t>通路、</a:t>
            </a:r>
            <a:r>
              <a:rPr lang="en-US" sz="1275">
                <a:solidFill>
                  <a:srgbClr val="2C3E50"/>
                </a:solidFill>
                <a:latin typeface="Microsoft YaHei"/>
                <a:ea typeface="Microsoft YaHei"/>
              </a:rPr>
              <a:t>ADP→P2Y12 </a:t>
            </a:r>
            <a:r>
              <a:rPr lang="zh-CN" sz="1275">
                <a:solidFill>
                  <a:srgbClr val="2C3E50"/>
                </a:solidFill>
                <a:latin typeface="Microsoft YaHei"/>
                <a:ea typeface="Microsoft YaHei"/>
              </a:rPr>
              <a:t>等）。</a:t>
            </a:r>
            <a:endParaRPr/>
          </a:p>
        </p:txBody>
      </p:sp>
      <p:sp>
        <p:nvSpPr>
          <p:cNvPr id="20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0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标准化要点</a:t>
            </a:r>
            <a:endParaRPr/>
          </a:p>
        </p:txBody>
      </p:sp>
      <p:sp>
        <p:nvSpPr>
          <p:cNvPr id="206"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PRP </a:t>
            </a:r>
            <a:r>
              <a:rPr lang="zh-CN" sz="1275">
                <a:solidFill>
                  <a:srgbClr val="2C3E50"/>
                </a:solidFill>
                <a:latin typeface="Microsoft YaHei"/>
                <a:ea typeface="Microsoft YaHei"/>
              </a:rPr>
              <a:t>血小板数需调至标准范围（如</a:t>
            </a:r>
            <a:r>
              <a:rPr lang="en-US" sz="1275">
                <a:solidFill>
                  <a:srgbClr val="2C3E50"/>
                </a:solidFill>
                <a:latin typeface="Microsoft YaHei"/>
                <a:ea typeface="Microsoft YaHei"/>
              </a:rPr>
              <a:t> 150–300×10^9/L</a:t>
            </a:r>
            <a:r>
              <a:rPr lang="zh-CN" sz="1275">
                <a:solidFill>
                  <a:srgbClr val="2C3E50"/>
                </a:solidFill>
                <a:latin typeface="Microsoft YaHei"/>
                <a:ea typeface="Microsoft YaHei"/>
              </a:rPr>
              <a:t>）；采血后</a:t>
            </a:r>
            <a:r>
              <a:rPr lang="en-US" sz="1275">
                <a:solidFill>
                  <a:srgbClr val="2C3E50"/>
                </a:solidFill>
                <a:latin typeface="Microsoft YaHei"/>
                <a:ea typeface="Microsoft YaHei"/>
              </a:rPr>
              <a:t> 2–4 </a:t>
            </a:r>
            <a:r>
              <a:rPr lang="zh-CN" sz="1275">
                <a:solidFill>
                  <a:srgbClr val="2C3E50"/>
                </a:solidFill>
                <a:latin typeface="Microsoft YaHei"/>
                <a:ea typeface="Microsoft YaHei"/>
              </a:rPr>
              <a:t>小时内完成；双复管判读；异常曲线需结合分泌试验与流式进一步分型。</a:t>
            </a:r>
            <a:endParaRPr/>
          </a:p>
        </p:txBody>
      </p:sp>
      <p:sp>
        <p:nvSpPr>
          <p:cNvPr id="20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0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20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21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211"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LTA </a:t>
            </a:r>
            <a:r>
              <a:rPr lang="zh-CN" sz="1275">
                <a:solidFill>
                  <a:srgbClr val="2C3E50"/>
                </a:solidFill>
                <a:latin typeface="Microsoft YaHei"/>
                <a:ea typeface="Microsoft YaHei"/>
              </a:rPr>
              <a:t>信息最丰富但最“娇气”：对标本质量与操作者要求高，是血小板病诊断的参考方法。</a:t>
            </a:r>
            <a:endParaRPr/>
          </a:p>
        </p:txBody>
      </p:sp>
      <p:sp>
        <p:nvSpPr>
          <p:cNvPr id="212"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213"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2013;11:1183-1189 (PMID 23574625)</a:t>
            </a:r>
            <a:endParaRPr/>
          </a:p>
        </p:txBody>
      </p:sp>
      <p:sp>
        <p:nvSpPr>
          <p:cNvPr id="214" name=""/>
          <p:cNvSpPr/>
          <p:nvPr/>
        </p:nvSpPr>
        <p:spPr>
          <a:xfrm rot="0" flipH="0" flipV="0">
            <a:off x="0" y="6324600"/>
            <a:ext cx="12192000" cy="342900"/>
          </a:xfrm>
          <a:prstGeom prst="rect">
            <a:avLst/>
          </a:prstGeom>
          <a:solidFill>
            <a:srgbClr val="F7F9FC"/>
          </a:solidFill>
          <a:ln/>
        </p:spPr>
        <p:txBody>
          <a:bodyPr/>
          <a:p/>
        </p:txBody>
      </p:sp>
      <p:sp>
        <p:nvSpPr>
          <p:cNvPr id="215"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216"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8.xml><?xml version="1.0" encoding="utf-8"?>
<p:sld xmlns:p="http://schemas.openxmlformats.org/presentationml/2006/main" xmlns:r="http://schemas.openxmlformats.org/officeDocument/2006/relationships" xmlns:a="http://schemas.openxmlformats.org/drawingml/2006/main">
  <p:cSld>
    <p:spTree>
      <p:nvGrpSpPr>
        <p:cNvPr id="217" name="" descr="&lt;Slide notes={`演讲者备注：【CATTANEO-MULTI】血小板计数影响全血阻抗聚集（Multiplate）结果：严重血小板减少时阻抗法敏感性下降，解读需结合计数。证据：J Thromb Haemost 2013;11:2193-2196，PMID 24148217。&#13;&#10;【FNX-OVERVIEW】血小板功能检测在冠脉介入中的角色演变综述：从 LTA 到床旁设备的可及性提高，但其对缺血/出血结局预测的增量价值仍存争议。证据：Vasc Health Risk Manag 2012;8:65-75，PMID 22371653。&#13;&#10;讲解提示：强调血小板数依赖——临床上对 PLT&lt;50×10^9/L 者解读阻抗法结果要打折扣，这也是“功能检测与计数必须同看”的又一例证。`}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全血阻抗法：Multiplate 与床旁抗栓监测&lt;/Text&gt;&#13;&#10;    &lt;/Box&gt;&#13;&#10;    &lt;Text style={{ position: 'absolute', right: 64, top: 24, fontSize: 15, color: '#9DB8E0' }}&gt;18 / 77&lt;/Text&gt;&#13;&#10;  &lt;/Box&gt;&#13;&#10;  &lt;Box style={{ position: 'absolute', left: 64, top: 100, width: 560 }}&gt;&#13;&#10;    &lt;Image style={{ width: 560, height: 470, borderRadius: 10, objectFit: 'contain' }} src={'C:/Users/lenovo/WorkBuddy/2026-09-06-22-29-36/血小板PLT/assets_fixed/plt_multiplate__PMC4056078_b1.png'} /&gt;&#13;&#10;&#13;&#10;  &lt;/Box&gt;&#13;&#10;  &lt;Box style={{ position: 'absolute', left: 664, top: 100, width: 552, height: 62, background: '#F0F5FC', borderRadius: 12, border: '1px solid #E5E7EB', padding: 20 }}&gt;&#13;&#10;&lt;Text style={{ fontSize: 18, color: '#0E3F8C', fontWeight: 'bold', textAlign: 'left', lineHeight: 1.5 }}&gt;原理&lt;/Text&gt;&#13;&#10;&lt;Text style={{ fontSize: 16, color: '#2C3E50', textAlign: 'left', lineHeight: 1.58 }}&gt;全血中血小板聚集到电极表面使电阻抗增大，以曲线下面积（AUC/U）报告；不需制备 PRP，接近生理红细胞比容环境，操作简便。&lt;/Text&gt;&#13;&#10;  &lt;/Box&gt;&#13;&#10;  &lt;Box style={{ position: 'absolute', left: 664, top: 178, width: 552, height: 62, background: '#F0F5FC', borderRadius: 12, border: '1px solid #E5E7EB', padding: 20 }}&gt;&#13;&#10;&lt;Text style={{ fontSize: 18, color: '#0E3F8C', fontWeight: 'bold', textAlign: 'left', lineHeight: 1.5 }}&gt;常用试剂与场景&lt;/Text&gt;&#13;&#10;&lt;Text style={{ fontSize: 16, color: '#2C3E50', textAlign: 'left', lineHeight: 1.58 }}&gt;ADPtest/ASPItest/TRAPtest/ristocetin 分别对应 P2Y12 通路、阿司匹林、凝血酶受体通路与 vWF 功能；广泛用于 PCI 后抗血小板监测与围术期出血评估。&lt;/Text&gt;&#13;&#10;  &lt;/Box&gt;&#13;&#10;  &lt;Box style={{ position: 'absolute', left: 664, top: 256, width: 552, height: 62, background: '#F0F5FC', borderRadius: 12, border: '1px solid #E5E7EB', padding: 20 }}&gt;&#13;&#10;&lt;Text style={{ fontSize: 18, color: '#0E3F8C', fontWeight: 'bold', textAlign: 'left', lineHeight: 1.5 }}&gt;注意与局限&lt;/Text&gt;&#13;&#10;&lt;Text style={{ fontSize: 16, color: '#2C3E50', textAlign: 'left', lineHeight: 1.58 }}&gt;血小板计数过低（如 &amp;lt;50–100×10^9/L）时敏感性下降、结果不可靠（与 Cattaneo 研究一致）；贫血/高脂等也可影响阻抗信号；不同试剂-仪器间结果不可互换。&lt;/Text&gt;&#13;&#10;  &lt;/Box&gt;&#13;&#10;  &lt;Box style={{ position: 'absolute', left: 664, top: 334, width: 552, height: 62, background: '#F0F5FC', borderRadius: 12, border: '1px solid #E5E7EB', padding: 20 }}&gt;&#13;&#10;&lt;Text style={{ fontSize: 18, color: '#0E3F8C', fontWeight: 'bold', textAlign: 'left', lineHeight: 1.5 }}&gt;小结&lt;/Text&gt;&#13;&#10;&lt;Text style={{ fontSize: 16, color: '#2C3E50', textAlign: 'left', lineHeight: 1.58 }}&gt;&lt;/Text&gt;&#13;&#10;  &lt;/Box&gt;&#13;&#10;  &lt;Box style={{ position: 'absolute', left: 664, top: 412, width: 552, height: 62, background: '#F0F5FC', borderRadius: 12, border: '1px solid #E5E7EB', padding: 20 }}&gt;&#13;&#10;&lt;Text style={{ fontSize: 16, color: '#2C3E50', textAlign: 'left', lineHeight: 1.58 }}&gt;阻抗法把 LTA“搬进全血”：牺牲部分通路分辨率，换来简便与可及。&lt;/Text&gt;&#13;&#10;  &lt;/Box&gt;&#13;&#10;  &lt;Box style={{ position: 'absolute', left: 64, top: 494, width: 1152, height: 76, background: '#F0F5FC', borderRadius: 12, border: '1px solid #E5E7EB', padding: 20 }}&gt;&#13;&#10;&lt;Text style={{ fontSize: 16, color: '#2C3E50', textAlign: 'left', lineHeight: 1.55 }}&gt;小结：J Thromb Haemost 2013;11:2193-2196 (PMID 24148217)&lt;/Text&gt;&#13;&#10;  &lt;/Box&gt;&#13;&#10;  &lt;Box style={{ position: 'absolute', left: 64, top: 606, width: 1152, height: 40, background: '#F0F5FC', borderRadius: 12, border: '1px solid #E5E7EB', padding: 20 }}&gt;&#13;&#10;&lt;Text style={{ fontSize: 14, color: '#6B7B8C', textAlign: 'center', lineHeight: 1.5 }}&gt;多电极阻抗聚集（Multiplate）原理与典型曲线&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218" name=""/>
          <p:cNvSpPr/>
          <p:nvPr/>
        </p:nvSpPr>
        <p:spPr>
          <a:xfrm rot="0" flipH="0" flipV="0">
            <a:off x="0" y="0"/>
            <a:ext cx="12192000" cy="6858000"/>
          </a:xfrm>
          <a:prstGeom prst="rect">
            <a:avLst/>
          </a:prstGeom>
          <a:solidFill>
            <a:srgbClr val="FFFFFF"/>
          </a:solidFill>
          <a:ln/>
        </p:spPr>
        <p:txBody>
          <a:bodyPr/>
          <a:p/>
        </p:txBody>
      </p:sp>
      <p:sp>
        <p:nvSpPr>
          <p:cNvPr id="219" name=""/>
          <p:cNvSpPr/>
          <p:nvPr/>
        </p:nvSpPr>
        <p:spPr>
          <a:xfrm rot="0" flipH="0" flipV="0">
            <a:off x="0" y="0"/>
            <a:ext cx="12192000" cy="685800"/>
          </a:xfrm>
          <a:prstGeom prst="rect">
            <a:avLst/>
          </a:prstGeom>
          <a:solidFill>
            <a:srgbClr val="0E3F8C"/>
          </a:solidFill>
          <a:ln/>
        </p:spPr>
        <p:txBody>
          <a:bodyPr/>
          <a:p/>
        </p:txBody>
      </p:sp>
      <p:sp>
        <p:nvSpPr>
          <p:cNvPr id="220"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221" name=""/>
          <p:cNvSpPr/>
          <p:nvPr/>
        </p:nvSpPr>
        <p:spPr>
          <a:xfrm rot="0" flipH="0" flipV="0">
            <a:off x="3048000" y="209550"/>
            <a:ext cx="9525" cy="228600"/>
          </a:xfrm>
          <a:prstGeom prst="rect">
            <a:avLst/>
          </a:prstGeom>
          <a:solidFill>
            <a:srgbClr val="3D7BD9"/>
          </a:solidFill>
          <a:ln/>
        </p:spPr>
        <p:txBody>
          <a:bodyPr/>
          <a:p/>
        </p:txBody>
      </p:sp>
      <p:sp>
        <p:nvSpPr>
          <p:cNvPr id="222" name="" descr="{&quot;isTemplate&quot;:true,&quot;type&quot;:&quot;text&quot;}"/>
          <p:cNvSpPr txBox="1"/>
          <p:nvPr/>
        </p:nvSpPr>
        <p:spPr>
          <a:xfrm rot="0" flipH="0" flipV="0">
            <a:off x="3209925" y="228600"/>
            <a:ext cx="2771775" cy="190500"/>
          </a:xfrm>
          <a:prstGeom prst="rect"/>
        </p:spPr>
        <p:txBody>
          <a:bodyPr wrap="none" lIns="0" tIns="0" rIns="0" bIns="0"/>
          <a:p>
            <a:pPr>
              <a:lnSpc>
                <a:spcPct val="100000"/>
              </a:lnSpc>
            </a:pPr>
            <a:r>
              <a:rPr lang="zh-CN" sz="1200">
                <a:solidFill>
                  <a:srgbClr val="C7D6EC"/>
                </a:solidFill>
                <a:latin typeface="Microsoft YaHei"/>
                <a:ea typeface="Microsoft YaHei"/>
              </a:rPr>
              <a:t>全血阻抗法：</a:t>
            </a:r>
            <a:r>
              <a:rPr lang="en-US" sz="1200">
                <a:solidFill>
                  <a:srgbClr val="C7D6EC"/>
                </a:solidFill>
                <a:latin typeface="Microsoft YaHei"/>
                <a:ea typeface="Microsoft YaHei"/>
              </a:rPr>
              <a:t>Multiplate </a:t>
            </a:r>
            <a:r>
              <a:rPr lang="zh-CN" sz="1200">
                <a:solidFill>
                  <a:srgbClr val="C7D6EC"/>
                </a:solidFill>
                <a:latin typeface="Microsoft YaHei"/>
                <a:ea typeface="Microsoft YaHei"/>
              </a:rPr>
              <a:t>与床旁抗栓监测</a:t>
            </a:r>
            <a:endParaRPr/>
          </a:p>
        </p:txBody>
      </p:sp>
      <p:sp>
        <p:nvSpPr>
          <p:cNvPr id="223"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18 / 77</a:t>
            </a:r>
            <a:endParaRPr/>
          </a:p>
        </p:txBody>
      </p:sp>
      <p:pic>
        <p:nvPicPr>
          <p:cNvPr id="224" name=""/>
          <p:cNvPicPr>
            <a:picLocks noChangeAspect="1"/>
          </p:cNvPicPr>
          <p:nvPr/>
        </p:nvPicPr>
        <p:blipFill>
          <a:blip r:embed="rId1"/>
          <a:srcRect l="0" t="18526" r="0" b="18526"/>
          <a:stretch>
            <a:fillRect/>
          </a:stretch>
        </p:blipFill>
        <p:spPr>
          <a:xfrm rot="0" flipH="0" flipV="0">
            <a:off x="609600" y="952500"/>
            <a:ext cx="5334000" cy="4476750"/>
          </a:xfrm>
          <a:prstGeom prst="roundRect">
            <a:avLst>
              <a:gd name="adj" fmla="val 2128"/>
            </a:avLst>
          </a:prstGeom>
          <a:ln/>
        </p:spPr>
      </p:pic>
      <p:sp>
        <p:nvSpPr>
          <p:cNvPr id="225" name=""/>
          <p:cNvSpPr/>
          <p:nvPr/>
        </p:nvSpPr>
        <p:spPr>
          <a:xfrm rot="0" flipH="0" flipV="0">
            <a:off x="6324600" y="9525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226"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原理</a:t>
            </a:r>
            <a:endParaRPr/>
          </a:p>
        </p:txBody>
      </p:sp>
      <p:sp>
        <p:nvSpPr>
          <p:cNvPr id="227" name="" descr="{&quot;isTemplate&quot;:true,&quot;type&quot;:&quot;text&quot;}"/>
          <p:cNvSpPr txBox="1"/>
          <p:nvPr/>
        </p:nvSpPr>
        <p:spPr>
          <a:xfrm rot="0" flipH="0" flipV="0">
            <a:off x="6515100" y="1457325"/>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全血中血小板聚集到电极表面使电阻抗增大，以曲线下面积（</a:t>
            </a:r>
            <a:r>
              <a:rPr lang="en-US" sz="1200">
                <a:solidFill>
                  <a:srgbClr val="2C3E50"/>
                </a:solidFill>
                <a:latin typeface="Microsoft YaHei"/>
                <a:ea typeface="Microsoft YaHei"/>
              </a:rPr>
              <a:t>AUC/U</a:t>
            </a:r>
            <a:r>
              <a:rPr lang="zh-CN" sz="1200">
                <a:solidFill>
                  <a:srgbClr val="2C3E50"/>
                </a:solidFill>
                <a:latin typeface="Microsoft YaHei"/>
                <a:ea typeface="Microsoft YaHei"/>
              </a:rPr>
              <a:t>）报告；不需制备</a:t>
            </a:r>
            <a:r>
              <a:rPr lang="en-US" sz="1200">
                <a:solidFill>
                  <a:srgbClr val="2C3E50"/>
                </a:solidFill>
                <a:latin typeface="Microsoft YaHei"/>
                <a:ea typeface="Microsoft YaHei"/>
              </a:rPr>
              <a:t> PRP</a:t>
            </a:r>
            <a:r>
              <a:rPr lang="zh-CN" sz="1200">
                <a:solidFill>
                  <a:srgbClr val="2C3E50"/>
                </a:solidFill>
                <a:latin typeface="Microsoft YaHei"/>
                <a:ea typeface="Microsoft YaHei"/>
              </a:rPr>
              <a:t>，接近生理红细胞比容环境，操作简便。</a:t>
            </a:r>
            <a:endParaRPr/>
          </a:p>
        </p:txBody>
      </p:sp>
      <p:sp>
        <p:nvSpPr>
          <p:cNvPr id="228" name=""/>
          <p:cNvSpPr/>
          <p:nvPr/>
        </p:nvSpPr>
        <p:spPr>
          <a:xfrm rot="0" flipH="0" flipV="0">
            <a:off x="6324600" y="16954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229" name="" descr="{&quot;isTemplate&quot;:true,&quot;type&quot;:&quot;text&quot;}"/>
          <p:cNvSpPr txBox="1"/>
          <p:nvPr/>
        </p:nvSpPr>
        <p:spPr>
          <a:xfrm rot="0" flipH="0" flipV="0">
            <a:off x="6515100" y="18859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常用试剂与场景</a:t>
            </a:r>
            <a:endParaRPr/>
          </a:p>
        </p:txBody>
      </p:sp>
      <p:sp>
        <p:nvSpPr>
          <p:cNvPr id="230" name="" descr="{&quot;isTemplate&quot;:true,&quot;type&quot;:&quot;text&quot;}"/>
          <p:cNvSpPr txBox="1"/>
          <p:nvPr/>
        </p:nvSpPr>
        <p:spPr>
          <a:xfrm rot="0" flipH="0" flipV="0">
            <a:off x="6515100" y="2200275"/>
            <a:ext cx="4876800" cy="876300"/>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ADPtest/ASPItest/TRAPtest/ristocetin </a:t>
            </a:r>
            <a:r>
              <a:rPr lang="zh-CN" sz="1200">
                <a:solidFill>
                  <a:srgbClr val="2C3E50"/>
                </a:solidFill>
                <a:latin typeface="Microsoft YaHei"/>
                <a:ea typeface="Microsoft YaHei"/>
              </a:rPr>
              <a:t>分别对应</a:t>
            </a:r>
            <a:r>
              <a:rPr lang="en-US" sz="1200">
                <a:solidFill>
                  <a:srgbClr val="2C3E50"/>
                </a:solidFill>
                <a:latin typeface="Microsoft YaHei"/>
                <a:ea typeface="Microsoft YaHei"/>
              </a:rPr>
              <a:t> P2Y12 </a:t>
            </a:r>
            <a:r>
              <a:rPr lang="zh-CN" sz="1200">
                <a:solidFill>
                  <a:srgbClr val="2C3E50"/>
                </a:solidFill>
                <a:latin typeface="Microsoft YaHei"/>
                <a:ea typeface="Microsoft YaHei"/>
              </a:rPr>
              <a:t>通路、阿司匹林、凝血酶受体通路与</a:t>
            </a:r>
            <a:r>
              <a:rPr lang="en-US" sz="1200">
                <a:solidFill>
                  <a:srgbClr val="2C3E50"/>
                </a:solidFill>
                <a:latin typeface="Microsoft YaHei"/>
                <a:ea typeface="Microsoft YaHei"/>
              </a:rPr>
              <a:t> vWF </a:t>
            </a:r>
            <a:r>
              <a:rPr lang="zh-CN" sz="1200">
                <a:solidFill>
                  <a:srgbClr val="2C3E50"/>
                </a:solidFill>
                <a:latin typeface="Microsoft YaHei"/>
                <a:ea typeface="Microsoft YaHei"/>
              </a:rPr>
              <a:t>功能；广泛用于</a:t>
            </a:r>
            <a:r>
              <a:rPr lang="en-US" sz="1200">
                <a:solidFill>
                  <a:srgbClr val="2C3E50"/>
                </a:solidFill>
                <a:latin typeface="Microsoft YaHei"/>
                <a:ea typeface="Microsoft YaHei"/>
              </a:rPr>
              <a:t> PCI </a:t>
            </a:r>
            <a:r>
              <a:rPr lang="zh-CN" sz="1200">
                <a:solidFill>
                  <a:srgbClr val="2C3E50"/>
                </a:solidFill>
                <a:latin typeface="Microsoft YaHei"/>
                <a:ea typeface="Microsoft YaHei"/>
              </a:rPr>
              <a:t>后抗血小板监测与围术期出血评估。</a:t>
            </a:r>
            <a:endParaRPr/>
          </a:p>
        </p:txBody>
      </p:sp>
      <p:sp>
        <p:nvSpPr>
          <p:cNvPr id="231" name=""/>
          <p:cNvSpPr/>
          <p:nvPr/>
        </p:nvSpPr>
        <p:spPr>
          <a:xfrm rot="0" flipH="0" flipV="0">
            <a:off x="6324600" y="24384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232" name="" descr="{&quot;isTemplate&quot;:true,&quot;type&quot;:&quot;text&quot;}"/>
          <p:cNvSpPr txBox="1"/>
          <p:nvPr/>
        </p:nvSpPr>
        <p:spPr>
          <a:xfrm rot="0" flipH="0" flipV="0">
            <a:off x="6515100" y="2628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注意与局限</a:t>
            </a:r>
            <a:endParaRPr/>
          </a:p>
        </p:txBody>
      </p:sp>
      <p:sp>
        <p:nvSpPr>
          <p:cNvPr id="233" name="" descr="{&quot;isTemplate&quot;:true,&quot;type&quot;:&quot;text&quot;}"/>
          <p:cNvSpPr txBox="1"/>
          <p:nvPr/>
        </p:nvSpPr>
        <p:spPr>
          <a:xfrm rot="0" flipH="0" flipV="0">
            <a:off x="6515100" y="294322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血小板计数过低（如</a:t>
            </a:r>
            <a:r>
              <a:rPr lang="en-US" sz="1200">
                <a:solidFill>
                  <a:srgbClr val="2C3E50"/>
                </a:solidFill>
                <a:latin typeface="Microsoft YaHei"/>
                <a:ea typeface="Microsoft YaHei"/>
              </a:rPr>
              <a:t> &lt;50–100×10^9/L</a:t>
            </a:r>
            <a:r>
              <a:rPr lang="zh-CN" sz="1200">
                <a:solidFill>
                  <a:srgbClr val="2C3E50"/>
                </a:solidFill>
                <a:latin typeface="Microsoft YaHei"/>
                <a:ea typeface="Microsoft YaHei"/>
              </a:rPr>
              <a:t>）时敏感性下降、结果不可靠（与</a:t>
            </a:r>
            <a:r>
              <a:rPr lang="en-US" sz="1200">
                <a:solidFill>
                  <a:srgbClr val="2C3E50"/>
                </a:solidFill>
                <a:latin typeface="Microsoft YaHei"/>
                <a:ea typeface="Microsoft YaHei"/>
              </a:rPr>
              <a:t> Cattaneo </a:t>
            </a:r>
            <a:r>
              <a:rPr lang="zh-CN" sz="1200">
                <a:solidFill>
                  <a:srgbClr val="2C3E50"/>
                </a:solidFill>
                <a:latin typeface="Microsoft YaHei"/>
                <a:ea typeface="Microsoft YaHei"/>
              </a:rPr>
              <a:t>研究一致）；贫血</a:t>
            </a:r>
            <a:r>
              <a:rPr lang="en-US" sz="1200">
                <a:solidFill>
                  <a:srgbClr val="2C3E50"/>
                </a:solidFill>
                <a:latin typeface="Microsoft YaHei"/>
                <a:ea typeface="Microsoft YaHei"/>
              </a:rPr>
              <a:t>/</a:t>
            </a:r>
            <a:r>
              <a:rPr lang="zh-CN" sz="1200">
                <a:solidFill>
                  <a:srgbClr val="2C3E50"/>
                </a:solidFill>
                <a:latin typeface="Microsoft YaHei"/>
                <a:ea typeface="Microsoft YaHei"/>
              </a:rPr>
              <a:t>高脂等也可影响阻抗信号；不同试剂</a:t>
            </a:r>
            <a:r>
              <a:rPr lang="en-US" sz="1200">
                <a:solidFill>
                  <a:srgbClr val="2C3E50"/>
                </a:solidFill>
                <a:latin typeface="Microsoft YaHei"/>
                <a:ea typeface="Microsoft YaHei"/>
              </a:rPr>
              <a:t>-</a:t>
            </a:r>
            <a:r>
              <a:rPr lang="zh-CN" sz="1200">
                <a:solidFill>
                  <a:srgbClr val="2C3E50"/>
                </a:solidFill>
                <a:latin typeface="Microsoft YaHei"/>
                <a:ea typeface="Microsoft YaHei"/>
              </a:rPr>
              <a:t>仪器间结果不可互换。</a:t>
            </a:r>
            <a:endParaRPr/>
          </a:p>
        </p:txBody>
      </p:sp>
      <p:sp>
        <p:nvSpPr>
          <p:cNvPr id="234" name=""/>
          <p:cNvSpPr/>
          <p:nvPr/>
        </p:nvSpPr>
        <p:spPr>
          <a:xfrm rot="0" flipH="0" flipV="0">
            <a:off x="6324600" y="31813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235" name="" descr="{&quot;isTemplate&quot;:true,&quot;type&quot;:&quot;text&quot;}"/>
          <p:cNvSpPr txBox="1"/>
          <p:nvPr/>
        </p:nvSpPr>
        <p:spPr>
          <a:xfrm rot="0" flipH="0" flipV="0">
            <a:off x="6515100" y="33718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236" name="" descr="{&quot;isTemplate&quot;:true,&quot;type&quot;:&quot;text&quot;}"/>
          <p:cNvSpPr txBox="1"/>
          <p:nvPr/>
        </p:nvSpPr>
        <p:spPr>
          <a:xfrm rot="0" flipH="0" flipV="0">
            <a:off x="6515100" y="3686175"/>
            <a:ext cx="4876800" cy="0"/>
          </a:xfrm>
          <a:prstGeom prst="rect"/>
        </p:spPr>
        <p:txBody>
          <a:bodyPr wrap="none" lIns="0" tIns="0" rIns="0" bIns="0"/>
          <a:p>
            <a:pPr/>
            <a:endParaRPr/>
          </a:p>
        </p:txBody>
      </p:sp>
      <p:sp>
        <p:nvSpPr>
          <p:cNvPr id="237" name=""/>
          <p:cNvSpPr/>
          <p:nvPr/>
        </p:nvSpPr>
        <p:spPr>
          <a:xfrm rot="0" flipH="0" flipV="0">
            <a:off x="6324600" y="39243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238" name="" descr="{&quot;isTemplate&quot;:true,&quot;type&quot;:&quot;text&quot;}"/>
          <p:cNvSpPr txBox="1"/>
          <p:nvPr/>
        </p:nvSpPr>
        <p:spPr>
          <a:xfrm rot="0" flipH="0" flipV="0">
            <a:off x="6515100" y="4114800"/>
            <a:ext cx="4876800" cy="295275"/>
          </a:xfrm>
          <a:prstGeom prst="rect"/>
        </p:spPr>
        <p:txBody>
          <a:bodyPr wrap="none" lIns="0" tIns="0" rIns="0" bIns="0"/>
          <a:p>
            <a:pPr algn="l">
              <a:lnSpc>
                <a:spcPct val="158000"/>
              </a:lnSpc>
            </a:pPr>
            <a:r>
              <a:rPr lang="zh-CN" sz="1200">
                <a:solidFill>
                  <a:srgbClr val="2C3E50"/>
                </a:solidFill>
                <a:latin typeface="Microsoft YaHei"/>
                <a:ea typeface="Microsoft YaHei"/>
              </a:rPr>
              <a:t>阻抗法把</a:t>
            </a:r>
            <a:r>
              <a:rPr lang="en-US" sz="1200">
                <a:solidFill>
                  <a:srgbClr val="2C3E50"/>
                </a:solidFill>
                <a:latin typeface="Microsoft YaHei"/>
                <a:ea typeface="Microsoft YaHei"/>
              </a:rPr>
              <a:t> LTA“</a:t>
            </a:r>
            <a:r>
              <a:rPr lang="zh-CN" sz="1200">
                <a:solidFill>
                  <a:srgbClr val="2C3E50"/>
                </a:solidFill>
                <a:latin typeface="Microsoft YaHei"/>
                <a:ea typeface="Microsoft YaHei"/>
              </a:rPr>
              <a:t>搬进全血”：牺牲部分通路分辨率，换来简便与可及。</a:t>
            </a:r>
            <a:endParaRPr/>
          </a:p>
        </p:txBody>
      </p:sp>
      <p:sp>
        <p:nvSpPr>
          <p:cNvPr id="239"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240"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J Thromb Haemost 2013;11:2193-2196 (PMID 24148217)</a:t>
            </a:r>
            <a:endParaRPr/>
          </a:p>
        </p:txBody>
      </p:sp>
      <p:sp>
        <p:nvSpPr>
          <p:cNvPr id="241"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242"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zh-CN" sz="1050">
                <a:solidFill>
                  <a:srgbClr val="6B7B8C"/>
                </a:solidFill>
                <a:latin typeface="Microsoft YaHei"/>
                <a:ea typeface="Microsoft YaHei"/>
              </a:rPr>
              <a:t>多电极阻抗聚集（</a:t>
            </a:r>
            <a:r>
              <a:rPr lang="en-US" sz="1050">
                <a:solidFill>
                  <a:srgbClr val="6B7B8C"/>
                </a:solidFill>
                <a:latin typeface="Microsoft YaHei"/>
                <a:ea typeface="Microsoft YaHei"/>
              </a:rPr>
              <a:t>Multiplate</a:t>
            </a:r>
            <a:r>
              <a:rPr lang="zh-CN" sz="1050">
                <a:solidFill>
                  <a:srgbClr val="6B7B8C"/>
                </a:solidFill>
                <a:latin typeface="Microsoft YaHei"/>
                <a:ea typeface="Microsoft YaHei"/>
              </a:rPr>
              <a:t>）原理与典型曲线</a:t>
            </a:r>
            <a:endParaRPr/>
          </a:p>
        </p:txBody>
      </p:sp>
      <p:sp>
        <p:nvSpPr>
          <p:cNvPr id="243" name=""/>
          <p:cNvSpPr/>
          <p:nvPr/>
        </p:nvSpPr>
        <p:spPr>
          <a:xfrm rot="0" flipH="0" flipV="0">
            <a:off x="0" y="6324600"/>
            <a:ext cx="12192000" cy="342900"/>
          </a:xfrm>
          <a:prstGeom prst="rect">
            <a:avLst/>
          </a:prstGeom>
          <a:solidFill>
            <a:srgbClr val="F7F9FC"/>
          </a:solidFill>
          <a:ln/>
        </p:spPr>
        <p:txBody>
          <a:bodyPr/>
          <a:p/>
        </p:txBody>
      </p:sp>
      <p:sp>
        <p:nvSpPr>
          <p:cNvPr id="24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24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19.xml><?xml version="1.0" encoding="utf-8"?>
<p:sld xmlns:p="http://schemas.openxmlformats.org/presentationml/2006/main" xmlns:r="http://schemas.openxmlformats.org/officeDocument/2006/relationships" xmlns:a="http://schemas.openxmlformats.org/drawingml/2006/main">
  <p:cSld>
    <p:spTree>
      <p:nvGrpSpPr>
        <p:cNvPr id="246" name="" descr="&lt;Slide notes={`演讲者备注：【PRICE-GRAVITAS】GRAVITAS：PCI 后高残留血小板反应者给予高剂量氯吡格雷未降低 6 个月缺血事件，显示常规床旁血小板功能监测导向调药的获益有限。证据：JAMA 2011;305:1097-1105，PMID 21406646。&#13;&#10;【FNX-OVERVIEW】血小板功能检测在冠脉介入中的角色演变综述：从 LTA 到床旁设备的可及性提高，但其对缺血/出血结局预测的增量价值仍存争议。证据：Vasc Health Risk Manag 2012;8:65-75，PMID 22371653。&#13;&#10;讲解提示：预告第八章“抗血小板治疗监测”页将展开 GRAVITAS/ANTARCTIC 两个阴性试验的完整故事——方法可用≠监测带来获益，本页先讲清楚设备读出什么。`}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床旁快速检测：VerifyNow（P2Y12/AA）&lt;/Text&gt;&#13;&#10;    &lt;/Box&gt;&#13;&#10;    &lt;Text style={{ position: 'absolute', right: 64, top: 24, fontSize: 15, color: '#9DB8E0' }}&gt;19 / 77&lt;/Text&gt;&#13;&#10;  &lt;/Box&gt;&#13;&#10;  &lt;Box style={{ position: 'absolute', left: 64, top: 100, width: 560 }}&gt;&#13;&#10;    &lt;Image style={{ width: 560, height: 470, borderRadius: 10, objectFit: 'contain' }} src={'C:/Users/lenovo/WorkBuddy/2026-09-06-22-29-36/血小板PLT/assets_fixed/plt_verifynow__PMC4340464_p5_37.png'} /&gt;&#13;&#10;&#13;&#10;  &lt;/Box&gt;&#13;&#10;  &lt;Box style={{ position: 'absolute', left: 664, top: 100, width: 552, height: 82, background: '#F0F5FC', borderRadius: 12, border: '1px solid #E5E7EB', padding: 20 }}&gt;&#13;&#10;&lt;Text style={{ fontSize: 18, color: '#0E3F8C', fontWeight: 'bold', textAlign: 'left', lineHeight: 1.5 }}&gt;原理&lt;/Text&gt;&#13;&#10;&lt;Text style={{ fontSize: 16, color: '#2C3E50', textAlign: 'left', lineHeight: 1.58 }}&gt;全血与试剂杯中纤维蛋白原包被珠及诱导剂混合，活化血小板与珠聚集使透光率上升，以 PRU（P2Y12 反应单位）或 ARU（阿司匹林反应单位）报告。&lt;/Text&gt;&#13;&#10;  &lt;/Box&gt;&#13;&#10;  &lt;Box style={{ position: 'absolute', left: 664, top: 198, width: 552, height: 82, background: '#F0F5FC', borderRadius: 12, border: '1px solid #E5E7EB', padding: 20 }}&gt;&#13;&#10;&lt;Text style={{ fontSize: 18, color: '#0E3F8C', fontWeight: 'bold', textAlign: 'left', lineHeight: 1.5 }}&gt;读出什么&lt;/Text&gt;&#13;&#10;&lt;Text style={{ fontSize: 16, color: '#2C3E50', textAlign: 'left', lineHeight: 1.58 }}&gt;PRU 反映 P2Y12 通路残余反应性：高 PRU 提示氯吡格雷低反应（HPR）；检测快速（约 10 分钟）、全血微量，适合导管室/床旁即时决策。&lt;/Text&gt;&#13;&#10;  &lt;/Box&gt;&#13;&#10;  &lt;Box style={{ position: 'absolute', left: 664, top: 296, width: 552, height: 82, background: '#F0F5FC', borderRadius: 12, border: '1px solid #E5E7EB', padding: 20 }}&gt;&#13;&#10;&lt;Text style={{ fontSize: 18, color: '#0E3F8C', fontWeight: 'bold', textAlign: 'left', lineHeight: 1.5 }}&gt;临床证据与边界&lt;/Text&gt;&#13;&#10;&lt;Text style={{ fontSize: 16, color: '#2C3E50', textAlign: 'left', lineHeight: 1.58 }}&gt;GRAVITAS 等研究显示以 PRU 指导加量未改善缺血结局，但 PRU 作为危险分层（HPR 与支架血栓相关）仍被认可；结果受采血后时间、血小板数、GPIIb/IIIa 类药影响。&lt;/Text&gt;&#13;&#10;  &lt;/Box&gt;&#13;&#10;  &lt;Box style={{ position: 'absolute', left: 664, top: 394, width: 552, height: 82, background: '#F0F5FC', borderRadius: 12, border: '1px solid #E5E7EB', padding: 20 }}&gt;&#13;&#10;&lt;Text style={{ fontSize: 18, color: '#0E3F8C', fontWeight: 'bold', textAlign: 'left', lineHeight: 1.5 }}&gt;小结&lt;/Text&gt;&#13;&#10;&lt;Text style={{ fontSize: 16, color: '#2C3E50', textAlign: 'left', lineHeight: 1.58 }}&gt;VerifyNow 的价值在“分层与筛查”而非“常规调药”；与临床场景（见第八章抗血小板监测）配套解读。&lt;/Text&gt;&#13;&#10;  &lt;/Box&gt;&#13;&#10;  &lt;Box style={{ position: 'absolute', left: 64, top: 494, width: 1152, height: 76, background: '#F0F5FC', borderRadius: 12, border: '1px solid #E5E7EB', padding: 20 }}&gt;&#13;&#10;&lt;Text style={{ fontSize: 16, color: '#2C3E50', textAlign: 'left', lineHeight: 1.55 }}&gt;小结：JAMA 2011;305:1097-1105 (PMID 21406646)&lt;/Text&gt;&#13;&#10;  &lt;/Box&gt;&#13;&#10;  &lt;Box style={{ position: 'absolute', left: 64, top: 606, width: 1152, height: 40, background: '#F0F5FC', borderRadius: 12, border: '1px solid #E5E7EB', padding: 20 }}&gt;&#13;&#10;&lt;Text style={{ fontSize: 14, color: '#6B7B8C', textAlign: 'center', lineHeight: 1.5 }}&gt;VerifyNow P2Y12 反应单位（PRU）检测原理&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247" name=""/>
          <p:cNvSpPr/>
          <p:nvPr/>
        </p:nvSpPr>
        <p:spPr>
          <a:xfrm rot="0" flipH="0" flipV="0">
            <a:off x="0" y="0"/>
            <a:ext cx="12192000" cy="6858000"/>
          </a:xfrm>
          <a:prstGeom prst="rect">
            <a:avLst/>
          </a:prstGeom>
          <a:solidFill>
            <a:srgbClr val="FFFFFF"/>
          </a:solidFill>
          <a:ln/>
        </p:spPr>
        <p:txBody>
          <a:bodyPr/>
          <a:p/>
        </p:txBody>
      </p:sp>
      <p:sp>
        <p:nvSpPr>
          <p:cNvPr id="248" name=""/>
          <p:cNvSpPr/>
          <p:nvPr/>
        </p:nvSpPr>
        <p:spPr>
          <a:xfrm rot="0" flipH="0" flipV="0">
            <a:off x="0" y="0"/>
            <a:ext cx="12192000" cy="685800"/>
          </a:xfrm>
          <a:prstGeom prst="rect">
            <a:avLst/>
          </a:prstGeom>
          <a:solidFill>
            <a:srgbClr val="0E3F8C"/>
          </a:solidFill>
          <a:ln/>
        </p:spPr>
        <p:txBody>
          <a:bodyPr/>
          <a:p/>
        </p:txBody>
      </p:sp>
      <p:sp>
        <p:nvSpPr>
          <p:cNvPr id="249"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250" name=""/>
          <p:cNvSpPr/>
          <p:nvPr/>
        </p:nvSpPr>
        <p:spPr>
          <a:xfrm rot="0" flipH="0" flipV="0">
            <a:off x="3048000" y="209550"/>
            <a:ext cx="9525" cy="228600"/>
          </a:xfrm>
          <a:prstGeom prst="rect">
            <a:avLst/>
          </a:prstGeom>
          <a:solidFill>
            <a:srgbClr val="3D7BD9"/>
          </a:solidFill>
          <a:ln/>
        </p:spPr>
        <p:txBody>
          <a:bodyPr/>
          <a:p/>
        </p:txBody>
      </p:sp>
      <p:sp>
        <p:nvSpPr>
          <p:cNvPr id="251" name="" descr="{&quot;isTemplate&quot;:true,&quot;type&quot;:&quot;text&quot;}"/>
          <p:cNvSpPr txBox="1"/>
          <p:nvPr/>
        </p:nvSpPr>
        <p:spPr>
          <a:xfrm rot="0" flipH="0" flipV="0">
            <a:off x="3209925" y="228600"/>
            <a:ext cx="2867025" cy="190500"/>
          </a:xfrm>
          <a:prstGeom prst="rect"/>
        </p:spPr>
        <p:txBody>
          <a:bodyPr wrap="none" lIns="0" tIns="0" rIns="0" bIns="0"/>
          <a:p>
            <a:pPr>
              <a:lnSpc>
                <a:spcPct val="100000"/>
              </a:lnSpc>
            </a:pPr>
            <a:r>
              <a:rPr lang="zh-CN" sz="1200">
                <a:solidFill>
                  <a:srgbClr val="C7D6EC"/>
                </a:solidFill>
                <a:latin typeface="Microsoft YaHei"/>
                <a:ea typeface="Microsoft YaHei"/>
              </a:rPr>
              <a:t>床旁快速检测：</a:t>
            </a:r>
            <a:r>
              <a:rPr lang="en-US" sz="1200">
                <a:solidFill>
                  <a:srgbClr val="C7D6EC"/>
                </a:solidFill>
                <a:latin typeface="Microsoft YaHei"/>
                <a:ea typeface="Microsoft YaHei"/>
              </a:rPr>
              <a:t>VerifyNow</a:t>
            </a:r>
            <a:r>
              <a:rPr lang="zh-CN" sz="1200">
                <a:solidFill>
                  <a:srgbClr val="C7D6EC"/>
                </a:solidFill>
                <a:latin typeface="Microsoft YaHei"/>
                <a:ea typeface="Microsoft YaHei"/>
              </a:rPr>
              <a:t>（</a:t>
            </a:r>
            <a:r>
              <a:rPr lang="en-US" sz="1200">
                <a:solidFill>
                  <a:srgbClr val="C7D6EC"/>
                </a:solidFill>
                <a:latin typeface="Microsoft YaHei"/>
                <a:ea typeface="Microsoft YaHei"/>
              </a:rPr>
              <a:t>P2Y12/AA</a:t>
            </a:r>
            <a:r>
              <a:rPr lang="zh-CN" sz="1200">
                <a:solidFill>
                  <a:srgbClr val="C7D6EC"/>
                </a:solidFill>
                <a:latin typeface="Microsoft YaHei"/>
                <a:ea typeface="Microsoft YaHei"/>
              </a:rPr>
              <a:t>）</a:t>
            </a:r>
            <a:endParaRPr/>
          </a:p>
        </p:txBody>
      </p:sp>
      <p:sp>
        <p:nvSpPr>
          <p:cNvPr id="25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19 / 77</a:t>
            </a:r>
            <a:endParaRPr/>
          </a:p>
        </p:txBody>
      </p:sp>
      <p:pic>
        <p:nvPicPr>
          <p:cNvPr id="253" name=""/>
          <p:cNvPicPr>
            <a:picLocks noChangeAspect="1"/>
          </p:cNvPicPr>
          <p:nvPr/>
        </p:nvPicPr>
        <p:blipFill>
          <a:blip r:embed="rId1"/>
          <a:srcRect l="0" t="6459" r="0" b="6459"/>
          <a:stretch>
            <a:fillRect/>
          </a:stretch>
        </p:blipFill>
        <p:spPr>
          <a:xfrm rot="0" flipH="0" flipV="0">
            <a:off x="609600" y="952500"/>
            <a:ext cx="5334000" cy="4476750"/>
          </a:xfrm>
          <a:prstGeom prst="roundRect">
            <a:avLst>
              <a:gd name="adj" fmla="val 2128"/>
            </a:avLst>
          </a:prstGeom>
          <a:ln/>
        </p:spPr>
      </p:pic>
      <p:sp>
        <p:nvSpPr>
          <p:cNvPr id="254" name=""/>
          <p:cNvSpPr/>
          <p:nvPr/>
        </p:nvSpPr>
        <p:spPr>
          <a:xfrm rot="0" flipH="0" flipV="0">
            <a:off x="6324600" y="952500"/>
            <a:ext cx="5257800" cy="781050"/>
          </a:xfrm>
          <a:prstGeom prst="roundRect">
            <a:avLst>
              <a:gd name="adj" fmla="val 14634"/>
            </a:avLst>
          </a:prstGeom>
          <a:solidFill>
            <a:srgbClr val="F0F5FC"/>
          </a:solidFill>
          <a:ln w="12700">
            <a:solidFill>
              <a:srgbClr val="E5E7EB"/>
            </a:solidFill>
            <a:prstDash val="solid"/>
          </a:ln>
        </p:spPr>
        <p:txBody>
          <a:bodyPr/>
          <a:p/>
        </p:txBody>
      </p:sp>
      <p:sp>
        <p:nvSpPr>
          <p:cNvPr id="255"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原理</a:t>
            </a:r>
            <a:endParaRPr/>
          </a:p>
        </p:txBody>
      </p:sp>
      <p:sp>
        <p:nvSpPr>
          <p:cNvPr id="256" name="" descr="{&quot;isTemplate&quot;:true,&quot;type&quot;:&quot;text&quot;}"/>
          <p:cNvSpPr txBox="1"/>
          <p:nvPr/>
        </p:nvSpPr>
        <p:spPr>
          <a:xfrm rot="0" flipH="0" flipV="0">
            <a:off x="6515100" y="145732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全血与试剂杯中纤维蛋白原包被珠及诱导剂混合，活化血小板与珠聚集使透光率上升，以</a:t>
            </a:r>
            <a:r>
              <a:rPr lang="en-US" sz="1200">
                <a:solidFill>
                  <a:srgbClr val="2C3E50"/>
                </a:solidFill>
                <a:latin typeface="Microsoft YaHei"/>
                <a:ea typeface="Microsoft YaHei"/>
              </a:rPr>
              <a:t> PRU</a:t>
            </a:r>
            <a:r>
              <a:rPr lang="zh-CN" sz="1200">
                <a:solidFill>
                  <a:srgbClr val="2C3E50"/>
                </a:solidFill>
                <a:latin typeface="Microsoft YaHei"/>
                <a:ea typeface="Microsoft YaHei"/>
              </a:rPr>
              <a:t>（</a:t>
            </a:r>
            <a:r>
              <a:rPr lang="en-US" sz="1200">
                <a:solidFill>
                  <a:srgbClr val="2C3E50"/>
                </a:solidFill>
                <a:latin typeface="Microsoft YaHei"/>
                <a:ea typeface="Microsoft YaHei"/>
              </a:rPr>
              <a:t>P2Y12 </a:t>
            </a:r>
            <a:r>
              <a:rPr lang="zh-CN" sz="1200">
                <a:solidFill>
                  <a:srgbClr val="2C3E50"/>
                </a:solidFill>
                <a:latin typeface="Microsoft YaHei"/>
                <a:ea typeface="Microsoft YaHei"/>
              </a:rPr>
              <a:t>反应单位）或</a:t>
            </a:r>
            <a:r>
              <a:rPr lang="en-US" sz="1200">
                <a:solidFill>
                  <a:srgbClr val="2C3E50"/>
                </a:solidFill>
                <a:latin typeface="Microsoft YaHei"/>
                <a:ea typeface="Microsoft YaHei"/>
              </a:rPr>
              <a:t> ARU</a:t>
            </a:r>
            <a:r>
              <a:rPr lang="zh-CN" sz="1200">
                <a:solidFill>
                  <a:srgbClr val="2C3E50"/>
                </a:solidFill>
                <a:latin typeface="Microsoft YaHei"/>
                <a:ea typeface="Microsoft YaHei"/>
              </a:rPr>
              <a:t>（阿司匹林反应单位）报告。</a:t>
            </a:r>
            <a:endParaRPr/>
          </a:p>
        </p:txBody>
      </p:sp>
      <p:sp>
        <p:nvSpPr>
          <p:cNvPr id="257" name=""/>
          <p:cNvSpPr/>
          <p:nvPr/>
        </p:nvSpPr>
        <p:spPr>
          <a:xfrm rot="0" flipH="0" flipV="0">
            <a:off x="6324600" y="1885950"/>
            <a:ext cx="5257800" cy="781050"/>
          </a:xfrm>
          <a:prstGeom prst="roundRect">
            <a:avLst>
              <a:gd name="adj" fmla="val 14634"/>
            </a:avLst>
          </a:prstGeom>
          <a:solidFill>
            <a:srgbClr val="F0F5FC"/>
          </a:solidFill>
          <a:ln w="12700">
            <a:solidFill>
              <a:srgbClr val="E5E7EB"/>
            </a:solidFill>
            <a:prstDash val="solid"/>
          </a:ln>
        </p:spPr>
        <p:txBody>
          <a:bodyPr/>
          <a:p/>
        </p:txBody>
      </p:sp>
      <p:sp>
        <p:nvSpPr>
          <p:cNvPr id="258" name="" descr="{&quot;isTemplate&quot;:true,&quot;type&quot;:&quot;text&quot;}"/>
          <p:cNvSpPr txBox="1"/>
          <p:nvPr/>
        </p:nvSpPr>
        <p:spPr>
          <a:xfrm rot="0" flipH="0" flipV="0">
            <a:off x="6515100" y="20764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读出什么</a:t>
            </a:r>
            <a:endParaRPr/>
          </a:p>
        </p:txBody>
      </p:sp>
      <p:sp>
        <p:nvSpPr>
          <p:cNvPr id="259" name="" descr="{&quot;isTemplate&quot;:true,&quot;type&quot;:&quot;text&quot;}"/>
          <p:cNvSpPr txBox="1"/>
          <p:nvPr/>
        </p:nvSpPr>
        <p:spPr>
          <a:xfrm rot="0" flipH="0" flipV="0">
            <a:off x="6515100" y="2390775"/>
            <a:ext cx="4876800" cy="876300"/>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PRU </a:t>
            </a:r>
            <a:r>
              <a:rPr lang="zh-CN" sz="1200">
                <a:solidFill>
                  <a:srgbClr val="2C3E50"/>
                </a:solidFill>
                <a:latin typeface="Microsoft YaHei"/>
                <a:ea typeface="Microsoft YaHei"/>
              </a:rPr>
              <a:t>反映</a:t>
            </a:r>
            <a:r>
              <a:rPr lang="en-US" sz="1200">
                <a:solidFill>
                  <a:srgbClr val="2C3E50"/>
                </a:solidFill>
                <a:latin typeface="Microsoft YaHei"/>
                <a:ea typeface="Microsoft YaHei"/>
              </a:rPr>
              <a:t> P2Y12 </a:t>
            </a:r>
            <a:r>
              <a:rPr lang="zh-CN" sz="1200">
                <a:solidFill>
                  <a:srgbClr val="2C3E50"/>
                </a:solidFill>
                <a:latin typeface="Microsoft YaHei"/>
                <a:ea typeface="Microsoft YaHei"/>
              </a:rPr>
              <a:t>通路残余反应性：高</a:t>
            </a:r>
            <a:r>
              <a:rPr lang="en-US" sz="1200">
                <a:solidFill>
                  <a:srgbClr val="2C3E50"/>
                </a:solidFill>
                <a:latin typeface="Microsoft YaHei"/>
                <a:ea typeface="Microsoft YaHei"/>
              </a:rPr>
              <a:t> PRU </a:t>
            </a:r>
            <a:r>
              <a:rPr lang="zh-CN" sz="1200">
                <a:solidFill>
                  <a:srgbClr val="2C3E50"/>
                </a:solidFill>
                <a:latin typeface="Microsoft YaHei"/>
                <a:ea typeface="Microsoft YaHei"/>
              </a:rPr>
              <a:t>提示氯吡格雷低反应（</a:t>
            </a:r>
            <a:r>
              <a:rPr lang="en-US" sz="1200">
                <a:solidFill>
                  <a:srgbClr val="2C3E50"/>
                </a:solidFill>
                <a:latin typeface="Microsoft YaHei"/>
                <a:ea typeface="Microsoft YaHei"/>
              </a:rPr>
              <a:t>HPR</a:t>
            </a:r>
            <a:r>
              <a:rPr lang="zh-CN" sz="1200">
                <a:solidFill>
                  <a:srgbClr val="2C3E50"/>
                </a:solidFill>
                <a:latin typeface="Microsoft YaHei"/>
                <a:ea typeface="Microsoft YaHei"/>
              </a:rPr>
              <a:t>）；检测快速（约</a:t>
            </a:r>
            <a:r>
              <a:rPr lang="en-US" sz="1200">
                <a:solidFill>
                  <a:srgbClr val="2C3E50"/>
                </a:solidFill>
                <a:latin typeface="Microsoft YaHei"/>
                <a:ea typeface="Microsoft YaHei"/>
              </a:rPr>
              <a:t> 10 </a:t>
            </a:r>
            <a:r>
              <a:rPr lang="zh-CN" sz="1200">
                <a:solidFill>
                  <a:srgbClr val="2C3E50"/>
                </a:solidFill>
                <a:latin typeface="Microsoft YaHei"/>
                <a:ea typeface="Microsoft YaHei"/>
              </a:rPr>
              <a:t>分钟）、全血微量，适合导管室</a:t>
            </a:r>
            <a:r>
              <a:rPr lang="en-US" sz="1200">
                <a:solidFill>
                  <a:srgbClr val="2C3E50"/>
                </a:solidFill>
                <a:latin typeface="Microsoft YaHei"/>
                <a:ea typeface="Microsoft YaHei"/>
              </a:rPr>
              <a:t>/</a:t>
            </a:r>
            <a:r>
              <a:rPr lang="zh-CN" sz="1200">
                <a:solidFill>
                  <a:srgbClr val="2C3E50"/>
                </a:solidFill>
                <a:latin typeface="Microsoft YaHei"/>
                <a:ea typeface="Microsoft YaHei"/>
              </a:rPr>
              <a:t>床旁即时决策。</a:t>
            </a:r>
            <a:endParaRPr/>
          </a:p>
        </p:txBody>
      </p:sp>
      <p:sp>
        <p:nvSpPr>
          <p:cNvPr id="260" name=""/>
          <p:cNvSpPr/>
          <p:nvPr/>
        </p:nvSpPr>
        <p:spPr>
          <a:xfrm rot="0" flipH="0" flipV="0">
            <a:off x="6324600" y="2819400"/>
            <a:ext cx="5257800" cy="781050"/>
          </a:xfrm>
          <a:prstGeom prst="roundRect">
            <a:avLst>
              <a:gd name="adj" fmla="val 14634"/>
            </a:avLst>
          </a:prstGeom>
          <a:solidFill>
            <a:srgbClr val="F0F5FC"/>
          </a:solidFill>
          <a:ln w="12700">
            <a:solidFill>
              <a:srgbClr val="E5E7EB"/>
            </a:solidFill>
            <a:prstDash val="solid"/>
          </a:ln>
        </p:spPr>
        <p:txBody>
          <a:bodyPr/>
          <a:p/>
        </p:txBody>
      </p:sp>
      <p:sp>
        <p:nvSpPr>
          <p:cNvPr id="261" name="" descr="{&quot;isTemplate&quot;:true,&quot;type&quot;:&quot;text&quot;}"/>
          <p:cNvSpPr txBox="1"/>
          <p:nvPr/>
        </p:nvSpPr>
        <p:spPr>
          <a:xfrm rot="0" flipH="0" flipV="0">
            <a:off x="6515100" y="3009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临床证据与边界</a:t>
            </a:r>
            <a:endParaRPr/>
          </a:p>
        </p:txBody>
      </p:sp>
      <p:sp>
        <p:nvSpPr>
          <p:cNvPr id="262" name="" descr="{&quot;isTemplate&quot;:true,&quot;type&quot;:&quot;text&quot;}"/>
          <p:cNvSpPr txBox="1"/>
          <p:nvPr/>
        </p:nvSpPr>
        <p:spPr>
          <a:xfrm rot="0" flipH="0" flipV="0">
            <a:off x="6515100" y="3324225"/>
            <a:ext cx="4876800" cy="876300"/>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GRAVITAS </a:t>
            </a:r>
            <a:r>
              <a:rPr lang="zh-CN" sz="1200">
                <a:solidFill>
                  <a:srgbClr val="2C3E50"/>
                </a:solidFill>
                <a:latin typeface="Microsoft YaHei"/>
                <a:ea typeface="Microsoft YaHei"/>
              </a:rPr>
              <a:t>等研究显示以</a:t>
            </a:r>
            <a:r>
              <a:rPr lang="en-US" sz="1200">
                <a:solidFill>
                  <a:srgbClr val="2C3E50"/>
                </a:solidFill>
                <a:latin typeface="Microsoft YaHei"/>
                <a:ea typeface="Microsoft YaHei"/>
              </a:rPr>
              <a:t> PRU </a:t>
            </a:r>
            <a:r>
              <a:rPr lang="zh-CN" sz="1200">
                <a:solidFill>
                  <a:srgbClr val="2C3E50"/>
                </a:solidFill>
                <a:latin typeface="Microsoft YaHei"/>
                <a:ea typeface="Microsoft YaHei"/>
              </a:rPr>
              <a:t>指导加量未改善缺血结局，但</a:t>
            </a:r>
            <a:r>
              <a:rPr lang="en-US" sz="1200">
                <a:solidFill>
                  <a:srgbClr val="2C3E50"/>
                </a:solidFill>
                <a:latin typeface="Microsoft YaHei"/>
                <a:ea typeface="Microsoft YaHei"/>
              </a:rPr>
              <a:t> PRU </a:t>
            </a:r>
            <a:r>
              <a:rPr lang="zh-CN" sz="1200">
                <a:solidFill>
                  <a:srgbClr val="2C3E50"/>
                </a:solidFill>
                <a:latin typeface="Microsoft YaHei"/>
                <a:ea typeface="Microsoft YaHei"/>
              </a:rPr>
              <a:t>作为危险分层（</a:t>
            </a:r>
            <a:r>
              <a:rPr lang="en-US" sz="1200">
                <a:solidFill>
                  <a:srgbClr val="2C3E50"/>
                </a:solidFill>
                <a:latin typeface="Microsoft YaHei"/>
                <a:ea typeface="Microsoft YaHei"/>
              </a:rPr>
              <a:t>HPR </a:t>
            </a:r>
            <a:r>
              <a:rPr lang="zh-CN" sz="1200">
                <a:solidFill>
                  <a:srgbClr val="2C3E50"/>
                </a:solidFill>
                <a:latin typeface="Microsoft YaHei"/>
                <a:ea typeface="Microsoft YaHei"/>
              </a:rPr>
              <a:t>与支架血栓相关）仍被认可；结果受采血后时间、血小板数、</a:t>
            </a:r>
            <a:r>
              <a:rPr lang="en-US" sz="1200">
                <a:solidFill>
                  <a:srgbClr val="2C3E50"/>
                </a:solidFill>
                <a:latin typeface="Microsoft YaHei"/>
                <a:ea typeface="Microsoft YaHei"/>
              </a:rPr>
              <a:t>GPIIb/IIIa </a:t>
            </a:r>
            <a:r>
              <a:rPr lang="zh-CN" sz="1200">
                <a:solidFill>
                  <a:srgbClr val="2C3E50"/>
                </a:solidFill>
                <a:latin typeface="Microsoft YaHei"/>
                <a:ea typeface="Microsoft YaHei"/>
              </a:rPr>
              <a:t>类药影响。</a:t>
            </a:r>
            <a:endParaRPr/>
          </a:p>
        </p:txBody>
      </p:sp>
      <p:sp>
        <p:nvSpPr>
          <p:cNvPr id="263" name=""/>
          <p:cNvSpPr/>
          <p:nvPr/>
        </p:nvSpPr>
        <p:spPr>
          <a:xfrm rot="0" flipH="0" flipV="0">
            <a:off x="6324600" y="3752850"/>
            <a:ext cx="5257800" cy="781050"/>
          </a:xfrm>
          <a:prstGeom prst="roundRect">
            <a:avLst>
              <a:gd name="adj" fmla="val 14634"/>
            </a:avLst>
          </a:prstGeom>
          <a:solidFill>
            <a:srgbClr val="F0F5FC"/>
          </a:solidFill>
          <a:ln w="12700">
            <a:solidFill>
              <a:srgbClr val="E5E7EB"/>
            </a:solidFill>
            <a:prstDash val="solid"/>
          </a:ln>
        </p:spPr>
        <p:txBody>
          <a:bodyPr/>
          <a:p/>
        </p:txBody>
      </p:sp>
      <p:sp>
        <p:nvSpPr>
          <p:cNvPr id="264" name="" descr="{&quot;isTemplate&quot;:true,&quot;type&quot;:&quot;text&quot;}"/>
          <p:cNvSpPr txBox="1"/>
          <p:nvPr/>
        </p:nvSpPr>
        <p:spPr>
          <a:xfrm rot="0" flipH="0" flipV="0">
            <a:off x="6515100" y="39433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265" name="" descr="{&quot;isTemplate&quot;:true,&quot;type&quot;:&quot;text&quot;}"/>
          <p:cNvSpPr txBox="1"/>
          <p:nvPr/>
        </p:nvSpPr>
        <p:spPr>
          <a:xfrm rot="0" flipH="0" flipV="0">
            <a:off x="6515100" y="4257675"/>
            <a:ext cx="4876800" cy="581025"/>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VerifyNow </a:t>
            </a:r>
            <a:r>
              <a:rPr lang="zh-CN" sz="1200">
                <a:solidFill>
                  <a:srgbClr val="2C3E50"/>
                </a:solidFill>
                <a:latin typeface="Microsoft YaHei"/>
                <a:ea typeface="Microsoft YaHei"/>
              </a:rPr>
              <a:t>的价值在“分层与筛查”而非“常规调药”；与临床场景（见第八章抗血小板监测）配套解读。</a:t>
            </a:r>
            <a:endParaRPr/>
          </a:p>
        </p:txBody>
      </p:sp>
      <p:sp>
        <p:nvSpPr>
          <p:cNvPr id="266"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267"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JAMA 2011;305:1097-1105 (PMID 21406646)</a:t>
            </a:r>
            <a:endParaRPr/>
          </a:p>
        </p:txBody>
      </p:sp>
      <p:sp>
        <p:nvSpPr>
          <p:cNvPr id="268"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269"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en-US" sz="1050">
                <a:solidFill>
                  <a:srgbClr val="6B7B8C"/>
                </a:solidFill>
                <a:latin typeface="Microsoft YaHei"/>
                <a:ea typeface="Microsoft YaHei"/>
              </a:rPr>
              <a:t>VerifyNow P2Y12 </a:t>
            </a:r>
            <a:r>
              <a:rPr lang="zh-CN" sz="1050">
                <a:solidFill>
                  <a:srgbClr val="6B7B8C"/>
                </a:solidFill>
                <a:latin typeface="Microsoft YaHei"/>
                <a:ea typeface="Microsoft YaHei"/>
              </a:rPr>
              <a:t>反应单位（</a:t>
            </a:r>
            <a:r>
              <a:rPr lang="en-US" sz="1050">
                <a:solidFill>
                  <a:srgbClr val="6B7B8C"/>
                </a:solidFill>
                <a:latin typeface="Microsoft YaHei"/>
                <a:ea typeface="Microsoft YaHei"/>
              </a:rPr>
              <a:t>PRU</a:t>
            </a:r>
            <a:r>
              <a:rPr lang="zh-CN" sz="1050">
                <a:solidFill>
                  <a:srgbClr val="6B7B8C"/>
                </a:solidFill>
                <a:latin typeface="Microsoft YaHei"/>
                <a:ea typeface="Microsoft YaHei"/>
              </a:rPr>
              <a:t>）检测原理</a:t>
            </a:r>
            <a:endParaRPr/>
          </a:p>
        </p:txBody>
      </p:sp>
      <p:sp>
        <p:nvSpPr>
          <p:cNvPr id="270" name=""/>
          <p:cNvSpPr/>
          <p:nvPr/>
        </p:nvSpPr>
        <p:spPr>
          <a:xfrm rot="0" flipH="0" flipV="0">
            <a:off x="0" y="6324600"/>
            <a:ext cx="12192000" cy="342900"/>
          </a:xfrm>
          <a:prstGeom prst="rect">
            <a:avLst/>
          </a:prstGeom>
          <a:solidFill>
            <a:srgbClr val="F7F9FC"/>
          </a:solidFill>
          <a:ln/>
        </p:spPr>
        <p:txBody>
          <a:bodyPr/>
          <a:p/>
        </p:txBody>
      </p:sp>
      <p:sp>
        <p:nvSpPr>
          <p:cNvPr id="271"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272"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0.xml><?xml version="1.0" encoding="utf-8"?>
<p:sld xmlns:p="http://schemas.openxmlformats.org/presentationml/2006/main" xmlns:a="http://schemas.openxmlformats.org/drawingml/2006/main">
  <p:cSld>
    <p:spTree>
      <p:nvGrpSpPr>
        <p:cNvPr id="329" name="" descr="&lt;Slide notes={`演讲者备注：【FAVALORO-PFA】PFA-100/PFA-200 问世 30 年回顾：以剪切下全血闭合时间评价一级止血，对 VWD 与重度血小板病敏感，对轻中度血小板功能异常与抗血小板监测价值有限。证据：Semin Thromb Hemost 2024;50:320-324，PMID 37903565。&#13;&#10;【FAVALORO-VWD-PFA】PFA-100/200 对 VWD 检测/排除的效用评价：对经典 VWD 敏感但对轻型、2B/2M 及血小板型 VWD 可能漏检，需结合 VWF 抗原/活性与血小板功能联合判断。证据：Thromb Res 2020;188:17-24，PMID 32036157。&#13;&#10;讲解提示：结合“为何 PFA 异常→查 VWF 抗原/活性与血小板病”的路径讲；避免临床把 PFA 当“血小板功能全套”。`}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PFA-100/200：剪切依赖的一级止血筛查&lt;/Text&gt;&#13;&#10;    &lt;/Box&gt;&#13;&#10;    &lt;Text style={{ position: 'absolute', right: 64, top: 24, fontSize: 15, color: '#9DB8E0' }}&gt;20 / 77&lt;/Text&gt;&#13;&#10;  &lt;/Box&gt;&#13;&#10;  &lt;Box style={{ position: 'absolute', left: 64, top: 96, width: 562, height: 128, background: '#F0F5FC', borderRadius: 12, border: '1px solid #E5E7EB', padding: 20 }}&gt;&#13;&#10;&lt;Text style={{ fontSize: 19, color: '#0E3F8C', fontWeight: 'bold', textAlign: 'left', lineHeight: 1.5 }}&gt;原理&lt;/Text&gt;&#13;&#10;&lt;Text style={{ fontSize: 17, color: '#2C3E50', textAlign: 'left', lineHeight: 1.62 }}&gt;枸橼酸全血在高剪切下抽吸通过包被胶原+肾上腺素或胶原+ADP 的微孔膜，血小板栓堵塞孔道所需时间即闭合时间（CT）；模拟小动脉损伤下的血小板栓形成。&lt;/Text&gt;&#13;&#10;  &lt;/Box&gt;&#13;&#10;  &lt;Box style={{ position: 'absolute', left: 654, top: 96, width: 562, height: 128, background: '#F0F5FC', borderRadius: 12, border: '1px solid #E5E7EB', padding: 20 }}&gt;&#13;&#10;&lt;Text style={{ fontSize: 19, color: '#0E3F8C', fontWeight: 'bold', textAlign: 'left', lineHeight: 1.5 }}&gt;读出什么&lt;/Text&gt;&#13;&#10;&lt;Text style={{ fontSize: 17, color: '#2C3E50', textAlign: 'left', lineHeight: 1.62 }}&gt;CT 延长提示一级止血异常：对经典 VWD（尤其 2A/2B/3 型）与重度血小板病（BSS/GT）敏感；对轻中度血小板功能障碍与抗血小板单药抑制不敏感。&lt;/Text&gt;&#13;&#10;  &lt;/Box&gt;&#13;&#10;  &lt;Box style={{ position: 'absolute', left: 64, top: 252, width: 562, height: 128, background: '#F0F5FC', borderRadius: 12, border: '1px solid #E5E7EB', padding: 20 }}&gt;&#13;&#10;&lt;Text style={{ fontSize: 19, color: '#0E3F8C', fontWeight: 'bold', textAlign: 'left', lineHeight: 1.5 }}&gt;重要局限&lt;/Text&gt;&#13;&#10;&lt;Text style={{ fontSize: 17, color: '#2C3E50', textAlign: 'left', lineHeight: 1.62 }}&gt;CT 受血小板计数（&amp;lt;50–100×10^9/L 明显影响）、红细胞比容（过高/过低）、药物（阿司匹林对 CEPI 孔）影响；不能可靠预测手术出血，也不宜用作抗血小板“疗效”常规监测。&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PFA 是“筛查阴性价值较好、阳性需要进一步定位”的工具，结果异常应转 LTA/流式等确诊试验。&lt;/Text&gt;&#13;&#10;  &lt;/Box&gt;&#13;&#10;&#13;&#10;  &lt;Box style={{ position: 'absolute', left: 64, top: 556, width: 1152, height: 92, background: '#F0F5FC', borderRadius: 12, border: '1px solid #E5E7EB', padding: 20 }}&gt;&#13;&#10;&lt;Text style={{ fontSize: 17, color: '#2C3E50', textAlign: 'left', lineHeight: 1.6 }}&gt;小结：Semin Thromb Hemost 2024;50:320-324 (PMID 37903565)&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330" name=""/>
          <p:cNvSpPr/>
          <p:nvPr/>
        </p:nvSpPr>
        <p:spPr>
          <a:xfrm rot="0" flipH="0" flipV="0">
            <a:off x="0" y="0"/>
            <a:ext cx="12192000" cy="6858000"/>
          </a:xfrm>
          <a:prstGeom prst="rect">
            <a:avLst/>
          </a:prstGeom>
          <a:solidFill>
            <a:srgbClr val="FFFFFF"/>
          </a:solidFill>
          <a:ln/>
        </p:spPr>
        <p:txBody>
          <a:bodyPr/>
          <a:p/>
        </p:txBody>
      </p:sp>
      <p:sp>
        <p:nvSpPr>
          <p:cNvPr id="331" name=""/>
          <p:cNvSpPr/>
          <p:nvPr/>
        </p:nvSpPr>
        <p:spPr>
          <a:xfrm rot="0" flipH="0" flipV="0">
            <a:off x="0" y="0"/>
            <a:ext cx="12192000" cy="685800"/>
          </a:xfrm>
          <a:prstGeom prst="rect">
            <a:avLst/>
          </a:prstGeom>
          <a:solidFill>
            <a:srgbClr val="0E3F8C"/>
          </a:solidFill>
          <a:ln/>
        </p:spPr>
        <p:txBody>
          <a:bodyPr/>
          <a:p/>
        </p:txBody>
      </p:sp>
      <p:sp>
        <p:nvSpPr>
          <p:cNvPr id="332"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333" name=""/>
          <p:cNvSpPr/>
          <p:nvPr/>
        </p:nvSpPr>
        <p:spPr>
          <a:xfrm rot="0" flipH="0" flipV="0">
            <a:off x="3048000" y="209550"/>
            <a:ext cx="9525" cy="228600"/>
          </a:xfrm>
          <a:prstGeom prst="rect">
            <a:avLst/>
          </a:prstGeom>
          <a:solidFill>
            <a:srgbClr val="3D7BD9"/>
          </a:solidFill>
          <a:ln/>
        </p:spPr>
        <p:txBody>
          <a:bodyPr/>
          <a:p/>
        </p:txBody>
      </p:sp>
      <p:sp>
        <p:nvSpPr>
          <p:cNvPr id="334" name="" descr="{&quot;isTemplate&quot;:true,&quot;type&quot;:&quot;text&quot;}"/>
          <p:cNvSpPr txBox="1"/>
          <p:nvPr/>
        </p:nvSpPr>
        <p:spPr>
          <a:xfrm rot="0" flipH="0" flipV="0">
            <a:off x="3209925" y="228600"/>
            <a:ext cx="2771775" cy="190500"/>
          </a:xfrm>
          <a:prstGeom prst="rect"/>
        </p:spPr>
        <p:txBody>
          <a:bodyPr wrap="none" lIns="0" tIns="0" rIns="0" bIns="0"/>
          <a:p>
            <a:pPr>
              <a:lnSpc>
                <a:spcPct val="100000"/>
              </a:lnSpc>
            </a:pPr>
            <a:r>
              <a:rPr lang="en-US" sz="1200">
                <a:solidFill>
                  <a:srgbClr val="C7D6EC"/>
                </a:solidFill>
                <a:latin typeface="Microsoft YaHei"/>
                <a:ea typeface="Microsoft YaHei"/>
              </a:rPr>
              <a:t>PFA-100/200</a:t>
            </a:r>
            <a:r>
              <a:rPr lang="zh-CN" sz="1200">
                <a:solidFill>
                  <a:srgbClr val="C7D6EC"/>
                </a:solidFill>
                <a:latin typeface="Microsoft YaHei"/>
                <a:ea typeface="Microsoft YaHei"/>
              </a:rPr>
              <a:t>：剪切依赖的一级止血筛查</a:t>
            </a:r>
            <a:endParaRPr/>
          </a:p>
        </p:txBody>
      </p:sp>
      <p:sp>
        <p:nvSpPr>
          <p:cNvPr id="335"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20 / 77</a:t>
            </a:r>
            <a:endParaRPr/>
          </a:p>
        </p:txBody>
      </p:sp>
      <p:sp>
        <p:nvSpPr>
          <p:cNvPr id="336"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37"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原理</a:t>
            </a:r>
            <a:endParaRPr/>
          </a:p>
        </p:txBody>
      </p:sp>
      <p:sp>
        <p:nvSpPr>
          <p:cNvPr id="338"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枸橼酸全血在高剪切下抽吸通过包被胶原</a:t>
            </a:r>
            <a:r>
              <a:rPr lang="en-US" sz="1275">
                <a:solidFill>
                  <a:srgbClr val="2C3E50"/>
                </a:solidFill>
                <a:latin typeface="Microsoft YaHei"/>
                <a:ea typeface="Microsoft YaHei"/>
              </a:rPr>
              <a:t>+</a:t>
            </a:r>
            <a:r>
              <a:rPr lang="zh-CN" sz="1275">
                <a:solidFill>
                  <a:srgbClr val="2C3E50"/>
                </a:solidFill>
                <a:latin typeface="Microsoft YaHei"/>
                <a:ea typeface="Microsoft YaHei"/>
              </a:rPr>
              <a:t>肾上腺素或胶原</a:t>
            </a:r>
            <a:r>
              <a:rPr lang="en-US" sz="1275">
                <a:solidFill>
                  <a:srgbClr val="2C3E50"/>
                </a:solidFill>
                <a:latin typeface="Microsoft YaHei"/>
                <a:ea typeface="Microsoft YaHei"/>
              </a:rPr>
              <a:t>+ADP </a:t>
            </a:r>
            <a:r>
              <a:rPr lang="zh-CN" sz="1275">
                <a:solidFill>
                  <a:srgbClr val="2C3E50"/>
                </a:solidFill>
                <a:latin typeface="Microsoft YaHei"/>
                <a:ea typeface="Microsoft YaHei"/>
              </a:rPr>
              <a:t>的微孔膜，血小板栓堵塞孔道所需时间即闭合时间（</a:t>
            </a:r>
            <a:r>
              <a:rPr lang="en-US" sz="1275">
                <a:solidFill>
                  <a:srgbClr val="2C3E50"/>
                </a:solidFill>
                <a:latin typeface="Microsoft YaHei"/>
                <a:ea typeface="Microsoft YaHei"/>
              </a:rPr>
              <a:t>CT</a:t>
            </a:r>
            <a:r>
              <a:rPr lang="zh-CN" sz="1275">
                <a:solidFill>
                  <a:srgbClr val="2C3E50"/>
                </a:solidFill>
                <a:latin typeface="Microsoft YaHei"/>
                <a:ea typeface="Microsoft YaHei"/>
              </a:rPr>
              <a:t>）；模拟小动脉损伤下的血小板栓形成。</a:t>
            </a:r>
            <a:endParaRPr/>
          </a:p>
        </p:txBody>
      </p:sp>
      <p:sp>
        <p:nvSpPr>
          <p:cNvPr id="339"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40"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读出什么</a:t>
            </a:r>
            <a:endParaRPr/>
          </a:p>
        </p:txBody>
      </p:sp>
      <p:sp>
        <p:nvSpPr>
          <p:cNvPr id="341"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CT </a:t>
            </a:r>
            <a:r>
              <a:rPr lang="zh-CN" sz="1275">
                <a:solidFill>
                  <a:srgbClr val="2C3E50"/>
                </a:solidFill>
                <a:latin typeface="Microsoft YaHei"/>
                <a:ea typeface="Microsoft YaHei"/>
              </a:rPr>
              <a:t>延长提示一级止血异常：对经典</a:t>
            </a:r>
            <a:r>
              <a:rPr lang="en-US" sz="1275">
                <a:solidFill>
                  <a:srgbClr val="2C3E50"/>
                </a:solidFill>
                <a:latin typeface="Microsoft YaHei"/>
                <a:ea typeface="Microsoft YaHei"/>
              </a:rPr>
              <a:t> VWD</a:t>
            </a:r>
            <a:r>
              <a:rPr lang="zh-CN" sz="1275">
                <a:solidFill>
                  <a:srgbClr val="2C3E50"/>
                </a:solidFill>
                <a:latin typeface="Microsoft YaHei"/>
                <a:ea typeface="Microsoft YaHei"/>
              </a:rPr>
              <a:t>（尤其</a:t>
            </a:r>
            <a:r>
              <a:rPr lang="en-US" sz="1275">
                <a:solidFill>
                  <a:srgbClr val="2C3E50"/>
                </a:solidFill>
                <a:latin typeface="Microsoft YaHei"/>
                <a:ea typeface="Microsoft YaHei"/>
              </a:rPr>
              <a:t> 2A/2B/3 </a:t>
            </a:r>
            <a:r>
              <a:rPr lang="zh-CN" sz="1275">
                <a:solidFill>
                  <a:srgbClr val="2C3E50"/>
                </a:solidFill>
                <a:latin typeface="Microsoft YaHei"/>
                <a:ea typeface="Microsoft YaHei"/>
              </a:rPr>
              <a:t>型）与重度血小板病（</a:t>
            </a:r>
            <a:r>
              <a:rPr lang="en-US" sz="1275">
                <a:solidFill>
                  <a:srgbClr val="2C3E50"/>
                </a:solidFill>
                <a:latin typeface="Microsoft YaHei"/>
                <a:ea typeface="Microsoft YaHei"/>
              </a:rPr>
              <a:t>BSS/GT</a:t>
            </a:r>
            <a:r>
              <a:rPr lang="zh-CN" sz="1275">
                <a:solidFill>
                  <a:srgbClr val="2C3E50"/>
                </a:solidFill>
                <a:latin typeface="Microsoft YaHei"/>
                <a:ea typeface="Microsoft YaHei"/>
              </a:rPr>
              <a:t>）敏感；对轻中度血小板功能障碍与抗血小板单药抑制不敏感。</a:t>
            </a:r>
            <a:endParaRPr/>
          </a:p>
        </p:txBody>
      </p:sp>
      <p:sp>
        <p:nvSpPr>
          <p:cNvPr id="342"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43"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重要局限</a:t>
            </a:r>
            <a:endParaRPr/>
          </a:p>
        </p:txBody>
      </p:sp>
      <p:sp>
        <p:nvSpPr>
          <p:cNvPr id="344"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CT </a:t>
            </a:r>
            <a:r>
              <a:rPr lang="zh-CN" sz="1275">
                <a:solidFill>
                  <a:srgbClr val="2C3E50"/>
                </a:solidFill>
                <a:latin typeface="Microsoft YaHei"/>
                <a:ea typeface="Microsoft YaHei"/>
              </a:rPr>
              <a:t>受血小板计数（</a:t>
            </a:r>
            <a:r>
              <a:rPr lang="en-US" sz="1275">
                <a:solidFill>
                  <a:srgbClr val="2C3E50"/>
                </a:solidFill>
                <a:latin typeface="Microsoft YaHei"/>
                <a:ea typeface="Microsoft YaHei"/>
              </a:rPr>
              <a:t>&lt;50–100×10^9/L </a:t>
            </a:r>
            <a:r>
              <a:rPr lang="zh-CN" sz="1275">
                <a:solidFill>
                  <a:srgbClr val="2C3E50"/>
                </a:solidFill>
                <a:latin typeface="Microsoft YaHei"/>
                <a:ea typeface="Microsoft YaHei"/>
              </a:rPr>
              <a:t>明显影响）、红细胞比容（过高</a:t>
            </a:r>
            <a:r>
              <a:rPr lang="en-US" sz="1275">
                <a:solidFill>
                  <a:srgbClr val="2C3E50"/>
                </a:solidFill>
                <a:latin typeface="Microsoft YaHei"/>
                <a:ea typeface="Microsoft YaHei"/>
              </a:rPr>
              <a:t>/</a:t>
            </a:r>
            <a:r>
              <a:rPr lang="zh-CN" sz="1275">
                <a:solidFill>
                  <a:srgbClr val="2C3E50"/>
                </a:solidFill>
                <a:latin typeface="Microsoft YaHei"/>
                <a:ea typeface="Microsoft YaHei"/>
              </a:rPr>
              <a:t>过低）、药物（阿司匹林对</a:t>
            </a:r>
            <a:r>
              <a:rPr lang="en-US" sz="1275">
                <a:solidFill>
                  <a:srgbClr val="2C3E50"/>
                </a:solidFill>
                <a:latin typeface="Microsoft YaHei"/>
                <a:ea typeface="Microsoft YaHei"/>
              </a:rPr>
              <a:t> CEPI </a:t>
            </a:r>
            <a:r>
              <a:rPr lang="zh-CN" sz="1275">
                <a:solidFill>
                  <a:srgbClr val="2C3E50"/>
                </a:solidFill>
                <a:latin typeface="Microsoft YaHei"/>
                <a:ea typeface="Microsoft YaHei"/>
              </a:rPr>
              <a:t>孔）影响；不能可靠预测手术出血，也不宜用作抗血小板“疗效”常规监测。</a:t>
            </a:r>
            <a:endParaRPr/>
          </a:p>
        </p:txBody>
      </p:sp>
      <p:sp>
        <p:nvSpPr>
          <p:cNvPr id="345"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46"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347"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348"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49"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PFA </a:t>
            </a:r>
            <a:r>
              <a:rPr lang="zh-CN" sz="1275">
                <a:solidFill>
                  <a:srgbClr val="2C3E50"/>
                </a:solidFill>
                <a:latin typeface="Microsoft YaHei"/>
                <a:ea typeface="Microsoft YaHei"/>
              </a:rPr>
              <a:t>是“筛查阴性价值较好、阳性需要进一步定位”的工具，结果异常应转</a:t>
            </a:r>
            <a:r>
              <a:rPr lang="en-US" sz="1275">
                <a:solidFill>
                  <a:srgbClr val="2C3E50"/>
                </a:solidFill>
                <a:latin typeface="Microsoft YaHei"/>
                <a:ea typeface="Microsoft YaHei"/>
              </a:rPr>
              <a:t> LTA/</a:t>
            </a:r>
            <a:r>
              <a:rPr lang="zh-CN" sz="1275">
                <a:solidFill>
                  <a:srgbClr val="2C3E50"/>
                </a:solidFill>
                <a:latin typeface="Microsoft YaHei"/>
                <a:ea typeface="Microsoft YaHei"/>
              </a:rPr>
              <a:t>流式等确诊试验。</a:t>
            </a:r>
            <a:endParaRPr/>
          </a:p>
        </p:txBody>
      </p:sp>
      <p:sp>
        <p:nvSpPr>
          <p:cNvPr id="350"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351"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2024;50:320-324 (PMID 37903565)</a:t>
            </a:r>
            <a:endParaRPr/>
          </a:p>
        </p:txBody>
      </p:sp>
      <p:sp>
        <p:nvSpPr>
          <p:cNvPr id="352" name=""/>
          <p:cNvSpPr/>
          <p:nvPr/>
        </p:nvSpPr>
        <p:spPr>
          <a:xfrm rot="0" flipH="0" flipV="0">
            <a:off x="0" y="6324600"/>
            <a:ext cx="12192000" cy="342900"/>
          </a:xfrm>
          <a:prstGeom prst="rect">
            <a:avLst/>
          </a:prstGeom>
          <a:solidFill>
            <a:srgbClr val="F7F9FC"/>
          </a:solidFill>
          <a:ln/>
        </p:spPr>
        <p:txBody>
          <a:bodyPr/>
          <a:p/>
        </p:txBody>
      </p:sp>
      <p:sp>
        <p:nvSpPr>
          <p:cNvPr id="353"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354"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1.xml><?xml version="1.0" encoding="utf-8"?>
<p:sld xmlns:p="http://schemas.openxmlformats.org/presentationml/2006/main" xmlns:r="http://schemas.openxmlformats.org/officeDocument/2006/relationships" xmlns:a="http://schemas.openxmlformats.org/drawingml/2006/main">
  <p:cSld>
    <p:spTree>
      <p:nvGrpSpPr>
        <p:cNvPr id="355" name="" descr="&lt;Slide notes={`演讲者备注：【FLOW-ISTH】ISTH SSC 共识：流式细胞术可用于遗传性与获得性血小板数量/功能疾病评估，推荐作为先天性血小板病的补充诊断平台。证据：J Thromb Haemost 2021;19:3193-3202，PMID 34580997。&#13;&#10;【BONELLO-VASP】VASP 磷酸化指数（PRI）指导氯吡格雷个体化负荷：高残留反应者加大剂量可降低主要不良心血管事件，提示 VASP 可识别氯吡格雷低反应。证据：J Am Coll Cardiol 2008;51:1404-1411，PMID 18387444。&#13;&#10;【MICHELSON-FLOW】流式细胞术检测血小板功能（活化标志 PAC-1、P-选择素、白细胞-血小板聚集体）可在全血微量标本中直接反映体内血小板活化状态。证据：Pathophysiol Haemost Thromb 2006;35:67-82，PMID 16855350。&#13;&#10;讲解提示：强调流式“不依赖聚集”的优点——血小板只有 30×10^9/L 也可测活化标志，弥补 LTA/阻抗在重度减少时的盲区；VASP 与 VerifyNow 在临床上常二选一。`}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VASP 磷酸化与流式活化标志&lt;/Text&gt;&#13;&#10;    &lt;/Box&gt;&#13;&#10;    &lt;Text style={{ position: 'absolute', right: 64, top: 24, fontSize: 15, color: '#9DB8E0' }}&gt;21 / 77&lt;/Text&gt;&#13;&#10;  &lt;/Box&gt;&#13;&#10;  &lt;Box style={{ position: 'absolute', left: 64, top: 100, width: 560 }}&gt;&#13;&#10;    &lt;Image style={{ width: 560, height: 470, borderRadius: 10, objectFit: 'contain' }} src={'C:/Users/lenovo/WorkBuddy/2026-09-06-22-29-36/血小板PLT/assets_fixed/plt_vasp__PMC4819215_p11_157.png'} /&gt;&#13;&#10;&#13;&#10;  &lt;/Box&gt;&#13;&#10;  &lt;Box style={{ position: 'absolute', left: 664, top: 100, width: 552, height: 62, background: '#F0F5FC', borderRadius: 12, border: '1px solid #E5E7EB', padding: 20 }}&gt;&#13;&#10;&lt;Text style={{ fontSize: 18, color: '#0E3F8C', fontWeight: 'bold', textAlign: 'left', lineHeight: 1.5 }}&gt;VASP-PRI&lt;/Text&gt;&#13;&#10;&lt;Text style={{ fontSize: 16, color: '#2C3E50', textAlign: 'left', lineHeight: 1.58 }}&gt;P2Y12 受体激活→VASP 磷酸化下降；流式测磷酸化 VASP 得血小板反应指数（PRI）。PRI 高提示 P2Y12 抑制不足，曾用于氯吡格雷低反应识别与个体化负荷。&lt;/Text&gt;&#13;&#10;  &lt;/Box&gt;&#13;&#10;  &lt;Box style={{ position: 'absolute', left: 664, top: 178, width: 552, height: 62, background: '#F0F5FC', borderRadius: 12, border: '1px solid #E5E7EB', padding: 20 }}&gt;&#13;&#10;&lt;Text style={{ fontSize: 18, color: '#0E3F8C', fontWeight: 'bold', textAlign: 'left', lineHeight: 1.5 }}&gt;流式活化标志&lt;/Text&gt;&#13;&#10;&lt;Text style={{ fontSize: 16, color: '#2C3E50', textAlign: 'left', lineHeight: 1.58 }}&gt;全血（或 PRP）中直接测活化表型：PAC-1（活化 αIIbβ3 构象）、P-选择素（α 颗粒释放）、CD63（致密颗粒）、白细胞-血小板聚集体、血小板微粒。&lt;/Text&gt;&#13;&#10;  &lt;/Box&gt;&#13;&#10;  &lt;Box style={{ position: 'absolute', left: 664, top: 256, width: 552, height: 62, background: '#F0F5FC', borderRadius: 12, border: '1px solid #E5E7EB', padding: 20 }}&gt;&#13;&#10;&lt;Text style={{ fontSize: 18, color: '#0E3F8C', fontWeight: 'bold', textAlign: 'left', lineHeight: 1.5 }}&gt;应用场景&lt;/Text&gt;&#13;&#10;&lt;Text style={{ fontSize: 16, color: '#2C3E50', textAlign: 'left', lineHeight: 1.58 }}&gt;ISTH SSC 推荐流式用于先天性/获得性血小板病分型与特殊人群（血小板数低的患者也能测）；也是研究体内血小板活化的“金”工具。&lt;/Text&gt;&#13;&#10;  &lt;/Box&gt;&#13;&#10;  &lt;Box style={{ position: 'absolute', left: 664, top: 334, width: 552, height: 62, background: '#F0F5FC', borderRadius: 12, border: '1px solid #E5E7EB', padding: 20 }}&gt;&#13;&#10;&lt;Text style={{ fontSize: 18, color: '#0E3F8C', fontWeight: 'bold', textAlign: 'left', lineHeight: 1.5 }}&gt;小结&lt;/Text&gt;&#13;&#10;&lt;Text style={{ fontSize: 16, color: '#2C3E50', textAlign: 'left', lineHeight: 1.58 }}&gt;&lt;/Text&gt;&#13;&#10;  &lt;/Box&gt;&#13;&#10;  &lt;Box style={{ position: 'absolute', left: 664, top: 412, width: 552, height: 62, background: '#F0F5FC', borderRadius: 12, border: '1px solid #E5E7EB', padding: 20 }}&gt;&#13;&#10;&lt;Text style={{ fontSize: 16, color: '#2C3E50', textAlign: 'left', lineHeight: 1.58 }}&gt;流式把检测从“聚集”延伸到“活化与颗粒释放”，为低计数患者的血小板功能评估提供了独特入口。&lt;/Text&gt;&#13;&#10;  &lt;/Box&gt;&#13;&#10;  &lt;Box style={{ position: 'absolute', left: 64, top: 494, width: 1152, height: 76, background: '#F0F5FC', borderRadius: 12, border: '1px solid #E5E7EB', padding: 20 }}&gt;&#13;&#10;&lt;Text style={{ fontSize: 16, color: '#2C3E50', textAlign: 'left', lineHeight: 1.55 }}&gt;小结：J Thromb Haemost 2021;19:3193-3202 (PMID 34580997)&lt;/Text&gt;&#13;&#10;  &lt;/Box&gt;&#13;&#10;  &lt;Box style={{ position: 'absolute', left: 64, top: 606, width: 1152, height: 40, background: '#F0F5FC', borderRadius: 12, border: '1px solid #E5E7EB', padding: 20 }}&gt;&#13;&#10;&lt;Text style={{ fontSize: 14, color: '#6B7B8C', textAlign: 'center', lineHeight: 1.5 }}&gt;VASP 磷酸化分析（PRI）与血小板活化流式检测&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356" name=""/>
          <p:cNvSpPr/>
          <p:nvPr/>
        </p:nvSpPr>
        <p:spPr>
          <a:xfrm rot="0" flipH="0" flipV="0">
            <a:off x="0" y="0"/>
            <a:ext cx="12192000" cy="6858000"/>
          </a:xfrm>
          <a:prstGeom prst="rect">
            <a:avLst/>
          </a:prstGeom>
          <a:solidFill>
            <a:srgbClr val="FFFFFF"/>
          </a:solidFill>
          <a:ln/>
        </p:spPr>
        <p:txBody>
          <a:bodyPr/>
          <a:p/>
        </p:txBody>
      </p:sp>
      <p:sp>
        <p:nvSpPr>
          <p:cNvPr id="357" name=""/>
          <p:cNvSpPr/>
          <p:nvPr/>
        </p:nvSpPr>
        <p:spPr>
          <a:xfrm rot="0" flipH="0" flipV="0">
            <a:off x="0" y="0"/>
            <a:ext cx="12192000" cy="685800"/>
          </a:xfrm>
          <a:prstGeom prst="rect">
            <a:avLst/>
          </a:prstGeom>
          <a:solidFill>
            <a:srgbClr val="0E3F8C"/>
          </a:solidFill>
          <a:ln/>
        </p:spPr>
        <p:txBody>
          <a:bodyPr/>
          <a:p/>
        </p:txBody>
      </p:sp>
      <p:sp>
        <p:nvSpPr>
          <p:cNvPr id="358"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359" name=""/>
          <p:cNvSpPr/>
          <p:nvPr/>
        </p:nvSpPr>
        <p:spPr>
          <a:xfrm rot="0" flipH="0" flipV="0">
            <a:off x="3048000" y="209550"/>
            <a:ext cx="9525" cy="228600"/>
          </a:xfrm>
          <a:prstGeom prst="rect">
            <a:avLst/>
          </a:prstGeom>
          <a:solidFill>
            <a:srgbClr val="3D7BD9"/>
          </a:solidFill>
          <a:ln/>
        </p:spPr>
        <p:txBody>
          <a:bodyPr/>
          <a:p/>
        </p:txBody>
      </p:sp>
      <p:sp>
        <p:nvSpPr>
          <p:cNvPr id="360" name="" descr="{&quot;isTemplate&quot;:true,&quot;type&quot;:&quot;text&quot;}"/>
          <p:cNvSpPr txBox="1"/>
          <p:nvPr/>
        </p:nvSpPr>
        <p:spPr>
          <a:xfrm rot="0" flipH="0" flipV="0">
            <a:off x="3209925" y="228600"/>
            <a:ext cx="1952625" cy="190500"/>
          </a:xfrm>
          <a:prstGeom prst="rect"/>
        </p:spPr>
        <p:txBody>
          <a:bodyPr wrap="none" lIns="0" tIns="0" rIns="0" bIns="0"/>
          <a:p>
            <a:pPr>
              <a:lnSpc>
                <a:spcPct val="100000"/>
              </a:lnSpc>
            </a:pPr>
            <a:r>
              <a:rPr lang="en-US" sz="1200">
                <a:solidFill>
                  <a:srgbClr val="C7D6EC"/>
                </a:solidFill>
                <a:latin typeface="Microsoft YaHei"/>
                <a:ea typeface="Microsoft YaHei"/>
              </a:rPr>
              <a:t>VASP </a:t>
            </a:r>
            <a:r>
              <a:rPr lang="zh-CN" sz="1200">
                <a:solidFill>
                  <a:srgbClr val="C7D6EC"/>
                </a:solidFill>
                <a:latin typeface="Microsoft YaHei"/>
                <a:ea typeface="Microsoft YaHei"/>
              </a:rPr>
              <a:t>磷酸化与流式活化标志</a:t>
            </a:r>
            <a:endParaRPr/>
          </a:p>
        </p:txBody>
      </p:sp>
      <p:sp>
        <p:nvSpPr>
          <p:cNvPr id="36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21 / 77</a:t>
            </a:r>
            <a:endParaRPr/>
          </a:p>
        </p:txBody>
      </p:sp>
      <p:pic>
        <p:nvPicPr>
          <p:cNvPr id="362" name=""/>
          <p:cNvPicPr>
            <a:picLocks noChangeAspect="1"/>
          </p:cNvPicPr>
          <p:nvPr/>
        </p:nvPicPr>
        <p:blipFill>
          <a:blip r:embed="rId1"/>
          <a:srcRect l="6393" t="0" r="6393" b="0"/>
          <a:stretch>
            <a:fillRect/>
          </a:stretch>
        </p:blipFill>
        <p:spPr>
          <a:xfrm rot="0" flipH="0" flipV="0">
            <a:off x="609600" y="952500"/>
            <a:ext cx="5334000" cy="4476750"/>
          </a:xfrm>
          <a:prstGeom prst="roundRect">
            <a:avLst>
              <a:gd name="adj" fmla="val 2128"/>
            </a:avLst>
          </a:prstGeom>
          <a:ln/>
        </p:spPr>
      </p:pic>
      <p:sp>
        <p:nvSpPr>
          <p:cNvPr id="363" name=""/>
          <p:cNvSpPr/>
          <p:nvPr/>
        </p:nvSpPr>
        <p:spPr>
          <a:xfrm rot="0" flipH="0" flipV="0">
            <a:off x="6324600" y="9525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364"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en-US" sz="1350" b="1">
                <a:solidFill>
                  <a:srgbClr val="0E3F8C"/>
                </a:solidFill>
                <a:latin typeface="Microsoft YaHei"/>
                <a:ea typeface="Microsoft YaHei"/>
              </a:rPr>
              <a:t>VASP-PRI</a:t>
            </a:r>
            <a:endParaRPr/>
          </a:p>
        </p:txBody>
      </p:sp>
      <p:sp>
        <p:nvSpPr>
          <p:cNvPr id="365" name="" descr="{&quot;isTemplate&quot;:true,&quot;type&quot;:&quot;text&quot;}"/>
          <p:cNvSpPr txBox="1"/>
          <p:nvPr/>
        </p:nvSpPr>
        <p:spPr>
          <a:xfrm rot="0" flipH="0" flipV="0">
            <a:off x="6515100" y="1457325"/>
            <a:ext cx="4876800" cy="876300"/>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P2Y12 </a:t>
            </a:r>
            <a:r>
              <a:rPr lang="zh-CN" sz="1200">
                <a:solidFill>
                  <a:srgbClr val="2C3E50"/>
                </a:solidFill>
                <a:latin typeface="Microsoft YaHei"/>
                <a:ea typeface="Microsoft YaHei"/>
              </a:rPr>
              <a:t>受体激活→</a:t>
            </a:r>
            <a:r>
              <a:rPr lang="en-US" sz="1200">
                <a:solidFill>
                  <a:srgbClr val="2C3E50"/>
                </a:solidFill>
                <a:latin typeface="Microsoft YaHei"/>
                <a:ea typeface="Microsoft YaHei"/>
              </a:rPr>
              <a:t>VASP </a:t>
            </a:r>
            <a:r>
              <a:rPr lang="zh-CN" sz="1200">
                <a:solidFill>
                  <a:srgbClr val="2C3E50"/>
                </a:solidFill>
                <a:latin typeface="Microsoft YaHei"/>
                <a:ea typeface="Microsoft YaHei"/>
              </a:rPr>
              <a:t>磷酸化下降；流式测磷酸化</a:t>
            </a:r>
            <a:r>
              <a:rPr lang="en-US" sz="1200">
                <a:solidFill>
                  <a:srgbClr val="2C3E50"/>
                </a:solidFill>
                <a:latin typeface="Microsoft YaHei"/>
                <a:ea typeface="Microsoft YaHei"/>
              </a:rPr>
              <a:t> VASP </a:t>
            </a:r>
            <a:r>
              <a:rPr lang="zh-CN" sz="1200">
                <a:solidFill>
                  <a:srgbClr val="2C3E50"/>
                </a:solidFill>
                <a:latin typeface="Microsoft YaHei"/>
                <a:ea typeface="Microsoft YaHei"/>
              </a:rPr>
              <a:t>得血小板反应指数（</a:t>
            </a:r>
            <a:r>
              <a:rPr lang="en-US" sz="1200">
                <a:solidFill>
                  <a:srgbClr val="2C3E50"/>
                </a:solidFill>
                <a:latin typeface="Microsoft YaHei"/>
                <a:ea typeface="Microsoft YaHei"/>
              </a:rPr>
              <a:t>PRI</a:t>
            </a:r>
            <a:r>
              <a:rPr lang="zh-CN" sz="1200">
                <a:solidFill>
                  <a:srgbClr val="2C3E50"/>
                </a:solidFill>
                <a:latin typeface="Microsoft YaHei"/>
                <a:ea typeface="Microsoft YaHei"/>
              </a:rPr>
              <a:t>）。</a:t>
            </a:r>
            <a:r>
              <a:rPr lang="en-US" sz="1200">
                <a:solidFill>
                  <a:srgbClr val="2C3E50"/>
                </a:solidFill>
                <a:latin typeface="Microsoft YaHei"/>
                <a:ea typeface="Microsoft YaHei"/>
              </a:rPr>
              <a:t>PRI </a:t>
            </a:r>
            <a:r>
              <a:rPr lang="zh-CN" sz="1200">
                <a:solidFill>
                  <a:srgbClr val="2C3E50"/>
                </a:solidFill>
                <a:latin typeface="Microsoft YaHei"/>
                <a:ea typeface="Microsoft YaHei"/>
              </a:rPr>
              <a:t>高提示</a:t>
            </a:r>
            <a:r>
              <a:rPr lang="en-US" sz="1200">
                <a:solidFill>
                  <a:srgbClr val="2C3E50"/>
                </a:solidFill>
                <a:latin typeface="Microsoft YaHei"/>
                <a:ea typeface="Microsoft YaHei"/>
              </a:rPr>
              <a:t> P2Y12 </a:t>
            </a:r>
            <a:r>
              <a:rPr lang="zh-CN" sz="1200">
                <a:solidFill>
                  <a:srgbClr val="2C3E50"/>
                </a:solidFill>
                <a:latin typeface="Microsoft YaHei"/>
                <a:ea typeface="Microsoft YaHei"/>
              </a:rPr>
              <a:t>抑制不足，曾用于氯吡格雷低反应识别与个体化负荷。</a:t>
            </a:r>
            <a:endParaRPr/>
          </a:p>
        </p:txBody>
      </p:sp>
      <p:sp>
        <p:nvSpPr>
          <p:cNvPr id="366" name=""/>
          <p:cNvSpPr/>
          <p:nvPr/>
        </p:nvSpPr>
        <p:spPr>
          <a:xfrm rot="0" flipH="0" flipV="0">
            <a:off x="6324600" y="16954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367" name="" descr="{&quot;isTemplate&quot;:true,&quot;type&quot;:&quot;text&quot;}"/>
          <p:cNvSpPr txBox="1"/>
          <p:nvPr/>
        </p:nvSpPr>
        <p:spPr>
          <a:xfrm rot="0" flipH="0" flipV="0">
            <a:off x="6515100" y="18859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流式活化标志</a:t>
            </a:r>
            <a:endParaRPr/>
          </a:p>
        </p:txBody>
      </p:sp>
      <p:sp>
        <p:nvSpPr>
          <p:cNvPr id="368" name="" descr="{&quot;isTemplate&quot;:true,&quot;type&quot;:&quot;text&quot;}"/>
          <p:cNvSpPr txBox="1"/>
          <p:nvPr/>
        </p:nvSpPr>
        <p:spPr>
          <a:xfrm rot="0" flipH="0" flipV="0">
            <a:off x="6515100" y="220027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全血（或</a:t>
            </a:r>
            <a:r>
              <a:rPr lang="en-US" sz="1200">
                <a:solidFill>
                  <a:srgbClr val="2C3E50"/>
                </a:solidFill>
                <a:latin typeface="Microsoft YaHei"/>
                <a:ea typeface="Microsoft YaHei"/>
              </a:rPr>
              <a:t> PRP</a:t>
            </a:r>
            <a:r>
              <a:rPr lang="zh-CN" sz="1200">
                <a:solidFill>
                  <a:srgbClr val="2C3E50"/>
                </a:solidFill>
                <a:latin typeface="Microsoft YaHei"/>
                <a:ea typeface="Microsoft YaHei"/>
              </a:rPr>
              <a:t>）中直接测活化表型：</a:t>
            </a:r>
            <a:r>
              <a:rPr lang="en-US" sz="1200">
                <a:solidFill>
                  <a:srgbClr val="2C3E50"/>
                </a:solidFill>
                <a:latin typeface="Microsoft YaHei"/>
                <a:ea typeface="Microsoft YaHei"/>
              </a:rPr>
              <a:t>PAC-1</a:t>
            </a:r>
            <a:r>
              <a:rPr lang="zh-CN" sz="1200">
                <a:solidFill>
                  <a:srgbClr val="2C3E50"/>
                </a:solidFill>
                <a:latin typeface="Microsoft YaHei"/>
                <a:ea typeface="Microsoft YaHei"/>
              </a:rPr>
              <a:t>（活化</a:t>
            </a:r>
            <a:r>
              <a:rPr lang="en-US" sz="1200">
                <a:solidFill>
                  <a:srgbClr val="2C3E50"/>
                </a:solidFill>
                <a:latin typeface="Microsoft YaHei"/>
                <a:ea typeface="Microsoft YaHei"/>
              </a:rPr>
              <a:t> αIIbβ3 </a:t>
            </a:r>
            <a:r>
              <a:rPr lang="zh-CN" sz="1200">
                <a:solidFill>
                  <a:srgbClr val="2C3E50"/>
                </a:solidFill>
                <a:latin typeface="Microsoft YaHei"/>
                <a:ea typeface="Microsoft YaHei"/>
              </a:rPr>
              <a:t>构象）、</a:t>
            </a:r>
            <a:r>
              <a:rPr lang="en-US" sz="1200">
                <a:solidFill>
                  <a:srgbClr val="2C3E50"/>
                </a:solidFill>
                <a:latin typeface="Microsoft YaHei"/>
                <a:ea typeface="Microsoft YaHei"/>
              </a:rPr>
              <a:t>P-</a:t>
            </a:r>
            <a:r>
              <a:rPr lang="zh-CN" sz="1200">
                <a:solidFill>
                  <a:srgbClr val="2C3E50"/>
                </a:solidFill>
                <a:latin typeface="Microsoft YaHei"/>
                <a:ea typeface="Microsoft YaHei"/>
              </a:rPr>
              <a:t>选择素（α</a:t>
            </a:r>
            <a:r>
              <a:rPr lang="en-US" sz="1200">
                <a:solidFill>
                  <a:srgbClr val="2C3E50"/>
                </a:solidFill>
                <a:latin typeface="Microsoft YaHei"/>
                <a:ea typeface="Microsoft YaHei"/>
              </a:rPr>
              <a:t> </a:t>
            </a:r>
            <a:r>
              <a:rPr lang="zh-CN" sz="1200">
                <a:solidFill>
                  <a:srgbClr val="2C3E50"/>
                </a:solidFill>
                <a:latin typeface="Microsoft YaHei"/>
                <a:ea typeface="Microsoft YaHei"/>
              </a:rPr>
              <a:t>颗粒释放）、</a:t>
            </a:r>
            <a:r>
              <a:rPr lang="en-US" sz="1200">
                <a:solidFill>
                  <a:srgbClr val="2C3E50"/>
                </a:solidFill>
                <a:latin typeface="Microsoft YaHei"/>
                <a:ea typeface="Microsoft YaHei"/>
              </a:rPr>
              <a:t>CD63</a:t>
            </a:r>
            <a:r>
              <a:rPr lang="zh-CN" sz="1200">
                <a:solidFill>
                  <a:srgbClr val="2C3E50"/>
                </a:solidFill>
                <a:latin typeface="Microsoft YaHei"/>
                <a:ea typeface="Microsoft YaHei"/>
              </a:rPr>
              <a:t>（致密颗粒）、白细胞</a:t>
            </a:r>
            <a:r>
              <a:rPr lang="en-US" sz="1200">
                <a:solidFill>
                  <a:srgbClr val="2C3E50"/>
                </a:solidFill>
                <a:latin typeface="Microsoft YaHei"/>
                <a:ea typeface="Microsoft YaHei"/>
              </a:rPr>
              <a:t>-</a:t>
            </a:r>
            <a:r>
              <a:rPr lang="zh-CN" sz="1200">
                <a:solidFill>
                  <a:srgbClr val="2C3E50"/>
                </a:solidFill>
                <a:latin typeface="Microsoft YaHei"/>
                <a:ea typeface="Microsoft YaHei"/>
              </a:rPr>
              <a:t>血小板聚集体、血小板微粒。</a:t>
            </a:r>
            <a:endParaRPr/>
          </a:p>
        </p:txBody>
      </p:sp>
      <p:sp>
        <p:nvSpPr>
          <p:cNvPr id="369" name=""/>
          <p:cNvSpPr/>
          <p:nvPr/>
        </p:nvSpPr>
        <p:spPr>
          <a:xfrm rot="0" flipH="0" flipV="0">
            <a:off x="6324600" y="24384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370" name="" descr="{&quot;isTemplate&quot;:true,&quot;type&quot;:&quot;text&quot;}"/>
          <p:cNvSpPr txBox="1"/>
          <p:nvPr/>
        </p:nvSpPr>
        <p:spPr>
          <a:xfrm rot="0" flipH="0" flipV="0">
            <a:off x="6515100" y="2628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应用场景</a:t>
            </a:r>
            <a:endParaRPr/>
          </a:p>
        </p:txBody>
      </p:sp>
      <p:sp>
        <p:nvSpPr>
          <p:cNvPr id="371" name="" descr="{&quot;isTemplate&quot;:true,&quot;type&quot;:&quot;text&quot;}"/>
          <p:cNvSpPr txBox="1"/>
          <p:nvPr/>
        </p:nvSpPr>
        <p:spPr>
          <a:xfrm rot="0" flipH="0" flipV="0">
            <a:off x="6515100" y="2943225"/>
            <a:ext cx="4876800" cy="581025"/>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ISTH SSC </a:t>
            </a:r>
            <a:r>
              <a:rPr lang="zh-CN" sz="1200">
                <a:solidFill>
                  <a:srgbClr val="2C3E50"/>
                </a:solidFill>
                <a:latin typeface="Microsoft YaHei"/>
                <a:ea typeface="Microsoft YaHei"/>
              </a:rPr>
              <a:t>推荐流式用于先天性</a:t>
            </a:r>
            <a:r>
              <a:rPr lang="en-US" sz="1200">
                <a:solidFill>
                  <a:srgbClr val="2C3E50"/>
                </a:solidFill>
                <a:latin typeface="Microsoft YaHei"/>
                <a:ea typeface="Microsoft YaHei"/>
              </a:rPr>
              <a:t>/</a:t>
            </a:r>
            <a:r>
              <a:rPr lang="zh-CN" sz="1200">
                <a:solidFill>
                  <a:srgbClr val="2C3E50"/>
                </a:solidFill>
                <a:latin typeface="Microsoft YaHei"/>
                <a:ea typeface="Microsoft YaHei"/>
              </a:rPr>
              <a:t>获得性血小板病分型与特殊人群（血小板数低的患者也能测）；也是研究体内血小板活化的“金”工具。</a:t>
            </a:r>
            <a:endParaRPr/>
          </a:p>
        </p:txBody>
      </p:sp>
      <p:sp>
        <p:nvSpPr>
          <p:cNvPr id="372" name=""/>
          <p:cNvSpPr/>
          <p:nvPr/>
        </p:nvSpPr>
        <p:spPr>
          <a:xfrm rot="0" flipH="0" flipV="0">
            <a:off x="6324600" y="31813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373" name="" descr="{&quot;isTemplate&quot;:true,&quot;type&quot;:&quot;text&quot;}"/>
          <p:cNvSpPr txBox="1"/>
          <p:nvPr/>
        </p:nvSpPr>
        <p:spPr>
          <a:xfrm rot="0" flipH="0" flipV="0">
            <a:off x="6515100" y="33718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374" name="" descr="{&quot;isTemplate&quot;:true,&quot;type&quot;:&quot;text&quot;}"/>
          <p:cNvSpPr txBox="1"/>
          <p:nvPr/>
        </p:nvSpPr>
        <p:spPr>
          <a:xfrm rot="0" flipH="0" flipV="0">
            <a:off x="6515100" y="3686175"/>
            <a:ext cx="4876800" cy="0"/>
          </a:xfrm>
          <a:prstGeom prst="rect"/>
        </p:spPr>
        <p:txBody>
          <a:bodyPr wrap="none" lIns="0" tIns="0" rIns="0" bIns="0"/>
          <a:p>
            <a:pPr/>
            <a:endParaRPr/>
          </a:p>
        </p:txBody>
      </p:sp>
      <p:sp>
        <p:nvSpPr>
          <p:cNvPr id="375" name=""/>
          <p:cNvSpPr/>
          <p:nvPr/>
        </p:nvSpPr>
        <p:spPr>
          <a:xfrm rot="0" flipH="0" flipV="0">
            <a:off x="6324600" y="39243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376" name="" descr="{&quot;isTemplate&quot;:true,&quot;type&quot;:&quot;text&quot;}"/>
          <p:cNvSpPr txBox="1"/>
          <p:nvPr/>
        </p:nvSpPr>
        <p:spPr>
          <a:xfrm rot="0" flipH="0" flipV="0">
            <a:off x="6515100" y="4114800"/>
            <a:ext cx="4876800" cy="581025"/>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流式把检测从“聚集”延伸到“活化与颗粒释放”，为低计数患者的血小板功能评估提供了独特入口。</a:t>
            </a:r>
            <a:endParaRPr/>
          </a:p>
        </p:txBody>
      </p:sp>
      <p:sp>
        <p:nvSpPr>
          <p:cNvPr id="377"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378"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J Thromb Haemost 2021;19:3193-3202 (PMID 34580997)</a:t>
            </a:r>
            <a:endParaRPr/>
          </a:p>
        </p:txBody>
      </p:sp>
      <p:sp>
        <p:nvSpPr>
          <p:cNvPr id="379"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380"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en-US" sz="1050">
                <a:solidFill>
                  <a:srgbClr val="6B7B8C"/>
                </a:solidFill>
                <a:latin typeface="Microsoft YaHei"/>
                <a:ea typeface="Microsoft YaHei"/>
              </a:rPr>
              <a:t>VASP </a:t>
            </a:r>
            <a:r>
              <a:rPr lang="zh-CN" sz="1050">
                <a:solidFill>
                  <a:srgbClr val="6B7B8C"/>
                </a:solidFill>
                <a:latin typeface="Microsoft YaHei"/>
                <a:ea typeface="Microsoft YaHei"/>
              </a:rPr>
              <a:t>磷酸化分析（</a:t>
            </a:r>
            <a:r>
              <a:rPr lang="en-US" sz="1050">
                <a:solidFill>
                  <a:srgbClr val="6B7B8C"/>
                </a:solidFill>
                <a:latin typeface="Microsoft YaHei"/>
                <a:ea typeface="Microsoft YaHei"/>
              </a:rPr>
              <a:t>PRI</a:t>
            </a:r>
            <a:r>
              <a:rPr lang="zh-CN" sz="1050">
                <a:solidFill>
                  <a:srgbClr val="6B7B8C"/>
                </a:solidFill>
                <a:latin typeface="Microsoft YaHei"/>
                <a:ea typeface="Microsoft YaHei"/>
              </a:rPr>
              <a:t>）与血小板活化流式检测</a:t>
            </a:r>
            <a:endParaRPr/>
          </a:p>
        </p:txBody>
      </p:sp>
      <p:sp>
        <p:nvSpPr>
          <p:cNvPr id="381" name=""/>
          <p:cNvSpPr/>
          <p:nvPr/>
        </p:nvSpPr>
        <p:spPr>
          <a:xfrm rot="0" flipH="0" flipV="0">
            <a:off x="0" y="6324600"/>
            <a:ext cx="12192000" cy="342900"/>
          </a:xfrm>
          <a:prstGeom prst="rect">
            <a:avLst/>
          </a:prstGeom>
          <a:solidFill>
            <a:srgbClr val="F7F9FC"/>
          </a:solidFill>
          <a:ln/>
        </p:spPr>
        <p:txBody>
          <a:bodyPr/>
          <a:p/>
        </p:txBody>
      </p:sp>
      <p:sp>
        <p:nvSpPr>
          <p:cNvPr id="38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38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2.xml><?xml version="1.0" encoding="utf-8"?>
<p:sld xmlns:p="http://schemas.openxmlformats.org/presentationml/2006/main" xmlns:a="http://schemas.openxmlformats.org/drawingml/2006/main">
  <p:cSld>
    <p:spTree>
      <p:nvGrpSpPr>
        <p:cNvPr id="384" name="" descr="&lt;Slide notes={`演讲者备注：【NURDEN-INHERIT】遗传性血小板病涵盖受体（αIIbβ3、GPIb-IX-V）、颗粒、信号与细胞骨架缺陷，表型从轻度出血到重度黏膜皮肤出血谱系广泛，诊断需表型与功能/分子整合。证据：Haemophilia 2012;18 Suppl 4:154-160，PMID 22726100。&#13;&#10;【FLOW-ISTH】ISTH SSC 共识：流式细胞术可用于遗传性与获得性血小板数量/功能疾病评估，推荐作为先天性血小板病的补充诊断平台。证据：J Thromb Haemost 2021;19:3193-3202，PMID 34580997。&#13;&#10;讲解提示：结合案例——年轻女性反复鼻衄/月经过多，LTA 仅肾上腺素低浓度异常，lumi 测 ATP 释放显著下降，最终诊断 δ-颗粒病。这是“细节决定诊断”的典型。`}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分泌功能：致密颗粒与 α 颗粒释放&lt;/Text&gt;&#13;&#10;    &lt;/Box&gt;&#13;&#10;    &lt;Text style={{ position: 'absolute', right: 64, top: 24, fontSize: 15, color: '#9DB8E0' }}&gt;22 / 77&lt;/Text&gt;&#13;&#10;  &lt;/Box&gt;&#13;&#10;  &lt;Box style={{ position: 'absolute', left: 64, top: 96, width: 562, height: 128, background: '#F0F5FC', borderRadius: 12, border: '1px solid #E5E7EB', padding: 20 }}&gt;&#13;&#10;&lt;Text style={{ fontSize: 19, color: '#0E3F8C', fontWeight: 'bold', textAlign: 'left', lineHeight: 1.5 }}&gt;为什么测分泌&lt;/Text&gt;&#13;&#10;&lt;Text style={{ fontSize: 17, color: '#2C3E50', textAlign: 'left', lineHeight: 1.62 }}&gt;聚集缺陷有时源于颗粒“弹药不足”：致密颗粒病（δ-SPD）患者聚集可仅轻度异常，但 ADP/ATP 释放显著下降，是出血体质的重要隐藏原因。&lt;/Text&gt;&#13;&#10;  &lt;/Box&gt;&#13;&#10;  &lt;Box style={{ position: 'absolute', left: 654, top: 96, width: 562, height: 128, background: '#F0F5FC', borderRadius: 12, border: '1px solid #E5E7EB', padding: 20 }}&gt;&#13;&#10;&lt;Text style={{ fontSize: 19, color: '#0E3F8C', fontWeight: 'bold', textAlign: 'left', lineHeight: 1.5 }}&gt;检测方法&lt;/Text&gt;&#13;&#10;&lt;Text style={{ fontSize: 17, color: '#2C3E50', textAlign: 'left', lineHeight: 1.62 }}&gt;①发色/发光法测 ATP 释放（lumiaggregometry，与 LTA 同步）；②流式测活化后 CD63/P-选择素表达；③电镜数颗粒（诊断金标准之一）；④血清素释放试验。&lt;/Text&gt;&#13;&#10;  &lt;/Box&gt;&#13;&#10;  &lt;Box style={{ position: 'absolute', left: 64, top: 252, width: 562, height: 128, background: '#F0F5FC', borderRadius: 12, border: '1px solid #E5E7EB', padding: 20 }}&gt;&#13;&#10;&lt;Text style={{ fontSize: 19, color: '#0E3F8C', fontWeight: 'bold', textAlign: 'left', lineHeight: 1.5 }}&gt;临床提示&lt;/Text&gt;&#13;&#10;&lt;Text style={{ fontSize: 17, color: '#2C3E50', textAlign: 'left', lineHeight: 1.62 }}&gt;以黏膜皮肤出血+瘀斑为主诉、常规聚集仅轻度异常者，应加做分泌功能；遗传性 δ-SPD 需与药物（抗抑郁药 SSRI 抑 5-HT 摄取）干扰鉴别。&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聚集正常≠功能正常”：分泌环节缺陷需要专门试验才不漏诊。&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Haemophilia 2012;18 Suppl 4:154-160 (PMID 22726100)&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385" name=""/>
          <p:cNvSpPr/>
          <p:nvPr/>
        </p:nvSpPr>
        <p:spPr>
          <a:xfrm rot="0" flipH="0" flipV="0">
            <a:off x="0" y="0"/>
            <a:ext cx="12192000" cy="6858000"/>
          </a:xfrm>
          <a:prstGeom prst="rect">
            <a:avLst/>
          </a:prstGeom>
          <a:solidFill>
            <a:srgbClr val="FFFFFF"/>
          </a:solidFill>
          <a:ln/>
        </p:spPr>
        <p:txBody>
          <a:bodyPr/>
          <a:p/>
        </p:txBody>
      </p:sp>
      <p:sp>
        <p:nvSpPr>
          <p:cNvPr id="386" name=""/>
          <p:cNvSpPr/>
          <p:nvPr/>
        </p:nvSpPr>
        <p:spPr>
          <a:xfrm rot="0" flipH="0" flipV="0">
            <a:off x="0" y="0"/>
            <a:ext cx="12192000" cy="685800"/>
          </a:xfrm>
          <a:prstGeom prst="rect">
            <a:avLst/>
          </a:prstGeom>
          <a:solidFill>
            <a:srgbClr val="0E3F8C"/>
          </a:solidFill>
          <a:ln/>
        </p:spPr>
        <p:txBody>
          <a:bodyPr/>
          <a:p/>
        </p:txBody>
      </p:sp>
      <p:sp>
        <p:nvSpPr>
          <p:cNvPr id="387"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388" name=""/>
          <p:cNvSpPr/>
          <p:nvPr/>
        </p:nvSpPr>
        <p:spPr>
          <a:xfrm rot="0" flipH="0" flipV="0">
            <a:off x="3048000" y="209550"/>
            <a:ext cx="9525" cy="228600"/>
          </a:xfrm>
          <a:prstGeom prst="rect">
            <a:avLst/>
          </a:prstGeom>
          <a:solidFill>
            <a:srgbClr val="3D7BD9"/>
          </a:solidFill>
          <a:ln/>
        </p:spPr>
        <p:txBody>
          <a:bodyPr/>
          <a:p/>
        </p:txBody>
      </p:sp>
      <p:sp>
        <p:nvSpPr>
          <p:cNvPr id="389" name="" descr="{&quot;isTemplate&quot;:true,&quot;type&quot;:&quot;text&quot;}"/>
          <p:cNvSpPr txBox="1"/>
          <p:nvPr/>
        </p:nvSpPr>
        <p:spPr>
          <a:xfrm rot="0" flipH="0" flipV="0">
            <a:off x="3209925" y="228600"/>
            <a:ext cx="2333625" cy="190500"/>
          </a:xfrm>
          <a:prstGeom prst="rect"/>
        </p:spPr>
        <p:txBody>
          <a:bodyPr wrap="none" lIns="0" tIns="0" rIns="0" bIns="0"/>
          <a:p>
            <a:pPr>
              <a:lnSpc>
                <a:spcPct val="100000"/>
              </a:lnSpc>
            </a:pPr>
            <a:r>
              <a:rPr lang="zh-CN" sz="1200">
                <a:solidFill>
                  <a:srgbClr val="C7D6EC"/>
                </a:solidFill>
                <a:latin typeface="Microsoft YaHei"/>
                <a:ea typeface="Microsoft YaHei"/>
              </a:rPr>
              <a:t>分泌功能：致密颗粒与</a:t>
            </a:r>
            <a:r>
              <a:rPr lang="en-US" sz="1200">
                <a:solidFill>
                  <a:srgbClr val="C7D6EC"/>
                </a:solidFill>
                <a:latin typeface="Microsoft YaHei"/>
                <a:ea typeface="Microsoft YaHei"/>
              </a:rPr>
              <a:t> α </a:t>
            </a:r>
            <a:r>
              <a:rPr lang="zh-CN" sz="1200">
                <a:solidFill>
                  <a:srgbClr val="C7D6EC"/>
                </a:solidFill>
                <a:latin typeface="Microsoft YaHei"/>
                <a:ea typeface="Microsoft YaHei"/>
              </a:rPr>
              <a:t>颗粒释放</a:t>
            </a:r>
            <a:endParaRPr/>
          </a:p>
        </p:txBody>
      </p:sp>
      <p:sp>
        <p:nvSpPr>
          <p:cNvPr id="39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22 / 77</a:t>
            </a:r>
            <a:endParaRPr/>
          </a:p>
        </p:txBody>
      </p:sp>
      <p:sp>
        <p:nvSpPr>
          <p:cNvPr id="39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9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为什么测分泌</a:t>
            </a:r>
            <a:endParaRPr/>
          </a:p>
        </p:txBody>
      </p:sp>
      <p:sp>
        <p:nvSpPr>
          <p:cNvPr id="39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聚集缺陷有时源于颗粒“弹药不足”：致密颗粒病（δ</a:t>
            </a:r>
            <a:r>
              <a:rPr lang="en-US" sz="1275">
                <a:solidFill>
                  <a:srgbClr val="2C3E50"/>
                </a:solidFill>
                <a:latin typeface="Microsoft YaHei"/>
                <a:ea typeface="Microsoft YaHei"/>
              </a:rPr>
              <a:t>-SPD</a:t>
            </a:r>
            <a:r>
              <a:rPr lang="zh-CN" sz="1275">
                <a:solidFill>
                  <a:srgbClr val="2C3E50"/>
                </a:solidFill>
                <a:latin typeface="Microsoft YaHei"/>
                <a:ea typeface="Microsoft YaHei"/>
              </a:rPr>
              <a:t>）患者聚集可仅轻度异常，但</a:t>
            </a:r>
            <a:r>
              <a:rPr lang="en-US" sz="1275">
                <a:solidFill>
                  <a:srgbClr val="2C3E50"/>
                </a:solidFill>
                <a:latin typeface="Microsoft YaHei"/>
                <a:ea typeface="Microsoft YaHei"/>
              </a:rPr>
              <a:t> ADP/ATP </a:t>
            </a:r>
            <a:r>
              <a:rPr lang="zh-CN" sz="1275">
                <a:solidFill>
                  <a:srgbClr val="2C3E50"/>
                </a:solidFill>
                <a:latin typeface="Microsoft YaHei"/>
                <a:ea typeface="Microsoft YaHei"/>
              </a:rPr>
              <a:t>释放显著下降，是出血体质的重要隐藏原因。</a:t>
            </a:r>
            <a:endParaRPr/>
          </a:p>
        </p:txBody>
      </p:sp>
      <p:sp>
        <p:nvSpPr>
          <p:cNvPr id="39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9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检测方法</a:t>
            </a:r>
            <a:endParaRPr/>
          </a:p>
        </p:txBody>
      </p:sp>
      <p:sp>
        <p:nvSpPr>
          <p:cNvPr id="396"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①发色</a:t>
            </a:r>
            <a:r>
              <a:rPr lang="en-US" sz="1275">
                <a:solidFill>
                  <a:srgbClr val="2C3E50"/>
                </a:solidFill>
                <a:latin typeface="Microsoft YaHei"/>
                <a:ea typeface="Microsoft YaHei"/>
              </a:rPr>
              <a:t>/</a:t>
            </a:r>
            <a:r>
              <a:rPr lang="zh-CN" sz="1275">
                <a:solidFill>
                  <a:srgbClr val="2C3E50"/>
                </a:solidFill>
                <a:latin typeface="Microsoft YaHei"/>
                <a:ea typeface="Microsoft YaHei"/>
              </a:rPr>
              <a:t>发光法测</a:t>
            </a:r>
            <a:r>
              <a:rPr lang="en-US" sz="1275">
                <a:solidFill>
                  <a:srgbClr val="2C3E50"/>
                </a:solidFill>
                <a:latin typeface="Microsoft YaHei"/>
                <a:ea typeface="Microsoft YaHei"/>
              </a:rPr>
              <a:t> ATP </a:t>
            </a:r>
            <a:r>
              <a:rPr lang="zh-CN" sz="1275">
                <a:solidFill>
                  <a:srgbClr val="2C3E50"/>
                </a:solidFill>
                <a:latin typeface="Microsoft YaHei"/>
                <a:ea typeface="Microsoft YaHei"/>
              </a:rPr>
              <a:t>释放（</a:t>
            </a:r>
            <a:r>
              <a:rPr lang="en-US" sz="1275">
                <a:solidFill>
                  <a:srgbClr val="2C3E50"/>
                </a:solidFill>
                <a:latin typeface="Microsoft YaHei"/>
                <a:ea typeface="Microsoft YaHei"/>
              </a:rPr>
              <a:t>lumiaggregometry</a:t>
            </a:r>
            <a:r>
              <a:rPr lang="zh-CN" sz="1275">
                <a:solidFill>
                  <a:srgbClr val="2C3E50"/>
                </a:solidFill>
                <a:latin typeface="Microsoft YaHei"/>
                <a:ea typeface="Microsoft YaHei"/>
              </a:rPr>
              <a:t>，与</a:t>
            </a:r>
            <a:r>
              <a:rPr lang="en-US" sz="1275">
                <a:solidFill>
                  <a:srgbClr val="2C3E50"/>
                </a:solidFill>
                <a:latin typeface="Microsoft YaHei"/>
                <a:ea typeface="Microsoft YaHei"/>
              </a:rPr>
              <a:t> LTA </a:t>
            </a:r>
            <a:r>
              <a:rPr lang="zh-CN" sz="1275">
                <a:solidFill>
                  <a:srgbClr val="2C3E50"/>
                </a:solidFill>
                <a:latin typeface="Microsoft YaHei"/>
                <a:ea typeface="Microsoft YaHei"/>
              </a:rPr>
              <a:t>同步）；②流式测活化后</a:t>
            </a:r>
            <a:r>
              <a:rPr lang="en-US" sz="1275">
                <a:solidFill>
                  <a:srgbClr val="2C3E50"/>
                </a:solidFill>
                <a:latin typeface="Microsoft YaHei"/>
                <a:ea typeface="Microsoft YaHei"/>
              </a:rPr>
              <a:t> CD63/P-</a:t>
            </a:r>
            <a:r>
              <a:rPr lang="zh-CN" sz="1275">
                <a:solidFill>
                  <a:srgbClr val="2C3E50"/>
                </a:solidFill>
                <a:latin typeface="Microsoft YaHei"/>
                <a:ea typeface="Microsoft YaHei"/>
              </a:rPr>
              <a:t>选择素表达；③电镜数颗粒（诊断金标准之一）；④血清素释放试验。</a:t>
            </a:r>
            <a:endParaRPr/>
          </a:p>
        </p:txBody>
      </p:sp>
      <p:sp>
        <p:nvSpPr>
          <p:cNvPr id="39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39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临床提示</a:t>
            </a:r>
            <a:endParaRPr/>
          </a:p>
        </p:txBody>
      </p:sp>
      <p:sp>
        <p:nvSpPr>
          <p:cNvPr id="39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以黏膜皮肤出血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瘀斑为主诉、常规聚集仅轻度异常者，应加做分泌功能；遗传性</a:t>
            </a:r>
            <a:r>
              <a:rPr lang="en-US" sz="1275">
                <a:solidFill>
                  <a:srgbClr val="2C3E50"/>
                </a:solidFill>
                <a:latin typeface="Microsoft YaHei"/>
                <a:ea typeface="Microsoft YaHei"/>
              </a:rPr>
              <a:t> δ-SPD </a:t>
            </a:r>
            <a:r>
              <a:rPr lang="zh-CN" sz="1275">
                <a:solidFill>
                  <a:srgbClr val="2C3E50"/>
                </a:solidFill>
                <a:latin typeface="Microsoft YaHei"/>
                <a:ea typeface="Microsoft YaHei"/>
              </a:rPr>
              <a:t>需与药物（抗抑郁药</a:t>
            </a:r>
            <a:r>
              <a:rPr lang="en-US" sz="1275">
                <a:solidFill>
                  <a:srgbClr val="2C3E50"/>
                </a:solidFill>
                <a:latin typeface="Microsoft YaHei"/>
                <a:ea typeface="Microsoft YaHei"/>
              </a:rPr>
              <a:t> SSRI </a:t>
            </a:r>
            <a:r>
              <a:rPr lang="zh-CN" sz="1275">
                <a:solidFill>
                  <a:srgbClr val="2C3E50"/>
                </a:solidFill>
                <a:latin typeface="Microsoft YaHei"/>
                <a:ea typeface="Microsoft YaHei"/>
              </a:rPr>
              <a:t>抑</a:t>
            </a:r>
            <a:r>
              <a:rPr lang="en-US" sz="1275">
                <a:solidFill>
                  <a:srgbClr val="2C3E50"/>
                </a:solidFill>
                <a:latin typeface="Microsoft YaHei"/>
                <a:ea typeface="Microsoft YaHei"/>
              </a:rPr>
              <a:t> 5-HT </a:t>
            </a:r>
            <a:r>
              <a:rPr lang="zh-CN" sz="1275">
                <a:solidFill>
                  <a:srgbClr val="2C3E50"/>
                </a:solidFill>
                <a:latin typeface="Microsoft YaHei"/>
                <a:ea typeface="Microsoft YaHei"/>
              </a:rPr>
              <a:t>摄取）干扰鉴别。</a:t>
            </a:r>
            <a:endParaRPr/>
          </a:p>
        </p:txBody>
      </p:sp>
      <p:sp>
        <p:nvSpPr>
          <p:cNvPr id="40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0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40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40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04" name="" descr="{&quot;isTemplate&quot;:true,&quot;type&quot;:&quot;text&quot;}"/>
          <p:cNvSpPr txBox="1"/>
          <p:nvPr/>
        </p:nvSpPr>
        <p:spPr>
          <a:xfrm rot="0" flipH="0" flipV="0">
            <a:off x="800100" y="4076700"/>
            <a:ext cx="4972050" cy="657225"/>
          </a:xfrm>
          <a:prstGeom prst="rect"/>
        </p:spPr>
        <p:txBody>
          <a:bodyPr wrap="square" lIns="0" tIns="0" rIns="0" bIns="0">
            <a:normAutofit/>
          </a:bodyPr>
          <a:p>
            <a:pPr algn="l">
              <a:lnSpc>
                <a:spcPct val="150000"/>
              </a:lnSpc>
            </a:pPr>
            <a:r>
              <a:rPr lang="zh-CN" sz="1425" b="1">
                <a:solidFill>
                  <a:srgbClr val="0E3F8C"/>
                </a:solidFill>
                <a:latin typeface="Microsoft YaHei"/>
                <a:ea typeface="Microsoft YaHei"/>
              </a:rPr>
              <a:t>“聚集正常≠功能正常”：分泌环节缺陷需要专门试验才不漏诊。</a:t>
            </a:r>
            <a:endParaRPr/>
          </a:p>
        </p:txBody>
      </p:sp>
      <p:sp>
        <p:nvSpPr>
          <p:cNvPr id="405" name="" descr="{&quot;isTemplate&quot;:true,&quot;type&quot;:&quot;text&quot;}"/>
          <p:cNvSpPr txBox="1"/>
          <p:nvPr/>
        </p:nvSpPr>
        <p:spPr>
          <a:xfrm rot="0" flipH="0" flipV="0">
            <a:off x="800100" y="4733925"/>
            <a:ext cx="4972050" cy="0"/>
          </a:xfrm>
          <a:prstGeom prst="rect"/>
        </p:spPr>
        <p:txBody>
          <a:bodyPr wrap="none" lIns="0" tIns="0" rIns="0" bIns="0"/>
          <a:p>
            <a:pPr/>
            <a:endParaRPr/>
          </a:p>
        </p:txBody>
      </p:sp>
      <p:sp>
        <p:nvSpPr>
          <p:cNvPr id="40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40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Haemophilia 2012;18 Suppl 4:154-160 (PMID 22726100)</a:t>
            </a:r>
            <a:endParaRPr/>
          </a:p>
        </p:txBody>
      </p:sp>
      <p:sp>
        <p:nvSpPr>
          <p:cNvPr id="408" name=""/>
          <p:cNvSpPr/>
          <p:nvPr/>
        </p:nvSpPr>
        <p:spPr>
          <a:xfrm rot="0" flipH="0" flipV="0">
            <a:off x="0" y="6324600"/>
            <a:ext cx="12192000" cy="342900"/>
          </a:xfrm>
          <a:prstGeom prst="rect">
            <a:avLst/>
          </a:prstGeom>
          <a:solidFill>
            <a:srgbClr val="F7F9FC"/>
          </a:solidFill>
          <a:ln/>
        </p:spPr>
        <p:txBody>
          <a:bodyPr/>
          <a:p/>
        </p:txBody>
      </p:sp>
      <p:sp>
        <p:nvSpPr>
          <p:cNvPr id="40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41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3.xml><?xml version="1.0" encoding="utf-8"?>
<p:sld xmlns:p="http://schemas.openxmlformats.org/presentationml/2006/main" xmlns:r="http://schemas.openxmlformats.org/officeDocument/2006/relationships" xmlns:a="http://schemas.openxmlformats.org/drawingml/2006/main">
  <p:cSld>
    <p:spTree>
      <p:nvGrpSpPr>
        <p:cNvPr id="411" name="" descr="&lt;Slide notes={`演讲者备注：【BOLLIGER-TEG】血栓弹力图（TEG）原理与应用综述：MA 等参数反映血小板-纤维蛋白共同作用形成的血块强度，可用于围术期/创伤的目标导向输血。证据：Transfus Med Rev 2012;26:1-13，PMID 21872428。&#13;&#10;讲解提示：展示 MA 低平曲线——低纤维蛋白原与血小板减少都可压低 MA，需靠 FIBTEM 区分“纤维蛋白贡献”与“血小板贡献”，这是 VET 导向输血的核心逻辑（第八章创伤/CPB 页展开）。`}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VET 中的血小板贡献：TEG/ROTEM&lt;/Text&gt;&#13;&#10;    &lt;/Box&gt;&#13;&#10;    &lt;Text style={{ position: 'absolute', right: 64, top: 24, fontSize: 15, color: '#9DB8E0' }}&gt;23 / 77&lt;/Text&gt;&#13;&#10;  &lt;/Box&gt;&#13;&#10;  &lt;Box style={{ position: 'absolute', left: 64, top: 100, width: 560 }}&gt;&#13;&#10;    &lt;Image style={{ width: 560, height: 470, borderRadius: 10, objectFit: 'contain' }} src={'C:/Users/lenovo/WorkBuddy/2026-09-06-22-29-36/血小板PLT/assets_fixed/plt_teg__PMC2758824_b1.png'} /&gt;&#13;&#10;&#13;&#10;  &lt;/Box&gt;&#13;&#10;  &lt;Box style={{ position: 'absolute', left: 664, top: 100, width: 552, height: 62, background: '#F0F5FC', borderRadius: 12, border: '1px solid #E5E7EB', padding: 20 }}&gt;&#13;&#10;&lt;Text style={{ fontSize: 18, color: '#0E3F8C', fontWeight: 'bold', textAlign: 'left', lineHeight: 1.5 }}&gt;原理&lt;/Text&gt;&#13;&#10;&lt;Text style={{ fontSize: 16, color: '#2C3E50', textAlign: 'left', lineHeight: 1.58 }}&gt;黏弹性检测（VET）记录全血凝块形成全程的剪切弹性变化：TEG 的 MA（最大振幅）与 ROTEM 的 EXTEM/INTEM A10/MCF 反映“血小板-纤维蛋白”共同决定的血块强度。&lt;/Text&gt;&#13;&#10;  &lt;/Box&gt;&#13;&#10;  &lt;Box style={{ position: 'absolute', left: 664, top: 178, width: 552, height: 62, background: '#F0F5FC', borderRadius: 12, border: '1px solid #E5E7EB', padding: 20 }}&gt;&#13;&#10;&lt;Text style={{ fontSize: 18, color: '#0E3F8C', fontWeight: 'bold', textAlign: 'left', lineHeight: 1.5 }}&gt;血小板减少/功能差的图形&lt;/Text&gt;&#13;&#10;&lt;Text style={{ fontSize: 16, color: '#2C3E50', textAlign: 'left', lineHeight: 1.58 }}&gt;血小板数量或功能不足时 MA/MCF 下降（纤溶亢进则为形态特殊的“溶解型”）；TEG 血小板图（PlateletMapping）可分离 AA/ADP 通路贡献，评估抗血小板药抑制程度。&lt;/Text&gt;&#13;&#10;  &lt;/Box&gt;&#13;&#10;  &lt;Box style={{ position: 'absolute', left: 664, top: 256, width: 552, height: 62, background: '#F0F5FC', borderRadius: 12, border: '1px solid #E5E7EB', padding: 20 }}&gt;&#13;&#10;&lt;Text style={{ fontSize: 18, color: '#0E3F8C', fontWeight: 'bold', textAlign: 'left', lineHeight: 1.5 }}&gt;与纯血小板试验的区别&lt;/Text&gt;&#13;&#10;&lt;Text style={{ fontSize: 16, color: '#2C3E50', textAlign: 'left', lineHeight: 1.58 }}&gt;VET 在全血、含凝血级联与红细胞条件下整体评估，不是单纯的“血小板功能试验”，但能为创伤/心脏外科的目标导向输血提供血小板补充指征（见第八章）。&lt;/Text&gt;&#13;&#10;  &lt;/Box&gt;&#13;&#10;  &lt;Box style={{ position: 'absolute', left: 664, top: 334, width: 552, height: 62, background: '#F0F5FC', borderRadius: 12, border: '1px solid #E5E7EB', padding: 20 }}&gt;&#13;&#10;&lt;Text style={{ fontSize: 18, color: '#0E3F8C', fontWeight: 'bold', textAlign: 'left', lineHeight: 1.5 }}&gt;小结&lt;/Text&gt;&#13;&#10;&lt;Text style={{ fontSize: 16, color: '#2C3E50', textAlign: 'left', lineHeight: 1.58 }}&gt;&lt;/Text&gt;&#13;&#10;  &lt;/Box&gt;&#13;&#10;  &lt;Box style={{ position: 'absolute', left: 664, top: 412, width: 552, height: 62, background: '#F0F5FC', borderRadius: 12, border: '1px solid #E5E7EB', padding: 20 }}&gt;&#13;&#10;&lt;Text style={{ fontSize: 16, color: '#2C3E50', textAlign: 'left', lineHeight: 1.58 }}&gt;VET 回答“整体血块行不行”，血小板功能试验回答“血小板环节行不行”，两者互补。&lt;/Text&gt;&#13;&#10;  &lt;/Box&gt;&#13;&#10;  &lt;Box style={{ position: 'absolute', left: 64, top: 494, width: 1152, height: 76, background: '#F0F5FC', borderRadius: 12, border: '1px solid #E5E7EB', padding: 20 }}&gt;&#13;&#10;&lt;Text style={{ fontSize: 16, color: '#2C3E50', textAlign: 'left', lineHeight: 1.55 }}&gt;小结：Transfus Med Rev 2012;26:1-13 (PMID 21872428)&lt;/Text&gt;&#13;&#10;  &lt;/Box&gt;&#13;&#10;  &lt;Box style={{ position: 'absolute', left: 64, top: 606, width: 1152, height: 40, background: '#F0F5FC', borderRadius: 12, border: '1px solid #E5E7EB', padding: 20 }}&gt;&#13;&#10;&lt;Text style={{ fontSize: 14, color: '#6B7B8C', textAlign: 'center', lineHeight: 1.5 }}&gt;血栓弹力图（TEG/ROTEM）参数与血块强度评价&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412" name=""/>
          <p:cNvSpPr/>
          <p:nvPr/>
        </p:nvSpPr>
        <p:spPr>
          <a:xfrm rot="0" flipH="0" flipV="0">
            <a:off x="0" y="0"/>
            <a:ext cx="12192000" cy="6858000"/>
          </a:xfrm>
          <a:prstGeom prst="rect">
            <a:avLst/>
          </a:prstGeom>
          <a:solidFill>
            <a:srgbClr val="FFFFFF"/>
          </a:solidFill>
          <a:ln/>
        </p:spPr>
        <p:txBody>
          <a:bodyPr/>
          <a:p/>
        </p:txBody>
      </p:sp>
      <p:sp>
        <p:nvSpPr>
          <p:cNvPr id="413" name=""/>
          <p:cNvSpPr/>
          <p:nvPr/>
        </p:nvSpPr>
        <p:spPr>
          <a:xfrm rot="0" flipH="0" flipV="0">
            <a:off x="0" y="0"/>
            <a:ext cx="12192000" cy="685800"/>
          </a:xfrm>
          <a:prstGeom prst="rect">
            <a:avLst/>
          </a:prstGeom>
          <a:solidFill>
            <a:srgbClr val="0E3F8C"/>
          </a:solidFill>
          <a:ln/>
        </p:spPr>
        <p:txBody>
          <a:bodyPr/>
          <a:p/>
        </p:txBody>
      </p:sp>
      <p:sp>
        <p:nvSpPr>
          <p:cNvPr id="414"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415" name=""/>
          <p:cNvSpPr/>
          <p:nvPr/>
        </p:nvSpPr>
        <p:spPr>
          <a:xfrm rot="0" flipH="0" flipV="0">
            <a:off x="3048000" y="209550"/>
            <a:ext cx="9525" cy="228600"/>
          </a:xfrm>
          <a:prstGeom prst="rect">
            <a:avLst/>
          </a:prstGeom>
          <a:solidFill>
            <a:srgbClr val="3D7BD9"/>
          </a:solidFill>
          <a:ln/>
        </p:spPr>
        <p:txBody>
          <a:bodyPr/>
          <a:p/>
        </p:txBody>
      </p:sp>
      <p:sp>
        <p:nvSpPr>
          <p:cNvPr id="416" name="" descr="{&quot;isTemplate&quot;:true,&quot;type&quot;:&quot;text&quot;}"/>
          <p:cNvSpPr txBox="1"/>
          <p:nvPr/>
        </p:nvSpPr>
        <p:spPr>
          <a:xfrm rot="0" flipH="0" flipV="0">
            <a:off x="3209925" y="228600"/>
            <a:ext cx="2428875" cy="190500"/>
          </a:xfrm>
          <a:prstGeom prst="rect"/>
        </p:spPr>
        <p:txBody>
          <a:bodyPr wrap="none" lIns="0" tIns="0" rIns="0" bIns="0"/>
          <a:p>
            <a:pPr>
              <a:lnSpc>
                <a:spcPct val="100000"/>
              </a:lnSpc>
            </a:pPr>
            <a:r>
              <a:rPr lang="en-US" sz="1200">
                <a:solidFill>
                  <a:srgbClr val="C7D6EC"/>
                </a:solidFill>
                <a:latin typeface="Microsoft YaHei"/>
                <a:ea typeface="Microsoft YaHei"/>
              </a:rPr>
              <a:t>VET </a:t>
            </a:r>
            <a:r>
              <a:rPr lang="zh-CN" sz="1200">
                <a:solidFill>
                  <a:srgbClr val="C7D6EC"/>
                </a:solidFill>
                <a:latin typeface="Microsoft YaHei"/>
                <a:ea typeface="Microsoft YaHei"/>
              </a:rPr>
              <a:t>中的血小板贡献：</a:t>
            </a:r>
            <a:r>
              <a:rPr lang="en-US" sz="1200">
                <a:solidFill>
                  <a:srgbClr val="C7D6EC"/>
                </a:solidFill>
                <a:latin typeface="Microsoft YaHei"/>
                <a:ea typeface="Microsoft YaHei"/>
              </a:rPr>
              <a:t>TEG/ROTEM</a:t>
            </a:r>
            <a:endParaRPr/>
          </a:p>
        </p:txBody>
      </p:sp>
      <p:sp>
        <p:nvSpPr>
          <p:cNvPr id="41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23 / 77</a:t>
            </a:r>
            <a:endParaRPr/>
          </a:p>
        </p:txBody>
      </p:sp>
      <p:pic>
        <p:nvPicPr>
          <p:cNvPr id="418" name=""/>
          <p:cNvPicPr>
            <a:picLocks noChangeAspect="1"/>
          </p:cNvPicPr>
          <p:nvPr/>
        </p:nvPicPr>
        <p:blipFill>
          <a:blip r:embed="rId1"/>
          <a:srcRect l="15148" t="0" r="15148" b="0"/>
          <a:stretch>
            <a:fillRect/>
          </a:stretch>
        </p:blipFill>
        <p:spPr>
          <a:xfrm rot="0" flipH="0" flipV="0">
            <a:off x="609600" y="952500"/>
            <a:ext cx="5334000" cy="4476750"/>
          </a:xfrm>
          <a:prstGeom prst="roundRect">
            <a:avLst>
              <a:gd name="adj" fmla="val 2128"/>
            </a:avLst>
          </a:prstGeom>
          <a:ln/>
        </p:spPr>
      </p:pic>
      <p:sp>
        <p:nvSpPr>
          <p:cNvPr id="419" name=""/>
          <p:cNvSpPr/>
          <p:nvPr/>
        </p:nvSpPr>
        <p:spPr>
          <a:xfrm rot="0" flipH="0" flipV="0">
            <a:off x="6324600" y="9525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420" name="" descr="{&quot;isTemplate&quot;:true,&quot;type&quot;:&quot;text&quot;}"/>
          <p:cNvSpPr txBox="1"/>
          <p:nvPr/>
        </p:nvSpPr>
        <p:spPr>
          <a:xfrm rot="0" flipH="0" flipV="0">
            <a:off x="6515100" y="11430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原理</a:t>
            </a:r>
            <a:endParaRPr/>
          </a:p>
        </p:txBody>
      </p:sp>
      <p:sp>
        <p:nvSpPr>
          <p:cNvPr id="421" name="" descr="{&quot;isTemplate&quot;:true,&quot;type&quot;:&quot;text&quot;}"/>
          <p:cNvSpPr txBox="1"/>
          <p:nvPr/>
        </p:nvSpPr>
        <p:spPr>
          <a:xfrm rot="0" flipH="0" flipV="0">
            <a:off x="6515100" y="145732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黏弹性检测（</a:t>
            </a:r>
            <a:r>
              <a:rPr lang="en-US" sz="1200">
                <a:solidFill>
                  <a:srgbClr val="2C3E50"/>
                </a:solidFill>
                <a:latin typeface="Microsoft YaHei"/>
                <a:ea typeface="Microsoft YaHei"/>
              </a:rPr>
              <a:t>VET</a:t>
            </a:r>
            <a:r>
              <a:rPr lang="zh-CN" sz="1200">
                <a:solidFill>
                  <a:srgbClr val="2C3E50"/>
                </a:solidFill>
                <a:latin typeface="Microsoft YaHei"/>
                <a:ea typeface="Microsoft YaHei"/>
              </a:rPr>
              <a:t>）记录全血凝块形成全程的剪切弹性变化：</a:t>
            </a:r>
            <a:r>
              <a:rPr lang="en-US" sz="1200">
                <a:solidFill>
                  <a:srgbClr val="2C3E50"/>
                </a:solidFill>
                <a:latin typeface="Microsoft YaHei"/>
                <a:ea typeface="Microsoft YaHei"/>
              </a:rPr>
              <a:t>TEG </a:t>
            </a:r>
            <a:r>
              <a:rPr lang="zh-CN" sz="1200">
                <a:solidFill>
                  <a:srgbClr val="2C3E50"/>
                </a:solidFill>
                <a:latin typeface="Microsoft YaHei"/>
                <a:ea typeface="Microsoft YaHei"/>
              </a:rPr>
              <a:t>的</a:t>
            </a:r>
            <a:r>
              <a:rPr lang="en-US" sz="1200">
                <a:solidFill>
                  <a:srgbClr val="2C3E50"/>
                </a:solidFill>
                <a:latin typeface="Microsoft YaHei"/>
                <a:ea typeface="Microsoft YaHei"/>
              </a:rPr>
              <a:t> MA</a:t>
            </a:r>
            <a:r>
              <a:rPr lang="zh-CN" sz="1200">
                <a:solidFill>
                  <a:srgbClr val="2C3E50"/>
                </a:solidFill>
                <a:latin typeface="Microsoft YaHei"/>
                <a:ea typeface="Microsoft YaHei"/>
              </a:rPr>
              <a:t>（最大振幅）与</a:t>
            </a:r>
            <a:r>
              <a:rPr lang="en-US" sz="1200">
                <a:solidFill>
                  <a:srgbClr val="2C3E50"/>
                </a:solidFill>
                <a:latin typeface="Microsoft YaHei"/>
                <a:ea typeface="Microsoft YaHei"/>
              </a:rPr>
              <a:t> ROTEM </a:t>
            </a:r>
            <a:r>
              <a:rPr lang="zh-CN" sz="1200">
                <a:solidFill>
                  <a:srgbClr val="2C3E50"/>
                </a:solidFill>
                <a:latin typeface="Microsoft YaHei"/>
                <a:ea typeface="Microsoft YaHei"/>
              </a:rPr>
              <a:t>的</a:t>
            </a:r>
            <a:r>
              <a:rPr lang="en-US" sz="1200">
                <a:solidFill>
                  <a:srgbClr val="2C3E50"/>
                </a:solidFill>
                <a:latin typeface="Microsoft YaHei"/>
                <a:ea typeface="Microsoft YaHei"/>
              </a:rPr>
              <a:t> EXTEM/INTEM A10/MCF </a:t>
            </a:r>
            <a:r>
              <a:rPr lang="zh-CN" sz="1200">
                <a:solidFill>
                  <a:srgbClr val="2C3E50"/>
                </a:solidFill>
                <a:latin typeface="Microsoft YaHei"/>
                <a:ea typeface="Microsoft YaHei"/>
              </a:rPr>
              <a:t>反映“血小板</a:t>
            </a:r>
            <a:r>
              <a:rPr lang="en-US" sz="1200">
                <a:solidFill>
                  <a:srgbClr val="2C3E50"/>
                </a:solidFill>
                <a:latin typeface="Microsoft YaHei"/>
                <a:ea typeface="Microsoft YaHei"/>
              </a:rPr>
              <a:t>-</a:t>
            </a:r>
            <a:r>
              <a:rPr lang="zh-CN" sz="1200">
                <a:solidFill>
                  <a:srgbClr val="2C3E50"/>
                </a:solidFill>
                <a:latin typeface="Microsoft YaHei"/>
                <a:ea typeface="Microsoft YaHei"/>
              </a:rPr>
              <a:t>纤维蛋白”共同决定的血块强度。</a:t>
            </a:r>
            <a:endParaRPr/>
          </a:p>
        </p:txBody>
      </p:sp>
      <p:sp>
        <p:nvSpPr>
          <p:cNvPr id="422" name=""/>
          <p:cNvSpPr/>
          <p:nvPr/>
        </p:nvSpPr>
        <p:spPr>
          <a:xfrm rot="0" flipH="0" flipV="0">
            <a:off x="6324600" y="16954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423" name="" descr="{&quot;isTemplate&quot;:true,&quot;type&quot;:&quot;text&quot;}"/>
          <p:cNvSpPr txBox="1"/>
          <p:nvPr/>
        </p:nvSpPr>
        <p:spPr>
          <a:xfrm rot="0" flipH="0" flipV="0">
            <a:off x="6515100" y="18859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血小板减少</a:t>
            </a:r>
            <a:r>
              <a:rPr lang="en-US" sz="1350" b="1">
                <a:solidFill>
                  <a:srgbClr val="0E3F8C"/>
                </a:solidFill>
                <a:latin typeface="Microsoft YaHei"/>
                <a:ea typeface="Microsoft YaHei"/>
              </a:rPr>
              <a:t>/</a:t>
            </a:r>
            <a:r>
              <a:rPr lang="zh-CN" sz="1350" b="1">
                <a:solidFill>
                  <a:srgbClr val="0E3F8C"/>
                </a:solidFill>
                <a:latin typeface="Microsoft YaHei"/>
                <a:ea typeface="Microsoft YaHei"/>
              </a:rPr>
              <a:t>功能差的图形</a:t>
            </a:r>
            <a:endParaRPr/>
          </a:p>
        </p:txBody>
      </p:sp>
      <p:sp>
        <p:nvSpPr>
          <p:cNvPr id="424" name="" descr="{&quot;isTemplate&quot;:true,&quot;type&quot;:&quot;text&quot;}"/>
          <p:cNvSpPr txBox="1"/>
          <p:nvPr/>
        </p:nvSpPr>
        <p:spPr>
          <a:xfrm rot="0" flipH="0" flipV="0">
            <a:off x="6515100" y="2200275"/>
            <a:ext cx="4876800" cy="876300"/>
          </a:xfrm>
          <a:prstGeom prst="rect"/>
        </p:spPr>
        <p:txBody>
          <a:bodyPr wrap="square" lIns="0" tIns="0" rIns="0" bIns="0">
            <a:normAutofit/>
          </a:bodyPr>
          <a:p>
            <a:pPr algn="l">
              <a:lnSpc>
                <a:spcPct val="158000"/>
              </a:lnSpc>
            </a:pPr>
            <a:r>
              <a:rPr lang="zh-CN" sz="1200">
                <a:solidFill>
                  <a:srgbClr val="2C3E50"/>
                </a:solidFill>
                <a:latin typeface="Microsoft YaHei"/>
                <a:ea typeface="Microsoft YaHei"/>
              </a:rPr>
              <a:t>血小板数量或功能不足时</a:t>
            </a:r>
            <a:r>
              <a:rPr lang="en-US" sz="1200">
                <a:solidFill>
                  <a:srgbClr val="2C3E50"/>
                </a:solidFill>
                <a:latin typeface="Microsoft YaHei"/>
                <a:ea typeface="Microsoft YaHei"/>
              </a:rPr>
              <a:t> MA/MCF </a:t>
            </a:r>
            <a:r>
              <a:rPr lang="zh-CN" sz="1200">
                <a:solidFill>
                  <a:srgbClr val="2C3E50"/>
                </a:solidFill>
                <a:latin typeface="Microsoft YaHei"/>
                <a:ea typeface="Microsoft YaHei"/>
              </a:rPr>
              <a:t>下降（纤溶亢进则为形态特殊的“溶解型”）；</a:t>
            </a:r>
            <a:r>
              <a:rPr lang="en-US" sz="1200">
                <a:solidFill>
                  <a:srgbClr val="2C3E50"/>
                </a:solidFill>
                <a:latin typeface="Microsoft YaHei"/>
                <a:ea typeface="Microsoft YaHei"/>
              </a:rPr>
              <a:t>TEG </a:t>
            </a:r>
            <a:r>
              <a:rPr lang="zh-CN" sz="1200">
                <a:solidFill>
                  <a:srgbClr val="2C3E50"/>
                </a:solidFill>
                <a:latin typeface="Microsoft YaHei"/>
                <a:ea typeface="Microsoft YaHei"/>
              </a:rPr>
              <a:t>血小板图（</a:t>
            </a:r>
            <a:r>
              <a:rPr lang="en-US" sz="1200">
                <a:solidFill>
                  <a:srgbClr val="2C3E50"/>
                </a:solidFill>
                <a:latin typeface="Microsoft YaHei"/>
                <a:ea typeface="Microsoft YaHei"/>
              </a:rPr>
              <a:t>PlateletMapping</a:t>
            </a:r>
            <a:r>
              <a:rPr lang="zh-CN" sz="1200">
                <a:solidFill>
                  <a:srgbClr val="2C3E50"/>
                </a:solidFill>
                <a:latin typeface="Microsoft YaHei"/>
                <a:ea typeface="Microsoft YaHei"/>
              </a:rPr>
              <a:t>）可分离</a:t>
            </a:r>
            <a:r>
              <a:rPr lang="en-US" sz="1200">
                <a:solidFill>
                  <a:srgbClr val="2C3E50"/>
                </a:solidFill>
                <a:latin typeface="Microsoft YaHei"/>
                <a:ea typeface="Microsoft YaHei"/>
              </a:rPr>
              <a:t> AA/ADP </a:t>
            </a:r>
            <a:r>
              <a:rPr lang="zh-CN" sz="1200">
                <a:solidFill>
                  <a:srgbClr val="2C3E50"/>
                </a:solidFill>
                <a:latin typeface="Microsoft YaHei"/>
                <a:ea typeface="Microsoft YaHei"/>
              </a:rPr>
              <a:t>通路贡献，评估抗血小板药抑制程度。</a:t>
            </a:r>
            <a:endParaRPr/>
          </a:p>
        </p:txBody>
      </p:sp>
      <p:sp>
        <p:nvSpPr>
          <p:cNvPr id="425" name=""/>
          <p:cNvSpPr/>
          <p:nvPr/>
        </p:nvSpPr>
        <p:spPr>
          <a:xfrm rot="0" flipH="0" flipV="0">
            <a:off x="6324600" y="24384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426" name="" descr="{&quot;isTemplate&quot;:true,&quot;type&quot;:&quot;text&quot;}"/>
          <p:cNvSpPr txBox="1"/>
          <p:nvPr/>
        </p:nvSpPr>
        <p:spPr>
          <a:xfrm rot="0" flipH="0" flipV="0">
            <a:off x="6515100" y="262890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与纯血小板试验的区别</a:t>
            </a:r>
            <a:endParaRPr/>
          </a:p>
        </p:txBody>
      </p:sp>
      <p:sp>
        <p:nvSpPr>
          <p:cNvPr id="427" name="" descr="{&quot;isTemplate&quot;:true,&quot;type&quot;:&quot;text&quot;}"/>
          <p:cNvSpPr txBox="1"/>
          <p:nvPr/>
        </p:nvSpPr>
        <p:spPr>
          <a:xfrm rot="0" flipH="0" flipV="0">
            <a:off x="6515100" y="2943225"/>
            <a:ext cx="4876800" cy="876300"/>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VET </a:t>
            </a:r>
            <a:r>
              <a:rPr lang="zh-CN" sz="1200">
                <a:solidFill>
                  <a:srgbClr val="2C3E50"/>
                </a:solidFill>
                <a:latin typeface="Microsoft YaHei"/>
                <a:ea typeface="Microsoft YaHei"/>
              </a:rPr>
              <a:t>在全血、含凝血级联与红细胞条件下整体评估，不是单纯的“血小板功能试验”，但能为创伤</a:t>
            </a:r>
            <a:r>
              <a:rPr lang="en-US" sz="1200">
                <a:solidFill>
                  <a:srgbClr val="2C3E50"/>
                </a:solidFill>
                <a:latin typeface="Microsoft YaHei"/>
                <a:ea typeface="Microsoft YaHei"/>
              </a:rPr>
              <a:t>/</a:t>
            </a:r>
            <a:r>
              <a:rPr lang="zh-CN" sz="1200">
                <a:solidFill>
                  <a:srgbClr val="2C3E50"/>
                </a:solidFill>
                <a:latin typeface="Microsoft YaHei"/>
                <a:ea typeface="Microsoft YaHei"/>
              </a:rPr>
              <a:t>心脏外科的目标导向输血提供血小板补充指征（见第八章）。</a:t>
            </a:r>
            <a:endParaRPr/>
          </a:p>
        </p:txBody>
      </p:sp>
      <p:sp>
        <p:nvSpPr>
          <p:cNvPr id="428" name=""/>
          <p:cNvSpPr/>
          <p:nvPr/>
        </p:nvSpPr>
        <p:spPr>
          <a:xfrm rot="0" flipH="0" flipV="0">
            <a:off x="6324600" y="318135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429" name="" descr="{&quot;isTemplate&quot;:true,&quot;type&quot;:&quot;text&quot;}"/>
          <p:cNvSpPr txBox="1"/>
          <p:nvPr/>
        </p:nvSpPr>
        <p:spPr>
          <a:xfrm rot="0" flipH="0" flipV="0">
            <a:off x="6515100" y="3371850"/>
            <a:ext cx="4876800" cy="314325"/>
          </a:xfrm>
          <a:prstGeom prst="rect"/>
        </p:spPr>
        <p:txBody>
          <a:bodyPr wrap="none" lIns="0" tIns="0" rIns="0" bIns="0"/>
          <a:p>
            <a:pPr algn="l">
              <a:lnSpc>
                <a:spcPct val="150000"/>
              </a:lnSpc>
            </a:pPr>
            <a:r>
              <a:rPr lang="zh-CN" sz="1350" b="1">
                <a:solidFill>
                  <a:srgbClr val="0E3F8C"/>
                </a:solidFill>
                <a:latin typeface="Microsoft YaHei"/>
                <a:ea typeface="Microsoft YaHei"/>
              </a:rPr>
              <a:t>小结</a:t>
            </a:r>
            <a:endParaRPr/>
          </a:p>
        </p:txBody>
      </p:sp>
      <p:sp>
        <p:nvSpPr>
          <p:cNvPr id="430" name="" descr="{&quot;isTemplate&quot;:true,&quot;type&quot;:&quot;text&quot;}"/>
          <p:cNvSpPr txBox="1"/>
          <p:nvPr/>
        </p:nvSpPr>
        <p:spPr>
          <a:xfrm rot="0" flipH="0" flipV="0">
            <a:off x="6515100" y="3686175"/>
            <a:ext cx="4876800" cy="0"/>
          </a:xfrm>
          <a:prstGeom prst="rect"/>
        </p:spPr>
        <p:txBody>
          <a:bodyPr wrap="none" lIns="0" tIns="0" rIns="0" bIns="0"/>
          <a:p>
            <a:pPr/>
            <a:endParaRPr/>
          </a:p>
        </p:txBody>
      </p:sp>
      <p:sp>
        <p:nvSpPr>
          <p:cNvPr id="431" name=""/>
          <p:cNvSpPr/>
          <p:nvPr/>
        </p:nvSpPr>
        <p:spPr>
          <a:xfrm rot="0" flipH="0" flipV="0">
            <a:off x="6324600" y="3924300"/>
            <a:ext cx="5257800" cy="590550"/>
          </a:xfrm>
          <a:prstGeom prst="roundRect">
            <a:avLst>
              <a:gd name="adj" fmla="val 19355"/>
            </a:avLst>
          </a:prstGeom>
          <a:solidFill>
            <a:srgbClr val="F0F5FC"/>
          </a:solidFill>
          <a:ln w="12700">
            <a:solidFill>
              <a:srgbClr val="E5E7EB"/>
            </a:solidFill>
            <a:prstDash val="solid"/>
          </a:ln>
        </p:spPr>
        <p:txBody>
          <a:bodyPr/>
          <a:p/>
        </p:txBody>
      </p:sp>
      <p:sp>
        <p:nvSpPr>
          <p:cNvPr id="432" name="" descr="{&quot;isTemplate&quot;:true,&quot;type&quot;:&quot;text&quot;}"/>
          <p:cNvSpPr txBox="1"/>
          <p:nvPr/>
        </p:nvSpPr>
        <p:spPr>
          <a:xfrm rot="0" flipH="0" flipV="0">
            <a:off x="6515100" y="4114800"/>
            <a:ext cx="4876800" cy="581025"/>
          </a:xfrm>
          <a:prstGeom prst="rect"/>
        </p:spPr>
        <p:txBody>
          <a:bodyPr wrap="square" lIns="0" tIns="0" rIns="0" bIns="0">
            <a:normAutofit/>
          </a:bodyPr>
          <a:p>
            <a:pPr algn="l">
              <a:lnSpc>
                <a:spcPct val="158000"/>
              </a:lnSpc>
            </a:pPr>
            <a:r>
              <a:rPr lang="en-US" sz="1200">
                <a:solidFill>
                  <a:srgbClr val="2C3E50"/>
                </a:solidFill>
                <a:latin typeface="Microsoft YaHei"/>
                <a:ea typeface="Microsoft YaHei"/>
              </a:rPr>
              <a:t>VET </a:t>
            </a:r>
            <a:r>
              <a:rPr lang="zh-CN" sz="1200">
                <a:solidFill>
                  <a:srgbClr val="2C3E50"/>
                </a:solidFill>
                <a:latin typeface="Microsoft YaHei"/>
                <a:ea typeface="Microsoft YaHei"/>
              </a:rPr>
              <a:t>回答“整体血块行不行”，血小板功能试验回答“血小板环节行不行”，两者互补。</a:t>
            </a:r>
            <a:endParaRPr/>
          </a:p>
        </p:txBody>
      </p:sp>
      <p:sp>
        <p:nvSpPr>
          <p:cNvPr id="433" name=""/>
          <p:cNvSpPr/>
          <p:nvPr/>
        </p:nvSpPr>
        <p:spPr>
          <a:xfrm rot="0" flipH="0" flipV="0">
            <a:off x="609600" y="4705350"/>
            <a:ext cx="10972800" cy="723900"/>
          </a:xfrm>
          <a:prstGeom prst="roundRect">
            <a:avLst>
              <a:gd name="adj" fmla="val 15789"/>
            </a:avLst>
          </a:prstGeom>
          <a:solidFill>
            <a:srgbClr val="F0F5FC"/>
          </a:solidFill>
          <a:ln w="12700">
            <a:solidFill>
              <a:srgbClr val="E5E7EB"/>
            </a:solidFill>
            <a:prstDash val="solid"/>
          </a:ln>
        </p:spPr>
        <p:txBody>
          <a:bodyPr/>
          <a:p/>
        </p:txBody>
      </p:sp>
      <p:sp>
        <p:nvSpPr>
          <p:cNvPr id="434" name="" descr="{&quot;isTemplate&quot;:true,&quot;type&quot;:&quot;text&quot;}"/>
          <p:cNvSpPr txBox="1"/>
          <p:nvPr/>
        </p:nvSpPr>
        <p:spPr>
          <a:xfrm rot="0" flipH="0" flipV="0">
            <a:off x="800100" y="4895850"/>
            <a:ext cx="10591800" cy="285750"/>
          </a:xfrm>
          <a:prstGeom prst="rect"/>
        </p:spPr>
        <p:txBody>
          <a:bodyPr wrap="none" lIns="0" tIns="0" rIns="0" bIns="0"/>
          <a:p>
            <a:pPr algn="l">
              <a:lnSpc>
                <a:spcPct val="155000"/>
              </a:lnSpc>
            </a:pPr>
            <a:r>
              <a:rPr lang="zh-CN" sz="1200">
                <a:solidFill>
                  <a:srgbClr val="2C3E50"/>
                </a:solidFill>
                <a:latin typeface="Microsoft YaHei"/>
                <a:ea typeface="Microsoft YaHei"/>
              </a:rPr>
              <a:t>小结：</a:t>
            </a:r>
            <a:r>
              <a:rPr lang="en-US" sz="1200">
                <a:solidFill>
                  <a:srgbClr val="2C3E50"/>
                </a:solidFill>
                <a:latin typeface="Microsoft YaHei"/>
                <a:ea typeface="Microsoft YaHei"/>
              </a:rPr>
              <a:t>Transfus Med Rev 2012;26:1-13 (PMID 21872428)</a:t>
            </a:r>
            <a:endParaRPr/>
          </a:p>
        </p:txBody>
      </p:sp>
      <p:sp>
        <p:nvSpPr>
          <p:cNvPr id="435" name=""/>
          <p:cNvSpPr/>
          <p:nvPr/>
        </p:nvSpPr>
        <p:spPr>
          <a:xfrm rot="0" flipH="0" flipV="0">
            <a:off x="609600" y="5772150"/>
            <a:ext cx="10972800" cy="381000"/>
          </a:xfrm>
          <a:prstGeom prst="roundRect">
            <a:avLst>
              <a:gd name="adj" fmla="val 30000"/>
            </a:avLst>
          </a:prstGeom>
          <a:solidFill>
            <a:srgbClr val="F0F5FC"/>
          </a:solidFill>
          <a:ln w="12700">
            <a:solidFill>
              <a:srgbClr val="E5E7EB"/>
            </a:solidFill>
            <a:prstDash val="solid"/>
          </a:ln>
        </p:spPr>
        <p:txBody>
          <a:bodyPr/>
          <a:p/>
        </p:txBody>
      </p:sp>
      <p:sp>
        <p:nvSpPr>
          <p:cNvPr id="436" name="" descr="{&quot;isTemplate&quot;:true,&quot;type&quot;:&quot;text&quot;}"/>
          <p:cNvSpPr txBox="1"/>
          <p:nvPr/>
        </p:nvSpPr>
        <p:spPr>
          <a:xfrm rot="0" flipH="0" flipV="0">
            <a:off x="800100" y="5962650"/>
            <a:ext cx="10591800" cy="247650"/>
          </a:xfrm>
          <a:prstGeom prst="rect"/>
        </p:spPr>
        <p:txBody>
          <a:bodyPr wrap="none" lIns="0" tIns="0" rIns="0" bIns="0"/>
          <a:p>
            <a:pPr algn="ctr">
              <a:lnSpc>
                <a:spcPct val="150000"/>
              </a:lnSpc>
            </a:pPr>
            <a:r>
              <a:rPr lang="zh-CN" sz="1050">
                <a:solidFill>
                  <a:srgbClr val="6B7B8C"/>
                </a:solidFill>
                <a:latin typeface="Microsoft YaHei"/>
                <a:ea typeface="Microsoft YaHei"/>
              </a:rPr>
              <a:t>血栓弹力图（</a:t>
            </a:r>
            <a:r>
              <a:rPr lang="en-US" sz="1050">
                <a:solidFill>
                  <a:srgbClr val="6B7B8C"/>
                </a:solidFill>
                <a:latin typeface="Microsoft YaHei"/>
                <a:ea typeface="Microsoft YaHei"/>
              </a:rPr>
              <a:t>TEG/ROTEM</a:t>
            </a:r>
            <a:r>
              <a:rPr lang="zh-CN" sz="1050">
                <a:solidFill>
                  <a:srgbClr val="6B7B8C"/>
                </a:solidFill>
                <a:latin typeface="Microsoft YaHei"/>
                <a:ea typeface="Microsoft YaHei"/>
              </a:rPr>
              <a:t>）参数与血块强度评价</a:t>
            </a:r>
            <a:endParaRPr/>
          </a:p>
        </p:txBody>
      </p:sp>
      <p:sp>
        <p:nvSpPr>
          <p:cNvPr id="437" name=""/>
          <p:cNvSpPr/>
          <p:nvPr/>
        </p:nvSpPr>
        <p:spPr>
          <a:xfrm rot="0" flipH="0" flipV="0">
            <a:off x="0" y="6324600"/>
            <a:ext cx="12192000" cy="342900"/>
          </a:xfrm>
          <a:prstGeom prst="rect">
            <a:avLst/>
          </a:prstGeom>
          <a:solidFill>
            <a:srgbClr val="F7F9FC"/>
          </a:solidFill>
          <a:ln/>
        </p:spPr>
        <p:txBody>
          <a:bodyPr/>
          <a:p/>
        </p:txBody>
      </p:sp>
      <p:sp>
        <p:nvSpPr>
          <p:cNvPr id="43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43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4.xml><?xml version="1.0" encoding="utf-8"?>
<p:sld xmlns:p="http://schemas.openxmlformats.org/presentationml/2006/main" xmlns:a="http://schemas.openxmlformats.org/drawingml/2006/main">
  <p:cSld>
    <p:spTree>
      <p:nvGrpSpPr>
        <p:cNvPr id="440" name="" descr="&lt;Slide notes={`演讲者备注：【RODGERS-BT】出血时间（BT）的批判性再评价：操作标准化差、敏感性与预测价值有限，已不作为常规术前出血风险筛查。证据：Semin Thromb Hemost 2024;50:499-516，PMID 38086409。&#13;&#10;【FNX-OVERVIEW】血小板功能检测在冠脉介入中的角色演变综述：从 LTA 到床旁设备的可及性提高，但其对缺血/出血结局预测的增量价值仍存争议。证据：Vasc Health Risk Manag 2012;8:65-75，PMID 22371653。&#13;&#10;讲解提示：本页是第三章收束——用 BT 的兴衰提醒听众：不要把任何“能测的指标”直接当成“该测的指标”；第四章起进入阈值与临床决策，保持同一批判视角。`}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三章 血小板功能检测方法学&lt;/Text&gt;&#13;&#10;      &lt;Box style={{ width: 1, height: 24, background: '#3D7BD9' }} /&gt;&#13;&#10;      &lt;Text style={{ fontSize: 16, color: '#C7D6EC' }}&gt;出血时间与“被淘汰的方法”：历史与启示&lt;/Text&gt;&#13;&#10;    &lt;/Box&gt;&#13;&#10;    &lt;Text style={{ position: 'absolute', right: 64, top: 24, fontSize: 15, color: '#9DB8E0' }}&gt;24 / 77&lt;/Text&gt;&#13;&#10;  &lt;/Box&gt;&#13;&#10;  &lt;Box style={{ position: 'absolute', left: 64, top: 96, width: 562, height: 128, background: '#F0F5FC', borderRadius: 12, border: '1px solid #E5E7EB', padding: 20 }}&gt;&#13;&#10;&lt;Text style={{ fontSize: 19, color: '#0E3F8C', fontWeight: 'bold', textAlign: 'left', lineHeight: 1.5 }}&gt;出血时间（BT）&lt;/Text&gt;&#13;&#10;&lt;Text style={{ fontSize: 17, color: '#2C3E50', textAlign: 'left', lineHeight: 1.62 }}&gt;刺破皮肤计时出血停止，曾用于一级止血筛查；但对轻中度血小板病敏感度差、操作标准化困难、预测手术出血价值有限，已退出常规应用。&lt;/Text&gt;&#13;&#10;  &lt;/Box&gt;&#13;&#10;  &lt;Box style={{ position: 'absolute', left: 654, top: 96, width: 562, height: 128, background: '#F0F5FC', borderRadius: 12, border: '1px solid #E5E7EB', padding: 20 }}&gt;&#13;&#10;&lt;Text style={{ fontSize: 19, color: '#0E3F8C', fontWeight: 'bold', textAlign: 'left', lineHeight: 1.5 }}&gt;BT 的教训&lt;/Text&gt;&#13;&#10;&lt;Text style={{ fontSize: 17, color: '#2C3E50', textAlign: 'left', lineHeight: 1.62 }}&gt;“方法存在≠方法有用”：筛查性试验必须同时满足标准化、敏感性与结局相关性；BT 的退出提示血小板功能检测必须与临床结局挂钩，避免制造无意义的“异常”。&lt;/Text&gt;&#13;&#10;  &lt;/Box&gt;&#13;&#10;  &lt;Box style={{ position: 'absolute', left: 64, top: 252, width: 562, height: 128, background: '#F0F5FC', borderRadius: 12, border: '1px solid #E5E7EB', padding: 20 }}&gt;&#13;&#10;&lt;Text style={{ fontSize: 19, color: '#0E3F8C', fontWeight: 'bold', textAlign: 'left', lineHeight: 1.5 }}&gt;对现代实践的启示&lt;/Text&gt;&#13;&#10;&lt;Text style={{ fontSize: 17, color: '#2C3E50', textAlign: 'left', lineHeight: 1.62 }}&gt;选择功能试验应基于其是否改变管理决策（停药、输注、诊断）；这也是 GRAVITAS/ANTARCTIC 等研究后对抗血小板监测趋于审慎的原因之一。&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从 BT 到现代平台：功能检测的每一代都须回答“测完能改变什么”。&lt;/Text&gt;&#13;&#10;  &lt;/Box&gt;&#13;&#10;&#13;&#10;  &lt;Box style={{ position: 'absolute', left: 64, top: 556, width: 1152, height: 92, background: '#F0F5FC', borderRadius: 12, border: '1px solid #E5E7EB', padding: 20 }}&gt;&#13;&#10;&lt;Text style={{ fontSize: 17, color: '#2C3E50', textAlign: 'left', lineHeight: 1.6 }}&gt;小结：Semin Thromb Hemost 2024;50:499-516 (PMID 38086409)&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441" name=""/>
          <p:cNvSpPr/>
          <p:nvPr/>
        </p:nvSpPr>
        <p:spPr>
          <a:xfrm rot="0" flipH="0" flipV="0">
            <a:off x="0" y="0"/>
            <a:ext cx="12192000" cy="6858000"/>
          </a:xfrm>
          <a:prstGeom prst="rect">
            <a:avLst/>
          </a:prstGeom>
          <a:solidFill>
            <a:srgbClr val="FFFFFF"/>
          </a:solidFill>
          <a:ln/>
        </p:spPr>
        <p:txBody>
          <a:bodyPr/>
          <a:p/>
        </p:txBody>
      </p:sp>
      <p:sp>
        <p:nvSpPr>
          <p:cNvPr id="442" name=""/>
          <p:cNvSpPr/>
          <p:nvPr/>
        </p:nvSpPr>
        <p:spPr>
          <a:xfrm rot="0" flipH="0" flipV="0">
            <a:off x="0" y="0"/>
            <a:ext cx="12192000" cy="685800"/>
          </a:xfrm>
          <a:prstGeom prst="rect">
            <a:avLst/>
          </a:prstGeom>
          <a:solidFill>
            <a:srgbClr val="0E3F8C"/>
          </a:solidFill>
          <a:ln/>
        </p:spPr>
        <p:txBody>
          <a:bodyPr/>
          <a:p/>
        </p:txBody>
      </p:sp>
      <p:sp>
        <p:nvSpPr>
          <p:cNvPr id="443"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第三章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血小板功能检测方法学</a:t>
            </a:r>
            <a:endParaRPr/>
          </a:p>
        </p:txBody>
      </p:sp>
      <p:sp>
        <p:nvSpPr>
          <p:cNvPr id="444" name=""/>
          <p:cNvSpPr/>
          <p:nvPr/>
        </p:nvSpPr>
        <p:spPr>
          <a:xfrm rot="0" flipH="0" flipV="0">
            <a:off x="3048000" y="209550"/>
            <a:ext cx="9525" cy="228600"/>
          </a:xfrm>
          <a:prstGeom prst="rect">
            <a:avLst/>
          </a:prstGeom>
          <a:solidFill>
            <a:srgbClr val="3D7BD9"/>
          </a:solidFill>
          <a:ln/>
        </p:spPr>
        <p:txBody>
          <a:bodyPr/>
          <a:p/>
        </p:txBody>
      </p:sp>
      <p:sp>
        <p:nvSpPr>
          <p:cNvPr id="445" name="" descr="{&quot;isTemplate&quot;:true,&quot;type&quot;:&quot;text&quot;}"/>
          <p:cNvSpPr txBox="1"/>
          <p:nvPr/>
        </p:nvSpPr>
        <p:spPr>
          <a:xfrm rot="0" flipH="0" flipV="0">
            <a:off x="3209925" y="228600"/>
            <a:ext cx="2895600" cy="190500"/>
          </a:xfrm>
          <a:prstGeom prst="rect"/>
        </p:spPr>
        <p:txBody>
          <a:bodyPr wrap="none" lIns="0" tIns="0" rIns="0" bIns="0"/>
          <a:p>
            <a:pPr>
              <a:lnSpc>
                <a:spcPct val="100000"/>
              </a:lnSpc>
            </a:pPr>
            <a:r>
              <a:rPr lang="zh-CN" sz="1200">
                <a:solidFill>
                  <a:srgbClr val="C7D6EC"/>
                </a:solidFill>
                <a:latin typeface="Microsoft YaHei"/>
                <a:ea typeface="Microsoft YaHei"/>
              </a:rPr>
              <a:t>出血时间与“被淘汰的方法”：历史与启示</a:t>
            </a:r>
            <a:endParaRPr/>
          </a:p>
        </p:txBody>
      </p:sp>
      <p:sp>
        <p:nvSpPr>
          <p:cNvPr id="44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24 / 77</a:t>
            </a:r>
            <a:endParaRPr/>
          </a:p>
        </p:txBody>
      </p:sp>
      <p:sp>
        <p:nvSpPr>
          <p:cNvPr id="44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4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出血时间（</a:t>
            </a:r>
            <a:r>
              <a:rPr lang="en-US" sz="1425" b="1">
                <a:solidFill>
                  <a:srgbClr val="0E3F8C"/>
                </a:solidFill>
                <a:latin typeface="Microsoft YaHei"/>
                <a:ea typeface="Microsoft YaHei"/>
              </a:rPr>
              <a:t>BT</a:t>
            </a:r>
            <a:r>
              <a:rPr lang="zh-CN" sz="1425" b="1">
                <a:solidFill>
                  <a:srgbClr val="0E3F8C"/>
                </a:solidFill>
                <a:latin typeface="Microsoft YaHei"/>
                <a:ea typeface="Microsoft YaHei"/>
              </a:rPr>
              <a:t>）</a:t>
            </a:r>
            <a:endParaRPr/>
          </a:p>
        </p:txBody>
      </p:sp>
      <p:sp>
        <p:nvSpPr>
          <p:cNvPr id="449"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刺破皮肤计时出血停止，曾用于一级止血筛查；但对轻中度血小板病敏感度差、操作标准化困难、预测手术出血价值有限，已退出常规应用。</a:t>
            </a:r>
            <a:endParaRPr/>
          </a:p>
        </p:txBody>
      </p:sp>
      <p:sp>
        <p:nvSpPr>
          <p:cNvPr id="45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5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BT </a:t>
            </a:r>
            <a:r>
              <a:rPr lang="zh-CN" sz="1425" b="1">
                <a:solidFill>
                  <a:srgbClr val="0E3F8C"/>
                </a:solidFill>
                <a:latin typeface="Microsoft YaHei"/>
                <a:ea typeface="Microsoft YaHei"/>
              </a:rPr>
              <a:t>的教训</a:t>
            </a:r>
            <a:endParaRPr/>
          </a:p>
        </p:txBody>
      </p:sp>
      <p:sp>
        <p:nvSpPr>
          <p:cNvPr id="45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“方法存在≠方法有用”：筛查性试验必须同时满足标准化、敏感性与结局相关性；</a:t>
            </a:r>
            <a:r>
              <a:rPr lang="en-US" sz="1275">
                <a:solidFill>
                  <a:srgbClr val="2C3E50"/>
                </a:solidFill>
                <a:latin typeface="Microsoft YaHei"/>
                <a:ea typeface="Microsoft YaHei"/>
              </a:rPr>
              <a:t>BT </a:t>
            </a:r>
            <a:r>
              <a:rPr lang="zh-CN" sz="1275">
                <a:solidFill>
                  <a:srgbClr val="2C3E50"/>
                </a:solidFill>
                <a:latin typeface="Microsoft YaHei"/>
                <a:ea typeface="Microsoft YaHei"/>
              </a:rPr>
              <a:t>的退出提示血小板功能检测必须与临床结局挂钩，避免制造无意义的“异常”。</a:t>
            </a:r>
            <a:endParaRPr/>
          </a:p>
        </p:txBody>
      </p:sp>
      <p:sp>
        <p:nvSpPr>
          <p:cNvPr id="45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5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对现代实践的启示</a:t>
            </a:r>
            <a:endParaRPr/>
          </a:p>
        </p:txBody>
      </p:sp>
      <p:sp>
        <p:nvSpPr>
          <p:cNvPr id="45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选择功能试验应基于其是否改变管理决策（停药、输注、诊断）；这也是</a:t>
            </a:r>
            <a:r>
              <a:rPr lang="en-US" sz="1275">
                <a:solidFill>
                  <a:srgbClr val="2C3E50"/>
                </a:solidFill>
                <a:latin typeface="Microsoft YaHei"/>
                <a:ea typeface="Microsoft YaHei"/>
              </a:rPr>
              <a:t> GRAVITAS/ANTARCTIC </a:t>
            </a:r>
            <a:r>
              <a:rPr lang="zh-CN" sz="1275">
                <a:solidFill>
                  <a:srgbClr val="2C3E50"/>
                </a:solidFill>
                <a:latin typeface="Microsoft YaHei"/>
                <a:ea typeface="Microsoft YaHei"/>
              </a:rPr>
              <a:t>等研究后对抗血小板监测趋于审慎的原因之一。</a:t>
            </a:r>
            <a:endParaRPr/>
          </a:p>
        </p:txBody>
      </p:sp>
      <p:sp>
        <p:nvSpPr>
          <p:cNvPr id="45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5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45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45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46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从</a:t>
            </a:r>
            <a:r>
              <a:rPr lang="en-US" sz="1275">
                <a:solidFill>
                  <a:srgbClr val="2C3E50"/>
                </a:solidFill>
                <a:latin typeface="Microsoft YaHei"/>
                <a:ea typeface="Microsoft YaHei"/>
              </a:rPr>
              <a:t> BT </a:t>
            </a:r>
            <a:r>
              <a:rPr lang="zh-CN" sz="1275">
                <a:solidFill>
                  <a:srgbClr val="2C3E50"/>
                </a:solidFill>
                <a:latin typeface="Microsoft YaHei"/>
                <a:ea typeface="Microsoft YaHei"/>
              </a:rPr>
              <a:t>到现代平台：功能检测的每一代都须回答“测完能改变什么”。</a:t>
            </a:r>
            <a:endParaRPr/>
          </a:p>
        </p:txBody>
      </p:sp>
      <p:sp>
        <p:nvSpPr>
          <p:cNvPr id="46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46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2024;50:499-516 (PMID 38086409)</a:t>
            </a:r>
            <a:endParaRPr/>
          </a:p>
        </p:txBody>
      </p:sp>
      <p:sp>
        <p:nvSpPr>
          <p:cNvPr id="463" name=""/>
          <p:cNvSpPr/>
          <p:nvPr/>
        </p:nvSpPr>
        <p:spPr>
          <a:xfrm rot="0" flipH="0" flipV="0">
            <a:off x="0" y="6324600"/>
            <a:ext cx="12192000" cy="342900"/>
          </a:xfrm>
          <a:prstGeom prst="rect">
            <a:avLst/>
          </a:prstGeom>
          <a:solidFill>
            <a:srgbClr val="F7F9FC"/>
          </a:solidFill>
          <a:ln/>
        </p:spPr>
        <p:txBody>
          <a:bodyPr/>
          <a:p/>
        </p:txBody>
      </p:sp>
      <p:sp>
        <p:nvSpPr>
          <p:cNvPr id="46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46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5.xml><?xml version="1.0" encoding="utf-8"?>
<p:sld xmlns:p="http://schemas.openxmlformats.org/presentationml/2006/main" xmlns:a="http://schemas.openxmlformats.org/drawingml/2006/main">
  <p:cSld>
    <p:spTree>
      <p:nvGrpSpPr>
        <p:cNvPr id="466" name="" descr="&lt;Slide notes={`演讲者备注：第四章把“数字”变成“行动线”：&lt;150×10^9/L 只是参考区间下限，真正的临床阈值按出血风险场景分层（10/20/50/100）。同时讲解血小板增多侧的血栓风险与 ET 分层，为第七章以后各场景的“阈值驱动决策”做铺垫。`} style={{ width: '1280px', height: '720px', background: '#0E3F8C', padding: 0 }}&gt;&#13;&#10;  &lt;Box style={{ position: 'absolute', left: 0, top: 0, width: 12, height: 720, background: '#3D7BD9' }} /&gt;&#13;&#10;  &lt;Text style={{ position: 'absolute', left: 64, top: 138, fontSize: 22, color: '#9DB8E0', letterSpacing: 4 }}&gt;第 4 章&lt;/Text&gt;&#13;&#10;  &lt;Text style={{ position: 'absolute', left: 56, top: 168, fontSize: 150, color: '#164A9E', fontWeight: 'bold' }}&gt;04&lt;/Text&gt;&#13;&#10;  &lt;Text style={{ position: 'absolute', left: 64, top: 332, fontSize: 50, color: '#FFFFFF', fontWeight: 'bold' }}&gt;阈值、分级与危急值&lt;/Text&gt;&#13;&#10;  &lt;Text style={{ position: 'absolute', left: 64, top: 400, fontSize: 22, color: '#9DB8E0', fontFamily: 'Times New Roman' }}&gt;Thresholds &amp; Critical Values&lt;/Text&gt;&#13;&#10;  &lt;Box key={0} style={{ position: 'absolute', left: 64, top: 472, width: 360, height: 150, background: '#12448F', borderRadius: 12, border: '1px solid #2E5BA8', padding: 20 }}&gt;&#13;&#10;    &lt;Text style={{ fontSize: 18, color: '#9DB8E0', fontWeight: 'bold', marginBottom: 8 }}&gt;分级体系&lt;/Text&gt;&#13;&#10;    &lt;Text style={{ fontSize: 15, color: '#C7D6EC', lineHeight: 1.5 }}&gt;WHO/CTCAE 的 1—4 级血小板减少框架&lt;/Text&gt;&#13;&#10;  &lt;/Box&gt;  &lt;Box key={1} style={{ position: 'absolute', left: 452, top: 472, width: 360, height: 150, background: '#12448F', borderRadius: 12, border: '1px solid #2E5BA8', padding: 20 }}&gt;&#13;&#10;    &lt;Text style={{ fontSize: 18, color: '#9DB8E0', fontWeight: 'bold', marginBottom: 8 }}&gt;输注阈值&lt;/Text&gt;&#13;&#10;    &lt;Text style={{ fontSize: 15, color: '#C7D6EC', lineHeight: 1.5 }}&gt;10/20/50×10^9/L 各场景的循证切点&lt;/Text&gt;&#13;&#10;  &lt;/Box&gt;  &lt;Box key={2} style={{ position: 'absolute', left: 840, top: 472, width: 360, height: 150, background: '#12448F', borderRadius: 12, border: '1px solid #2E5BA8', padding: 20 }}&gt;&#13;&#10;    &lt;Text style={{ fontSize: 18, color: '#9DB8E0', fontWeight: 'bold', marginBottom: 8 }}&gt;增多一端&lt;/Text&gt;&#13;&#10;    &lt;Text style={{ fontSize: 15, color: '#C7D6EC', lineHeight: 1.5 }}&gt;反应性增多与 ET 的血栓风险分层&lt;/Text&gt;&#13;&#10;  &lt;/Box&gt;&#13;&#10;  &lt;Text style={{ position: 'absolute', right: 64, top: 660, fontSize: 15, color: '#9DB8E0' }}&gt;25 / 77&lt;/Text&gt;&#13;&#10;&lt;/Slide&gt;"/>
        <p:cNvGrpSpPr/>
        <p:nvPr/>
      </p:nvGrpSpPr>
      <p:grpSpPr>
        <a:xfrm>
          <a:off x="0" y="0"/>
          <a:ext cx="0" cy="0"/>
          <a:chOff x="0" y="0"/>
          <a:chExt cx="0" cy="0"/>
        </a:xfrm>
      </p:grpSpPr>
      <p:sp>
        <p:nvSpPr>
          <p:cNvPr id="467" name=""/>
          <p:cNvSpPr/>
          <p:nvPr/>
        </p:nvSpPr>
        <p:spPr>
          <a:xfrm rot="0" flipH="0" flipV="0">
            <a:off x="0" y="0"/>
            <a:ext cx="12192000" cy="6858000"/>
          </a:xfrm>
          <a:prstGeom prst="rect">
            <a:avLst/>
          </a:prstGeom>
          <a:solidFill>
            <a:srgbClr val="0E3F8C"/>
          </a:solidFill>
          <a:ln/>
        </p:spPr>
        <p:txBody>
          <a:bodyPr/>
          <a:p/>
        </p:txBody>
      </p:sp>
      <p:sp>
        <p:nvSpPr>
          <p:cNvPr id="468" name=""/>
          <p:cNvSpPr/>
          <p:nvPr/>
        </p:nvSpPr>
        <p:spPr>
          <a:xfrm rot="0" flipH="0" flipV="0">
            <a:off x="0" y="0"/>
            <a:ext cx="114300" cy="6858000"/>
          </a:xfrm>
          <a:prstGeom prst="rect">
            <a:avLst/>
          </a:prstGeom>
          <a:solidFill>
            <a:srgbClr val="3D7BD9"/>
          </a:solidFill>
          <a:ln/>
        </p:spPr>
        <p:txBody>
          <a:bodyPr/>
          <a:p/>
        </p:txBody>
      </p:sp>
      <p:sp>
        <p:nvSpPr>
          <p:cNvPr id="469"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4 </a:t>
            </a:r>
            <a:r>
              <a:rPr lang="zh-CN" sz="1650" spc="300">
                <a:solidFill>
                  <a:srgbClr val="9DB8E0"/>
                </a:solidFill>
                <a:latin typeface="Microsoft YaHei"/>
                <a:ea typeface="Microsoft YaHei"/>
              </a:rPr>
              <a:t>章</a:t>
            </a:r>
            <a:endParaRPr/>
          </a:p>
        </p:txBody>
      </p:sp>
      <p:sp>
        <p:nvSpPr>
          <p:cNvPr id="470"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04</a:t>
            </a:r>
            <a:endParaRPr/>
          </a:p>
        </p:txBody>
      </p:sp>
      <p:sp>
        <p:nvSpPr>
          <p:cNvPr id="471" name="" descr="{&quot;isTemplate&quot;:true,&quot;type&quot;:&quot;text&quot;}"/>
          <p:cNvSpPr txBox="1"/>
          <p:nvPr/>
        </p:nvSpPr>
        <p:spPr>
          <a:xfrm rot="0" flipH="0" flipV="0">
            <a:off x="609600" y="3162300"/>
            <a:ext cx="4286250" cy="571500"/>
          </a:xfrm>
          <a:prstGeom prst="rect"/>
        </p:spPr>
        <p:txBody>
          <a:bodyPr wrap="none" lIns="0" tIns="0" rIns="0" bIns="0"/>
          <a:p>
            <a:pPr>
              <a:lnSpc>
                <a:spcPct val="100000"/>
              </a:lnSpc>
            </a:pPr>
            <a:r>
              <a:rPr lang="zh-CN" sz="3750" b="1">
                <a:solidFill>
                  <a:srgbClr val="FFFFFF"/>
                </a:solidFill>
                <a:latin typeface="Microsoft YaHei"/>
                <a:ea typeface="Microsoft YaHei"/>
              </a:rPr>
              <a:t>阈值、分级与危急值</a:t>
            </a:r>
            <a:endParaRPr/>
          </a:p>
        </p:txBody>
      </p:sp>
      <p:sp>
        <p:nvSpPr>
          <p:cNvPr id="472" name="" descr="{&quot;isTemplate&quot;:true,&quot;type&quot;:&quot;text&quot;}"/>
          <p:cNvSpPr txBox="1"/>
          <p:nvPr/>
        </p:nvSpPr>
        <p:spPr>
          <a:xfrm rot="0" flipH="0" flipV="0">
            <a:off x="609600" y="3810000"/>
            <a:ext cx="2447925" cy="257175"/>
          </a:xfrm>
          <a:prstGeom prst="rect"/>
        </p:spPr>
        <p:txBody>
          <a:bodyPr wrap="none" lIns="0" tIns="0" rIns="0" bIns="0"/>
          <a:p>
            <a:pPr>
              <a:lnSpc>
                <a:spcPct val="100000"/>
              </a:lnSpc>
            </a:pPr>
            <a:r>
              <a:rPr lang="en-US" sz="1650">
                <a:solidFill>
                  <a:srgbClr val="9DB8E0"/>
                </a:solidFill>
                <a:latin typeface="Times New Roman"/>
                <a:ea typeface="Times New Roman"/>
              </a:rPr>
              <a:t>Thresholds &amp; Critical Values</a:t>
            </a:r>
            <a:endParaRPr/>
          </a:p>
        </p:txBody>
      </p:sp>
      <p:sp>
        <p:nvSpPr>
          <p:cNvPr id="473"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474"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分级体系</a:t>
            </a:r>
            <a:endParaRPr/>
          </a:p>
        </p:txBody>
      </p:sp>
      <p:sp>
        <p:nvSpPr>
          <p:cNvPr id="475"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WHO/CTCAE </a:t>
            </a:r>
            <a:r>
              <a:rPr lang="zh-CN" sz="1125">
                <a:solidFill>
                  <a:srgbClr val="C7D6EC"/>
                </a:solidFill>
                <a:latin typeface="Microsoft YaHei"/>
                <a:ea typeface="Microsoft YaHei"/>
              </a:rPr>
              <a:t>的</a:t>
            </a:r>
            <a:r>
              <a:rPr lang="en-US" sz="1125">
                <a:solidFill>
                  <a:srgbClr val="C7D6EC"/>
                </a:solidFill>
                <a:latin typeface="Microsoft YaHei"/>
                <a:ea typeface="Microsoft YaHei"/>
              </a:rPr>
              <a:t> 1—4 </a:t>
            </a:r>
            <a:r>
              <a:rPr lang="zh-CN" sz="1125">
                <a:solidFill>
                  <a:srgbClr val="C7D6EC"/>
                </a:solidFill>
                <a:latin typeface="Microsoft YaHei"/>
                <a:ea typeface="Microsoft YaHei"/>
              </a:rPr>
              <a:t>级血小板减少框架</a:t>
            </a:r>
            <a:endParaRPr/>
          </a:p>
        </p:txBody>
      </p:sp>
      <p:sp>
        <p:nvSpPr>
          <p:cNvPr id="476"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477"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输注阈值</a:t>
            </a:r>
            <a:endParaRPr/>
          </a:p>
        </p:txBody>
      </p:sp>
      <p:sp>
        <p:nvSpPr>
          <p:cNvPr id="478"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10/20/50×10^9/L </a:t>
            </a:r>
            <a:r>
              <a:rPr lang="zh-CN" sz="1125">
                <a:solidFill>
                  <a:srgbClr val="C7D6EC"/>
                </a:solidFill>
                <a:latin typeface="Microsoft YaHei"/>
                <a:ea typeface="Microsoft YaHei"/>
              </a:rPr>
              <a:t>各场景的循证切点</a:t>
            </a:r>
            <a:endParaRPr/>
          </a:p>
        </p:txBody>
      </p:sp>
      <p:sp>
        <p:nvSpPr>
          <p:cNvPr id="479"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480"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增多一端</a:t>
            </a:r>
            <a:endParaRPr/>
          </a:p>
        </p:txBody>
      </p:sp>
      <p:sp>
        <p:nvSpPr>
          <p:cNvPr id="481"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反应性增多与</a:t>
            </a:r>
            <a:r>
              <a:rPr lang="en-US" sz="1125">
                <a:solidFill>
                  <a:srgbClr val="C7D6EC"/>
                </a:solidFill>
                <a:latin typeface="Microsoft YaHei"/>
                <a:ea typeface="Microsoft YaHei"/>
              </a:rPr>
              <a:t> ET </a:t>
            </a:r>
            <a:r>
              <a:rPr lang="zh-CN" sz="1125">
                <a:solidFill>
                  <a:srgbClr val="C7D6EC"/>
                </a:solidFill>
                <a:latin typeface="Microsoft YaHei"/>
                <a:ea typeface="Microsoft YaHei"/>
              </a:rPr>
              <a:t>的血栓风险分层</a:t>
            </a:r>
            <a:endParaRPr/>
          </a:p>
        </p:txBody>
      </p:sp>
      <p:sp>
        <p:nvSpPr>
          <p:cNvPr id="482"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25 / 77</a:t>
            </a:r>
            <a:endParaRPr/>
          </a:p>
        </p:txBody>
      </p:sp>
    </p:spTree>
  </p:cSld>
</p:sld>
</file>

<file path=ppt/slides/slide26.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483" name="" descr="&lt;Slide notes={`演讲者备注：本表集中展示“参考区间≠行动阈值”的核心逻辑。请特别注意两列信息：(1) 预防性输注阈值主要适用于“低增生性（生成不足）”血小板减少（化疗/移植），证据来自 AABB 指南与 TOPPS 试验；(2) 破坏型（ITP/DIC 等）与围术期场景不能用同一套数字，需回到病因机制选择目标值。&#13;&#10;【KAUFMAN-AABB】AABB 血小板输注指南：病情稳定成人（低增生性血小板减少）预防性输注阈值为 10×10^9/L；有创操作、活动出血等场景阈值分层升高。证据：Ann Intern Med 2015;162:205-213，PMID 25383671。&#13;&#10;【STANWORTH-TOPPS】TOPPS：血液系统肿瘤化疗后不预防性输注血小板未达非劣效（出血显著增多），支持重度低增生性血小板减少仍应预防性输注。证据：N Engl J Med 2013;368:1771-1780，PMID 23656642。&#13;&#10;参考文献：PMID 25383671、PMID 23656642`}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四章 阈值、分级与危急值&lt;/Text&gt;&#13;&#10;      &lt;Box style={{ width: 1, height: 24, background: '#3D7BD9' }} /&gt;&#13;&#10;      &lt;Text style={{ fontSize: 16, color: '#C7D6EC' }}&gt;血小板减少的分级与出血风险切点&lt;/Text&gt;&#13;&#10;    &lt;/Box&gt;&#13;&#10;    &lt;Text style={{ position: 'absolute', right: 64, top: 24, fontSize: 15, color: '#9DB8E0' }}&gt;26 / 77&lt;/Text&gt;&#13;&#10;  &lt;/Box&gt;&#13;&#10;  &lt;Table style={{ position: 'absolute', left: 64, top: 100, width: 1152, height: 540 }}&#13;&#10;    defaultTextStyle={{ fontSize: 16, textAlign: 'center', color: '#222' }}&#13;&#10;    defaultCellStyle={{ border: { left: { width: 1, color: '#E5E7EB' }, right: { width: 1, color: '#E5E7EB' }, top: { width: 1, color: '#E5E7EB' }, bottom: { width: 1, color: '#E5E7EB' } } }}&#13;&#10;    cells={[&#13;&#10;[{ text: '层级/场景', textStyle: { bold: true, color: '#FFFFFF' }, cellStyle: { background: { color: '#0E3F8C' } } }, { text: '切点(×10^9/L)', textStyle: { bold: true, color: '#FFFFFF' }, cellStyle: { background: { color: '#0E3F8C' } } }, { text: '临床含义与行动', textStyle: { bold: true, color: '#FFFFFF' }, cellStyle: { background: { color: '#0E3F8C' } } }],&#13;&#10;[{ text: '参考区间下限', textStyle: { bold: false, color: '#2C3E50' }, cellStyle: { background: { color: '#FFFFFF' } } }, { text: '150', textStyle: { bold: false, color: '#2C3E50' }, cellStyle: { background: { color: '#FFFFFF' } } }, { text: '低于此即“血小板减少”，需启动鉴别（见第九、七章）', textStyle: { bold: false, color: '#2C3E50' }, cellStyle: { background: { color: '#FFFFFF' } } }],&#13;&#10;[{ text: 'WHO/CTCAE 分级', textStyle: { bold: false, color: '#2C3E50' }, cellStyle: { background: { color: '#F0F5FC' } } }, { text: '75 / 50 / 25 / &lt;25', textStyle: { bold: false, color: '#2C3E50' }, cellStyle: { background: { color: '#F0F5FC' } } }, { text: 'CTCAE 1—4 级框架：分级用于不良反应报告与试验终点，非治疗触发线', textStyle: { bold: false, color: '#2C3E50' }, cellStyle: { background: { color: '#F0F5FC' } } }],&#13;&#10;[{ text: '自发严重出血风险上升', textStyle: { bold: false, color: '#2C3E50' }, cellStyle: { background: { color: '#FFFFFF' } } }, { text: '&lt;20—30', textStyle: { bold: false, color: '#2C3E50' }, cellStyle: { background: { color: '#FFFFFF' } } }, { text: '无其他风险因素者自发出血仍少见；发热/感染/抗凝时风险上升', textStyle: { bold: false, color: '#2C3E50' }, cellStyle: { background: { color: '#FFFFFF' } } }],&#13;&#10;[{ text: '预防性输注（稳定血液肿瘤）', textStyle: { bold: false, color: '#2C3E50' }, cellStyle: { background: { color: '#F0F5FC' } } }, { text: '≤10', textStyle: { bold: false, color: '#2C3E50' }, cellStyle: { background: { color: '#F0F5FC' } } }, { text: 'AABB 强推荐：降低自发性出血；剂量单采单位即足够（TOPPS 支持预防策略）', textStyle: { bold: false, color: '#2C3E50' }, cellStyle: { background: { color: '#F0F5FC' } } }],&#13;&#10;[{ text: '中心静脉置管', textStyle: { bold: false, color: '#2C3E50' }, cellStyle: { background: { color: '#FFFFFF' } } }, { text: '&lt;20', textStyle: { bold: false, color: '#2C3E50' }, cellStyle: { background: { color: '#FFFFFF' } } }, { text: 'AABB 弱推荐预防性输注后再操作', textStyle: { bold: false, color: '#2C3E50' }, cellStyle: { background: { color: '#FFFFFF' } } }],&#13;&#10;[{ text: '腰穿/椎管内操作', textStyle: { bold: false, color: '#2C3E50' }, cellStyle: { background: { color: '#F0F5FC' } } }, { text: '&lt;40—50', textStyle: { bold: false, color: '#2C3E50' }, cellStyle: { background: { color: '#F0F5FC' } } }, { text: 'AABB 建议 &lt;50 时预防性输注；麻醉实践常以 ≥80 为安全目标', textStyle: { bold: false, color: '#2C3E50' }, cellStyle: { background: { color: '#F0F5FC' } } }],&#13;&#10;[{ text: '大型手术/活动性出血', textStyle: { bold: false, color: '#2C3E50' }, cellStyle: { background: { color: '#FFFFFF' } } }, { text: '&lt;50', textStyle: { bold: false, color: '#2C3E50' }, cellStyle: { background: { color: '#FFFFFF' } } }, { text: 'AABB：重大非神经轴手术 &lt;50 预防性输注；活动出血按止血目标管理', textStyle: { bold: false, color: '#2C3E50' }, cellStyle: { background: { color: '#FFFFFF' } } }],&#13;&#10;[{ text: '创伤/TBI', textStyle: { bold: false, color: '#2C3E50' }, cellStyle: { background: { color: '#F0F5FC' } } }, { text: '&lt;50—100', textStyle: { bold: false, color: '#2C3E50' }, cellStyle: { background: { color: '#F0F5FC' } } }, { text: '欧洲指南：创伤维持 &gt;50；TBI/多发性创伤目标更高（见第八章）', textStyle: { bold: false, color: '#2C3E50' }, cellStyle: { background: { color: '#F0F5FC' } } }],&#13;&#10;[{ text: 'ITP（破坏为主）', textStyle: { bold: false, color: '#2C3E50' }, cellStyle: { background: { color: '#FFFFFF' } } }, { text: '个体化', textStyle: { bold: false, color: '#2C3E50' }, cellStyle: { background: { color: '#FFFFFF' } } }, { text: '以出血而非计数为轴；重度出血时才需积极提升（见第七章）', textStyle: { bold: false, color: '#2C3E50' }, cellStyle: { background: { color: '#FFFFFF' } } }]&#13;&#10;]}&#13;&#10;  /&gt;&#13;&#10;  &lt;Box style={{ position: 'absolute', left: 0, top: 664, width: 1280, height: 36, background: '#F7F9FC' }}&gt;&#13;&#10;    &lt;Text style={{ position: 'absolute', left: 64, top: 8, fontSize: 12, lineHeight: 1.3, color: '#6B7B8C', width: 1000 }}&gt;Ann Intern Med 2015;162:205-213 (PMID 25383671)&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484" name=""/>
          <p:cNvSpPr/>
          <p:nvPr/>
        </p:nvSpPr>
        <p:spPr>
          <a:xfrm rot="0" flipH="0" flipV="0">
            <a:off x="0" y="0"/>
            <a:ext cx="12192000" cy="6858000"/>
          </a:xfrm>
          <a:prstGeom prst="rect">
            <a:avLst/>
          </a:prstGeom>
          <a:solidFill>
            <a:srgbClr val="FFFFFF"/>
          </a:solidFill>
          <a:ln/>
        </p:spPr>
        <p:txBody>
          <a:bodyPr/>
          <a:p/>
        </p:txBody>
      </p:sp>
      <p:sp>
        <p:nvSpPr>
          <p:cNvPr id="485" name=""/>
          <p:cNvSpPr/>
          <p:nvPr/>
        </p:nvSpPr>
        <p:spPr>
          <a:xfrm rot="0" flipH="0" flipV="0">
            <a:off x="0" y="0"/>
            <a:ext cx="12192000" cy="685800"/>
          </a:xfrm>
          <a:prstGeom prst="rect">
            <a:avLst/>
          </a:prstGeom>
          <a:solidFill>
            <a:srgbClr val="0E3F8C"/>
          </a:solidFill>
          <a:ln/>
        </p:spPr>
        <p:txBody>
          <a:bodyPr/>
          <a:p/>
        </p:txBody>
      </p:sp>
      <p:sp>
        <p:nvSpPr>
          <p:cNvPr id="486"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第四章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阈值、分级与危急值</a:t>
            </a:r>
            <a:endParaRPr/>
          </a:p>
        </p:txBody>
      </p:sp>
      <p:sp>
        <p:nvSpPr>
          <p:cNvPr id="487" name=""/>
          <p:cNvSpPr/>
          <p:nvPr/>
        </p:nvSpPr>
        <p:spPr>
          <a:xfrm rot="0" flipH="0" flipV="0">
            <a:off x="2876550" y="209550"/>
            <a:ext cx="9525" cy="228600"/>
          </a:xfrm>
          <a:prstGeom prst="rect">
            <a:avLst/>
          </a:prstGeom>
          <a:solidFill>
            <a:srgbClr val="3D7BD9"/>
          </a:solidFill>
          <a:ln/>
        </p:spPr>
        <p:txBody>
          <a:bodyPr/>
          <a:p/>
        </p:txBody>
      </p:sp>
      <p:sp>
        <p:nvSpPr>
          <p:cNvPr id="488" name="" descr="{&quot;isTemplate&quot;:true,&quot;type&quot;:&quot;text&quot;}"/>
          <p:cNvSpPr txBox="1"/>
          <p:nvPr/>
        </p:nvSpPr>
        <p:spPr>
          <a:xfrm rot="0" flipH="0" flipV="0">
            <a:off x="3038475" y="228600"/>
            <a:ext cx="2286000" cy="190500"/>
          </a:xfrm>
          <a:prstGeom prst="rect"/>
        </p:spPr>
        <p:txBody>
          <a:bodyPr wrap="none" lIns="0" tIns="0" rIns="0" bIns="0"/>
          <a:p>
            <a:pPr>
              <a:lnSpc>
                <a:spcPct val="100000"/>
              </a:lnSpc>
            </a:pPr>
            <a:r>
              <a:rPr lang="zh-CN" sz="1200">
                <a:solidFill>
                  <a:srgbClr val="C7D6EC"/>
                </a:solidFill>
                <a:latin typeface="Microsoft YaHei"/>
                <a:ea typeface="Microsoft YaHei"/>
              </a:rPr>
              <a:t>血小板减少的分级与出血风险切点</a:t>
            </a:r>
            <a:endParaRPr/>
          </a:p>
        </p:txBody>
      </p:sp>
      <p:sp>
        <p:nvSpPr>
          <p:cNvPr id="489"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26 / 77</a:t>
            </a:r>
            <a:endParaRPr/>
          </a:p>
        </p:txBody>
      </p:sp>
      <p:graphicFrame>
        <p:nvGraphicFramePr>
          <p:cNvPr id="490" name=""/>
          <p:cNvGraphicFramePr/>
          <p:nvPr/>
        </p:nvGraphicFramePr>
        <p:xfrm rot="0" flipH="0" flipV="0">
          <a:off x="609600" y="952500"/>
          <a:ext cx="10972800" cy="5143500"/>
        </p:xfrm>
        <a:graphic>
          <a:graphicData uri="http://schemas.openxmlformats.org/drawingml/2006/table">
            <a:tbl>
              <a:tblGrid>
                <a:gridCol w="2540627">
                  <a:extLst>
                    <a:ext uri="{9D8B030D-6E8A-4147-A177-3AD203B41FA5}">
                      <a16:colId val="1"/>
                    </a:ext>
                  </a:extLst>
                </a:gridCol>
                <a:gridCol w="1699978">
                  <a:extLst>
                    <a:ext uri="{9D8B030D-6E8A-4147-A177-3AD203B41FA5}">
                      <a16:colId val="2"/>
                    </a:ext>
                  </a:extLst>
                </a:gridCol>
                <a:gridCol w="6732195">
                  <a:extLst>
                    <a:ext uri="{9D8B030D-6E8A-4147-A177-3AD203B41FA5}">
                      <a16:colId val="3"/>
                    </a:ext>
                  </a:extLst>
                </a:gridCol>
              </a:tblGrid>
              <a:tr h="51435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层级/场景</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切点(×10^9/L)</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临床含义与行动</a:t>
                      </a:r>
                      <a:endParaRPr/>
                    </a:p>
                  </a:txBody>
                  <a:tcPr marL="45720" marR="45720" marT="45720" marB="45720" anchor="ctr">
                    <a:lnL>
                      <a:noFill/>
                    </a:lnL>
                    <a:lnR>
                      <a:noFill/>
                    </a:lnR>
                    <a:lnT>
                      <a:noFill/>
                    </a:lnT>
                    <a:lnB>
                      <a:noFill/>
                    </a:lnB>
                    <a:solidFill>
                      <a:srgbClr val="0E3F8C"/>
                    </a:solidFill>
                  </a:tcPr>
                </a:tc>
                <a:extLst>
                  <a:ext uri="{0D108BD9-81ED-4DB2-BD59-A6C34878D82A}">
                    <a16:rowId val="1"/>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参考区间下限</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150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低于此即“血小板减少”，需启动鉴别（见第九、七章）</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WHO/CTCAE 分级</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75 / 50 / 25 / &lt;25</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CTCAE 1—4 级框架：分级用于不良反应报告与试验终点，非治疗触发线</a:t>
                      </a:r>
                      <a:endParaRPr/>
                    </a:p>
                  </a:txBody>
                  <a:tcPr marL="45720" marR="45720" marT="45720" marB="45720" anchor="ctr">
                    <a:lnL>
                      <a:noFill/>
                    </a:lnL>
                    <a:lnR>
                      <a:noFill/>
                    </a:lnR>
                    <a:lnT>
                      <a:noFill/>
                    </a:lnT>
                    <a:lnB>
                      <a:noFill/>
                    </a:lnB>
                    <a:solidFill>
                      <a:srgbClr val="F0F5FC"/>
                    </a:solidFill>
                  </a:tcPr>
                </a:tc>
                <a:extLst>
                  <a:ext uri="{0D108BD9-81ED-4DB2-BD59-A6C34878D82A}">
                    <a16:rowId val="3"/>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自发严重出血风险上升</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&lt;20—30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无其他风险因素者自发出血仍少见；发热/感染/抗凝时风险上升</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预防性输注（稳定血液肿瘤）</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≤10</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AABB 强推荐：降低自发性出血；剂量单采单位即足够（TOPPS 支持预防策略）</a:t>
                      </a:r>
                      <a:endParaRPr/>
                    </a:p>
                  </a:txBody>
                  <a:tcPr marL="45720" marR="45720" marT="45720" marB="45720" anchor="ctr">
                    <a:lnL>
                      <a:noFill/>
                    </a:lnL>
                    <a:lnR>
                      <a:noFill/>
                    </a:lnR>
                    <a:lnT>
                      <a:noFill/>
                    </a:lnT>
                    <a:lnB>
                      <a:noFill/>
                    </a:lnB>
                    <a:solidFill>
                      <a:srgbClr val="F0F5FC"/>
                    </a:solidFill>
                  </a:tcPr>
                </a:tc>
                <a:extLst>
                  <a:ext uri="{0D108BD9-81ED-4DB2-BD59-A6C34878D82A}">
                    <a16:rowId val="5"/>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中心静脉置管</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&lt;20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AABB 弱推荐预防性输注后再操作</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腰穿/椎管内操作</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&lt;40—50</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AABB 建议 &lt;50 时预防性输注；麻醉实践常以 ≥80 为安全目标</a:t>
                      </a:r>
                      <a:endParaRPr/>
                    </a:p>
                  </a:txBody>
                  <a:tcPr marL="45720" marR="45720" marT="45720" marB="45720" anchor="ctr">
                    <a:lnL>
                      <a:noFill/>
                    </a:lnL>
                    <a:lnR>
                      <a:noFill/>
                    </a:lnR>
                    <a:lnT>
                      <a:noFill/>
                    </a:lnT>
                    <a:lnB>
                      <a:noFill/>
                    </a:lnB>
                    <a:solidFill>
                      <a:srgbClr val="F0F5FC"/>
                    </a:solidFill>
                  </a:tcPr>
                </a:tc>
                <a:extLst>
                  <a:ext uri="{0D108BD9-81ED-4DB2-BD59-A6C34878D82A}">
                    <a16:rowId val="7"/>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大型手术/活动性出血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&lt;50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AABB：重大非神经轴手术 &lt;50 预防性输注；活动出血按止血目标管理</a:t>
                      </a:r>
                      <a:endParaRPr/>
                    </a:p>
                  </a:txBody>
                  <a:tcPr marL="45720" marR="45720" marT="45720" marB="45720" anchor="ctr">
                    <a:lnL>
                      <a:noFill/>
                    </a:lnL>
                    <a:lnR>
                      <a:noFill/>
                    </a:lnR>
                    <a:lnT>
                      <a:noFill/>
                    </a:lnT>
                    <a:lnB>
                      <a:noFill/>
                    </a:lnB>
                    <a:solidFill>
                      <a:srgbClr val="FFFFFF"/>
                    </a:solidFill>
                  </a:tcPr>
                </a:tc>
                <a:extLst>
                  <a:ext uri="{0D108BD9-81ED-4DB2-BD59-A6C34878D82A}">
                    <a16:rowId val="8"/>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创伤/TBI</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&lt;50—100</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欧洲指南：创伤维持 &gt;50；TBI/多发性创伤目标更高（见第八章）</a:t>
                      </a:r>
                      <a:endParaRPr/>
                    </a:p>
                  </a:txBody>
                  <a:tcPr marL="45720" marR="45720" marT="45720" marB="45720" anchor="ctr">
                    <a:lnL>
                      <a:noFill/>
                    </a:lnL>
                    <a:lnR>
                      <a:noFill/>
                    </a:lnR>
                    <a:lnT>
                      <a:noFill/>
                    </a:lnT>
                    <a:lnB>
                      <a:noFill/>
                    </a:lnB>
                    <a:solidFill>
                      <a:srgbClr val="F0F5FC"/>
                    </a:solidFill>
                  </a:tcPr>
                </a:tc>
                <a:extLst>
                  <a:ext uri="{0D108BD9-81ED-4DB2-BD59-A6C34878D82A}">
                    <a16:rowId val="9"/>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ITP（破坏为主）</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个体化</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以出血而非计数为轴；重度出血时才需积极提升（见第七章）</a:t>
                      </a:r>
                      <a:endParaRPr/>
                    </a:p>
                  </a:txBody>
                  <a:tcPr marL="45720" marR="45720" marT="45720" marB="45720" anchor="ctr">
                    <a:lnL>
                      <a:noFill/>
                    </a:lnL>
                    <a:lnR>
                      <a:noFill/>
                    </a:lnR>
                    <a:lnT>
                      <a:noFill/>
                    </a:lnT>
                    <a:lnB>
                      <a:noFill/>
                    </a:lnB>
                    <a:solidFill>
                      <a:srgbClr val="FFFFFF"/>
                    </a:solidFill>
                  </a:tcPr>
                </a:tc>
                <a:extLst>
                  <a:ext uri="{0D108BD9-81ED-4DB2-BD59-A6C34878D82A}">
                    <a16:rowId val="10"/>
                  </a:ext>
                </a:extLst>
              </a:tr>
            </a:tbl>
          </a:graphicData>
        </a:graphic>
      </p:graphicFrame>
      <p:sp>
        <p:nvSpPr>
          <p:cNvPr id="491" name=""/>
          <p:cNvSpPr/>
          <p:nvPr/>
        </p:nvSpPr>
        <p:spPr>
          <a:xfrm rot="0" flipH="0" flipV="0">
            <a:off x="0" y="6324600"/>
            <a:ext cx="12192000" cy="342900"/>
          </a:xfrm>
          <a:prstGeom prst="rect">
            <a:avLst/>
          </a:prstGeom>
          <a:solidFill>
            <a:srgbClr val="F7F9FC"/>
          </a:solidFill>
          <a:ln/>
        </p:spPr>
        <p:txBody>
          <a:bodyPr/>
          <a:p/>
        </p:txBody>
      </p:sp>
      <p:sp>
        <p:nvSpPr>
          <p:cNvPr id="492" name="" descr="{&quot;isTemplate&quot;:true,&quot;type&quot;:&quot;text&quot;}"/>
          <p:cNvSpPr txBox="1"/>
          <p:nvPr/>
        </p:nvSpPr>
        <p:spPr>
          <a:xfrm rot="0" flipH="0" flipV="0">
            <a:off x="609600" y="6400800"/>
            <a:ext cx="9525000" cy="180975"/>
          </a:xfrm>
          <a:prstGeom prst="rect"/>
        </p:spPr>
        <p:txBody>
          <a:bodyPr wrap="none" lIns="0" tIns="0" rIns="0" bIns="0"/>
          <a:p>
            <a:pPr>
              <a:lnSpc>
                <a:spcPct val="130000"/>
              </a:lnSpc>
            </a:pPr>
            <a:r>
              <a:rPr lang="en-US" sz="900">
                <a:solidFill>
                  <a:srgbClr val="6B7B8C"/>
                </a:solidFill>
                <a:latin typeface="Microsoft YaHei"/>
                <a:ea typeface="Microsoft YaHei"/>
              </a:rPr>
              <a:t>Ann Intern Med 2015;162:205-213 (PMID 25383671)</a:t>
            </a:r>
            <a:endParaRPr/>
          </a:p>
        </p:txBody>
      </p:sp>
      <p:sp>
        <p:nvSpPr>
          <p:cNvPr id="49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7.xml><?xml version="1.0" encoding="utf-8"?>
<p:sld xmlns:p="http://schemas.openxmlformats.org/presentationml/2006/main" xmlns:a="http://schemas.openxmlformats.org/drawingml/2006/main">
  <p:cSld>
    <p:spTree>
      <p:nvGrpSpPr>
        <p:cNvPr id="494" name="" descr="&lt;Slide notes={`演讲者备注：【KAUFMAN-AABB】AABB 血小板输注指南：病情稳定成人（低增生性血小板减少）预防性输注阈值为 10×10^9/L；有创操作、活动出血等场景阈值分层升高。证据：Ann Intern Med 2015;162:205-213，PMID 25383671。&#13;&#10;【STANWORTH-TOPPS】TOPPS：血液系统肿瘤化疗后不预防性输注血小板未达非劣效（出血显著增多），支持重度低增生性血小板减少仍应预防性输注。证据：N Engl J Med 2013;368:1771-1780，PMID 23656642。&#13;&#10;讲解提示：对比两组数字（50% vs 43%）说明“预防带来真实获益”，但也承认“即便预防仍约四成患者有 2 级以上出血”——引出输注无效、黏膜炎出血等未尽问题（第八章输注实践页）。`}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四章 阈值、分级与危急值&lt;/Text&gt;&#13;&#10;      &lt;Box style={{ width: 1, height: 24, background: '#3D7BD9' }} /&gt;&#13;&#10;      &lt;Text style={{ fontSize: 16, color: '#C7D6EC' }}&gt;预防性血小板输注的循证：AABB 与 TOPPS&lt;/Text&gt;&#13;&#10;    &lt;/Box&gt;&#13;&#10;    &lt;Text style={{ position: 'absolute', right: 64, top: 24, fontSize: 15, color: '#9DB8E0' }}&gt;27 / 77&lt;/Text&gt;&#13;&#10;  &lt;/Box&gt;&#13;&#10;  &lt;Box style={{ position: 'absolute', left: 64, top: 96, width: 562, height: 128, background: '#F0F5FC', borderRadius: 12, border: '1px solid #E5E7EB', padding: 20 }}&gt;&#13;&#10;&lt;Text style={{ fontSize: 19, color: '#0E3F8C', fontWeight: 'bold', textAlign: 'left', lineHeight: 1.5 }}&gt;AABB 指南（2015）&lt;/Text&gt;&#13;&#10;&lt;Text style={{ fontSize: 17, color: '#2C3E50', textAlign: 'left', lineHeight: 1.62 }}&gt;基于 GRADE 的系统评价：住院成人“治疗相关低增生性血小板减少”预防性输注阈值 ≤10×10^9/L（强推荐）；CVC 置管 &amp;lt;20、腰穿与大型非神经轴手术 &amp;lt;50 为弱推荐。&lt;/Text&gt;&#13;&#10;  &lt;/Box&gt;&#13;&#10;  &lt;Box style={{ position: 'absolute', left: 654, top: 96, width: 562, height: 128, background: '#F0F5FC', borderRadius: 12, border: '1px solid #E5E7EB', padding: 20 }}&gt;&#13;&#10;&lt;Text style={{ fontSize: 19, color: '#0E3F8C', fontWeight: 'bold', textAlign: 'left', lineHeight: 1.5 }}&gt;TOPPS 试验（2013）&lt;/Text&gt;&#13;&#10;&lt;Text style={{ fontSize: 17, color: '#2C3E50', textAlign: 'left', lineHeight: 1.62 }}&gt;血液肿瘤化疗/移植患者随机“不预防 vs 预防（&amp;lt;10 触发）”：不预防组 WHO 2—4 级出血 50% vs 预防组 43%，未达到非劣效（P=0.06），结论支持继续预防性输注；自体移植亚组两组相近。&lt;/Text&gt;&#13;&#10;  &lt;/Box&gt;&#13;&#10;  &lt;Box style={{ position: 'absolute', left: 64, top: 252, width: 562, height: 128, background: '#F0F5FC', borderRadius: 12, border: '1px solid #E5E7EB', padding: 20 }}&gt;&#13;&#10;&lt;Text style={{ fontSize: 19, color: '#0E3F8C', fontWeight: 'bold', textAlign: 'left', lineHeight: 1.5 }}&gt;临床落点&lt;/Text&gt;&#13;&#10;&lt;Text style={{ fontSize: 17, color: '#2C3E50', textAlign: 'left', lineHeight: 1.62 }}&gt;阈值是“起点”而非“终点”：发热、感染、活动出血、使用抗凝/抗血小板药、凝血病并存时需把阈值上移并个体化；同时避免对“计数低但稳定无出血”者盲目过度输注。&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10×10^9/L 是一条有 RCT 背书的“默认线”，场景化调整是临床医生的真正功课。&lt;/Text&gt;&#13;&#10;  &lt;/Box&gt;&#13;&#10;&#13;&#10;  &lt;Box style={{ position: 'absolute', left: 64, top: 556, width: 1152, height: 92, background: '#F0F5FC', borderRadius: 12, border: '1px solid #E5E7EB', padding: 20 }}&gt;&#13;&#10;&lt;Text style={{ fontSize: 17, color: '#2C3E50', textAlign: 'left', lineHeight: 1.6 }}&gt;小结：Ann Intern Med 2015;162:205-213 (PMID 2538367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495" name=""/>
          <p:cNvSpPr/>
          <p:nvPr/>
        </p:nvSpPr>
        <p:spPr>
          <a:xfrm rot="0" flipH="0" flipV="0">
            <a:off x="0" y="0"/>
            <a:ext cx="12192000" cy="6858000"/>
          </a:xfrm>
          <a:prstGeom prst="rect">
            <a:avLst/>
          </a:prstGeom>
          <a:solidFill>
            <a:srgbClr val="FFFFFF"/>
          </a:solidFill>
          <a:ln/>
        </p:spPr>
        <p:txBody>
          <a:bodyPr/>
          <a:p/>
        </p:txBody>
      </p:sp>
      <p:sp>
        <p:nvSpPr>
          <p:cNvPr id="496" name=""/>
          <p:cNvSpPr/>
          <p:nvPr/>
        </p:nvSpPr>
        <p:spPr>
          <a:xfrm rot="0" flipH="0" flipV="0">
            <a:off x="0" y="0"/>
            <a:ext cx="12192000" cy="685800"/>
          </a:xfrm>
          <a:prstGeom prst="rect">
            <a:avLst/>
          </a:prstGeom>
          <a:solidFill>
            <a:srgbClr val="0E3F8C"/>
          </a:solidFill>
          <a:ln/>
        </p:spPr>
        <p:txBody>
          <a:bodyPr/>
          <a:p/>
        </p:txBody>
      </p:sp>
      <p:sp>
        <p:nvSpPr>
          <p:cNvPr id="497"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第四章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阈值、分级与危急值</a:t>
            </a:r>
            <a:endParaRPr/>
          </a:p>
        </p:txBody>
      </p:sp>
      <p:sp>
        <p:nvSpPr>
          <p:cNvPr id="498" name=""/>
          <p:cNvSpPr/>
          <p:nvPr/>
        </p:nvSpPr>
        <p:spPr>
          <a:xfrm rot="0" flipH="0" flipV="0">
            <a:off x="2876550" y="209550"/>
            <a:ext cx="9525" cy="228600"/>
          </a:xfrm>
          <a:prstGeom prst="rect">
            <a:avLst/>
          </a:prstGeom>
          <a:solidFill>
            <a:srgbClr val="3D7BD9"/>
          </a:solidFill>
          <a:ln/>
        </p:spPr>
        <p:txBody>
          <a:bodyPr/>
          <a:p/>
        </p:txBody>
      </p:sp>
      <p:sp>
        <p:nvSpPr>
          <p:cNvPr id="499" name="" descr="{&quot;isTemplate&quot;:true,&quot;type&quot;:&quot;text&quot;}"/>
          <p:cNvSpPr txBox="1"/>
          <p:nvPr/>
        </p:nvSpPr>
        <p:spPr>
          <a:xfrm rot="0" flipH="0" flipV="0">
            <a:off x="3038475" y="228600"/>
            <a:ext cx="2962275" cy="190500"/>
          </a:xfrm>
          <a:prstGeom prst="rect"/>
        </p:spPr>
        <p:txBody>
          <a:bodyPr wrap="none" lIns="0" tIns="0" rIns="0" bIns="0"/>
          <a:p>
            <a:pPr>
              <a:lnSpc>
                <a:spcPct val="100000"/>
              </a:lnSpc>
            </a:pPr>
            <a:r>
              <a:rPr lang="zh-CN" sz="1200">
                <a:solidFill>
                  <a:srgbClr val="C7D6EC"/>
                </a:solidFill>
                <a:latin typeface="Microsoft YaHei"/>
                <a:ea typeface="Microsoft YaHei"/>
              </a:rPr>
              <a:t>预防性血小板输注的循证：</a:t>
            </a:r>
            <a:r>
              <a:rPr lang="en-US" sz="1200">
                <a:solidFill>
                  <a:srgbClr val="C7D6EC"/>
                </a:solidFill>
                <a:latin typeface="Microsoft YaHei"/>
                <a:ea typeface="Microsoft YaHei"/>
              </a:rPr>
              <a:t>AABB </a:t>
            </a:r>
            <a:r>
              <a:rPr lang="zh-CN" sz="1200">
                <a:solidFill>
                  <a:srgbClr val="C7D6EC"/>
                </a:solidFill>
                <a:latin typeface="Microsoft YaHei"/>
                <a:ea typeface="Microsoft YaHei"/>
              </a:rPr>
              <a:t>与</a:t>
            </a:r>
            <a:r>
              <a:rPr lang="en-US" sz="1200">
                <a:solidFill>
                  <a:srgbClr val="C7D6EC"/>
                </a:solidFill>
                <a:latin typeface="Microsoft YaHei"/>
                <a:ea typeface="Microsoft YaHei"/>
              </a:rPr>
              <a:t> TOPPS</a:t>
            </a:r>
            <a:endParaRPr/>
          </a:p>
        </p:txBody>
      </p:sp>
      <p:sp>
        <p:nvSpPr>
          <p:cNvPr id="50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27 / 77</a:t>
            </a:r>
            <a:endParaRPr/>
          </a:p>
        </p:txBody>
      </p:sp>
      <p:sp>
        <p:nvSpPr>
          <p:cNvPr id="50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0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AABB </a:t>
            </a:r>
            <a:r>
              <a:rPr lang="zh-CN" sz="1425" b="1">
                <a:solidFill>
                  <a:srgbClr val="0E3F8C"/>
                </a:solidFill>
                <a:latin typeface="Microsoft YaHei"/>
                <a:ea typeface="Microsoft YaHei"/>
              </a:rPr>
              <a:t>指南（</a:t>
            </a:r>
            <a:r>
              <a:rPr lang="en-US" sz="1425" b="1">
                <a:solidFill>
                  <a:srgbClr val="0E3F8C"/>
                </a:solidFill>
                <a:latin typeface="Microsoft YaHei"/>
                <a:ea typeface="Microsoft YaHei"/>
              </a:rPr>
              <a:t>2015</a:t>
            </a:r>
            <a:r>
              <a:rPr lang="zh-CN" sz="1425" b="1">
                <a:solidFill>
                  <a:srgbClr val="0E3F8C"/>
                </a:solidFill>
                <a:latin typeface="Microsoft YaHei"/>
                <a:ea typeface="Microsoft YaHei"/>
              </a:rPr>
              <a:t>）</a:t>
            </a:r>
            <a:endParaRPr/>
          </a:p>
        </p:txBody>
      </p:sp>
      <p:sp>
        <p:nvSpPr>
          <p:cNvPr id="50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基于</a:t>
            </a:r>
            <a:r>
              <a:rPr lang="en-US" sz="1275">
                <a:solidFill>
                  <a:srgbClr val="2C3E50"/>
                </a:solidFill>
                <a:latin typeface="Microsoft YaHei"/>
                <a:ea typeface="Microsoft YaHei"/>
              </a:rPr>
              <a:t> GRADE </a:t>
            </a:r>
            <a:r>
              <a:rPr lang="zh-CN" sz="1275">
                <a:solidFill>
                  <a:srgbClr val="2C3E50"/>
                </a:solidFill>
                <a:latin typeface="Microsoft YaHei"/>
                <a:ea typeface="Microsoft YaHei"/>
              </a:rPr>
              <a:t>的系统评价：住院成人“治疗相关低增生性血小板减少”预防性输注阈值</a:t>
            </a:r>
            <a:r>
              <a:rPr lang="en-US" sz="1275">
                <a:solidFill>
                  <a:srgbClr val="2C3E50"/>
                </a:solidFill>
                <a:latin typeface="Microsoft YaHei"/>
                <a:ea typeface="Microsoft YaHei"/>
              </a:rPr>
              <a:t> ≤10×10^9/L</a:t>
            </a:r>
            <a:r>
              <a:rPr lang="zh-CN" sz="1275">
                <a:solidFill>
                  <a:srgbClr val="2C3E50"/>
                </a:solidFill>
                <a:latin typeface="Microsoft YaHei"/>
                <a:ea typeface="Microsoft YaHei"/>
              </a:rPr>
              <a:t>（强推荐）；</a:t>
            </a:r>
            <a:r>
              <a:rPr lang="en-US" sz="1275">
                <a:solidFill>
                  <a:srgbClr val="2C3E50"/>
                </a:solidFill>
                <a:latin typeface="Microsoft YaHei"/>
                <a:ea typeface="Microsoft YaHei"/>
              </a:rPr>
              <a:t>CVC </a:t>
            </a:r>
            <a:r>
              <a:rPr lang="zh-CN" sz="1275">
                <a:solidFill>
                  <a:srgbClr val="2C3E50"/>
                </a:solidFill>
                <a:latin typeface="Microsoft YaHei"/>
                <a:ea typeface="Microsoft YaHei"/>
              </a:rPr>
              <a:t>置管</a:t>
            </a:r>
            <a:r>
              <a:rPr lang="en-US" sz="1275">
                <a:solidFill>
                  <a:srgbClr val="2C3E50"/>
                </a:solidFill>
                <a:latin typeface="Microsoft YaHei"/>
                <a:ea typeface="Microsoft YaHei"/>
              </a:rPr>
              <a:t> &lt;20</a:t>
            </a:r>
            <a:r>
              <a:rPr lang="zh-CN" sz="1275">
                <a:solidFill>
                  <a:srgbClr val="2C3E50"/>
                </a:solidFill>
                <a:latin typeface="Microsoft YaHei"/>
                <a:ea typeface="Microsoft YaHei"/>
              </a:rPr>
              <a:t>、腰穿与大型非神经轴手术</a:t>
            </a:r>
            <a:r>
              <a:rPr lang="en-US" sz="1275">
                <a:solidFill>
                  <a:srgbClr val="2C3E50"/>
                </a:solidFill>
                <a:latin typeface="Microsoft YaHei"/>
                <a:ea typeface="Microsoft YaHei"/>
              </a:rPr>
              <a:t> &lt;50 </a:t>
            </a:r>
            <a:r>
              <a:rPr lang="zh-CN" sz="1275">
                <a:solidFill>
                  <a:srgbClr val="2C3E50"/>
                </a:solidFill>
                <a:latin typeface="Microsoft YaHei"/>
                <a:ea typeface="Microsoft YaHei"/>
              </a:rPr>
              <a:t>为弱推荐。</a:t>
            </a:r>
            <a:endParaRPr/>
          </a:p>
        </p:txBody>
      </p:sp>
      <p:sp>
        <p:nvSpPr>
          <p:cNvPr id="50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0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TOPPS </a:t>
            </a:r>
            <a:r>
              <a:rPr lang="zh-CN" sz="1425" b="1">
                <a:solidFill>
                  <a:srgbClr val="0E3F8C"/>
                </a:solidFill>
                <a:latin typeface="Microsoft YaHei"/>
                <a:ea typeface="Microsoft YaHei"/>
              </a:rPr>
              <a:t>试验（</a:t>
            </a:r>
            <a:r>
              <a:rPr lang="en-US" sz="1425" b="1">
                <a:solidFill>
                  <a:srgbClr val="0E3F8C"/>
                </a:solidFill>
                <a:latin typeface="Microsoft YaHei"/>
                <a:ea typeface="Microsoft YaHei"/>
              </a:rPr>
              <a:t>2013</a:t>
            </a:r>
            <a:r>
              <a:rPr lang="zh-CN" sz="1425" b="1">
                <a:solidFill>
                  <a:srgbClr val="0E3F8C"/>
                </a:solidFill>
                <a:latin typeface="Microsoft YaHei"/>
                <a:ea typeface="Microsoft YaHei"/>
              </a:rPr>
              <a:t>）</a:t>
            </a:r>
            <a:endParaRPr/>
          </a:p>
        </p:txBody>
      </p:sp>
      <p:sp>
        <p:nvSpPr>
          <p:cNvPr id="506"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血液肿瘤化疗</a:t>
            </a:r>
            <a:r>
              <a:rPr lang="en-US" sz="1275">
                <a:solidFill>
                  <a:srgbClr val="2C3E50"/>
                </a:solidFill>
                <a:latin typeface="Microsoft YaHei"/>
                <a:ea typeface="Microsoft YaHei"/>
              </a:rPr>
              <a:t>/</a:t>
            </a:r>
            <a:r>
              <a:rPr lang="zh-CN" sz="1275">
                <a:solidFill>
                  <a:srgbClr val="2C3E50"/>
                </a:solidFill>
                <a:latin typeface="Microsoft YaHei"/>
                <a:ea typeface="Microsoft YaHei"/>
              </a:rPr>
              <a:t>移植患者随机“不预防</a:t>
            </a:r>
            <a:r>
              <a:rPr lang="en-US" sz="1275">
                <a:solidFill>
                  <a:srgbClr val="2C3E50"/>
                </a:solidFill>
                <a:latin typeface="Microsoft YaHei"/>
                <a:ea typeface="Microsoft YaHei"/>
              </a:rPr>
              <a:t> vs </a:t>
            </a:r>
            <a:r>
              <a:rPr lang="zh-CN" sz="1275">
                <a:solidFill>
                  <a:srgbClr val="2C3E50"/>
                </a:solidFill>
                <a:latin typeface="Microsoft YaHei"/>
                <a:ea typeface="Microsoft YaHei"/>
              </a:rPr>
              <a:t>预防（</a:t>
            </a:r>
            <a:r>
              <a:rPr lang="en-US" sz="1275">
                <a:solidFill>
                  <a:srgbClr val="2C3E50"/>
                </a:solidFill>
                <a:latin typeface="Microsoft YaHei"/>
                <a:ea typeface="Microsoft YaHei"/>
              </a:rPr>
              <a:t>&lt;10 </a:t>
            </a:r>
            <a:r>
              <a:rPr lang="zh-CN" sz="1275">
                <a:solidFill>
                  <a:srgbClr val="2C3E50"/>
                </a:solidFill>
                <a:latin typeface="Microsoft YaHei"/>
                <a:ea typeface="Microsoft YaHei"/>
              </a:rPr>
              <a:t>触发）”：不预防组</a:t>
            </a:r>
            <a:r>
              <a:rPr lang="en-US" sz="1275">
                <a:solidFill>
                  <a:srgbClr val="2C3E50"/>
                </a:solidFill>
                <a:latin typeface="Microsoft YaHei"/>
                <a:ea typeface="Microsoft YaHei"/>
              </a:rPr>
              <a:t> WHO 2—4 </a:t>
            </a:r>
            <a:r>
              <a:rPr lang="zh-CN" sz="1275">
                <a:solidFill>
                  <a:srgbClr val="2C3E50"/>
                </a:solidFill>
                <a:latin typeface="Microsoft YaHei"/>
                <a:ea typeface="Microsoft YaHei"/>
              </a:rPr>
              <a:t>级出血</a:t>
            </a:r>
            <a:r>
              <a:rPr lang="en-US" sz="1275">
                <a:solidFill>
                  <a:srgbClr val="2C3E50"/>
                </a:solidFill>
                <a:latin typeface="Microsoft YaHei"/>
                <a:ea typeface="Microsoft YaHei"/>
              </a:rPr>
              <a:t> 50% vs </a:t>
            </a:r>
            <a:r>
              <a:rPr lang="zh-CN" sz="1275">
                <a:solidFill>
                  <a:srgbClr val="2C3E50"/>
                </a:solidFill>
                <a:latin typeface="Microsoft YaHei"/>
                <a:ea typeface="Microsoft YaHei"/>
              </a:rPr>
              <a:t>预防组</a:t>
            </a:r>
            <a:r>
              <a:rPr lang="en-US" sz="1275">
                <a:solidFill>
                  <a:srgbClr val="2C3E50"/>
                </a:solidFill>
                <a:latin typeface="Microsoft YaHei"/>
                <a:ea typeface="Microsoft YaHei"/>
              </a:rPr>
              <a:t> 43%</a:t>
            </a:r>
            <a:r>
              <a:rPr lang="zh-CN" sz="1275">
                <a:solidFill>
                  <a:srgbClr val="2C3E50"/>
                </a:solidFill>
                <a:latin typeface="Microsoft YaHei"/>
                <a:ea typeface="Microsoft YaHei"/>
              </a:rPr>
              <a:t>，未达到非劣效（</a:t>
            </a:r>
            <a:r>
              <a:rPr lang="en-US" sz="1275">
                <a:solidFill>
                  <a:srgbClr val="2C3E50"/>
                </a:solidFill>
                <a:latin typeface="Microsoft YaHei"/>
                <a:ea typeface="Microsoft YaHei"/>
              </a:rPr>
              <a:t>P=0.06</a:t>
            </a:r>
            <a:r>
              <a:rPr lang="zh-CN" sz="1275">
                <a:solidFill>
                  <a:srgbClr val="2C3E50"/>
                </a:solidFill>
                <a:latin typeface="Microsoft YaHei"/>
                <a:ea typeface="Microsoft YaHei"/>
              </a:rPr>
              <a:t>），结论支持继续预防性输注；自体移植亚组两组相近。</a:t>
            </a:r>
            <a:endParaRPr/>
          </a:p>
        </p:txBody>
      </p:sp>
      <p:sp>
        <p:nvSpPr>
          <p:cNvPr id="50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0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临床落点</a:t>
            </a:r>
            <a:endParaRPr/>
          </a:p>
        </p:txBody>
      </p:sp>
      <p:sp>
        <p:nvSpPr>
          <p:cNvPr id="50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阈值是“起点”而非“终点”：发热、感染、活动出血、使用抗凝</a:t>
            </a:r>
            <a:r>
              <a:rPr lang="en-US" sz="1275">
                <a:solidFill>
                  <a:srgbClr val="2C3E50"/>
                </a:solidFill>
                <a:latin typeface="Microsoft YaHei"/>
                <a:ea typeface="Microsoft YaHei"/>
              </a:rPr>
              <a:t>/</a:t>
            </a:r>
            <a:r>
              <a:rPr lang="zh-CN" sz="1275">
                <a:solidFill>
                  <a:srgbClr val="2C3E50"/>
                </a:solidFill>
                <a:latin typeface="Microsoft YaHei"/>
                <a:ea typeface="Microsoft YaHei"/>
              </a:rPr>
              <a:t>抗血小板药、凝血病并存时需把阈值上移并个体化；同时避免对“计数低但稳定无出血”者盲目过度输注。</a:t>
            </a:r>
            <a:endParaRPr/>
          </a:p>
        </p:txBody>
      </p:sp>
      <p:sp>
        <p:nvSpPr>
          <p:cNvPr id="51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1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51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51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14"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10×10^9/L </a:t>
            </a:r>
            <a:r>
              <a:rPr lang="zh-CN" sz="1275">
                <a:solidFill>
                  <a:srgbClr val="2C3E50"/>
                </a:solidFill>
                <a:latin typeface="Microsoft YaHei"/>
                <a:ea typeface="Microsoft YaHei"/>
              </a:rPr>
              <a:t>是一条有</a:t>
            </a:r>
            <a:r>
              <a:rPr lang="en-US" sz="1275">
                <a:solidFill>
                  <a:srgbClr val="2C3E50"/>
                </a:solidFill>
                <a:latin typeface="Microsoft YaHei"/>
                <a:ea typeface="Microsoft YaHei"/>
              </a:rPr>
              <a:t> RCT </a:t>
            </a:r>
            <a:r>
              <a:rPr lang="zh-CN" sz="1275">
                <a:solidFill>
                  <a:srgbClr val="2C3E50"/>
                </a:solidFill>
                <a:latin typeface="Microsoft YaHei"/>
                <a:ea typeface="Microsoft YaHei"/>
              </a:rPr>
              <a:t>背书的“默认线”，场景化调整是临床医生的真正功课。</a:t>
            </a:r>
            <a:endParaRPr/>
          </a:p>
        </p:txBody>
      </p:sp>
      <p:sp>
        <p:nvSpPr>
          <p:cNvPr id="515"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516"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Ann Intern Med 2015;162:205-213 (PMID 25383671)</a:t>
            </a:r>
            <a:endParaRPr/>
          </a:p>
        </p:txBody>
      </p:sp>
      <p:sp>
        <p:nvSpPr>
          <p:cNvPr id="517" name=""/>
          <p:cNvSpPr/>
          <p:nvPr/>
        </p:nvSpPr>
        <p:spPr>
          <a:xfrm rot="0" flipH="0" flipV="0">
            <a:off x="0" y="6324600"/>
            <a:ext cx="12192000" cy="342900"/>
          </a:xfrm>
          <a:prstGeom prst="rect">
            <a:avLst/>
          </a:prstGeom>
          <a:solidFill>
            <a:srgbClr val="F7F9FC"/>
          </a:solidFill>
          <a:ln/>
        </p:spPr>
        <p:txBody>
          <a:bodyPr/>
          <a:p/>
        </p:txBody>
      </p:sp>
      <p:sp>
        <p:nvSpPr>
          <p:cNvPr id="51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51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8.xml><?xml version="1.0" encoding="utf-8"?>
<p:sld xmlns:p="http://schemas.openxmlformats.org/presentationml/2006/main" xmlns:a="http://schemas.openxmlformats.org/drawingml/2006/main">
  <p:cSld>
    <p:spTree>
      <p:nvGrpSpPr>
        <p:cNvPr id="520" name="" descr="&lt;Slide notes={`演讲者备注：【TEFFERI-ET】真性红细胞增多症与原发性血小板增多症（ET）2019 年更新：ET 诊断需持续血小板≥450×10^9/L并排除反应性增多，依据年龄/血栓史分层并给予阿司匹林与降细胞治疗。证据：Am J Hematol 2019;94:133-143，PMID 30281843。&#13;&#10;讲解提示：指出极端血小板增多（如 &gt;1500）可伴获得性 vWD（大 vWF 多聚体被吸附清除）而表现为矛盾性出血——计数高≠止血好，呼应第一章“数量≠功能”。`}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四章 阈值、分级与危急值&lt;/Text&gt;&#13;&#10;      &lt;Box style={{ width: 1, height: 24, background: '#3D7BD9' }} /&gt;&#13;&#10;      &lt;Text style={{ fontSize: 16, color: '#C7D6EC' }}&gt;血小板增多：反应性还是克隆性？&lt;/Text&gt;&#13;&#10;    &lt;/Box&gt;&#13;&#10;    &lt;Text style={{ position: 'absolute', right: 64, top: 24, fontSize: 15, color: '#9DB8E0' }}&gt;28 / 77&lt;/Text&gt;&#13;&#10;  &lt;/Box&gt;&#13;&#10;  &lt;Box style={{ position: 'absolute', left: 64, top: 96, width: 562, height: 128, background: '#F0F5FC', borderRadius: 12, border: '1px solid #E5E7EB', padding: 20 }}&gt;&#13;&#10;&lt;Text style={{ fontSize: 19, color: '#0E3F8C', fontWeight: 'bold', textAlign: 'left', lineHeight: 1.5 }}&gt;反应性增多&lt;/Text&gt;&#13;&#10;&lt;Text style={{ fontSize: 17, color: '#2C3E50', textAlign: 'left', lineHeight: 1.62 }}&gt;继发于感染/炎症、缺铁、术后、脾切除、肿瘤等；血小板可 &amp;gt;500–1000，但血栓风险低、以处理原发病为主，一般不需降血小板治疗。&lt;/Text&gt;&#13;&#10;  &lt;/Box&gt;&#13;&#10;  &lt;Box style={{ position: 'absolute', left: 654, top: 96, width: 562, height: 128, background: '#F0F5FC', borderRadius: 12, border: '1px solid #E5E7EB', padding: 20 }}&gt;&#13;&#10;&lt;Text style={{ fontSize: 19, color: '#0E3F8C', fontWeight: 'bold', textAlign: 'left', lineHeight: 1.5 }}&gt;克隆性增多（ET）&lt;/Text&gt;&#13;&#10;&lt;Text style={{ fontSize: 17, color: '#2C3E50', textAlign: 'left', lineHeight: 1.62 }}&gt;原发性血小板增多症：持续血小板 ≥450×10^9/L + 骨髓巨核细胞增生 + JAK2/CALR/MPL 驱动突变（约 90%）并排除反应性与早纤维化 MF；血栓风险按年龄/血栓史/JAK2 分层。&lt;/Text&gt;&#13;&#10;  &lt;/Box&gt;&#13;&#10;  &lt;Box style={{ position: 'absolute', left: 64, top: 252, width: 562, height: 128, background: '#F0F5FC', borderRadius: 12, border: '1px solid #E5E7EB', padding: 20 }}&gt;&#13;&#10;&lt;Text style={{ fontSize: 19, color: '#0E3F8C', fontWeight: 'bold', textAlign: 'left', lineHeight: 1.5 }}&gt;治疗与监测&lt;/Text&gt;&#13;&#10;&lt;Text style={{ fontSize: 17, color: '#2C3E50', textAlign: 'left', lineHeight: 1.62 }}&gt;低危 ET 可用阿司匹林；高危（血栓史、或 &amp;gt;60 岁+JAK2 突变）需降细胞治疗（羟基脲一线，干扰素/阿那格雷二线）；目标一般维持血小板 &amp;lt;400–600 且兼顾出血。&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血小板“太多”与“太少”同样需要机制分诊：先分反应性/克隆性，再看血栓与出血风险。&lt;/Text&gt;&#13;&#10;  &lt;/Box&gt;&#13;&#10;&#13;&#10;  &lt;Box style={{ position: 'absolute', left: 64, top: 556, width: 1152, height: 92, background: '#F0F5FC', borderRadius: 12, border: '1px solid #E5E7EB', padding: 20 }}&gt;&#13;&#10;&lt;Text style={{ fontSize: 17, color: '#2C3E50', textAlign: 'left', lineHeight: 1.6 }}&gt;小结：Am J Hematol 2019;94:133-143 (PMID 3028184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521" name=""/>
          <p:cNvSpPr/>
          <p:nvPr/>
        </p:nvSpPr>
        <p:spPr>
          <a:xfrm rot="0" flipH="0" flipV="0">
            <a:off x="0" y="0"/>
            <a:ext cx="12192000" cy="6858000"/>
          </a:xfrm>
          <a:prstGeom prst="rect">
            <a:avLst/>
          </a:prstGeom>
          <a:solidFill>
            <a:srgbClr val="FFFFFF"/>
          </a:solidFill>
          <a:ln/>
        </p:spPr>
        <p:txBody>
          <a:bodyPr/>
          <a:p/>
        </p:txBody>
      </p:sp>
      <p:sp>
        <p:nvSpPr>
          <p:cNvPr id="522" name=""/>
          <p:cNvSpPr/>
          <p:nvPr/>
        </p:nvSpPr>
        <p:spPr>
          <a:xfrm rot="0" flipH="0" flipV="0">
            <a:off x="0" y="0"/>
            <a:ext cx="12192000" cy="685800"/>
          </a:xfrm>
          <a:prstGeom prst="rect">
            <a:avLst/>
          </a:prstGeom>
          <a:solidFill>
            <a:srgbClr val="0E3F8C"/>
          </a:solidFill>
          <a:ln/>
        </p:spPr>
        <p:txBody>
          <a:bodyPr/>
          <a:p/>
        </p:txBody>
      </p:sp>
      <p:sp>
        <p:nvSpPr>
          <p:cNvPr id="523"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第四章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阈值、分级与危急值</a:t>
            </a:r>
            <a:endParaRPr/>
          </a:p>
        </p:txBody>
      </p:sp>
      <p:sp>
        <p:nvSpPr>
          <p:cNvPr id="524" name=""/>
          <p:cNvSpPr/>
          <p:nvPr/>
        </p:nvSpPr>
        <p:spPr>
          <a:xfrm rot="0" flipH="0" flipV="0">
            <a:off x="2876550" y="209550"/>
            <a:ext cx="9525" cy="228600"/>
          </a:xfrm>
          <a:prstGeom prst="rect">
            <a:avLst/>
          </a:prstGeom>
          <a:solidFill>
            <a:srgbClr val="3D7BD9"/>
          </a:solidFill>
          <a:ln/>
        </p:spPr>
        <p:txBody>
          <a:bodyPr/>
          <a:p/>
        </p:txBody>
      </p:sp>
      <p:sp>
        <p:nvSpPr>
          <p:cNvPr id="525" name="" descr="{&quot;isTemplate&quot;:true,&quot;type&quot;:&quot;text&quot;}"/>
          <p:cNvSpPr txBox="1"/>
          <p:nvPr/>
        </p:nvSpPr>
        <p:spPr>
          <a:xfrm rot="0" flipH="0" flipV="0">
            <a:off x="3038475" y="228600"/>
            <a:ext cx="2286000" cy="190500"/>
          </a:xfrm>
          <a:prstGeom prst="rect"/>
        </p:spPr>
        <p:txBody>
          <a:bodyPr wrap="none" lIns="0" tIns="0" rIns="0" bIns="0"/>
          <a:p>
            <a:pPr>
              <a:lnSpc>
                <a:spcPct val="100000"/>
              </a:lnSpc>
            </a:pPr>
            <a:r>
              <a:rPr lang="zh-CN" sz="1200">
                <a:solidFill>
                  <a:srgbClr val="C7D6EC"/>
                </a:solidFill>
                <a:latin typeface="Microsoft YaHei"/>
                <a:ea typeface="Microsoft YaHei"/>
              </a:rPr>
              <a:t>血小板增多：反应性还是克隆性？</a:t>
            </a:r>
            <a:endParaRPr/>
          </a:p>
        </p:txBody>
      </p:sp>
      <p:sp>
        <p:nvSpPr>
          <p:cNvPr id="52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28 / 77</a:t>
            </a:r>
            <a:endParaRPr/>
          </a:p>
        </p:txBody>
      </p:sp>
      <p:sp>
        <p:nvSpPr>
          <p:cNvPr id="52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2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反应性增多</a:t>
            </a:r>
            <a:endParaRPr/>
          </a:p>
        </p:txBody>
      </p:sp>
      <p:sp>
        <p:nvSpPr>
          <p:cNvPr id="529"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继发于感染</a:t>
            </a:r>
            <a:r>
              <a:rPr lang="en-US" sz="1275">
                <a:solidFill>
                  <a:srgbClr val="2C3E50"/>
                </a:solidFill>
                <a:latin typeface="Microsoft YaHei"/>
                <a:ea typeface="Microsoft YaHei"/>
              </a:rPr>
              <a:t>/</a:t>
            </a:r>
            <a:r>
              <a:rPr lang="zh-CN" sz="1275">
                <a:solidFill>
                  <a:srgbClr val="2C3E50"/>
                </a:solidFill>
                <a:latin typeface="Microsoft YaHei"/>
                <a:ea typeface="Microsoft YaHei"/>
              </a:rPr>
              <a:t>炎症、缺铁、术后、脾切除、肿瘤等；血小板可</a:t>
            </a:r>
            <a:r>
              <a:rPr lang="en-US" sz="1275">
                <a:solidFill>
                  <a:srgbClr val="2C3E50"/>
                </a:solidFill>
                <a:latin typeface="Microsoft YaHei"/>
                <a:ea typeface="Microsoft YaHei"/>
              </a:rPr>
              <a:t> &gt;500–1000</a:t>
            </a:r>
            <a:r>
              <a:rPr lang="zh-CN" sz="1275">
                <a:solidFill>
                  <a:srgbClr val="2C3E50"/>
                </a:solidFill>
                <a:latin typeface="Microsoft YaHei"/>
                <a:ea typeface="Microsoft YaHei"/>
              </a:rPr>
              <a:t>，但血栓风险低、以处理原发病为主，一般不需降血小板治疗。</a:t>
            </a:r>
            <a:endParaRPr/>
          </a:p>
        </p:txBody>
      </p:sp>
      <p:sp>
        <p:nvSpPr>
          <p:cNvPr id="53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3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克隆性增多（</a:t>
            </a:r>
            <a:r>
              <a:rPr lang="en-US" sz="1425" b="1">
                <a:solidFill>
                  <a:srgbClr val="0E3F8C"/>
                </a:solidFill>
                <a:latin typeface="Microsoft YaHei"/>
                <a:ea typeface="Microsoft YaHei"/>
              </a:rPr>
              <a:t>ET</a:t>
            </a:r>
            <a:r>
              <a:rPr lang="zh-CN" sz="1425" b="1">
                <a:solidFill>
                  <a:srgbClr val="0E3F8C"/>
                </a:solidFill>
                <a:latin typeface="Microsoft YaHei"/>
                <a:ea typeface="Microsoft YaHei"/>
              </a:rPr>
              <a:t>）</a:t>
            </a:r>
            <a:endParaRPr/>
          </a:p>
        </p:txBody>
      </p:sp>
      <p:sp>
        <p:nvSpPr>
          <p:cNvPr id="53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原发性血小板增多症：持续血小板</a:t>
            </a:r>
            <a:r>
              <a:rPr lang="en-US" sz="1275">
                <a:solidFill>
                  <a:srgbClr val="2C3E50"/>
                </a:solidFill>
                <a:latin typeface="Microsoft YaHei"/>
                <a:ea typeface="Microsoft YaHei"/>
              </a:rPr>
              <a:t> ≥450×10^9/L + </a:t>
            </a:r>
            <a:r>
              <a:rPr lang="zh-CN" sz="1275">
                <a:solidFill>
                  <a:srgbClr val="2C3E50"/>
                </a:solidFill>
                <a:latin typeface="Microsoft YaHei"/>
                <a:ea typeface="Microsoft YaHei"/>
              </a:rPr>
              <a:t>骨髓巨核细胞增生</a:t>
            </a:r>
            <a:r>
              <a:rPr lang="en-US" sz="1275">
                <a:solidFill>
                  <a:srgbClr val="2C3E50"/>
                </a:solidFill>
                <a:latin typeface="Microsoft YaHei"/>
                <a:ea typeface="Microsoft YaHei"/>
              </a:rPr>
              <a:t> + JAK2/CALR/MPL </a:t>
            </a:r>
            <a:r>
              <a:rPr lang="zh-CN" sz="1275">
                <a:solidFill>
                  <a:srgbClr val="2C3E50"/>
                </a:solidFill>
                <a:latin typeface="Microsoft YaHei"/>
                <a:ea typeface="Microsoft YaHei"/>
              </a:rPr>
              <a:t>驱动突变（约</a:t>
            </a:r>
            <a:r>
              <a:rPr lang="en-US" sz="1275">
                <a:solidFill>
                  <a:srgbClr val="2C3E50"/>
                </a:solidFill>
                <a:latin typeface="Microsoft YaHei"/>
                <a:ea typeface="Microsoft YaHei"/>
              </a:rPr>
              <a:t> 90%</a:t>
            </a:r>
            <a:r>
              <a:rPr lang="zh-CN" sz="1275">
                <a:solidFill>
                  <a:srgbClr val="2C3E50"/>
                </a:solidFill>
                <a:latin typeface="Microsoft YaHei"/>
                <a:ea typeface="Microsoft YaHei"/>
              </a:rPr>
              <a:t>）并排除反应性与早纤维化</a:t>
            </a:r>
            <a:r>
              <a:rPr lang="en-US" sz="1275">
                <a:solidFill>
                  <a:srgbClr val="2C3E50"/>
                </a:solidFill>
                <a:latin typeface="Microsoft YaHei"/>
                <a:ea typeface="Microsoft YaHei"/>
              </a:rPr>
              <a:t> MF</a:t>
            </a:r>
            <a:r>
              <a:rPr lang="zh-CN" sz="1275">
                <a:solidFill>
                  <a:srgbClr val="2C3E50"/>
                </a:solidFill>
                <a:latin typeface="Microsoft YaHei"/>
                <a:ea typeface="Microsoft YaHei"/>
              </a:rPr>
              <a:t>；血栓风险按年龄</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血栓史</a:t>
            </a:r>
            <a:r>
              <a:rPr lang="en-US" sz="1275">
                <a:solidFill>
                  <a:srgbClr val="2C3E50"/>
                </a:solidFill>
                <a:latin typeface="Microsoft YaHei"/>
                <a:ea typeface="Microsoft YaHei"/>
              </a:rPr>
              <a:t>/JAK2 </a:t>
            </a:r>
            <a:r>
              <a:rPr lang="zh-CN" sz="1275">
                <a:solidFill>
                  <a:srgbClr val="2C3E50"/>
                </a:solidFill>
                <a:latin typeface="Microsoft YaHei"/>
                <a:ea typeface="Microsoft YaHei"/>
              </a:rPr>
              <a:t>分层。</a:t>
            </a:r>
            <a:endParaRPr/>
          </a:p>
        </p:txBody>
      </p:sp>
      <p:sp>
        <p:nvSpPr>
          <p:cNvPr id="53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3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治疗与监测</a:t>
            </a:r>
            <a:endParaRPr/>
          </a:p>
        </p:txBody>
      </p:sp>
      <p:sp>
        <p:nvSpPr>
          <p:cNvPr id="53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低危</a:t>
            </a:r>
            <a:r>
              <a:rPr lang="en-US" sz="1275">
                <a:solidFill>
                  <a:srgbClr val="2C3E50"/>
                </a:solidFill>
                <a:latin typeface="Microsoft YaHei"/>
                <a:ea typeface="Microsoft YaHei"/>
              </a:rPr>
              <a:t> ET </a:t>
            </a:r>
            <a:r>
              <a:rPr lang="zh-CN" sz="1275">
                <a:solidFill>
                  <a:srgbClr val="2C3E50"/>
                </a:solidFill>
                <a:latin typeface="Microsoft YaHei"/>
                <a:ea typeface="Microsoft YaHei"/>
              </a:rPr>
              <a:t>可用阿司匹林；高危（血栓史、或</a:t>
            </a:r>
            <a:r>
              <a:rPr lang="en-US" sz="1275">
                <a:solidFill>
                  <a:srgbClr val="2C3E50"/>
                </a:solidFill>
                <a:latin typeface="Microsoft YaHei"/>
                <a:ea typeface="Microsoft YaHei"/>
              </a:rPr>
              <a:t> &gt;60 </a:t>
            </a:r>
            <a:r>
              <a:rPr lang="zh-CN" sz="1275">
                <a:solidFill>
                  <a:srgbClr val="2C3E50"/>
                </a:solidFill>
                <a:latin typeface="Microsoft YaHei"/>
                <a:ea typeface="Microsoft YaHei"/>
              </a:rPr>
              <a:t>岁</a:t>
            </a:r>
            <a:r>
              <a:rPr lang="en-US" sz="1275">
                <a:solidFill>
                  <a:srgbClr val="2C3E50"/>
                </a:solidFill>
                <a:latin typeface="Microsoft YaHei"/>
                <a:ea typeface="Microsoft YaHei"/>
              </a:rPr>
              <a:t>+JAK2 </a:t>
            </a:r>
            <a:r>
              <a:rPr lang="zh-CN" sz="1275">
                <a:solidFill>
                  <a:srgbClr val="2C3E50"/>
                </a:solidFill>
                <a:latin typeface="Microsoft YaHei"/>
                <a:ea typeface="Microsoft YaHei"/>
              </a:rPr>
              <a:t>突变）需降细胞治疗（羟基脲一线，干扰素</a:t>
            </a:r>
            <a:r>
              <a:rPr lang="en-US" sz="1275">
                <a:solidFill>
                  <a:srgbClr val="2C3E50"/>
                </a:solidFill>
                <a:latin typeface="Microsoft YaHei"/>
                <a:ea typeface="Microsoft YaHei"/>
              </a:rPr>
              <a:t>/</a:t>
            </a:r>
            <a:r>
              <a:rPr lang="zh-CN" sz="1275">
                <a:solidFill>
                  <a:srgbClr val="2C3E50"/>
                </a:solidFill>
                <a:latin typeface="Microsoft YaHei"/>
                <a:ea typeface="Microsoft YaHei"/>
              </a:rPr>
              <a:t>阿那格雷二线）；目标一般维持血小板</a:t>
            </a:r>
            <a:r>
              <a:rPr lang="en-US" sz="1275">
                <a:solidFill>
                  <a:srgbClr val="2C3E50"/>
                </a:solidFill>
                <a:latin typeface="Microsoft YaHei"/>
                <a:ea typeface="Microsoft YaHei"/>
              </a:rPr>
              <a:t> &lt;400–600 </a:t>
            </a:r>
            <a:r>
              <a:rPr lang="zh-CN" sz="1275">
                <a:solidFill>
                  <a:srgbClr val="2C3E50"/>
                </a:solidFill>
                <a:latin typeface="Microsoft YaHei"/>
                <a:ea typeface="Microsoft YaHei"/>
              </a:rPr>
              <a:t>且兼顾出血。</a:t>
            </a:r>
            <a:endParaRPr/>
          </a:p>
        </p:txBody>
      </p:sp>
      <p:sp>
        <p:nvSpPr>
          <p:cNvPr id="53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3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53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53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4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血小板“太多”与“太少”同样需要机制分诊：先分反应性</a:t>
            </a:r>
            <a:r>
              <a:rPr lang="en-US" sz="1275">
                <a:solidFill>
                  <a:srgbClr val="2C3E50"/>
                </a:solidFill>
                <a:latin typeface="Microsoft YaHei"/>
                <a:ea typeface="Microsoft YaHei"/>
              </a:rPr>
              <a:t>/</a:t>
            </a:r>
            <a:r>
              <a:rPr lang="zh-CN" sz="1275">
                <a:solidFill>
                  <a:srgbClr val="2C3E50"/>
                </a:solidFill>
                <a:latin typeface="Microsoft YaHei"/>
                <a:ea typeface="Microsoft YaHei"/>
              </a:rPr>
              <a:t>克隆性，再看血栓与出血风险。</a:t>
            </a:r>
            <a:endParaRPr/>
          </a:p>
        </p:txBody>
      </p:sp>
      <p:sp>
        <p:nvSpPr>
          <p:cNvPr id="54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54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Am J Hematol 2019;94:133-143 (PMID 30281843)</a:t>
            </a:r>
            <a:endParaRPr/>
          </a:p>
        </p:txBody>
      </p:sp>
      <p:sp>
        <p:nvSpPr>
          <p:cNvPr id="543" name=""/>
          <p:cNvSpPr/>
          <p:nvPr/>
        </p:nvSpPr>
        <p:spPr>
          <a:xfrm rot="0" flipH="0" flipV="0">
            <a:off x="0" y="6324600"/>
            <a:ext cx="12192000" cy="342900"/>
          </a:xfrm>
          <a:prstGeom prst="rect">
            <a:avLst/>
          </a:prstGeom>
          <a:solidFill>
            <a:srgbClr val="F7F9FC"/>
          </a:solidFill>
          <a:ln/>
        </p:spPr>
        <p:txBody>
          <a:bodyPr/>
          <a:p/>
        </p:txBody>
      </p:sp>
      <p:sp>
        <p:nvSpPr>
          <p:cNvPr id="54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54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29.xml><?xml version="1.0" encoding="utf-8"?>
<p:sld xmlns:p="http://schemas.openxmlformats.org/presentationml/2006/main" xmlns:a="http://schemas.openxmlformats.org/drawingml/2006/main">
  <p:cSld>
    <p:spTree>
      <p:nvGrpSpPr>
        <p:cNvPr id="546" name="" descr="&lt;Slide notes={`演讲者备注：第五章讲“什么时候该怀疑这个数字/这个功能结果”。血小板检验的误差集中在分析前与分析中，且不少假象（尤其 EDTA 假性血小板减少）会造成不必要输注与错误诊断。本章给出系统排查思路，是第十一章案例的理论基础。`} style={{ width: '1280px', height: '720px', background: '#0E3F8C', padding: 0 }}&gt;&#13;&#10;  &lt;Box style={{ position: 'absolute', left: 0, top: 0, width: 12, height: 720, background: '#3D7BD9' }} /&gt;&#13;&#10;  &lt;Text style={{ position: 'absolute', left: 64, top: 138, fontSize: 22, color: '#9DB8E0', letterSpacing: 4 }}&gt;第 5 章&lt;/Text&gt;&#13;&#10;  &lt;Text style={{ position: 'absolute', left: 56, top: 168, fontSize: 150, color: '#164A9E', fontWeight: 'bold' }}&gt;05&lt;/Text&gt;&#13;&#10;  &lt;Text style={{ position: 'absolute', left: 64, top: 332, fontSize: 50, color: '#FFFFFF', fontWeight: 'bold' }}&gt;误差来源与误读陷阱&lt;/Text&gt;&#13;&#10;  &lt;Text style={{ position: 'absolute', left: 64, top: 400, fontSize: 22, color: '#9DB8E0', fontFamily: 'Times New Roman' }}&gt;Errors &amp; Misinterpretation&lt;/Text&gt;&#13;&#10;  &lt;Box key={0} style={{ position: 'absolute', left: 64, top: 472, width: 360, height: 150, background: '#12448F', borderRadius: 12, border: '1px solid #2E5BA8', padding: 20 }}&gt;&#13;&#10;    &lt;Text style={{ fontSize: 18, color: '#9DB8E0', fontWeight: 'bold', marginBottom: 8 }}&gt;计数假象&lt;/Text&gt;&#13;&#10;    &lt;Text style={{ fontSize: 15, color: '#C7D6EC', lineHeight: 1.5 }}&gt;EDTA 聚集、卫星现象、大血小板漏计、凝块&lt;/Text&gt;&#13;&#10;  &lt;/Box&gt;  &lt;Box key={1} style={{ position: 'absolute', left: 452, top: 472, width: 360, height: 150, background: '#12448F', borderRadius: 12, border: '1px solid #2E5BA8', padding: 20 }}&gt;&#13;&#10;    &lt;Text style={{ fontSize: 18, color: '#9DB8E0', fontWeight: 'bold', marginBottom: 8 }}&gt;功能干扰&lt;/Text&gt;&#13;&#10;    &lt;Text style={{ fontSize: 15, color: '#C7D6EC', lineHeight: 1.5 }}&gt;药物、采血-检测时限、血小板数、标本质量&lt;/Text&gt;&#13;&#10;  &lt;/Box&gt;  &lt;Box key={2} style={{ position: 'absolute', left: 840, top: 472, width: 360, height: 150, background: '#12448F', borderRadius: 12, border: '1px solid #2E5BA8', padding: 20 }}&gt;&#13;&#10;    &lt;Text style={{ fontSize: 18, color: '#9DB8E0', fontWeight: 'bold', marginBottom: 8 }}&gt;分析前环节&lt;/Text&gt;&#13;&#10;    &lt;Text style={{ fontSize: 15, color: '#C7D6EC', lineHeight: 1.5 }}&gt;抗凝剂/采血/运送/储存——误差主产区&lt;/Text&gt;&#13;&#10;  &lt;/Box&gt;&#13;&#10;  &lt;Text style={{ position: 'absolute', right: 64, top: 660, fontSize: 15, color: '#9DB8E0' }}&gt;29 / 77&lt;/Text&gt;&#13;&#10;&lt;/Slide&gt;"/>
        <p:cNvGrpSpPr/>
        <p:nvPr/>
      </p:nvGrpSpPr>
      <p:grpSpPr>
        <a:xfrm>
          <a:off x="0" y="0"/>
          <a:ext cx="0" cy="0"/>
          <a:chOff x="0" y="0"/>
          <a:chExt cx="0" cy="0"/>
        </a:xfrm>
      </p:grpSpPr>
      <p:sp>
        <p:nvSpPr>
          <p:cNvPr id="547" name=""/>
          <p:cNvSpPr/>
          <p:nvPr/>
        </p:nvSpPr>
        <p:spPr>
          <a:xfrm rot="0" flipH="0" flipV="0">
            <a:off x="0" y="0"/>
            <a:ext cx="12192000" cy="6858000"/>
          </a:xfrm>
          <a:prstGeom prst="rect">
            <a:avLst/>
          </a:prstGeom>
          <a:solidFill>
            <a:srgbClr val="0E3F8C"/>
          </a:solidFill>
          <a:ln/>
        </p:spPr>
        <p:txBody>
          <a:bodyPr/>
          <a:p/>
        </p:txBody>
      </p:sp>
      <p:sp>
        <p:nvSpPr>
          <p:cNvPr id="548" name=""/>
          <p:cNvSpPr/>
          <p:nvPr/>
        </p:nvSpPr>
        <p:spPr>
          <a:xfrm rot="0" flipH="0" flipV="0">
            <a:off x="0" y="0"/>
            <a:ext cx="114300" cy="6858000"/>
          </a:xfrm>
          <a:prstGeom prst="rect">
            <a:avLst/>
          </a:prstGeom>
          <a:solidFill>
            <a:srgbClr val="3D7BD9"/>
          </a:solidFill>
          <a:ln/>
        </p:spPr>
        <p:txBody>
          <a:bodyPr/>
          <a:p/>
        </p:txBody>
      </p:sp>
      <p:sp>
        <p:nvSpPr>
          <p:cNvPr id="549"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5 </a:t>
            </a:r>
            <a:r>
              <a:rPr lang="zh-CN" sz="1650" spc="300">
                <a:solidFill>
                  <a:srgbClr val="9DB8E0"/>
                </a:solidFill>
                <a:latin typeface="Microsoft YaHei"/>
                <a:ea typeface="Microsoft YaHei"/>
              </a:rPr>
              <a:t>章</a:t>
            </a:r>
            <a:endParaRPr/>
          </a:p>
        </p:txBody>
      </p:sp>
      <p:sp>
        <p:nvSpPr>
          <p:cNvPr id="550"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05</a:t>
            </a:r>
            <a:endParaRPr/>
          </a:p>
        </p:txBody>
      </p:sp>
      <p:sp>
        <p:nvSpPr>
          <p:cNvPr id="551" name="" descr="{&quot;isTemplate&quot;:true,&quot;type&quot;:&quot;text&quot;}"/>
          <p:cNvSpPr txBox="1"/>
          <p:nvPr/>
        </p:nvSpPr>
        <p:spPr>
          <a:xfrm rot="0" flipH="0" flipV="0">
            <a:off x="609600" y="3162300"/>
            <a:ext cx="4286250" cy="571500"/>
          </a:xfrm>
          <a:prstGeom prst="rect"/>
        </p:spPr>
        <p:txBody>
          <a:bodyPr wrap="none" lIns="0" tIns="0" rIns="0" bIns="0"/>
          <a:p>
            <a:pPr>
              <a:lnSpc>
                <a:spcPct val="100000"/>
              </a:lnSpc>
            </a:pPr>
            <a:r>
              <a:rPr lang="zh-CN" sz="3750" b="1">
                <a:solidFill>
                  <a:srgbClr val="FFFFFF"/>
                </a:solidFill>
                <a:latin typeface="Microsoft YaHei"/>
                <a:ea typeface="Microsoft YaHei"/>
              </a:rPr>
              <a:t>误差来源与误读陷阱</a:t>
            </a:r>
            <a:endParaRPr/>
          </a:p>
        </p:txBody>
      </p:sp>
      <p:sp>
        <p:nvSpPr>
          <p:cNvPr id="552" name="" descr="{&quot;isTemplate&quot;:true,&quot;type&quot;:&quot;text&quot;}"/>
          <p:cNvSpPr txBox="1"/>
          <p:nvPr/>
        </p:nvSpPr>
        <p:spPr>
          <a:xfrm rot="0" flipH="0" flipV="0">
            <a:off x="609600" y="3810000"/>
            <a:ext cx="2247900" cy="257175"/>
          </a:xfrm>
          <a:prstGeom prst="rect"/>
        </p:spPr>
        <p:txBody>
          <a:bodyPr wrap="none" lIns="0" tIns="0" rIns="0" bIns="0"/>
          <a:p>
            <a:pPr>
              <a:lnSpc>
                <a:spcPct val="100000"/>
              </a:lnSpc>
            </a:pPr>
            <a:r>
              <a:rPr lang="en-US" sz="1650">
                <a:solidFill>
                  <a:srgbClr val="9DB8E0"/>
                </a:solidFill>
                <a:latin typeface="Times New Roman"/>
                <a:ea typeface="Times New Roman"/>
              </a:rPr>
              <a:t>Errors &amp; Misinterpretation</a:t>
            </a:r>
            <a:endParaRPr/>
          </a:p>
        </p:txBody>
      </p:sp>
      <p:sp>
        <p:nvSpPr>
          <p:cNvPr id="553"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54"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计数假象</a:t>
            </a:r>
            <a:endParaRPr/>
          </a:p>
        </p:txBody>
      </p:sp>
      <p:sp>
        <p:nvSpPr>
          <p:cNvPr id="555"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EDTA </a:t>
            </a:r>
            <a:r>
              <a:rPr lang="zh-CN" sz="1125">
                <a:solidFill>
                  <a:srgbClr val="C7D6EC"/>
                </a:solidFill>
                <a:latin typeface="Microsoft YaHei"/>
                <a:ea typeface="Microsoft YaHei"/>
              </a:rPr>
              <a:t>聚集、卫星现象、大血小板漏计、凝块</a:t>
            </a:r>
            <a:endParaRPr/>
          </a:p>
        </p:txBody>
      </p:sp>
      <p:sp>
        <p:nvSpPr>
          <p:cNvPr id="556"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57"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功能干扰</a:t>
            </a:r>
            <a:endParaRPr/>
          </a:p>
        </p:txBody>
      </p:sp>
      <p:sp>
        <p:nvSpPr>
          <p:cNvPr id="558"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药物、采血</a:t>
            </a:r>
            <a:r>
              <a:rPr lang="en-US" sz="1125">
                <a:solidFill>
                  <a:srgbClr val="C7D6EC"/>
                </a:solidFill>
                <a:latin typeface="Microsoft YaHei"/>
                <a:ea typeface="Microsoft YaHei"/>
              </a:rPr>
              <a:t>-</a:t>
            </a:r>
            <a:r>
              <a:rPr lang="zh-CN" sz="1125">
                <a:solidFill>
                  <a:srgbClr val="C7D6EC"/>
                </a:solidFill>
                <a:latin typeface="Microsoft YaHei"/>
                <a:ea typeface="Microsoft YaHei"/>
              </a:rPr>
              <a:t>检测时限、血小板数、标本质量</a:t>
            </a:r>
            <a:endParaRPr/>
          </a:p>
        </p:txBody>
      </p:sp>
      <p:sp>
        <p:nvSpPr>
          <p:cNvPr id="559"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560"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分析前环节</a:t>
            </a:r>
            <a:endParaRPr/>
          </a:p>
        </p:txBody>
      </p:sp>
      <p:sp>
        <p:nvSpPr>
          <p:cNvPr id="561"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抗凝剂</a:t>
            </a:r>
            <a:r>
              <a:rPr lang="en-US" sz="1125">
                <a:solidFill>
                  <a:srgbClr val="C7D6EC"/>
                </a:solidFill>
                <a:latin typeface="Microsoft YaHei"/>
                <a:ea typeface="Microsoft YaHei"/>
              </a:rPr>
              <a:t>/</a:t>
            </a:r>
            <a:r>
              <a:rPr lang="zh-CN" sz="1125">
                <a:solidFill>
                  <a:srgbClr val="C7D6EC"/>
                </a:solidFill>
                <a:latin typeface="Microsoft YaHei"/>
                <a:ea typeface="Microsoft YaHei"/>
              </a:rPr>
              <a:t>采血</a:t>
            </a:r>
            <a:r>
              <a:rPr lang="en-US" sz="1125">
                <a:solidFill>
                  <a:srgbClr val="C7D6EC"/>
                </a:solidFill>
                <a:latin typeface="Microsoft YaHei"/>
                <a:ea typeface="Microsoft YaHei"/>
              </a:rPr>
              <a:t>/</a:t>
            </a:r>
            <a:r>
              <a:rPr lang="zh-CN" sz="1125">
                <a:solidFill>
                  <a:srgbClr val="C7D6EC"/>
                </a:solidFill>
                <a:latin typeface="Microsoft YaHei"/>
                <a:ea typeface="Microsoft YaHei"/>
              </a:rPr>
              <a:t>运送</a:t>
            </a:r>
            <a:r>
              <a:rPr lang="en-US" sz="1125">
                <a:solidFill>
                  <a:srgbClr val="C7D6EC"/>
                </a:solidFill>
                <a:latin typeface="Microsoft YaHei"/>
                <a:ea typeface="Microsoft YaHei"/>
              </a:rPr>
              <a:t>/</a:t>
            </a:r>
            <a:r>
              <a:rPr lang="zh-CN" sz="1125">
                <a:solidFill>
                  <a:srgbClr val="C7D6EC"/>
                </a:solidFill>
                <a:latin typeface="Microsoft YaHei"/>
                <a:ea typeface="Microsoft YaHei"/>
              </a:rPr>
              <a:t>储存——误差主产区</a:t>
            </a:r>
            <a:endParaRPr/>
          </a:p>
        </p:txBody>
      </p:sp>
      <p:sp>
        <p:nvSpPr>
          <p:cNvPr id="562"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29 / 77</a:t>
            </a:r>
            <a:endParaRPr/>
          </a:p>
        </p:txBody>
      </p:sp>
    </p:spTree>
  </p:cSld>
</p:sld>
</file>

<file path=ppt/slides/slide30.xml><?xml version="1.0" encoding="utf-8"?>
<p:sld xmlns:p="http://schemas.openxmlformats.org/presentationml/2006/main" xmlns:a="http://schemas.openxmlformats.org/drawingml/2006/main">
  <p:cSld>
    <p:spTree>
      <p:nvGrpSpPr>
        <p:cNvPr id="580" name="" descr="&lt;Slide notes={`演讲者备注：【ZANDECKI-SPUR】自动化血细胞分析仪血小板部分系统性综述：EDTA 依赖聚集、血小板卫星现象、大血小板漏计等假性结果常见，需直方图/散点图与涂片复检甄别。证据：Int J Lab Hematol 2007;29:4-20，PMID 17224004。&#13;&#10;讲解提示：临床上最危险的不是假性减少本身，而是把假性减少当作 ITP/出血风险而输注血小板或上激素。第十一章案例 1 给出完整流程。急诊无出血者血小板“个位数”时，先复检再看病。`}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五章 误差来源与误读陷阱&lt;/Text&gt;&#13;&#10;      &lt;Box style={{ width: 1, height: 24, background: '#3D7BD9' }} /&gt;&#13;&#10;      &lt;Text style={{ fontSize: 16, color: '#C7D6EC' }}&gt;EDTA 依赖假性血小板减少：最常见的“危急值”骗局&lt;/Text&gt;&#13;&#10;    &lt;/Box&gt;&#13;&#10;    &lt;Text style={{ position: 'absolute', right: 64, top: 24, fontSize: 15, color: '#9DB8E0' }}&gt;30 / 77&lt;/Text&gt;&#13;&#10;  &lt;/Box&gt;&#13;&#10;  &lt;Box style={{ position: 'absolute', left: 64, top: 96, width: 562, height: 128, background: '#F0F5FC', borderRadius: 12, border: '1px solid #E5E7EB', padding: 20 }}&gt;&#13;&#10;&lt;Text style={{ fontSize: 19, color: '#0E3F8C', fontWeight: 'bold', textAlign: 'left', lineHeight: 1.5 }}&gt;机制与发生率&lt;/Text&gt;&#13;&#10;&lt;Text style={{ fontSize: 17, color: '#2C3E50', textAlign: 'left', lineHeight: 1.62 }}&gt;EDTA 螯合钙离子改变血小板膜糖蛋白构象，诱使自身抗体（多抗 GPIIb/IIIa 或 GPIb）介导血小板聚集/凝集，仪器按聚集块外的空隙计数导致假性降低；约见于 0.1%—1% 门诊人群。&lt;/Text&gt;&#13;&#10;  &lt;/Box&gt;&#13;&#10;  &lt;Box style={{ position: 'absolute', left: 654, top: 96, width: 562, height: 128, background: '#F0F5FC', borderRadius: 12, border: '1px solid #E5E7EB', padding: 20 }}&gt;&#13;&#10;&lt;Text style={{ fontSize: 19, color: '#0E3F8C', fontWeight: 'bold', textAlign: 'left', lineHeight: 1.5 }}&gt;识别要点&lt;/Text&gt;&#13;&#10;&lt;Text style={{ fontSize: 17, color: '#2C3E50', textAlign: 'left', lineHeight: 1.62 }}&gt;①无出血表现却“重度减少”；②直方图异常/报警提示聚集；③不同管（EDTA vs 枸橼酸/肝素）结果差异大；④涂片见血小板成簇。这些线索应触发复检。&lt;/Text&gt;&#13;&#10;  &lt;/Box&gt;&#13;&#10;  &lt;Box style={{ position: 'absolute', left: 64, top: 252, width: 562, height: 128, background: '#F0F5FC', borderRadius: 12, border: '1px solid #E5E7EB', padding: 20 }}&gt;&#13;&#10;&lt;Text style={{ fontSize: 19, color: '#0E3F8C', fontWeight: 'bold', textAlign: 'left', lineHeight: 1.5 }}&gt;处理&lt;/Text&gt;&#13;&#10;&lt;Text style={{ fontSize: 17, color: '#2C3E50', textAlign: 'left', lineHeight: 1.62 }}&gt;更换抗凝管（枸橼酸钠或肝素锂管）重测、末梢血即时检测、或加氨基糖苷类（部分实验室）后复测；报告时应注明“EDTA 依赖假性减少，真性计数以 XX 为准”。&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涂片+换管”两板斧可在数十分钟内揭穿假性减少，避免错误输注与不必要的检查。&lt;/Text&gt;&#13;&#10;  &lt;/Box&gt;&#13;&#10;&#13;&#10;  &lt;Box style={{ position: 'absolute', left: 64, top: 556, width: 1152, height: 92, background: '#F0F5FC', borderRadius: 12, border: '1px solid #E5E7EB', padding: 20 }}&gt;&#13;&#10;&lt;Text style={{ fontSize: 17, color: '#2C3E50', textAlign: 'left', lineHeight: 1.6 }}&gt;小结：Int J Lab Hematol 2007;29:4-20 (PMID 172240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581" name=""/>
          <p:cNvSpPr/>
          <p:nvPr/>
        </p:nvSpPr>
        <p:spPr>
          <a:xfrm rot="0" flipH="0" flipV="0">
            <a:off x="0" y="0"/>
            <a:ext cx="12192000" cy="6858000"/>
          </a:xfrm>
          <a:prstGeom prst="rect">
            <a:avLst/>
          </a:prstGeom>
          <a:solidFill>
            <a:srgbClr val="FFFFFF"/>
          </a:solidFill>
          <a:ln/>
        </p:spPr>
        <p:txBody>
          <a:bodyPr/>
          <a:p/>
        </p:txBody>
      </p:sp>
      <p:sp>
        <p:nvSpPr>
          <p:cNvPr id="582" name=""/>
          <p:cNvSpPr/>
          <p:nvPr/>
        </p:nvSpPr>
        <p:spPr>
          <a:xfrm rot="0" flipH="0" flipV="0">
            <a:off x="0" y="0"/>
            <a:ext cx="12192000" cy="685800"/>
          </a:xfrm>
          <a:prstGeom prst="rect">
            <a:avLst/>
          </a:prstGeom>
          <a:solidFill>
            <a:srgbClr val="0E3F8C"/>
          </a:solidFill>
          <a:ln/>
        </p:spPr>
        <p:txBody>
          <a:bodyPr/>
          <a:p/>
        </p:txBody>
      </p:sp>
      <p:sp>
        <p:nvSpPr>
          <p:cNvPr id="583"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第五章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误差来源与误读陷阱</a:t>
            </a:r>
            <a:endParaRPr/>
          </a:p>
        </p:txBody>
      </p:sp>
      <p:sp>
        <p:nvSpPr>
          <p:cNvPr id="584" name=""/>
          <p:cNvSpPr/>
          <p:nvPr/>
        </p:nvSpPr>
        <p:spPr>
          <a:xfrm rot="0" flipH="0" flipV="0">
            <a:off x="2876550" y="209550"/>
            <a:ext cx="9525" cy="228600"/>
          </a:xfrm>
          <a:prstGeom prst="rect">
            <a:avLst/>
          </a:prstGeom>
          <a:solidFill>
            <a:srgbClr val="3D7BD9"/>
          </a:solidFill>
          <a:ln/>
        </p:spPr>
        <p:txBody>
          <a:bodyPr/>
          <a:p/>
        </p:txBody>
      </p:sp>
      <p:sp>
        <p:nvSpPr>
          <p:cNvPr id="585" name="" descr="{&quot;isTemplate&quot;:true,&quot;type&quot;:&quot;text&quot;}"/>
          <p:cNvSpPr txBox="1"/>
          <p:nvPr/>
        </p:nvSpPr>
        <p:spPr>
          <a:xfrm rot="0" flipH="0" flipV="0">
            <a:off x="3038475" y="228600"/>
            <a:ext cx="3629025" cy="190500"/>
          </a:xfrm>
          <a:prstGeom prst="rect"/>
        </p:spPr>
        <p:txBody>
          <a:bodyPr wrap="none" lIns="0" tIns="0" rIns="0" bIns="0"/>
          <a:p>
            <a:pPr>
              <a:lnSpc>
                <a:spcPct val="100000"/>
              </a:lnSpc>
            </a:pPr>
            <a:r>
              <a:rPr lang="en-US" sz="1200">
                <a:solidFill>
                  <a:srgbClr val="C7D6EC"/>
                </a:solidFill>
                <a:latin typeface="Microsoft YaHei"/>
                <a:ea typeface="Microsoft YaHei"/>
              </a:rPr>
              <a:t>EDTA </a:t>
            </a:r>
            <a:r>
              <a:rPr lang="zh-CN" sz="1200">
                <a:solidFill>
                  <a:srgbClr val="C7D6EC"/>
                </a:solidFill>
                <a:latin typeface="Microsoft YaHei"/>
                <a:ea typeface="Microsoft YaHei"/>
              </a:rPr>
              <a:t>依赖假性血小板减少：最常见的“危急值”骗局</a:t>
            </a:r>
            <a:endParaRPr/>
          </a:p>
        </p:txBody>
      </p:sp>
      <p:sp>
        <p:nvSpPr>
          <p:cNvPr id="58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30 / 77</a:t>
            </a:r>
            <a:endParaRPr/>
          </a:p>
        </p:txBody>
      </p:sp>
      <p:sp>
        <p:nvSpPr>
          <p:cNvPr id="58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8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机制与发生率</a:t>
            </a:r>
            <a:endParaRPr/>
          </a:p>
        </p:txBody>
      </p:sp>
      <p:sp>
        <p:nvSpPr>
          <p:cNvPr id="589"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EDTA </a:t>
            </a:r>
            <a:r>
              <a:rPr lang="zh-CN" sz="1275">
                <a:solidFill>
                  <a:srgbClr val="2C3E50"/>
                </a:solidFill>
                <a:latin typeface="Microsoft YaHei"/>
                <a:ea typeface="Microsoft YaHei"/>
              </a:rPr>
              <a:t>螯合钙离子改变血小板膜糖蛋白构象，诱使自身抗体（多抗</a:t>
            </a:r>
            <a:r>
              <a:rPr lang="en-US" sz="1275">
                <a:solidFill>
                  <a:srgbClr val="2C3E50"/>
                </a:solidFill>
                <a:latin typeface="Microsoft YaHei"/>
                <a:ea typeface="Microsoft YaHei"/>
              </a:rPr>
              <a:t> GPIIb/IIIa </a:t>
            </a:r>
            <a:r>
              <a:rPr lang="zh-CN" sz="1275">
                <a:solidFill>
                  <a:srgbClr val="2C3E50"/>
                </a:solidFill>
                <a:latin typeface="Microsoft YaHei"/>
                <a:ea typeface="Microsoft YaHei"/>
              </a:rPr>
              <a:t>或</a:t>
            </a:r>
            <a:r>
              <a:rPr lang="en-US" sz="1275">
                <a:solidFill>
                  <a:srgbClr val="2C3E50"/>
                </a:solidFill>
                <a:latin typeface="Microsoft YaHei"/>
                <a:ea typeface="Microsoft YaHei"/>
              </a:rPr>
              <a:t> GPIb</a:t>
            </a:r>
            <a:r>
              <a:rPr lang="zh-CN" sz="1275">
                <a:solidFill>
                  <a:srgbClr val="2C3E50"/>
                </a:solidFill>
                <a:latin typeface="Microsoft YaHei"/>
                <a:ea typeface="Microsoft YaHei"/>
              </a:rPr>
              <a:t>）介导血小板聚集</a:t>
            </a:r>
            <a:r>
              <a:rPr lang="en-US" sz="1275">
                <a:solidFill>
                  <a:srgbClr val="2C3E50"/>
                </a:solidFill>
                <a:latin typeface="Microsoft YaHei"/>
                <a:ea typeface="Microsoft YaHei"/>
              </a:rPr>
              <a:t>/</a:t>
            </a:r>
            <a:r>
              <a:rPr lang="zh-CN" sz="1275">
                <a:solidFill>
                  <a:srgbClr val="2C3E50"/>
                </a:solidFill>
                <a:latin typeface="Microsoft YaHei"/>
                <a:ea typeface="Microsoft YaHei"/>
              </a:rPr>
              <a:t>凝集，仪器按聚集块外的空隙计数导致假性降低；约见于</a:t>
            </a:r>
            <a:r>
              <a:rPr lang="en-US" sz="1275">
                <a:solidFill>
                  <a:srgbClr val="2C3E50"/>
                </a:solidFill>
                <a:latin typeface="Microsoft YaHei"/>
                <a:ea typeface="Microsoft YaHei"/>
              </a:rPr>
              <a:t> 0.1%—1% </a:t>
            </a:r>
            <a:r>
              <a:rPr lang="zh-CN" sz="1275">
                <a:solidFill>
                  <a:srgbClr val="2C3E50"/>
                </a:solidFill>
                <a:latin typeface="Microsoft YaHei"/>
                <a:ea typeface="Microsoft YaHei"/>
              </a:rPr>
              <a:t>门诊人群。</a:t>
            </a:r>
            <a:endParaRPr/>
          </a:p>
        </p:txBody>
      </p:sp>
      <p:sp>
        <p:nvSpPr>
          <p:cNvPr id="59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9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识别要点</a:t>
            </a:r>
            <a:endParaRPr/>
          </a:p>
        </p:txBody>
      </p:sp>
      <p:sp>
        <p:nvSpPr>
          <p:cNvPr id="59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①无出血表现却“重度减少”；②直方图异常</a:t>
            </a:r>
            <a:r>
              <a:rPr lang="en-US" sz="1275">
                <a:solidFill>
                  <a:srgbClr val="2C3E50"/>
                </a:solidFill>
                <a:latin typeface="Microsoft YaHei"/>
                <a:ea typeface="Microsoft YaHei"/>
              </a:rPr>
              <a:t>/</a:t>
            </a:r>
            <a:r>
              <a:rPr lang="zh-CN" sz="1275">
                <a:solidFill>
                  <a:srgbClr val="2C3E50"/>
                </a:solidFill>
                <a:latin typeface="Microsoft YaHei"/>
                <a:ea typeface="Microsoft YaHei"/>
              </a:rPr>
              <a:t>报警提示聚集；③不同管（</a:t>
            </a:r>
            <a:r>
              <a:rPr lang="en-US" sz="1275">
                <a:solidFill>
                  <a:srgbClr val="2C3E50"/>
                </a:solidFill>
                <a:latin typeface="Microsoft YaHei"/>
                <a:ea typeface="Microsoft YaHei"/>
              </a:rPr>
              <a:t>EDTA vs </a:t>
            </a:r>
            <a:r>
              <a:rPr lang="zh-CN" sz="1275">
                <a:solidFill>
                  <a:srgbClr val="2C3E50"/>
                </a:solidFill>
                <a:latin typeface="Microsoft YaHei"/>
                <a:ea typeface="Microsoft YaHei"/>
              </a:rPr>
              <a:t>枸橼酸</a:t>
            </a:r>
            <a:r>
              <a:rPr lang="en-US" sz="1275">
                <a:solidFill>
                  <a:srgbClr val="2C3E50"/>
                </a:solidFill>
                <a:latin typeface="Microsoft YaHei"/>
                <a:ea typeface="Microsoft YaHei"/>
              </a:rPr>
              <a:t>/</a:t>
            </a:r>
            <a:r>
              <a:rPr lang="zh-CN" sz="1275">
                <a:solidFill>
                  <a:srgbClr val="2C3E50"/>
                </a:solidFill>
                <a:latin typeface="Microsoft YaHei"/>
                <a:ea typeface="Microsoft YaHei"/>
              </a:rPr>
              <a:t>肝素）结果差异大；④涂片见血小板成簇。这些线索应触发复检。</a:t>
            </a:r>
            <a:endParaRPr/>
          </a:p>
        </p:txBody>
      </p:sp>
      <p:sp>
        <p:nvSpPr>
          <p:cNvPr id="59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9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处理</a:t>
            </a:r>
            <a:endParaRPr/>
          </a:p>
        </p:txBody>
      </p:sp>
      <p:sp>
        <p:nvSpPr>
          <p:cNvPr id="59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更换抗凝管（枸橼酸钠或肝素锂管）重测、末梢血即时检测、或加氨基糖苷类（部分实验室）后复测；报告时应注明“</a:t>
            </a:r>
            <a:r>
              <a:rPr lang="en-US" sz="1275">
                <a:solidFill>
                  <a:srgbClr val="2C3E50"/>
                </a:solidFill>
                <a:latin typeface="Microsoft YaHei"/>
                <a:ea typeface="Microsoft YaHei"/>
              </a:rPr>
              <a:t>EDTA </a:t>
            </a:r>
            <a:r>
              <a:rPr lang="zh-CN" sz="1275">
                <a:solidFill>
                  <a:srgbClr val="2C3E50"/>
                </a:solidFill>
                <a:latin typeface="Microsoft YaHei"/>
                <a:ea typeface="Microsoft YaHei"/>
              </a:rPr>
              <a:t>依赖假性减少，真性计数以</a:t>
            </a:r>
            <a:r>
              <a:rPr lang="en-US" sz="1275">
                <a:solidFill>
                  <a:srgbClr val="2C3E50"/>
                </a:solidFill>
                <a:latin typeface="Microsoft YaHei"/>
                <a:ea typeface="Microsoft YaHei"/>
              </a:rPr>
              <a:t> XX </a:t>
            </a:r>
            <a:r>
              <a:rPr lang="zh-CN" sz="1275">
                <a:solidFill>
                  <a:srgbClr val="2C3E50"/>
                </a:solidFill>
                <a:latin typeface="Microsoft YaHei"/>
                <a:ea typeface="Microsoft YaHei"/>
              </a:rPr>
              <a:t>为准”。</a:t>
            </a:r>
            <a:endParaRPr/>
          </a:p>
        </p:txBody>
      </p:sp>
      <p:sp>
        <p:nvSpPr>
          <p:cNvPr id="59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59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59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59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0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“涂片</a:t>
            </a:r>
            <a:r>
              <a:rPr lang="en-US" sz="1275">
                <a:solidFill>
                  <a:srgbClr val="2C3E50"/>
                </a:solidFill>
                <a:latin typeface="Microsoft YaHei"/>
                <a:ea typeface="Microsoft YaHei"/>
              </a:rPr>
              <a:t>+</a:t>
            </a:r>
            <a:r>
              <a:rPr lang="zh-CN" sz="1275">
                <a:solidFill>
                  <a:srgbClr val="2C3E50"/>
                </a:solidFill>
                <a:latin typeface="Microsoft YaHei"/>
                <a:ea typeface="Microsoft YaHei"/>
              </a:rPr>
              <a:t>换管”两板斧可在数十分钟内揭穿假性减少，避免错误输注与不必要的检查。</a:t>
            </a:r>
            <a:endParaRPr/>
          </a:p>
        </p:txBody>
      </p:sp>
      <p:sp>
        <p:nvSpPr>
          <p:cNvPr id="60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60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Int J Lab Hematol 2007;29:4-20 (PMID 17224004)</a:t>
            </a:r>
            <a:endParaRPr/>
          </a:p>
        </p:txBody>
      </p:sp>
      <p:sp>
        <p:nvSpPr>
          <p:cNvPr id="603" name=""/>
          <p:cNvSpPr/>
          <p:nvPr/>
        </p:nvSpPr>
        <p:spPr>
          <a:xfrm rot="0" flipH="0" flipV="0">
            <a:off x="0" y="6324600"/>
            <a:ext cx="12192000" cy="342900"/>
          </a:xfrm>
          <a:prstGeom prst="rect">
            <a:avLst/>
          </a:prstGeom>
          <a:solidFill>
            <a:srgbClr val="F7F9FC"/>
          </a:solidFill>
          <a:ln/>
        </p:spPr>
        <p:txBody>
          <a:bodyPr/>
          <a:p/>
        </p:txBody>
      </p:sp>
      <p:sp>
        <p:nvSpPr>
          <p:cNvPr id="60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60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1.xml><?xml version="1.0" encoding="utf-8"?>
<p:sld xmlns:p="http://schemas.openxmlformats.org/presentationml/2006/main" xmlns:a="http://schemas.openxmlformats.org/drawingml/2006/main">
  <p:cSld>
    <p:spTree>
      <p:nvGrpSpPr>
        <p:cNvPr id="606" name="" descr="&lt;Slide notes={`演讲者备注：【ZANDECKI-SPUR】自动化血细胞分析仪血小板部分系统性综述：EDTA 依赖聚集、血小板卫星现象、大血小板漏计等假性结果常见，需直方图/散点图与涂片复检甄别。证据：Int J Lab Hematol 2007;29:4-20，PMID 17224004。&#13;&#10;讲解提示：把三种典型假象各配一张示意图/涂片照片讲（课件按需插入）；强调报告审核员的“三问”：图形对吗？涂片对吗？与临床对吗？`}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五章 误差来源与误读陷阱&lt;/Text&gt;&#13;&#10;      &lt;Box style={{ width: 1, height: 24, background: '#3D7BD9' }} /&gt;&#13;&#10;      &lt;Text style={{ fontSize: 16, color: '#C7D6EC' }}&gt;其他计数假象：卫星现象、大血小板、凝块与碎片&lt;/Text&gt;&#13;&#10;    &lt;/Box&gt;&#13;&#10;    &lt;Text style={{ position: 'absolute', right: 64, top: 24, fontSize: 15, color: '#9DB8E0' }}&gt;31 / 77&lt;/Text&gt;&#13;&#10;  &lt;/Box&gt;&#13;&#10;  &lt;Box style={{ position: 'absolute', left: 64, top: 96, width: 562, height: 206, background: '#F0F5FC', borderRadius: 12, border: '1px solid #E5E7EB', padding: 20 }}&gt;&#13;&#10;&lt;Text style={{ fontSize: 19, color: '#0E3F8C', fontWeight: 'bold', textAlign: 'left', lineHeight: 1.5 }}&gt;血小板卫星现象&lt;/Text&gt;&#13;&#10;&lt;Text style={{ fontSize: 17, color: '#2C3E50', textAlign: 'left', lineHeight: 1.62 }}&gt;血小板围绕中性粒细胞形成玫瑰花结（抗血小板自身抗体介导，EDTA 下多见），仪器分类异常并低估血小板；换管/温浴/加氯喹等可改善，涂片可确认。&lt;/Text&gt;&#13;&#10;  &lt;/Box&gt;&#13;&#10;  &lt;Box style={{ position: 'absolute', left: 654, top: 96, width: 562, height: 206, background: '#F0F5FC', borderRadius: 12, border: '1px solid #E5E7EB', padding: 20 }}&gt;&#13;&#10;&lt;Text style={{ fontSize: 19, color: '#0E3F8C', fontWeight: 'bold', textAlign: 'left', lineHeight: 1.5 }}&gt;大血小板漏计&lt;/Text&gt;&#13;&#10;&lt;Text style={{ fontSize: 17, color: '#2C3E50', textAlign: 'left', lineHeight: 1.62 }}&gt;巨血小板（BSS、ITP 恢复期、部分 MDS）超过仪器体积阈值而被计入红细胞或漏计，阻抗法尤甚；光学/荧光/免疫通道计数更准。&lt;/Text&gt;&#13;&#10;  &lt;/Box&gt;&#13;&#10;  &lt;Box style={{ position: 'absolute', left: 64, top: 330, width: 562, height: 206, background: '#F0F5FC', borderRadius: 12, border: '1px solid #E5E7EB', padding: 20 }}&gt;&#13;&#10;&lt;Text style={{ fontSize: 19, color: '#0E3F8C', fontWeight: 'bold', textAlign: 'left', lineHeight: 1.5 }}&gt;凝块与碎片&lt;/Text&gt;&#13;&#10;&lt;Text style={{ fontSize: 17, color: '#2C3E50', textAlign: 'left', lineHeight: 1.62 }}&gt;标本凝集（采血不顺、抗凝不足）直接吞掉血小板；溶血/小红细胞/裂红细胞碎片、冷球蛋白或高脂可被误判为血小板——均可致“假性高或低”。&lt;/Text&gt;&#13;&#10;  &lt;/Box&gt;&#13;&#10;  &lt;Box style={{ position: 'absolute', left: 654, top: 330, width: 562, height: 206, background: '#F0F5FC', borderRadius: 12, border: '1px solid #E5E7EB', padding: 20 }}&gt;&#13;&#10;&lt;Text style={{ fontSize: 19, color: '#0E3F8C', fontWeight: 'bold', textAlign: 'left', lineHeight: 1.5 }}&gt;小结&lt;/Text&gt;&#13;&#10;&lt;Text style={{ fontSize: 17, color: '#2C3E50', textAlign: 'left', lineHeight: 1.62 }}&gt;计数假象的共性线索：结果与临床不符、直方图/散点图异常、仪器报警；对策固定为“图形审查→涂片→换通道/换管”。&lt;/Text&gt;&#13;&#10;  &lt;/Box&gt;&#13;&#10;&#13;&#10;  &lt;Box style={{ position: 'absolute', left: 64, top: 556, width: 1152, height: 92, background: '#F0F5FC', borderRadius: 12, border: '1px solid #E5E7EB', padding: 20 }}&gt;&#13;&#10;&lt;Text style={{ fontSize: 17, color: '#2C3E50', textAlign: 'left', lineHeight: 1.6 }}&gt;小结：Int J Lab Hematol 2007;29:4-20 (PMID 172240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607" name=""/>
          <p:cNvSpPr/>
          <p:nvPr/>
        </p:nvSpPr>
        <p:spPr>
          <a:xfrm rot="0" flipH="0" flipV="0">
            <a:off x="0" y="0"/>
            <a:ext cx="12192000" cy="6858000"/>
          </a:xfrm>
          <a:prstGeom prst="rect">
            <a:avLst/>
          </a:prstGeom>
          <a:solidFill>
            <a:srgbClr val="FFFFFF"/>
          </a:solidFill>
          <a:ln/>
        </p:spPr>
        <p:txBody>
          <a:bodyPr/>
          <a:p/>
        </p:txBody>
      </p:sp>
      <p:sp>
        <p:nvSpPr>
          <p:cNvPr id="608" name=""/>
          <p:cNvSpPr/>
          <p:nvPr/>
        </p:nvSpPr>
        <p:spPr>
          <a:xfrm rot="0" flipH="0" flipV="0">
            <a:off x="0" y="0"/>
            <a:ext cx="12192000" cy="685800"/>
          </a:xfrm>
          <a:prstGeom prst="rect">
            <a:avLst/>
          </a:prstGeom>
          <a:solidFill>
            <a:srgbClr val="0E3F8C"/>
          </a:solidFill>
          <a:ln/>
        </p:spPr>
        <p:txBody>
          <a:bodyPr/>
          <a:p/>
        </p:txBody>
      </p:sp>
      <p:sp>
        <p:nvSpPr>
          <p:cNvPr id="609"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第五章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误差来源与误读陷阱</a:t>
            </a:r>
            <a:endParaRPr/>
          </a:p>
        </p:txBody>
      </p:sp>
      <p:sp>
        <p:nvSpPr>
          <p:cNvPr id="610" name=""/>
          <p:cNvSpPr/>
          <p:nvPr/>
        </p:nvSpPr>
        <p:spPr>
          <a:xfrm rot="0" flipH="0" flipV="0">
            <a:off x="2876550" y="209550"/>
            <a:ext cx="9525" cy="228600"/>
          </a:xfrm>
          <a:prstGeom prst="rect">
            <a:avLst/>
          </a:prstGeom>
          <a:solidFill>
            <a:srgbClr val="3D7BD9"/>
          </a:solidFill>
          <a:ln/>
        </p:spPr>
        <p:txBody>
          <a:bodyPr/>
          <a:p/>
        </p:txBody>
      </p:sp>
      <p:sp>
        <p:nvSpPr>
          <p:cNvPr id="611" name="" descr="{&quot;isTemplate&quot;:true,&quot;type&quot;:&quot;text&quot;}"/>
          <p:cNvSpPr txBox="1"/>
          <p:nvPr/>
        </p:nvSpPr>
        <p:spPr>
          <a:xfrm rot="0" flipH="0" flipV="0">
            <a:off x="3038475" y="228600"/>
            <a:ext cx="3352800" cy="190500"/>
          </a:xfrm>
          <a:prstGeom prst="rect"/>
        </p:spPr>
        <p:txBody>
          <a:bodyPr wrap="none" lIns="0" tIns="0" rIns="0" bIns="0"/>
          <a:p>
            <a:pPr>
              <a:lnSpc>
                <a:spcPct val="100000"/>
              </a:lnSpc>
            </a:pPr>
            <a:r>
              <a:rPr lang="zh-CN" sz="1200">
                <a:solidFill>
                  <a:srgbClr val="C7D6EC"/>
                </a:solidFill>
                <a:latin typeface="Microsoft YaHei"/>
                <a:ea typeface="Microsoft YaHei"/>
              </a:rPr>
              <a:t>其他计数假象：卫星现象、大血小板、凝块与碎片</a:t>
            </a:r>
            <a:endParaRPr/>
          </a:p>
        </p:txBody>
      </p:sp>
      <p:sp>
        <p:nvSpPr>
          <p:cNvPr id="61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31 / 77</a:t>
            </a:r>
            <a:endParaRPr/>
          </a:p>
        </p:txBody>
      </p:sp>
      <p:sp>
        <p:nvSpPr>
          <p:cNvPr id="613" name=""/>
          <p:cNvSpPr/>
          <p:nvPr/>
        </p:nvSpPr>
        <p:spPr>
          <a:xfrm rot="0" flipH="0" flipV="0">
            <a:off x="60960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61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血小板卫星现象</a:t>
            </a:r>
            <a:endParaRPr/>
          </a:p>
        </p:txBody>
      </p:sp>
      <p:sp>
        <p:nvSpPr>
          <p:cNvPr id="615"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血小板围绕中性粒细胞形成玫瑰花结（抗血小板自身抗体介导，</a:t>
            </a:r>
            <a:r>
              <a:rPr lang="en-US" sz="1275">
                <a:solidFill>
                  <a:srgbClr val="2C3E50"/>
                </a:solidFill>
                <a:latin typeface="Microsoft YaHei"/>
                <a:ea typeface="Microsoft YaHei"/>
              </a:rPr>
              <a:t>EDTA </a:t>
            </a:r>
            <a:r>
              <a:rPr lang="zh-CN" sz="1275">
                <a:solidFill>
                  <a:srgbClr val="2C3E50"/>
                </a:solidFill>
                <a:latin typeface="Microsoft YaHei"/>
                <a:ea typeface="Microsoft YaHei"/>
              </a:rPr>
              <a:t>下多见），仪器分类异常并低估血小板；换管</a:t>
            </a:r>
            <a:r>
              <a:rPr lang="en-US" sz="1275">
                <a:solidFill>
                  <a:srgbClr val="2C3E50"/>
                </a:solidFill>
                <a:latin typeface="Microsoft YaHei"/>
                <a:ea typeface="Microsoft YaHei"/>
              </a:rPr>
              <a:t>/</a:t>
            </a:r>
            <a:r>
              <a:rPr lang="zh-CN" sz="1275">
                <a:solidFill>
                  <a:srgbClr val="2C3E50"/>
                </a:solidFill>
                <a:latin typeface="Microsoft YaHei"/>
                <a:ea typeface="Microsoft YaHei"/>
              </a:rPr>
              <a:t>温浴</a:t>
            </a:r>
            <a:r>
              <a:rPr lang="en-US" sz="1275">
                <a:solidFill>
                  <a:srgbClr val="2C3E50"/>
                </a:solidFill>
                <a:latin typeface="Microsoft YaHei"/>
                <a:ea typeface="Microsoft YaHei"/>
              </a:rPr>
              <a:t>/</a:t>
            </a:r>
            <a:r>
              <a:rPr lang="zh-CN" sz="1275">
                <a:solidFill>
                  <a:srgbClr val="2C3E50"/>
                </a:solidFill>
                <a:latin typeface="Microsoft YaHei"/>
                <a:ea typeface="Microsoft YaHei"/>
              </a:rPr>
              <a:t>加氯喹等可改善，涂片可确认。</a:t>
            </a:r>
            <a:endParaRPr/>
          </a:p>
        </p:txBody>
      </p:sp>
      <p:sp>
        <p:nvSpPr>
          <p:cNvPr id="616" name=""/>
          <p:cNvSpPr/>
          <p:nvPr/>
        </p:nvSpPr>
        <p:spPr>
          <a:xfrm rot="0" flipH="0" flipV="0">
            <a:off x="622935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61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大血小板漏计</a:t>
            </a:r>
            <a:endParaRPr/>
          </a:p>
        </p:txBody>
      </p:sp>
      <p:sp>
        <p:nvSpPr>
          <p:cNvPr id="618" name="" descr="{&quot;isTemplate&quot;:true,&quot;type&quot;:&quot;text&quot;}"/>
          <p:cNvSpPr txBox="1"/>
          <p:nvPr/>
        </p:nvSpPr>
        <p:spPr>
          <a:xfrm rot="0" flipH="0" flipV="0">
            <a:off x="641985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巨血小板（</a:t>
            </a:r>
            <a:r>
              <a:rPr lang="en-US" sz="1275">
                <a:solidFill>
                  <a:srgbClr val="2C3E50"/>
                </a:solidFill>
                <a:latin typeface="Microsoft YaHei"/>
                <a:ea typeface="Microsoft YaHei"/>
              </a:rPr>
              <a:t>BSS</a:t>
            </a:r>
            <a:r>
              <a:rPr lang="zh-CN" sz="1275">
                <a:solidFill>
                  <a:srgbClr val="2C3E50"/>
                </a:solidFill>
                <a:latin typeface="Microsoft YaHei"/>
                <a:ea typeface="Microsoft YaHei"/>
              </a:rPr>
              <a:t>、</a:t>
            </a:r>
            <a:r>
              <a:rPr lang="en-US" sz="1275">
                <a:solidFill>
                  <a:srgbClr val="2C3E50"/>
                </a:solidFill>
                <a:latin typeface="Microsoft YaHei"/>
                <a:ea typeface="Microsoft YaHei"/>
              </a:rPr>
              <a:t>ITP </a:t>
            </a:r>
            <a:r>
              <a:rPr lang="zh-CN" sz="1275">
                <a:solidFill>
                  <a:srgbClr val="2C3E50"/>
                </a:solidFill>
                <a:latin typeface="Microsoft YaHei"/>
                <a:ea typeface="Microsoft YaHei"/>
              </a:rPr>
              <a:t>恢复期、部分</a:t>
            </a:r>
            <a:r>
              <a:rPr lang="en-US" sz="1275">
                <a:solidFill>
                  <a:srgbClr val="2C3E50"/>
                </a:solidFill>
                <a:latin typeface="Microsoft YaHei"/>
                <a:ea typeface="Microsoft YaHei"/>
              </a:rPr>
              <a:t> MDS</a:t>
            </a:r>
            <a:r>
              <a:rPr lang="zh-CN" sz="1275">
                <a:solidFill>
                  <a:srgbClr val="2C3E50"/>
                </a:solidFill>
                <a:latin typeface="Microsoft YaHei"/>
                <a:ea typeface="Microsoft YaHei"/>
              </a:rPr>
              <a:t>）超过仪器体积阈值而被计入红细胞或漏计，阻抗法尤甚；光学</a:t>
            </a:r>
            <a:r>
              <a:rPr lang="en-US" sz="1275">
                <a:solidFill>
                  <a:srgbClr val="2C3E50"/>
                </a:solidFill>
                <a:latin typeface="Microsoft YaHei"/>
                <a:ea typeface="Microsoft YaHei"/>
              </a:rPr>
              <a:t>/</a:t>
            </a:r>
            <a:r>
              <a:rPr lang="zh-CN" sz="1275">
                <a:solidFill>
                  <a:srgbClr val="2C3E50"/>
                </a:solidFill>
                <a:latin typeface="Microsoft YaHei"/>
                <a:ea typeface="Microsoft YaHei"/>
              </a:rPr>
              <a:t>荧光</a:t>
            </a:r>
            <a:r>
              <a:rPr lang="en-US" sz="1275">
                <a:solidFill>
                  <a:srgbClr val="2C3E50"/>
                </a:solidFill>
                <a:latin typeface="Microsoft YaHei"/>
                <a:ea typeface="Microsoft YaHei"/>
              </a:rPr>
              <a:t>/</a:t>
            </a:r>
            <a:r>
              <a:rPr lang="zh-CN" sz="1275">
                <a:solidFill>
                  <a:srgbClr val="2C3E50"/>
                </a:solidFill>
                <a:latin typeface="Microsoft YaHei"/>
                <a:ea typeface="Microsoft YaHei"/>
              </a:rPr>
              <a:t>免疫通道计数更准。</a:t>
            </a:r>
            <a:endParaRPr/>
          </a:p>
        </p:txBody>
      </p:sp>
      <p:sp>
        <p:nvSpPr>
          <p:cNvPr id="619" name=""/>
          <p:cNvSpPr/>
          <p:nvPr/>
        </p:nvSpPr>
        <p:spPr>
          <a:xfrm rot="0" flipH="0" flipV="0">
            <a:off x="60960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620" name="" descr="{&quot;isTemplate&quot;:true,&quot;type&quot;:&quot;text&quot;}"/>
          <p:cNvSpPr txBox="1"/>
          <p:nvPr/>
        </p:nvSpPr>
        <p:spPr>
          <a:xfrm rot="0" flipH="0" flipV="0">
            <a:off x="80010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凝块与碎片</a:t>
            </a:r>
            <a:endParaRPr/>
          </a:p>
        </p:txBody>
      </p:sp>
      <p:sp>
        <p:nvSpPr>
          <p:cNvPr id="621" name="" descr="{&quot;isTemplate&quot;:true,&quot;type&quot;:&quot;text&quot;}"/>
          <p:cNvSpPr txBox="1"/>
          <p:nvPr/>
        </p:nvSpPr>
        <p:spPr>
          <a:xfrm rot="0" flipH="0" flipV="0">
            <a:off x="800100" y="366712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标本凝集（采血不顺、抗凝不足）直接吞掉血小板；溶血</a:t>
            </a:r>
            <a:r>
              <a:rPr lang="en-US" sz="1275">
                <a:solidFill>
                  <a:srgbClr val="2C3E50"/>
                </a:solidFill>
                <a:latin typeface="Microsoft YaHei"/>
                <a:ea typeface="Microsoft YaHei"/>
              </a:rPr>
              <a:t>/</a:t>
            </a:r>
            <a:r>
              <a:rPr lang="zh-CN" sz="1275">
                <a:solidFill>
                  <a:srgbClr val="2C3E50"/>
                </a:solidFill>
                <a:latin typeface="Microsoft YaHei"/>
                <a:ea typeface="Microsoft YaHei"/>
              </a:rPr>
              <a:t>小红细胞</a:t>
            </a:r>
            <a:r>
              <a:rPr lang="en-US" sz="1275">
                <a:solidFill>
                  <a:srgbClr val="2C3E50"/>
                </a:solidFill>
                <a:latin typeface="Microsoft YaHei"/>
                <a:ea typeface="Microsoft YaHei"/>
              </a:rPr>
              <a:t>/</a:t>
            </a:r>
            <a:r>
              <a:rPr lang="zh-CN" sz="1275">
                <a:solidFill>
                  <a:srgbClr val="2C3E50"/>
                </a:solidFill>
                <a:latin typeface="Microsoft YaHei"/>
                <a:ea typeface="Microsoft YaHei"/>
              </a:rPr>
              <a:t>裂红细胞碎片、冷球蛋白或高脂可被误判为血小板——均可致“假性高或低”。</a:t>
            </a:r>
            <a:endParaRPr/>
          </a:p>
        </p:txBody>
      </p:sp>
      <p:sp>
        <p:nvSpPr>
          <p:cNvPr id="622" name=""/>
          <p:cNvSpPr/>
          <p:nvPr/>
        </p:nvSpPr>
        <p:spPr>
          <a:xfrm rot="0" flipH="0" flipV="0">
            <a:off x="622935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623" name="" descr="{&quot;isTemplate&quot;:true,&quot;type&quot;:&quot;text&quot;}"/>
          <p:cNvSpPr txBox="1"/>
          <p:nvPr/>
        </p:nvSpPr>
        <p:spPr>
          <a:xfrm rot="0" flipH="0" flipV="0">
            <a:off x="641985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624" name="" descr="{&quot;isTemplate&quot;:true,&quot;type&quot;:&quot;text&quot;}"/>
          <p:cNvSpPr txBox="1"/>
          <p:nvPr/>
        </p:nvSpPr>
        <p:spPr>
          <a:xfrm rot="0" flipH="0" flipV="0">
            <a:off x="6419850" y="366712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计数假象的共性线索：结果与临床不符、直方图</a:t>
            </a:r>
            <a:r>
              <a:rPr lang="en-US" sz="1275">
                <a:solidFill>
                  <a:srgbClr val="2C3E50"/>
                </a:solidFill>
                <a:latin typeface="Microsoft YaHei"/>
                <a:ea typeface="Microsoft YaHei"/>
              </a:rPr>
              <a:t>/</a:t>
            </a:r>
            <a:r>
              <a:rPr lang="zh-CN" sz="1275">
                <a:solidFill>
                  <a:srgbClr val="2C3E50"/>
                </a:solidFill>
                <a:latin typeface="Microsoft YaHei"/>
                <a:ea typeface="Microsoft YaHei"/>
              </a:rPr>
              <a:t>散点图异常、仪器报警；对策固定为“图形审查→涂片→换通道</a:t>
            </a:r>
            <a:r>
              <a:rPr lang="en-US" sz="1275">
                <a:solidFill>
                  <a:srgbClr val="2C3E50"/>
                </a:solidFill>
                <a:latin typeface="Microsoft YaHei"/>
                <a:ea typeface="Microsoft YaHei"/>
              </a:rPr>
              <a:t>/</a:t>
            </a:r>
            <a:r>
              <a:rPr lang="zh-CN" sz="1275">
                <a:solidFill>
                  <a:srgbClr val="2C3E50"/>
                </a:solidFill>
                <a:latin typeface="Microsoft YaHei"/>
                <a:ea typeface="Microsoft YaHei"/>
              </a:rPr>
              <a:t>换管”。</a:t>
            </a:r>
            <a:endParaRPr/>
          </a:p>
        </p:txBody>
      </p:sp>
      <p:sp>
        <p:nvSpPr>
          <p:cNvPr id="625"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626"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Int J Lab Hematol 2007;29:4-20 (PMID 17224004)</a:t>
            </a:r>
            <a:endParaRPr/>
          </a:p>
        </p:txBody>
      </p:sp>
      <p:sp>
        <p:nvSpPr>
          <p:cNvPr id="627" name=""/>
          <p:cNvSpPr/>
          <p:nvPr/>
        </p:nvSpPr>
        <p:spPr>
          <a:xfrm rot="0" flipH="0" flipV="0">
            <a:off x="0" y="6324600"/>
            <a:ext cx="12192000" cy="342900"/>
          </a:xfrm>
          <a:prstGeom prst="rect">
            <a:avLst/>
          </a:prstGeom>
          <a:solidFill>
            <a:srgbClr val="F7F9FC"/>
          </a:solidFill>
          <a:ln/>
        </p:spPr>
        <p:txBody>
          <a:bodyPr/>
          <a:p/>
        </p:txBody>
      </p:sp>
      <p:sp>
        <p:nvSpPr>
          <p:cNvPr id="62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62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2.xml><?xml version="1.0" encoding="utf-8"?>
<p:sld xmlns:p="http://schemas.openxmlformats.org/presentationml/2006/main" xmlns:a="http://schemas.openxmlformats.org/drawingml/2006/main">
  <p:cSld>
    <p:spTree>
      <p:nvGrpSpPr>
        <p:cNvPr id="630" name="" descr="&lt;Slide notes={`演讲者备注：【CATTANEO-MULTI】血小板计数影响全血阻抗聚集（Multiplate）结果：严重血小板减少时阻抗法敏感性下降，解读需结合计数。证据：J Thromb Haemost 2013;11:2193-2196，PMID 24148217。&#13;&#10;【FAVALORO-PFA】PFA-100/PFA-200 问世 30 年回顾：以剪切下全血闭合时间评价一级止血，对 VWD 与重度血小板病敏感，对轻中度血小板功能异常与抗血小板监测价值有限。证据：Semin Thromb Hemost 2024;50:320-324，PMID 37903565。&#13;&#10;讲解提示：给一张“药物-通路-影响时限”速查逻辑（AA/ADP/胶原通路），这是临床最常见的问题来源；强调术前停药与功能检测的关系将在第八章心外科/抗血小板页再展开。`}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五章 误差来源与误读陷阱&lt;/Text&gt;&#13;&#10;      &lt;Box style={{ width: 1, height: 24, background: '#3D7BD9' }} /&gt;&#13;&#10;      &lt;Text style={{ fontSize: 16, color: '#C7D6EC' }}&gt;功能检测的干扰与解读红线&lt;/Text&gt;&#13;&#10;    &lt;/Box&gt;&#13;&#10;    &lt;Text style={{ position: 'absolute', right: 64, top: 24, fontSize: 15, color: '#9DB8E0' }}&gt;32 / 77&lt;/Text&gt;&#13;&#10;  &lt;/Box&gt;&#13;&#10;  &lt;Box style={{ position: 'absolute', left: 64, top: 96, width: 562, height: 128, background: '#F0F5FC', borderRadius: 12, border: '1px solid #E5E7EB', padding: 20 }}&gt;&#13;&#10;&lt;Text style={{ fontSize: 19, color: '#0E3F8C', fontWeight: 'bold', textAlign: 'left', lineHeight: 1.5 }}&gt;药物干扰（最常见）&lt;/Text&gt;&#13;&#10;&lt;Text style={{ fontSize: 17, color: '#2C3E50', textAlign: 'left', lineHeight: 1.62 }}&gt;阿司匹林/NSAID 抑制 COX-1（AA 通路）数天至 1 周余；P2Y12 抑制剂（氯吡格雷/替格瑞洛）抑 ADP 通路 5—7 天以上；GPIIb/IIIa 拮抗剂、部分抗生素（β-内酰胺）、SSRI、中成药等均可影响结果——采样前必须问清用药史。&lt;/Text&gt;&#13;&#10;  &lt;/Box&gt;&#13;&#10;  &lt;Box style={{ position: 'absolute', left: 654, top: 96, width: 562, height: 128, background: '#F0F5FC', borderRadius: 12, border: '1px solid #E5E7EB', padding: 20 }}&gt;&#13;&#10;&lt;Text style={{ fontSize: 19, color: '#0E3F8C', fontWeight: 'bold', textAlign: 'left', lineHeight: 1.5 }}&gt;标本与血小板数&lt;/Text&gt;&#13;&#10;&lt;Text style={{ fontSize: 17, color: '#2C3E50', textAlign: 'left', lineHeight: 1.62 }}&gt;采血后随时间推移血小板自发活化（建议 2—4 小时内检测，全血需室温）；血小板数过低时 LTA（PRP 需调数）、阻抗法、PFA 均不可靠；溶血/脂血干扰光学信号。&lt;/Text&gt;&#13;&#10;  &lt;/Box&gt;&#13;&#10;  &lt;Box style={{ position: 'absolute', left: 64, top: 252, width: 562, height: 128, background: '#F0F5FC', borderRadius: 12, border: '1px solid #E5E7EB', padding: 20 }}&gt;&#13;&#10;&lt;Text style={{ fontSize: 19, color: '#0E3F8C', fontWeight: 'bold', textAlign: 'left', lineHeight: 1.5 }}&gt;解读红线&lt;/Text&gt;&#13;&#10;&lt;Text style={{ fontSize: 17, color: '#2C3E50', textAlign: 'left', lineHeight: 1.62 }}&gt;①不能凭单一试验排除轻中度血小板病；②“正常结果”不能推翻明显出血表型；③结果必须与临床出血评分结合；④不要用功能检测常规筛查无症状者。&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功能检测的误读多源于“没问药、没卡时间、没看血小板数”——细节决定解读可信度。&lt;/Text&gt;&#13;&#10;  &lt;/Box&gt;&#13;&#10;&#13;&#10;  &lt;Box style={{ position: 'absolute', left: 64, top: 556, width: 1152, height: 92, background: '#F0F5FC', borderRadius: 12, border: '1px solid #E5E7EB', padding: 20 }}&gt;&#13;&#10;&lt;Text style={{ fontSize: 17, color: '#2C3E50', textAlign: 'left', lineHeight: 1.6 }}&gt;小结：J Thromb Haemost 2013;11:2193-2196 (PMID 24148217)&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631" name=""/>
          <p:cNvSpPr/>
          <p:nvPr/>
        </p:nvSpPr>
        <p:spPr>
          <a:xfrm rot="0" flipH="0" flipV="0">
            <a:off x="0" y="0"/>
            <a:ext cx="12192000" cy="6858000"/>
          </a:xfrm>
          <a:prstGeom prst="rect">
            <a:avLst/>
          </a:prstGeom>
          <a:solidFill>
            <a:srgbClr val="FFFFFF"/>
          </a:solidFill>
          <a:ln/>
        </p:spPr>
        <p:txBody>
          <a:bodyPr/>
          <a:p/>
        </p:txBody>
      </p:sp>
      <p:sp>
        <p:nvSpPr>
          <p:cNvPr id="632" name=""/>
          <p:cNvSpPr/>
          <p:nvPr/>
        </p:nvSpPr>
        <p:spPr>
          <a:xfrm rot="0" flipH="0" flipV="0">
            <a:off x="0" y="0"/>
            <a:ext cx="12192000" cy="685800"/>
          </a:xfrm>
          <a:prstGeom prst="rect">
            <a:avLst/>
          </a:prstGeom>
          <a:solidFill>
            <a:srgbClr val="0E3F8C"/>
          </a:solidFill>
          <a:ln/>
        </p:spPr>
        <p:txBody>
          <a:bodyPr/>
          <a:p/>
        </p:txBody>
      </p:sp>
      <p:sp>
        <p:nvSpPr>
          <p:cNvPr id="633"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第五章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误差来源与误读陷阱</a:t>
            </a:r>
            <a:endParaRPr/>
          </a:p>
        </p:txBody>
      </p:sp>
      <p:sp>
        <p:nvSpPr>
          <p:cNvPr id="634" name=""/>
          <p:cNvSpPr/>
          <p:nvPr/>
        </p:nvSpPr>
        <p:spPr>
          <a:xfrm rot="0" flipH="0" flipV="0">
            <a:off x="2876550" y="209550"/>
            <a:ext cx="9525" cy="228600"/>
          </a:xfrm>
          <a:prstGeom prst="rect">
            <a:avLst/>
          </a:prstGeom>
          <a:solidFill>
            <a:srgbClr val="3D7BD9"/>
          </a:solidFill>
          <a:ln/>
        </p:spPr>
        <p:txBody>
          <a:bodyPr/>
          <a:p/>
        </p:txBody>
      </p:sp>
      <p:sp>
        <p:nvSpPr>
          <p:cNvPr id="635" name="" descr="{&quot;isTemplate&quot;:true,&quot;type&quot;:&quot;text&quot;}"/>
          <p:cNvSpPr txBox="1"/>
          <p:nvPr/>
        </p:nvSpPr>
        <p:spPr>
          <a:xfrm rot="0" flipH="0" flipV="0">
            <a:off x="3038475" y="228600"/>
            <a:ext cx="1828800" cy="190500"/>
          </a:xfrm>
          <a:prstGeom prst="rect"/>
        </p:spPr>
        <p:txBody>
          <a:bodyPr wrap="none" lIns="0" tIns="0" rIns="0" bIns="0"/>
          <a:p>
            <a:pPr>
              <a:lnSpc>
                <a:spcPct val="100000"/>
              </a:lnSpc>
            </a:pPr>
            <a:r>
              <a:rPr lang="zh-CN" sz="1200">
                <a:solidFill>
                  <a:srgbClr val="C7D6EC"/>
                </a:solidFill>
                <a:latin typeface="Microsoft YaHei"/>
                <a:ea typeface="Microsoft YaHei"/>
              </a:rPr>
              <a:t>功能检测的干扰与解读红线</a:t>
            </a:r>
            <a:endParaRPr/>
          </a:p>
        </p:txBody>
      </p:sp>
      <p:sp>
        <p:nvSpPr>
          <p:cNvPr id="63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32 / 77</a:t>
            </a:r>
            <a:endParaRPr/>
          </a:p>
        </p:txBody>
      </p:sp>
      <p:sp>
        <p:nvSpPr>
          <p:cNvPr id="63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3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药物干扰（最常见）</a:t>
            </a:r>
            <a:endParaRPr/>
          </a:p>
        </p:txBody>
      </p:sp>
      <p:sp>
        <p:nvSpPr>
          <p:cNvPr id="639" name="" descr="{&quot;isTemplate&quot;:true,&quot;type&quot;:&quot;text&quot;}"/>
          <p:cNvSpPr txBox="1"/>
          <p:nvPr/>
        </p:nvSpPr>
        <p:spPr>
          <a:xfrm rot="0" flipH="0" flipV="0">
            <a:off x="800100" y="14382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阿司匹林</a:t>
            </a:r>
            <a:r>
              <a:rPr lang="en-US" sz="1275">
                <a:solidFill>
                  <a:srgbClr val="2C3E50"/>
                </a:solidFill>
                <a:latin typeface="Microsoft YaHei"/>
                <a:ea typeface="Microsoft YaHei"/>
              </a:rPr>
              <a:t>/NSAID </a:t>
            </a:r>
            <a:r>
              <a:rPr lang="zh-CN" sz="1275">
                <a:solidFill>
                  <a:srgbClr val="2C3E50"/>
                </a:solidFill>
                <a:latin typeface="Microsoft YaHei"/>
                <a:ea typeface="Microsoft YaHei"/>
              </a:rPr>
              <a:t>抑制</a:t>
            </a:r>
            <a:r>
              <a:rPr lang="en-US" sz="1275">
                <a:solidFill>
                  <a:srgbClr val="2C3E50"/>
                </a:solidFill>
                <a:latin typeface="Microsoft YaHei"/>
                <a:ea typeface="Microsoft YaHei"/>
              </a:rPr>
              <a:t> COX-1</a:t>
            </a:r>
            <a:r>
              <a:rPr lang="zh-CN" sz="1275">
                <a:solidFill>
                  <a:srgbClr val="2C3E50"/>
                </a:solidFill>
                <a:latin typeface="Microsoft YaHei"/>
                <a:ea typeface="Microsoft YaHei"/>
              </a:rPr>
              <a:t>（</a:t>
            </a:r>
            <a:r>
              <a:rPr lang="en-US" sz="1275">
                <a:solidFill>
                  <a:srgbClr val="2C3E50"/>
                </a:solidFill>
                <a:latin typeface="Microsoft YaHei"/>
                <a:ea typeface="Microsoft YaHei"/>
              </a:rPr>
              <a:t>AA </a:t>
            </a:r>
            <a:r>
              <a:rPr lang="zh-CN" sz="1275">
                <a:solidFill>
                  <a:srgbClr val="2C3E50"/>
                </a:solidFill>
                <a:latin typeface="Microsoft YaHei"/>
                <a:ea typeface="Microsoft YaHei"/>
              </a:rPr>
              <a:t>通路）数天至</a:t>
            </a:r>
            <a:r>
              <a:rPr lang="en-US" sz="1275">
                <a:solidFill>
                  <a:srgbClr val="2C3E50"/>
                </a:solidFill>
                <a:latin typeface="Microsoft YaHei"/>
                <a:ea typeface="Microsoft YaHei"/>
              </a:rPr>
              <a:t> 1 </a:t>
            </a:r>
            <a:r>
              <a:rPr lang="zh-CN" sz="1275">
                <a:solidFill>
                  <a:srgbClr val="2C3E50"/>
                </a:solidFill>
                <a:latin typeface="Microsoft YaHei"/>
                <a:ea typeface="Microsoft YaHei"/>
              </a:rPr>
              <a:t>周余；</a:t>
            </a:r>
            <a:r>
              <a:rPr lang="en-US" sz="1275">
                <a:solidFill>
                  <a:srgbClr val="2C3E50"/>
                </a:solidFill>
                <a:latin typeface="Microsoft YaHei"/>
                <a:ea typeface="Microsoft YaHei"/>
              </a:rPr>
              <a:t>P2Y12 </a:t>
            </a:r>
            <a:r>
              <a:rPr lang="zh-CN" sz="1275">
                <a:solidFill>
                  <a:srgbClr val="2C3E50"/>
                </a:solidFill>
                <a:latin typeface="Microsoft YaHei"/>
                <a:ea typeface="Microsoft YaHei"/>
              </a:rPr>
              <a:t>抑制剂（氯吡格雷</a:t>
            </a:r>
            <a:r>
              <a:rPr lang="en-US" sz="1275">
                <a:solidFill>
                  <a:srgbClr val="2C3E50"/>
                </a:solidFill>
                <a:latin typeface="Microsoft YaHei"/>
                <a:ea typeface="Microsoft YaHei"/>
              </a:rPr>
              <a:t>/</a:t>
            </a:r>
            <a:r>
              <a:rPr lang="zh-CN" sz="1275">
                <a:solidFill>
                  <a:srgbClr val="2C3E50"/>
                </a:solidFill>
                <a:latin typeface="Microsoft YaHei"/>
                <a:ea typeface="Microsoft YaHei"/>
              </a:rPr>
              <a:t>替格瑞洛）抑</a:t>
            </a:r>
            <a:r>
              <a:rPr lang="en-US" sz="1275">
                <a:solidFill>
                  <a:srgbClr val="2C3E50"/>
                </a:solidFill>
                <a:latin typeface="Microsoft YaHei"/>
                <a:ea typeface="Microsoft YaHei"/>
              </a:rPr>
              <a:t> ADP </a:t>
            </a:r>
            <a:r>
              <a:rPr lang="zh-CN" sz="1275">
                <a:solidFill>
                  <a:srgbClr val="2C3E50"/>
                </a:solidFill>
                <a:latin typeface="Microsoft YaHei"/>
                <a:ea typeface="Microsoft YaHei"/>
              </a:rPr>
              <a:t>通路</a:t>
            </a:r>
            <a:r>
              <a:rPr lang="en-US" sz="1275">
                <a:solidFill>
                  <a:srgbClr val="2C3E50"/>
                </a:solidFill>
                <a:latin typeface="Microsoft YaHei"/>
                <a:ea typeface="Microsoft YaHei"/>
              </a:rPr>
              <a:t> 5—7 </a:t>
            </a:r>
            <a:r>
              <a:rPr lang="zh-CN" sz="1275">
                <a:solidFill>
                  <a:srgbClr val="2C3E50"/>
                </a:solidFill>
                <a:latin typeface="Microsoft YaHei"/>
                <a:ea typeface="Microsoft YaHei"/>
              </a:rPr>
              <a:t>天以上；</a:t>
            </a:r>
            <a:r>
              <a:rPr lang="en-US" sz="1275">
                <a:solidFill>
                  <a:srgbClr val="2C3E50"/>
                </a:solidFill>
                <a:latin typeface="Microsoft YaHei"/>
                <a:ea typeface="Microsoft YaHei"/>
              </a:rPr>
              <a:t>GPIIb/IIIa </a:t>
            </a:r>
            <a:r>
              <a:rPr lang="zh-CN" sz="1275">
                <a:solidFill>
                  <a:srgbClr val="2C3E50"/>
                </a:solidFill>
                <a:latin typeface="Microsoft YaHei"/>
                <a:ea typeface="Microsoft YaHei"/>
              </a:rPr>
              <a:t>拮抗剂、部分抗生素（β</a:t>
            </a:r>
            <a:r>
              <a:rPr lang="en-US" sz="1275">
                <a:solidFill>
                  <a:srgbClr val="2C3E50"/>
                </a:solidFill>
                <a:latin typeface="Microsoft YaHei"/>
                <a:ea typeface="Microsoft YaHei"/>
              </a:rPr>
              <a:t>-</a:t>
            </a:r>
            <a:r>
              <a:rPr lang="zh-CN" sz="1275">
                <a:solidFill>
                  <a:srgbClr val="2C3E50"/>
                </a:solidFill>
                <a:latin typeface="Microsoft YaHei"/>
                <a:ea typeface="Microsoft YaHei"/>
              </a:rPr>
              <a:t>内酰胺）、</a:t>
            </a:r>
            <a:r>
              <a:rPr lang="en-US" sz="1275">
                <a:solidFill>
                  <a:srgbClr val="2C3E50"/>
                </a:solidFill>
                <a:latin typeface="Microsoft YaHei"/>
                <a:ea typeface="Microsoft YaHei"/>
              </a:rPr>
              <a:t>SSRI</a:t>
            </a:r>
            <a:r>
              <a:rPr lang="zh-CN" sz="1275">
                <a:solidFill>
                  <a:srgbClr val="2C3E50"/>
                </a:solidFill>
                <a:latin typeface="Microsoft YaHei"/>
                <a:ea typeface="Microsoft YaHei"/>
              </a:rPr>
              <a:t>、中成药等均可影响结果——采样前必须问清用药史。</a:t>
            </a:r>
            <a:endParaRPr/>
          </a:p>
        </p:txBody>
      </p:sp>
      <p:sp>
        <p:nvSpPr>
          <p:cNvPr id="64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4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标本与血小板数</a:t>
            </a:r>
            <a:endParaRPr/>
          </a:p>
        </p:txBody>
      </p:sp>
      <p:sp>
        <p:nvSpPr>
          <p:cNvPr id="64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采血后随时间推移血小板自发活化（建议</a:t>
            </a:r>
            <a:r>
              <a:rPr lang="en-US" sz="1275">
                <a:solidFill>
                  <a:srgbClr val="2C3E50"/>
                </a:solidFill>
                <a:latin typeface="Microsoft YaHei"/>
                <a:ea typeface="Microsoft YaHei"/>
              </a:rPr>
              <a:t> 2—4 </a:t>
            </a:r>
            <a:r>
              <a:rPr lang="zh-CN" sz="1275">
                <a:solidFill>
                  <a:srgbClr val="2C3E50"/>
                </a:solidFill>
                <a:latin typeface="Microsoft YaHei"/>
                <a:ea typeface="Microsoft YaHei"/>
              </a:rPr>
              <a:t>小时内检测，全血需室温）；血小板数过低时</a:t>
            </a:r>
            <a:r>
              <a:rPr lang="en-US" sz="1275">
                <a:solidFill>
                  <a:srgbClr val="2C3E50"/>
                </a:solidFill>
                <a:latin typeface="Microsoft YaHei"/>
                <a:ea typeface="Microsoft YaHei"/>
              </a:rPr>
              <a:t> LTA</a:t>
            </a:r>
            <a:r>
              <a:rPr lang="zh-CN" sz="1275">
                <a:solidFill>
                  <a:srgbClr val="2C3E50"/>
                </a:solidFill>
                <a:latin typeface="Microsoft YaHei"/>
                <a:ea typeface="Microsoft YaHei"/>
              </a:rPr>
              <a:t>（</a:t>
            </a:r>
            <a:r>
              <a:rPr lang="en-US" sz="1275">
                <a:solidFill>
                  <a:srgbClr val="2C3E50"/>
                </a:solidFill>
                <a:latin typeface="Microsoft YaHei"/>
                <a:ea typeface="Microsoft YaHei"/>
              </a:rPr>
              <a:t>PRP </a:t>
            </a:r>
            <a:r>
              <a:rPr lang="zh-CN" sz="1275">
                <a:solidFill>
                  <a:srgbClr val="2C3E50"/>
                </a:solidFill>
                <a:latin typeface="Microsoft YaHei"/>
                <a:ea typeface="Microsoft YaHei"/>
              </a:rPr>
              <a:t>需调数）、阻抗法、</a:t>
            </a:r>
            <a:r>
              <a:rPr lang="en-US" sz="1275">
                <a:solidFill>
                  <a:srgbClr val="2C3E50"/>
                </a:solidFill>
                <a:latin typeface="Microsoft YaHei"/>
                <a:ea typeface="Microsoft YaHei"/>
              </a:rPr>
              <a:t>PFA </a:t>
            </a:r>
            <a:r>
              <a:rPr lang="zh-CN" sz="1275">
                <a:solidFill>
                  <a:srgbClr val="2C3E50"/>
                </a:solidFill>
                <a:latin typeface="Microsoft YaHei"/>
                <a:ea typeface="Microsoft YaHei"/>
              </a:rPr>
              <a:t>均不可靠；溶血</a:t>
            </a:r>
            <a:r>
              <a:rPr lang="en-US" sz="1275">
                <a:solidFill>
                  <a:srgbClr val="2C3E50"/>
                </a:solidFill>
                <a:latin typeface="Microsoft YaHei"/>
                <a:ea typeface="Microsoft YaHei"/>
              </a:rPr>
              <a:t>/</a:t>
            </a:r>
            <a:r>
              <a:rPr lang="zh-CN" sz="1275">
                <a:solidFill>
                  <a:srgbClr val="2C3E50"/>
                </a:solidFill>
                <a:latin typeface="Microsoft YaHei"/>
                <a:ea typeface="Microsoft YaHei"/>
              </a:rPr>
              <a:t>脂血干扰光学信号。</a:t>
            </a:r>
            <a:endParaRPr/>
          </a:p>
        </p:txBody>
      </p:sp>
      <p:sp>
        <p:nvSpPr>
          <p:cNvPr id="64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4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解读红线</a:t>
            </a:r>
            <a:endParaRPr/>
          </a:p>
        </p:txBody>
      </p:sp>
      <p:sp>
        <p:nvSpPr>
          <p:cNvPr id="64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①不能凭单一试验排除轻中度血小板病；②“正常结果”不能推翻明显出血表型；③结果必须与临床出血评分结合；④不要用功能检测常规筛查无症状者。</a:t>
            </a:r>
            <a:endParaRPr/>
          </a:p>
        </p:txBody>
      </p:sp>
      <p:sp>
        <p:nvSpPr>
          <p:cNvPr id="64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4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64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64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5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功能检测的误读多源于“没问药、没卡时间、没看血小板数”——细节决定解读可信度。</a:t>
            </a:r>
            <a:endParaRPr/>
          </a:p>
        </p:txBody>
      </p:sp>
      <p:sp>
        <p:nvSpPr>
          <p:cNvPr id="65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65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2013;11:2193-2196 (PMID 24148217)</a:t>
            </a:r>
            <a:endParaRPr/>
          </a:p>
        </p:txBody>
      </p:sp>
      <p:sp>
        <p:nvSpPr>
          <p:cNvPr id="653" name=""/>
          <p:cNvSpPr/>
          <p:nvPr/>
        </p:nvSpPr>
        <p:spPr>
          <a:xfrm rot="0" flipH="0" flipV="0">
            <a:off x="0" y="6324600"/>
            <a:ext cx="12192000" cy="342900"/>
          </a:xfrm>
          <a:prstGeom prst="rect">
            <a:avLst/>
          </a:prstGeom>
          <a:solidFill>
            <a:srgbClr val="F7F9FC"/>
          </a:solidFill>
          <a:ln/>
        </p:spPr>
        <p:txBody>
          <a:bodyPr/>
          <a:p/>
        </p:txBody>
      </p:sp>
      <p:sp>
        <p:nvSpPr>
          <p:cNvPr id="65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65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3.xml><?xml version="1.0" encoding="utf-8"?>
<p:sld xmlns:p="http://schemas.openxmlformats.org/presentationml/2006/main" xmlns:a="http://schemas.openxmlformats.org/drawingml/2006/main">
  <p:cSld>
    <p:spTree>
      <p:nvGrpSpPr>
        <p:cNvPr id="656" name="" descr="&lt;Slide notes={`演讲者备注：【ZANDECKI-SPUR】自动化血细胞分析仪血小板部分系统性综述：EDTA 依赖聚集、血小板卫星现象、大血小板漏计等假性结果常见，需直方图/散点图与涂片复检甄别。证据：Int J Lab Hematol 2007;29:4-20，PMID 17224004。&#13;&#10;讲解提示：本节为“全流程质量观”：临床医生能直接改善的是——规范采血、尽快送检、注明用药与时间点、对异常结果主动沟通检验科。`}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五章 误差来源与误读陷阱&lt;/Text&gt;&#13;&#10;      &lt;Box style={{ width: 1, height: 24, background: '#3D7BD9' }} /&gt;&#13;&#10;      &lt;Text style={{ fontSize: 16, color: '#C7D6EC' }}&gt;分析前环节：从采血到上机的全链条&lt;/Text&gt;&#13;&#10;    &lt;/Box&gt;&#13;&#10;    &lt;Text style={{ position: 'absolute', right: 64, top: 24, fontSize: 15, color: '#9DB8E0' }}&gt;33 / 77&lt;/Text&gt;&#13;&#10;  &lt;/Box&gt;&#13;&#10;  &lt;Box style={{ position: 'absolute', left: 64, top: 96, width: 562, height: 128, background: '#F0F5FC', borderRadius: 12, border: '1px solid #E5E7EB', padding: 20 }}&gt;&#13;&#10;&lt;Text style={{ fontSize: 19, color: '#0E3F8C', fontWeight: 'bold', textAlign: 'left', lineHeight: 1.5 }}&gt;采血环节&lt;/Text&gt;&#13;&#10;&lt;Text style={{ fontSize: 17, color: '#2C3E50', textAlign: 'left', lineHeight: 1.62 }}&gt;止血带过久、穿刺不顺利致组织液混入、抗凝剂比例错误（管过满/过少）、采血管顺序（先促凝管后抗凝管防污染）都会改变血小板与功能结果。&lt;/Text&gt;&#13;&#10;  &lt;/Box&gt;&#13;&#10;  &lt;Box style={{ position: 'absolute', left: 654, top: 96, width: 562, height: 128, background: '#F0F5FC', borderRadius: 12, border: '1px solid #E5E7EB', padding: 20 }}&gt;&#13;&#10;&lt;Text style={{ fontSize: 19, color: '#0E3F8C', fontWeight: 'bold', textAlign: 'left', lineHeight: 1.5 }}&gt;运送与储存&lt;/Text&gt;&#13;&#10;&lt;Text style={{ fontSize: 17, color: '#2C3E50', textAlign: 'left', lineHeight: 1.62 }}&gt;血小板对低温敏感（冷诱导活化/聚集），全血标本应室温（20—24℃）运送、避免冷藏与剧烈震荡；检测时限（功能试验多要求 &amp;lt;2—4 小时）需在申请单上明确。&lt;/Text&gt;&#13;&#10;  &lt;/Box&gt;&#13;&#10;  &lt;Box style={{ position: 'absolute', left: 64, top: 252, width: 562, height: 128, background: '#F0F5FC', borderRadius: 12, border: '1px solid #E5E7EB', padding: 20 }}&gt;&#13;&#10;&lt;Text style={{ fontSize: 19, color: '#0E3F8C', fontWeight: 'bold', textAlign: 'left', lineHeight: 1.5 }}&gt;分析中与分析后&lt;/Text&gt;&#13;&#10;&lt;Text style={{ fontSize: 17, color: '#2C3E50', textAlign: 'left', lineHeight: 1.62 }}&gt;仪器校准/质控、直方图审核、参考区间匹配人群、报告备注与危急值沟通共同决定最终质量——分析后“备注建议复查”能显著减少误读。&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分析前变异占检验误差的大头：检验质量一半在采血针与运送箱里，一半在审核者的脑子里。&lt;/Text&gt;&#13;&#10;  &lt;/Box&gt;&#13;&#10;&#13;&#10;  &lt;Box style={{ position: 'absolute', left: 64, top: 556, width: 1152, height: 92, background: '#F0F5FC', borderRadius: 12, border: '1px solid #E5E7EB', padding: 20 }}&gt;&#13;&#10;&lt;Text style={{ fontSize: 17, color: '#2C3E50', textAlign: 'left', lineHeight: 1.6 }}&gt;小结：Int J Lab Hematol 2007;29:4-20 (PMID 172240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657" name=""/>
          <p:cNvSpPr/>
          <p:nvPr/>
        </p:nvSpPr>
        <p:spPr>
          <a:xfrm rot="0" flipH="0" flipV="0">
            <a:off x="0" y="0"/>
            <a:ext cx="12192000" cy="6858000"/>
          </a:xfrm>
          <a:prstGeom prst="rect">
            <a:avLst/>
          </a:prstGeom>
          <a:solidFill>
            <a:srgbClr val="FFFFFF"/>
          </a:solidFill>
          <a:ln/>
        </p:spPr>
        <p:txBody>
          <a:bodyPr/>
          <a:p/>
        </p:txBody>
      </p:sp>
      <p:sp>
        <p:nvSpPr>
          <p:cNvPr id="658" name=""/>
          <p:cNvSpPr/>
          <p:nvPr/>
        </p:nvSpPr>
        <p:spPr>
          <a:xfrm rot="0" flipH="0" flipV="0">
            <a:off x="0" y="0"/>
            <a:ext cx="12192000" cy="685800"/>
          </a:xfrm>
          <a:prstGeom prst="rect">
            <a:avLst/>
          </a:prstGeom>
          <a:solidFill>
            <a:srgbClr val="0E3F8C"/>
          </a:solidFill>
          <a:ln/>
        </p:spPr>
        <p:txBody>
          <a:bodyPr/>
          <a:p/>
        </p:txBody>
      </p:sp>
      <p:sp>
        <p:nvSpPr>
          <p:cNvPr id="659" name="" descr="{&quot;isTemplate&quot;:true,&quot;type&quot;:&quot;text&quot;}"/>
          <p:cNvSpPr txBox="1"/>
          <p:nvPr/>
        </p:nvSpPr>
        <p:spPr>
          <a:xfrm rot="0" flipH="0" flipV="0">
            <a:off x="609600" y="219075"/>
            <a:ext cx="2114550" cy="209550"/>
          </a:xfrm>
          <a:prstGeom prst="rect"/>
        </p:spPr>
        <p:txBody>
          <a:bodyPr wrap="none" lIns="0" tIns="0" rIns="0" bIns="0"/>
          <a:p>
            <a:pPr>
              <a:lnSpc>
                <a:spcPct val="100000"/>
              </a:lnSpc>
            </a:pPr>
            <a:r>
              <a:rPr lang="zh-CN" sz="1350" b="1">
                <a:solidFill>
                  <a:srgbClr val="FFFFFF"/>
                </a:solidFill>
                <a:latin typeface="Microsoft YaHei"/>
                <a:ea typeface="Microsoft YaHei"/>
              </a:rPr>
              <a:t>第五章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误差来源与误读陷阱</a:t>
            </a:r>
            <a:endParaRPr/>
          </a:p>
        </p:txBody>
      </p:sp>
      <p:sp>
        <p:nvSpPr>
          <p:cNvPr id="660" name=""/>
          <p:cNvSpPr/>
          <p:nvPr/>
        </p:nvSpPr>
        <p:spPr>
          <a:xfrm rot="0" flipH="0" flipV="0">
            <a:off x="2876550" y="209550"/>
            <a:ext cx="9525" cy="228600"/>
          </a:xfrm>
          <a:prstGeom prst="rect">
            <a:avLst/>
          </a:prstGeom>
          <a:solidFill>
            <a:srgbClr val="3D7BD9"/>
          </a:solidFill>
          <a:ln/>
        </p:spPr>
        <p:txBody>
          <a:bodyPr/>
          <a:p/>
        </p:txBody>
      </p:sp>
      <p:sp>
        <p:nvSpPr>
          <p:cNvPr id="661" name="" descr="{&quot;isTemplate&quot;:true,&quot;type&quot;:&quot;text&quot;}"/>
          <p:cNvSpPr txBox="1"/>
          <p:nvPr/>
        </p:nvSpPr>
        <p:spPr>
          <a:xfrm rot="0" flipH="0" flipV="0">
            <a:off x="3038475" y="228600"/>
            <a:ext cx="2438400" cy="190500"/>
          </a:xfrm>
          <a:prstGeom prst="rect"/>
        </p:spPr>
        <p:txBody>
          <a:bodyPr wrap="none" lIns="0" tIns="0" rIns="0" bIns="0"/>
          <a:p>
            <a:pPr>
              <a:lnSpc>
                <a:spcPct val="100000"/>
              </a:lnSpc>
            </a:pPr>
            <a:r>
              <a:rPr lang="zh-CN" sz="1200">
                <a:solidFill>
                  <a:srgbClr val="C7D6EC"/>
                </a:solidFill>
                <a:latin typeface="Microsoft YaHei"/>
                <a:ea typeface="Microsoft YaHei"/>
              </a:rPr>
              <a:t>分析前环节：从采血到上机的全链条</a:t>
            </a:r>
            <a:endParaRPr/>
          </a:p>
        </p:txBody>
      </p:sp>
      <p:sp>
        <p:nvSpPr>
          <p:cNvPr id="66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33 / 77</a:t>
            </a:r>
            <a:endParaRPr/>
          </a:p>
        </p:txBody>
      </p:sp>
      <p:sp>
        <p:nvSpPr>
          <p:cNvPr id="663"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6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采血环节</a:t>
            </a:r>
            <a:endParaRPr/>
          </a:p>
        </p:txBody>
      </p:sp>
      <p:sp>
        <p:nvSpPr>
          <p:cNvPr id="665"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止血带过久、穿刺不顺利致组织液混入、抗凝剂比例错误（管过满</a:t>
            </a:r>
            <a:r>
              <a:rPr lang="en-US" sz="1275">
                <a:solidFill>
                  <a:srgbClr val="2C3E50"/>
                </a:solidFill>
                <a:latin typeface="Microsoft YaHei"/>
                <a:ea typeface="Microsoft YaHei"/>
              </a:rPr>
              <a:t>/</a:t>
            </a:r>
            <a:r>
              <a:rPr lang="zh-CN" sz="1275">
                <a:solidFill>
                  <a:srgbClr val="2C3E50"/>
                </a:solidFill>
                <a:latin typeface="Microsoft YaHei"/>
                <a:ea typeface="Microsoft YaHei"/>
              </a:rPr>
              <a:t>过少）、采血管顺序（先促凝管后抗凝管防污染）都会改变血小板与功能结果。</a:t>
            </a:r>
            <a:endParaRPr/>
          </a:p>
        </p:txBody>
      </p:sp>
      <p:sp>
        <p:nvSpPr>
          <p:cNvPr id="666"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6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运送与储存</a:t>
            </a:r>
            <a:endParaRPr/>
          </a:p>
        </p:txBody>
      </p:sp>
      <p:sp>
        <p:nvSpPr>
          <p:cNvPr id="668"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血小板对低温敏感（冷诱导活化</a:t>
            </a:r>
            <a:r>
              <a:rPr lang="en-US" sz="1275">
                <a:solidFill>
                  <a:srgbClr val="2C3E50"/>
                </a:solidFill>
                <a:latin typeface="Microsoft YaHei"/>
                <a:ea typeface="Microsoft YaHei"/>
              </a:rPr>
              <a:t>/</a:t>
            </a:r>
            <a:r>
              <a:rPr lang="zh-CN" sz="1275">
                <a:solidFill>
                  <a:srgbClr val="2C3E50"/>
                </a:solidFill>
                <a:latin typeface="Microsoft YaHei"/>
                <a:ea typeface="Microsoft YaHei"/>
              </a:rPr>
              <a:t>聚集），全血标本应室温（</a:t>
            </a:r>
            <a:r>
              <a:rPr lang="en-US" sz="1275">
                <a:solidFill>
                  <a:srgbClr val="2C3E50"/>
                </a:solidFill>
                <a:latin typeface="Microsoft YaHei"/>
                <a:ea typeface="Microsoft YaHei"/>
              </a:rPr>
              <a:t>20—24℃</a:t>
            </a:r>
            <a:r>
              <a:rPr lang="zh-CN" sz="1275">
                <a:solidFill>
                  <a:srgbClr val="2C3E50"/>
                </a:solidFill>
                <a:latin typeface="Microsoft YaHei"/>
                <a:ea typeface="Microsoft YaHei"/>
              </a:rPr>
              <a:t>）运送、避免冷藏与剧烈震荡；检测时限（功能试验多要求</a:t>
            </a:r>
            <a:r>
              <a:rPr lang="en-US" sz="1275">
                <a:solidFill>
                  <a:srgbClr val="2C3E50"/>
                </a:solidFill>
                <a:latin typeface="Microsoft YaHei"/>
                <a:ea typeface="Microsoft YaHei"/>
              </a:rPr>
              <a:t> &lt;2—4 </a:t>
            </a:r>
            <a:r>
              <a:rPr lang="zh-CN" sz="1275">
                <a:solidFill>
                  <a:srgbClr val="2C3E50"/>
                </a:solidFill>
                <a:latin typeface="Microsoft YaHei"/>
                <a:ea typeface="Microsoft YaHei"/>
              </a:rPr>
              <a:t>小时）需在申请单上明确。</a:t>
            </a:r>
            <a:endParaRPr/>
          </a:p>
        </p:txBody>
      </p:sp>
      <p:sp>
        <p:nvSpPr>
          <p:cNvPr id="669"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70"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分析中与分析后</a:t>
            </a:r>
            <a:endParaRPr/>
          </a:p>
        </p:txBody>
      </p:sp>
      <p:sp>
        <p:nvSpPr>
          <p:cNvPr id="671"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仪器校准</a:t>
            </a:r>
            <a:r>
              <a:rPr lang="en-US" sz="1275">
                <a:solidFill>
                  <a:srgbClr val="2C3E50"/>
                </a:solidFill>
                <a:latin typeface="Microsoft YaHei"/>
                <a:ea typeface="Microsoft YaHei"/>
              </a:rPr>
              <a:t>/</a:t>
            </a:r>
            <a:r>
              <a:rPr lang="zh-CN" sz="1275">
                <a:solidFill>
                  <a:srgbClr val="2C3E50"/>
                </a:solidFill>
                <a:latin typeface="Microsoft YaHei"/>
                <a:ea typeface="Microsoft YaHei"/>
              </a:rPr>
              <a:t>质控、直方图审核、参考区间匹配人群、报告备注与危急值沟通共同决定最终质量——分析后“备注建议复查”能显著减少误读。</a:t>
            </a:r>
            <a:endParaRPr/>
          </a:p>
        </p:txBody>
      </p:sp>
      <p:sp>
        <p:nvSpPr>
          <p:cNvPr id="672"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73"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674"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675"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676"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分析前变异占检验误差的大头：检验质量一半在采血针与运送箱里，一半在审核者的脑子里。</a:t>
            </a:r>
            <a:endParaRPr/>
          </a:p>
        </p:txBody>
      </p:sp>
      <p:sp>
        <p:nvSpPr>
          <p:cNvPr id="67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67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Int J Lab Hematol 2007;29:4-20 (PMID 17224004)</a:t>
            </a:r>
            <a:endParaRPr/>
          </a:p>
        </p:txBody>
      </p:sp>
      <p:sp>
        <p:nvSpPr>
          <p:cNvPr id="679" name=""/>
          <p:cNvSpPr/>
          <p:nvPr/>
        </p:nvSpPr>
        <p:spPr>
          <a:xfrm rot="0" flipH="0" flipV="0">
            <a:off x="0" y="6324600"/>
            <a:ext cx="12192000" cy="342900"/>
          </a:xfrm>
          <a:prstGeom prst="rect">
            <a:avLst/>
          </a:prstGeom>
          <a:solidFill>
            <a:srgbClr val="F7F9FC"/>
          </a:solidFill>
          <a:ln/>
        </p:spPr>
        <p:txBody>
          <a:bodyPr/>
          <a:p/>
        </p:txBody>
      </p:sp>
      <p:sp>
        <p:nvSpPr>
          <p:cNvPr id="68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68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4.xml><?xml version="1.0" encoding="utf-8"?>
<p:sld xmlns:p="http://schemas.openxmlformats.org/presentationml/2006/main" xmlns:a="http://schemas.openxmlformats.org/drawingml/2006/main">
  <p:cSld>
    <p:spTree>
      <p:nvGrpSpPr>
        <p:cNvPr id="682" name="" descr="&lt;Slide notes={`演讲者备注：第六章用表格对比血小板指标与 PT/APTT、纤维蛋白原、D-二聚体、VET、VWF 检测：它们各自回答什么问题、血小板异常时表现如何、何时必须联合。目的：让临床与检验形成“同一张止血全景图”而非各测各的。`} style={{ width: '1280px', height: '720px', background: '#0E3F8C', padding: 0 }}&gt;&#13;&#10;  &lt;Box style={{ position: 'absolute', left: 0, top: 0, width: 12, height: 720, background: '#3D7BD9' }} /&gt;&#13;&#10;  &lt;Text style={{ position: 'absolute', left: 64, top: 138, fontSize: 22, color: '#9DB8E0', letterSpacing: 4 }}&gt;第 6 章&lt;/Text&gt;&#13;&#10;  &lt;Text style={{ position: 'absolute', left: 56, top: 168, fontSize: 150, color: '#164A9E', fontWeight: 'bold' }}&gt;06&lt;/Text&gt;&#13;&#10;  &lt;Text style={{ position: 'absolute', left: 64, top: 332, fontSize: 50, color: '#FFFFFF', fontWeight: 'bold' }}&gt;与其他凝血/止血检测的异同&lt;/Text&gt;&#13;&#10;  &lt;Text style={{ position: 'absolute', left: 64, top: 400, fontSize: 22, color: '#9DB8E0', fontFamily: 'Times New Roman' }}&gt;Platelets vs Other Coagulation Tests&lt;/Text&gt;&#13;&#10;  &lt;Box key={0} style={{ position: 'absolute', left: 64, top: 472, width: 360, height: 150, background: '#12448F', borderRadius: 12, border: '1px solid #2E5BA8', padding: 20 }}&gt;&#13;&#10;    &lt;Text style={{ fontSize: 18, color: '#9DB8E0', fontWeight: 'bold', marginBottom: 8 }}&gt;分工&lt;/Text&gt;&#13;&#10;    &lt;Text style={{ fontSize: 15, color: '#C7D6EC', lineHeight: 1.5 }}&gt;细胞止血 vs 血浆级联 vs 纤溶是三条平行防线&lt;/Text&gt;&#13;&#10;  &lt;/Box&gt;  &lt;Box key={1} style={{ position: 'absolute', left: 452, top: 472, width: 360, height: 150, background: '#12448F', borderRadius: 12, border: '1px solid #2E5BA8', padding: 20 }}&gt;&#13;&#10;    &lt;Text style={{ fontSize: 18, color: '#9DB8E0', fontWeight: 'bold', marginBottom: 8 }}&gt;互补&lt;/Text&gt;&#13;&#10;    &lt;Text style={{ fontSize: 15, color: '#C7D6EC', lineHeight: 1.5 }}&gt;血小板指标补 PT/APTT 的“盲区”&lt;/Text&gt;&#13;&#10;  &lt;/Box&gt;  &lt;Box key={2} style={{ position: 'absolute', left: 840, top: 472, width: 360, height: 150, background: '#12448F', borderRadius: 12, border: '1px solid #2E5BA8', padding: 20 }}&gt;&#13;&#10;    &lt;Text style={{ fontSize: 18, color: '#9DB8E0', fontWeight: 'bold', marginBottom: 8 }}&gt;整合&lt;/Text&gt;&#13;&#10;    &lt;Text style={{ fontSize: 15, color: '#C7D6EC', lineHeight: 1.5 }}&gt;CBC+凝血+VET 的联合解读路径&lt;/Text&gt;&#13;&#10;  &lt;/Box&gt;&#13;&#10;  &lt;Text style={{ position: 'absolute', right: 64, top: 660, fontSize: 15, color: '#9DB8E0' }}&gt;34 / 77&lt;/Text&gt;&#13;&#10;&lt;/Slide&gt;"/>
        <p:cNvGrpSpPr/>
        <p:nvPr/>
      </p:nvGrpSpPr>
      <p:grpSpPr>
        <a:xfrm>
          <a:off x="0" y="0"/>
          <a:ext cx="0" cy="0"/>
          <a:chOff x="0" y="0"/>
          <a:chExt cx="0" cy="0"/>
        </a:xfrm>
      </p:grpSpPr>
      <p:sp>
        <p:nvSpPr>
          <p:cNvPr id="683" name=""/>
          <p:cNvSpPr/>
          <p:nvPr/>
        </p:nvSpPr>
        <p:spPr>
          <a:xfrm rot="0" flipH="0" flipV="0">
            <a:off x="0" y="0"/>
            <a:ext cx="12192000" cy="6858000"/>
          </a:xfrm>
          <a:prstGeom prst="rect">
            <a:avLst/>
          </a:prstGeom>
          <a:solidFill>
            <a:srgbClr val="0E3F8C"/>
          </a:solidFill>
          <a:ln/>
        </p:spPr>
        <p:txBody>
          <a:bodyPr/>
          <a:p/>
        </p:txBody>
      </p:sp>
      <p:sp>
        <p:nvSpPr>
          <p:cNvPr id="684" name=""/>
          <p:cNvSpPr/>
          <p:nvPr/>
        </p:nvSpPr>
        <p:spPr>
          <a:xfrm rot="0" flipH="0" flipV="0">
            <a:off x="0" y="0"/>
            <a:ext cx="114300" cy="6858000"/>
          </a:xfrm>
          <a:prstGeom prst="rect">
            <a:avLst/>
          </a:prstGeom>
          <a:solidFill>
            <a:srgbClr val="3D7BD9"/>
          </a:solidFill>
          <a:ln/>
        </p:spPr>
        <p:txBody>
          <a:bodyPr/>
          <a:p/>
        </p:txBody>
      </p:sp>
      <p:sp>
        <p:nvSpPr>
          <p:cNvPr id="685"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6 </a:t>
            </a:r>
            <a:r>
              <a:rPr lang="zh-CN" sz="1650" spc="300">
                <a:solidFill>
                  <a:srgbClr val="9DB8E0"/>
                </a:solidFill>
                <a:latin typeface="Microsoft YaHei"/>
                <a:ea typeface="Microsoft YaHei"/>
              </a:rPr>
              <a:t>章</a:t>
            </a:r>
            <a:endParaRPr/>
          </a:p>
        </p:txBody>
      </p:sp>
      <p:sp>
        <p:nvSpPr>
          <p:cNvPr id="686"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06</a:t>
            </a:r>
            <a:endParaRPr/>
          </a:p>
        </p:txBody>
      </p:sp>
      <p:sp>
        <p:nvSpPr>
          <p:cNvPr id="687" name="" descr="{&quot;isTemplate&quot;:true,&quot;type&quot;:&quot;text&quot;}"/>
          <p:cNvSpPr txBox="1"/>
          <p:nvPr/>
        </p:nvSpPr>
        <p:spPr>
          <a:xfrm rot="0" flipH="0" flipV="0">
            <a:off x="609600" y="3162300"/>
            <a:ext cx="5943600" cy="571500"/>
          </a:xfrm>
          <a:prstGeom prst="rect"/>
        </p:spPr>
        <p:txBody>
          <a:bodyPr wrap="none" lIns="0" tIns="0" rIns="0" bIns="0"/>
          <a:p>
            <a:pPr>
              <a:lnSpc>
                <a:spcPct val="100000"/>
              </a:lnSpc>
            </a:pPr>
            <a:r>
              <a:rPr lang="zh-CN" sz="3750" b="1">
                <a:solidFill>
                  <a:srgbClr val="FFFFFF"/>
                </a:solidFill>
                <a:latin typeface="Microsoft YaHei"/>
                <a:ea typeface="Microsoft YaHei"/>
              </a:rPr>
              <a:t>与其他凝血</a:t>
            </a:r>
            <a:r>
              <a:rPr lang="en-US" sz="3750" b="1">
                <a:solidFill>
                  <a:srgbClr val="FFFFFF"/>
                </a:solidFill>
                <a:latin typeface="Microsoft YaHei"/>
                <a:ea typeface="Microsoft YaHei"/>
              </a:rPr>
              <a:t>/</a:t>
            </a:r>
            <a:r>
              <a:rPr lang="zh-CN" sz="3750" b="1">
                <a:solidFill>
                  <a:srgbClr val="FFFFFF"/>
                </a:solidFill>
                <a:latin typeface="Microsoft YaHei"/>
                <a:ea typeface="Microsoft YaHei"/>
              </a:rPr>
              <a:t>止血检测的异同</a:t>
            </a:r>
            <a:endParaRPr/>
          </a:p>
        </p:txBody>
      </p:sp>
      <p:sp>
        <p:nvSpPr>
          <p:cNvPr id="688" name="" descr="{&quot;isTemplate&quot;:true,&quot;type&quot;:&quot;text&quot;}"/>
          <p:cNvSpPr txBox="1"/>
          <p:nvPr/>
        </p:nvSpPr>
        <p:spPr>
          <a:xfrm rot="0" flipH="0" flipV="0">
            <a:off x="609600" y="3810000"/>
            <a:ext cx="3038475" cy="257175"/>
          </a:xfrm>
          <a:prstGeom prst="rect"/>
        </p:spPr>
        <p:txBody>
          <a:bodyPr wrap="none" lIns="0" tIns="0" rIns="0" bIns="0"/>
          <a:p>
            <a:pPr>
              <a:lnSpc>
                <a:spcPct val="100000"/>
              </a:lnSpc>
            </a:pPr>
            <a:r>
              <a:rPr lang="en-US" sz="1650">
                <a:solidFill>
                  <a:srgbClr val="9DB8E0"/>
                </a:solidFill>
                <a:latin typeface="Times New Roman"/>
                <a:ea typeface="Times New Roman"/>
              </a:rPr>
              <a:t>Platelets vs Other Coagulation Tests</a:t>
            </a:r>
            <a:endParaRPr/>
          </a:p>
        </p:txBody>
      </p:sp>
      <p:sp>
        <p:nvSpPr>
          <p:cNvPr id="689"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690"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分工</a:t>
            </a:r>
            <a:endParaRPr/>
          </a:p>
        </p:txBody>
      </p:sp>
      <p:sp>
        <p:nvSpPr>
          <p:cNvPr id="691"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细胞止血</a:t>
            </a:r>
            <a:r>
              <a:rPr lang="en-US" sz="1125">
                <a:solidFill>
                  <a:srgbClr val="C7D6EC"/>
                </a:solidFill>
                <a:latin typeface="Microsoft YaHei"/>
                <a:ea typeface="Microsoft YaHei"/>
              </a:rPr>
              <a:t> vs </a:t>
            </a:r>
            <a:r>
              <a:rPr lang="zh-CN" sz="1125">
                <a:solidFill>
                  <a:srgbClr val="C7D6EC"/>
                </a:solidFill>
                <a:latin typeface="Microsoft YaHei"/>
                <a:ea typeface="Microsoft YaHei"/>
              </a:rPr>
              <a:t>血浆级联</a:t>
            </a:r>
            <a:r>
              <a:rPr lang="en-US" sz="1125">
                <a:solidFill>
                  <a:srgbClr val="C7D6EC"/>
                </a:solidFill>
                <a:latin typeface="Microsoft YaHei"/>
                <a:ea typeface="Microsoft YaHei"/>
              </a:rPr>
              <a:t> vs </a:t>
            </a:r>
            <a:r>
              <a:rPr lang="zh-CN" sz="1125">
                <a:solidFill>
                  <a:srgbClr val="C7D6EC"/>
                </a:solidFill>
                <a:latin typeface="Microsoft YaHei"/>
                <a:ea typeface="Microsoft YaHei"/>
              </a:rPr>
              <a:t>纤溶是三条平行防线</a:t>
            </a:r>
            <a:endParaRPr/>
          </a:p>
        </p:txBody>
      </p:sp>
      <p:sp>
        <p:nvSpPr>
          <p:cNvPr id="692"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693"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互补</a:t>
            </a:r>
            <a:endParaRPr/>
          </a:p>
        </p:txBody>
      </p:sp>
      <p:sp>
        <p:nvSpPr>
          <p:cNvPr id="694"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血小板指标补</a:t>
            </a:r>
            <a:r>
              <a:rPr lang="en-US" sz="1125">
                <a:solidFill>
                  <a:srgbClr val="C7D6EC"/>
                </a:solidFill>
                <a:latin typeface="Microsoft YaHei"/>
                <a:ea typeface="Microsoft YaHei"/>
              </a:rPr>
              <a:t> PT/APTT </a:t>
            </a:r>
            <a:r>
              <a:rPr lang="zh-CN" sz="1125">
                <a:solidFill>
                  <a:srgbClr val="C7D6EC"/>
                </a:solidFill>
                <a:latin typeface="Microsoft YaHei"/>
                <a:ea typeface="Microsoft YaHei"/>
              </a:rPr>
              <a:t>的“盲区”</a:t>
            </a:r>
            <a:endParaRPr/>
          </a:p>
        </p:txBody>
      </p:sp>
      <p:sp>
        <p:nvSpPr>
          <p:cNvPr id="695"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696"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整合</a:t>
            </a:r>
            <a:endParaRPr/>
          </a:p>
        </p:txBody>
      </p:sp>
      <p:sp>
        <p:nvSpPr>
          <p:cNvPr id="697"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CBC+</a:t>
            </a:r>
            <a:r>
              <a:rPr lang="zh-CN" sz="1125">
                <a:solidFill>
                  <a:srgbClr val="C7D6EC"/>
                </a:solidFill>
                <a:latin typeface="Microsoft YaHei"/>
                <a:ea typeface="Microsoft YaHei"/>
              </a:rPr>
              <a:t>凝血</a:t>
            </a:r>
            <a:r>
              <a:rPr lang="en-US" sz="1125">
                <a:solidFill>
                  <a:srgbClr val="C7D6EC"/>
                </a:solidFill>
                <a:latin typeface="Microsoft YaHei"/>
                <a:ea typeface="Microsoft YaHei"/>
              </a:rPr>
              <a:t>+VET </a:t>
            </a:r>
            <a:r>
              <a:rPr lang="zh-CN" sz="1125">
                <a:solidFill>
                  <a:srgbClr val="C7D6EC"/>
                </a:solidFill>
                <a:latin typeface="Microsoft YaHei"/>
                <a:ea typeface="Microsoft YaHei"/>
              </a:rPr>
              <a:t>的联合解读路径</a:t>
            </a:r>
            <a:endParaRPr/>
          </a:p>
        </p:txBody>
      </p:sp>
      <p:sp>
        <p:nvSpPr>
          <p:cNvPr id="698"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34 / 77</a:t>
            </a:r>
            <a:endParaRPr/>
          </a:p>
        </p:txBody>
      </p:sp>
    </p:spTree>
  </p:cSld>
</p:sld>
</file>

<file path=ppt/slides/slide35.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699" name="" descr="&lt;Slide notes={`演讲者备注：本表是第六、七、八章的地图：纵览“每种检测回答止血的哪一环”。核心教学点：(1) PT/APTT/纤维蛋白原/D-二聚体均不回答血小板功能，血小板异常（数量或质量）者的常规凝血四项可以是完全正常的；(2) 反过来，血小板“正常”也不能排除因子或纤溶问题；(3) VET 与 PFA 是桥接“血小板-血浆”的整合型试验。表中方法学细节与临界值依据散见各章备注对应 PMID（第 2/3 章方法学、第 4 章阈值）。&#13;&#10;【GREMMEL-PHYS】血小板在血管损伤处经黏附、活化、聚集形成止血栓（一级止血），并通过膜表面促凝暴露与颗粒释放参与凝血级联、炎症与免疫。证据：Semin Thromb Hemost 2016;42:191-204，PMID 26926581。&#13;&#10;【BOLLIGER-TEG】血栓弹力图（TEG）原理与应用综述：MA 等参数反映血小板-纤维蛋白共同作用形成的血块强度，可用于围术期/创伤的目标导向输血。证据：Transfus Med Rev 2012;26:1-13，PMID 21872428。&#13;&#10;【FAVALORO-PFA】PFA-100/PFA-200 问世 30 年回顾：以剪切下全血闭合时间评价一级止血，对 VWD 与重度血小板病敏感，对轻中度血小板功能异常与抗血小板监测价值有限。证据：Semin Thromb Hemost 2024;50:320-324，PMID 37903565。`}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六章 与其他凝血/止血检测的异同&lt;/Text&gt;&#13;&#10;      &lt;Box style={{ width: 1, height: 24, background: '#3D7BD9' }} /&gt;&#13;&#10;      &lt;Text style={{ fontSize: 16, color: '#C7D6EC' }}&gt;血小板 vs PT/APTT vs VET vs VWF：分工与互补（表）&lt;/Text&gt;&#13;&#10;    &lt;/Box&gt;&#13;&#10;    &lt;Text style={{ position: 'absolute', right: 64, top: 24, fontSize: 15, color: '#9DB8E0' }}&gt;35 / 77&lt;/Text&gt;&#13;&#10;  &lt;/Box&gt;&#13;&#10;  &lt;Table style={{ position: 'absolute', left: 64, top: 100, width: 1152, height: 540 }}&#13;&#10;    defaultTextStyle={{ fontSize: 16, textAlign: 'center', color: '#222' }}&#13;&#10;    defaultCellStyle={{ border: { left: { width: 1, color: '#E5E7EB' }, right: { width: 1, color: '#E5E7EB' }, top: { width: 1, color: '#E5E7EB' }, bottom: { width: 1, color: '#E5E7EB' } } }}&#13;&#10;    cells={[&#13;&#10;[{ text: '检测', textStyle: { bold: true, color: '#FFFFFF' }, cellStyle: { background: { color: '#0E3F8C' } } }, { text: '回答的问题（环节）', textStyle: { bold: true, color: '#FFFFFF' }, cellStyle: { background: { color: '#0E3F8C' } } }, { text: '标本/原理', textStyle: { bold: true, color: '#FFFFFF' }, cellStyle: { background: { color: '#0E3F8C' } } }, { text: '血小板异常时', textStyle: { bold: true, color: '#FFFFFF' }, cellStyle: { background: { color: '#0E3F8C' } } }, { text: '典型用途', textStyle: { bold: true, color: '#FFFFFF' }, cellStyle: { background: { color: '#0E3F8C' } } }],&#13;&#10;[{ text: '血小板计数(PLT)', textStyle: { bold: false, color: '#2C3E50' }, cellStyle: { background: { color: '#FFFFFF' } } }, { text: '数量（生成/破坏/消耗）', textStyle: { bold: false, color: '#2C3E50' }, cellStyle: { background: { color: '#FFFFFF' } } }, { text: '全血/阻抗-光学-荧光', textStyle: { bold: false, color: '#2C3E50' }, cellStyle: { background: { color: '#FFFFFF' } } }, { text: '直接反映（假象见第5章）', textStyle: { bold: false, color: '#2C3E50' }, cellStyle: { background: { color: '#FFFFFF' } } }, { text: '出血/输血阈值、化疗监测', textStyle: { bold: false, color: '#2C3E50' }, cellStyle: { background: { color: '#FFFFFF' } } }],&#13;&#10;[{ text: 'MPV/IPF', textStyle: { bold: false, color: '#2C3E50' }, cellStyle: { background: { color: '#F0F5FC' } } }, { text: '血小板“新老”（生成活性）', textStyle: { bold: false, color: '#2C3E50' }, cellStyle: { background: { color: '#F0F5FC' } } }, { text: '血球仪/荧光', textStyle: { bold: false, color: '#2C3E50' }, cellStyle: { background: { color: '#F0F5FC' } } }, { text: 'ITP↑、再障↓等线索', textStyle: { bold: false, color: '#2C3E50' }, cellStyle: { background: { color: '#F0F5FC' } } }, { text: '鉴别生成障碍、恢复预警', textStyle: { bold: false, color: '#2C3E50' }, cellStyle: { background: { color: '#F0F5FC' } } }],&#13;&#10;[{ text: 'LTA/阻抗聚集', textStyle: { bold: false, color: '#2C3E50' }, cellStyle: { background: { color: '#FFFFFF' } } }, { text: '聚集-分泌功能', textStyle: { bold: false, color: '#2C3E50' }, cellStyle: { background: { color: '#FFFFFF' } } }, { text: 'PRP/全血+诱导剂', textStyle: { bold: false, color: '#2C3E50' }, cellStyle: { background: { color: '#FFFFFF' } } }, { text: 'AA/ADP 通路受损可测', textStyle: { bold: false, color: '#2C3E50' }, cellStyle: { background: { color: '#FFFFFF' } } }, { text: '血小板病诊断、抗血小板评估', textStyle: { bold: false, color: '#2C3E50' }, cellStyle: { background: { color: '#FFFFFF' } } }],&#13;&#10;[{ text: 'PFA 闭合时间', textStyle: { bold: false, color: '#2C3E50' }, cellStyle: { background: { color: '#F0F5FC' } } }, { text: '剪切下黏附-聚集（一级止血）', textStyle: { bold: false, color: '#2C3E50' }, cellStyle: { background: { color: '#F0F5FC' } } }, { text: '全血高剪切', textStyle: { bold: false, color: '#2C3E50' }, cellStyle: { background: { color: '#F0F5FC' } } }, { text: '重度异常时延长', textStyle: { bold: false, color: '#2C3E50' }, cellStyle: { background: { color: '#F0F5FC' } } }, { text: 'VWD/重度血小板病筛查', textStyle: { bold: false, color: '#2C3E50' }, cellStyle: { background: { color: '#F0F5FC' } } }],&#13;&#10;[{ text: 'VET(MA/MCF)', textStyle: { bold: false, color: '#2C3E50' }, cellStyle: { background: { color: '#FFFFFF' } } }, { text: '全血血块强度（血小板+纤维蛋白）', textStyle: { bold: false, color: '#2C3E50' }, cellStyle: { background: { color: '#FFFFFF' } } }, { text: '全血黏弹性', textStyle: { bold: false, color: '#2C3E50' }, cellStyle: { background: { color: '#FFFFFF' } } }, { text: 'MA/MCF 下降（血小板端）', textStyle: { bold: false, color: '#2C3E50' }, cellStyle: { background: { color: '#FFFFFF' } } }, { text: '创伤/心脏外科目标导向输血', textStyle: { bold: false, color: '#2C3E50' }, cellStyle: { background: { color: '#FFFFFF' } } }],&#13;&#10;[{ text: 'PT/APTT', textStyle: { bold: false, color: '#2C3E50' }, cellStyle: { background: { color: '#F0F5FC' } } }, { text: '凝血因子级联（2/1 途径）', textStyle: { bold: false, color: '#2C3E50' }, cellStyle: { background: { color: '#F0F5FC' } } }, { text: '血浆/凝固法', textStyle: { bold: false, color: '#2C3E50' }, cellStyle: { background: { color: '#F0F5FC' } } }, { text: '一般正常（不查血小板）', textStyle: { bold: false, color: '#2C3E50' }, cellStyle: { background: { color: '#F0F5FC' } } }, { text: '因子缺乏、VKA/肝素监测', textStyle: { bold: false, color: '#2C3E50' }, cellStyle: { background: { color: '#F0F5FC' } } }],&#13;&#10;[{ text: '纤维蛋白原(Clauss)', textStyle: { bold: false, color: '#2C3E50' }, cellStyle: { background: { color: '#FFFFFF' } } }, { text: '可凝固纤维蛋白原', textStyle: { bold: false, color: '#2C3E50' }, cellStyle: { background: { color: '#FFFFFF' } } }, { text: '血浆/功能法', textStyle: { bold: false, color: '#2C3E50' }, cellStyle: { background: { color: '#FFFFFF' } } }, { text: '一般正常', textStyle: { bold: false, color: '#2C3E50' }, cellStyle: { background: { color: '#FFFFFF' } } }, { text: '低纤、PPH、创伤（见前系列）', textStyle: { bold: false, color: '#2C3E50' }, cellStyle: { background: { color: '#FFFFFF' } } }],&#13;&#10;[{ text: 'D-二聚体/FDP', textStyle: { bold: false, color: '#2C3E50' }, cellStyle: { background: { color: '#F0F5FC' } } }, { text: '交联纤维蛋白降解（纤溶/血栓负荷）', textStyle: { bold: false, color: '#2C3E50' }, cellStyle: { background: { color: '#F0F5FC' } } }, { text: '血浆/免疫', textStyle: { bold: false, color: '#2C3E50' }, cellStyle: { background: { color: '#F0F5FC' } } }, { text: '与血小板无直接关系', textStyle: { bold: false, color: '#2C3E50' }, cellStyle: { background: { color: '#F0F5FC' } } }, { text: 'VTE 排除、DIC 辅助', textStyle: { bold: false, color: '#2C3E50' }, cellStyle: { background: { color: '#F0F5FC' } } }],&#13;&#10;[{ text: 'VWF:RCo/Ag', textStyle: { bold: false, color: '#2C3E50' }, cellStyle: { background: { color: '#FFFFFF' } } }, { text: 'vWF 黏附轴（血小板-血管）', textStyle: { bold: false, color: '#2C3E50' }, cellStyle: { background: { color: '#FFFFFF' } } }, { text: '血浆/聚集-免疫', textStyle: { bold: false, color: '#2C3E50' }, cellStyle: { background: { color: '#FFFFFF' } } }, { text: '2B 型/血小板型可变', textStyle: { bold: false, color: '#2C3E50' }, cellStyle: { background: { color: '#FFFFFF' } } }, { text: 'VWD 分型、PFA 异常后定位', textStyle: { bold: false, color: '#2C3E50' }, cellStyle: { background: { color: '#FFFFFF' } } }]&#13;&#10;]}&#13;&#10;  /&gt;&#13;&#10;  &lt;Box style={{ position: 'absolute', left: 0, top: 664, width: 1280, height: 36, background: '#F7F9FC' }}&gt;&#13;&#10;    &lt;Text style={{ position: 'absolute', left: 64, top: 8, fontSize: 12, lineHeight: 1.3, color: '#6B7B8C', width: 1000 }}&gt;本章为综合性对照表：方法学依据分别为——血小板生理 Gremmel（PMID 26926581）；聚集试验 ISTH 标准化（PMID 23574625）与阻抗法（PMID 24148217）；PFA（PMID 37903565）；VET（PMID 21872428）；参考区间（PMID 23382888）。&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700" name=""/>
          <p:cNvSpPr/>
          <p:nvPr/>
        </p:nvSpPr>
        <p:spPr>
          <a:xfrm rot="0" flipH="0" flipV="0">
            <a:off x="0" y="0"/>
            <a:ext cx="12192000" cy="6858000"/>
          </a:xfrm>
          <a:prstGeom prst="rect">
            <a:avLst/>
          </a:prstGeom>
          <a:solidFill>
            <a:srgbClr val="FFFFFF"/>
          </a:solidFill>
          <a:ln/>
        </p:spPr>
        <p:txBody>
          <a:bodyPr/>
          <a:p/>
        </p:txBody>
      </p:sp>
      <p:sp>
        <p:nvSpPr>
          <p:cNvPr id="701" name=""/>
          <p:cNvSpPr/>
          <p:nvPr/>
        </p:nvSpPr>
        <p:spPr>
          <a:xfrm rot="0" flipH="0" flipV="0">
            <a:off x="0" y="0"/>
            <a:ext cx="12192000" cy="685800"/>
          </a:xfrm>
          <a:prstGeom prst="rect">
            <a:avLst/>
          </a:prstGeom>
          <a:solidFill>
            <a:srgbClr val="0E3F8C"/>
          </a:solidFill>
          <a:ln/>
        </p:spPr>
        <p:txBody>
          <a:bodyPr/>
          <a:p/>
        </p:txBody>
      </p:sp>
      <p:sp>
        <p:nvSpPr>
          <p:cNvPr id="702" name="" descr="{&quot;isTemplate&quot;:true,&quot;type&quot;:&quot;text&quot;}"/>
          <p:cNvSpPr txBox="1"/>
          <p:nvPr/>
        </p:nvSpPr>
        <p:spPr>
          <a:xfrm rot="0" flipH="0" flipV="0">
            <a:off x="609600" y="219075"/>
            <a:ext cx="2705100" cy="209550"/>
          </a:xfrm>
          <a:prstGeom prst="rect"/>
        </p:spPr>
        <p:txBody>
          <a:bodyPr wrap="none" lIns="0" tIns="0" rIns="0" bIns="0"/>
          <a:p>
            <a:pPr>
              <a:lnSpc>
                <a:spcPct val="100000"/>
              </a:lnSpc>
            </a:pPr>
            <a:r>
              <a:rPr lang="zh-CN" sz="1350" b="1">
                <a:solidFill>
                  <a:srgbClr val="FFFFFF"/>
                </a:solidFill>
                <a:latin typeface="Microsoft YaHei"/>
                <a:ea typeface="Microsoft YaHei"/>
              </a:rPr>
              <a:t>第六章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与其他凝血</a:t>
            </a:r>
            <a:r>
              <a:rPr lang="en-US" sz="1350" b="1">
                <a:solidFill>
                  <a:srgbClr val="FFFFFF"/>
                </a:solidFill>
                <a:latin typeface="Microsoft YaHei"/>
                <a:ea typeface="Microsoft YaHei"/>
              </a:rPr>
              <a:t>/</a:t>
            </a:r>
            <a:r>
              <a:rPr lang="zh-CN" sz="1350" b="1">
                <a:solidFill>
                  <a:srgbClr val="FFFFFF"/>
                </a:solidFill>
                <a:latin typeface="Microsoft YaHei"/>
                <a:ea typeface="Microsoft YaHei"/>
              </a:rPr>
              <a:t>止血检测的异同</a:t>
            </a:r>
            <a:endParaRPr/>
          </a:p>
        </p:txBody>
      </p:sp>
      <p:sp>
        <p:nvSpPr>
          <p:cNvPr id="703" name=""/>
          <p:cNvSpPr/>
          <p:nvPr/>
        </p:nvSpPr>
        <p:spPr>
          <a:xfrm rot="0" flipH="0" flipV="0">
            <a:off x="3467100" y="209550"/>
            <a:ext cx="9525" cy="228600"/>
          </a:xfrm>
          <a:prstGeom prst="rect">
            <a:avLst/>
          </a:prstGeom>
          <a:solidFill>
            <a:srgbClr val="3D7BD9"/>
          </a:solidFill>
          <a:ln/>
        </p:spPr>
        <p:txBody>
          <a:bodyPr/>
          <a:p/>
        </p:txBody>
      </p:sp>
      <p:sp>
        <p:nvSpPr>
          <p:cNvPr id="704" name="" descr="{&quot;isTemplate&quot;:true,&quot;type&quot;:&quot;text&quot;}"/>
          <p:cNvSpPr txBox="1"/>
          <p:nvPr/>
        </p:nvSpPr>
        <p:spPr>
          <a:xfrm rot="0" flipH="0" flipV="0">
            <a:off x="3629025" y="228600"/>
            <a:ext cx="3790950" cy="190500"/>
          </a:xfrm>
          <a:prstGeom prst="rect"/>
        </p:spPr>
        <p:txBody>
          <a:bodyPr wrap="none" lIns="0" tIns="0" rIns="0" bIns="0"/>
          <a:p>
            <a:pPr>
              <a:lnSpc>
                <a:spcPct val="100000"/>
              </a:lnSpc>
            </a:pPr>
            <a:r>
              <a:rPr lang="zh-CN" sz="1200">
                <a:solidFill>
                  <a:srgbClr val="C7D6EC"/>
                </a:solidFill>
                <a:latin typeface="Microsoft YaHei"/>
                <a:ea typeface="Microsoft YaHei"/>
              </a:rPr>
              <a:t>血小板</a:t>
            </a:r>
            <a:r>
              <a:rPr lang="en-US" sz="1200">
                <a:solidFill>
                  <a:srgbClr val="C7D6EC"/>
                </a:solidFill>
                <a:latin typeface="Microsoft YaHei"/>
                <a:ea typeface="Microsoft YaHei"/>
              </a:rPr>
              <a:t> vs PT/APTT vs VET vs VWF</a:t>
            </a:r>
            <a:r>
              <a:rPr lang="zh-CN" sz="1200">
                <a:solidFill>
                  <a:srgbClr val="C7D6EC"/>
                </a:solidFill>
                <a:latin typeface="Microsoft YaHei"/>
                <a:ea typeface="Microsoft YaHei"/>
              </a:rPr>
              <a:t>：分工与互补（表）</a:t>
            </a:r>
            <a:endParaRPr/>
          </a:p>
        </p:txBody>
      </p:sp>
      <p:sp>
        <p:nvSpPr>
          <p:cNvPr id="705"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35 / 77</a:t>
            </a:r>
            <a:endParaRPr/>
          </a:p>
        </p:txBody>
      </p:sp>
      <p:graphicFrame>
        <p:nvGraphicFramePr>
          <p:cNvPr id="706" name=""/>
          <p:cNvGraphicFramePr/>
          <p:nvPr/>
        </p:nvGraphicFramePr>
        <p:xfrm rot="0" flipH="0" flipV="0">
          <a:off x="609600" y="952500"/>
          <a:ext cx="10972800" cy="5143500"/>
        </p:xfrm>
        <a:graphic>
          <a:graphicData uri="http://schemas.openxmlformats.org/drawingml/2006/table">
            <a:tbl>
              <a:tblGrid>
                <a:gridCol w="1599933">
                  <a:extLst>
                    <a:ext uri="{9D8B030D-6E8A-4147-A177-3AD203B41FA5}">
                      <a16:colId val="1"/>
                    </a:ext>
                  </a:extLst>
                </a:gridCol>
                <a:gridCol w="2915385">
                  <a:extLst>
                    <a:ext uri="{9D8B030D-6E8A-4147-A177-3AD203B41FA5}">
                      <a16:colId val="2"/>
                    </a:ext>
                  </a:extLst>
                </a:gridCol>
                <a:gridCol w="1696185">
                  <a:extLst>
                    <a:ext uri="{9D8B030D-6E8A-4147-A177-3AD203B41FA5}">
                      <a16:colId val="3"/>
                    </a:ext>
                  </a:extLst>
                </a:gridCol>
                <a:gridCol w="2263006">
                  <a:extLst>
                    <a:ext uri="{9D8B030D-6E8A-4147-A177-3AD203B41FA5}">
                      <a16:colId val="4"/>
                    </a:ext>
                  </a:extLst>
                </a:gridCol>
                <a:gridCol w="2498291">
                  <a:extLst>
                    <a:ext uri="{9D8B030D-6E8A-4147-A177-3AD203B41FA5}">
                      <a16:colId val="5"/>
                    </a:ext>
                  </a:extLst>
                </a:gridCol>
              </a:tblGrid>
              <a:tr h="51435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检测</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回答的问题（环节）</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标本/原理</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血小板异常时</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典型用途</a:t>
                      </a:r>
                      <a:endParaRPr/>
                    </a:p>
                  </a:txBody>
                  <a:tcPr marL="45720" marR="45720" marT="45720" marB="45720" anchor="ctr">
                    <a:lnL>
                      <a:noFill/>
                    </a:lnL>
                    <a:lnR>
                      <a:noFill/>
                    </a:lnR>
                    <a:lnT>
                      <a:noFill/>
                    </a:lnT>
                    <a:lnB>
                      <a:noFill/>
                    </a:lnB>
                    <a:solidFill>
                      <a:srgbClr val="0E3F8C"/>
                    </a:solidFill>
                  </a:tcPr>
                </a:tc>
                <a:extLst>
                  <a:ext uri="{0D108BD9-81ED-4DB2-BD59-A6C34878D82A}">
                    <a16:rowId val="1"/>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血小板计数(PLT)</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数量（生成/破坏/消耗）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全血/阻抗-光学-荧光</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直接反映（假象见第5章）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出血/输血阈值、化疗监测</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MPV/IPF</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血小板“新老”（生成活性）</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血球仪/荧光</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ITP↑、再障↓等线索</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鉴别生成障碍、恢复预警</a:t>
                      </a:r>
                      <a:endParaRPr/>
                    </a:p>
                  </a:txBody>
                  <a:tcPr marL="45720" marR="45720" marT="45720" marB="45720" anchor="ctr">
                    <a:lnL>
                      <a:noFill/>
                    </a:lnL>
                    <a:lnR>
                      <a:noFill/>
                    </a:lnR>
                    <a:lnT>
                      <a:noFill/>
                    </a:lnT>
                    <a:lnB>
                      <a:noFill/>
                    </a:lnB>
                    <a:solidFill>
                      <a:srgbClr val="F0F5FC"/>
                    </a:solidFill>
                  </a:tcPr>
                </a:tc>
                <a:extLst>
                  <a:ext uri="{0D108BD9-81ED-4DB2-BD59-A6C34878D82A}">
                    <a16:rowId val="3"/>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LTA/阻抗聚集</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聚集-分泌功能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PRP/全血+诱导剂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AA/ADP 通路受损可测</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血小板病诊断、抗血小板评估</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PFA 闭合时间</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剪切下黏附-聚集（一级止血）</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全血高剪切</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重度异常时延长</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VWD/重度血小板病筛查</a:t>
                      </a:r>
                      <a:endParaRPr/>
                    </a:p>
                  </a:txBody>
                  <a:tcPr marL="45720" marR="45720" marT="45720" marB="45720" anchor="ctr">
                    <a:lnL>
                      <a:noFill/>
                    </a:lnL>
                    <a:lnR>
                      <a:noFill/>
                    </a:lnR>
                    <a:lnT>
                      <a:noFill/>
                    </a:lnT>
                    <a:lnB>
                      <a:noFill/>
                    </a:lnB>
                    <a:solidFill>
                      <a:srgbClr val="F0F5FC"/>
                    </a:solidFill>
                  </a:tcPr>
                </a:tc>
                <a:extLst>
                  <a:ext uri="{0D108BD9-81ED-4DB2-BD59-A6C34878D82A}">
                    <a16:rowId val="5"/>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VET(MA/MCF)</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全血血块强度（血小板+纤维蛋白）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全血黏弹性</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MA/MCF 下降（血小板端）</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创伤/心脏外科目标导向输血</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PT/APTT</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凝血因子级联（2/1 途径）</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血浆/凝固法</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一般正常（不查血小板）</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因子缺乏、VKA/肝素监测</a:t>
                      </a:r>
                      <a:endParaRPr/>
                    </a:p>
                  </a:txBody>
                  <a:tcPr marL="45720" marR="45720" marT="45720" marB="45720" anchor="ctr">
                    <a:lnL>
                      <a:noFill/>
                    </a:lnL>
                    <a:lnR>
                      <a:noFill/>
                    </a:lnR>
                    <a:lnT>
                      <a:noFill/>
                    </a:lnT>
                    <a:lnB>
                      <a:noFill/>
                    </a:lnB>
                    <a:solidFill>
                      <a:srgbClr val="F0F5FC"/>
                    </a:solidFill>
                  </a:tcPr>
                </a:tc>
                <a:extLst>
                  <a:ext uri="{0D108BD9-81ED-4DB2-BD59-A6C34878D82A}">
                    <a16:rowId val="7"/>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纤维蛋白原(Clauss)</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可凝固纤维蛋白原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血浆/功能法</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一般正常</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低纤、PPH、创伤（见前系列）</a:t>
                      </a:r>
                      <a:endParaRPr/>
                    </a:p>
                  </a:txBody>
                  <a:tcPr marL="45720" marR="45720" marT="45720" marB="45720" anchor="ctr">
                    <a:lnL>
                      <a:noFill/>
                    </a:lnL>
                    <a:lnR>
                      <a:noFill/>
                    </a:lnR>
                    <a:lnT>
                      <a:noFill/>
                    </a:lnT>
                    <a:lnB>
                      <a:noFill/>
                    </a:lnB>
                    <a:solidFill>
                      <a:srgbClr val="FFFFFF"/>
                    </a:solidFill>
                  </a:tcPr>
                </a:tc>
                <a:extLst>
                  <a:ext uri="{0D108BD9-81ED-4DB2-BD59-A6C34878D82A}">
                    <a16:rowId val="8"/>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D-二聚体/FDP</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交联纤维蛋白降解（纤溶/血栓负荷）</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血浆/免疫</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与血小板无直接关系</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VTE 排除、DIC 辅助</a:t>
                      </a:r>
                      <a:endParaRPr/>
                    </a:p>
                  </a:txBody>
                  <a:tcPr marL="45720" marR="45720" marT="45720" marB="45720" anchor="ctr">
                    <a:lnL>
                      <a:noFill/>
                    </a:lnL>
                    <a:lnR>
                      <a:noFill/>
                    </a:lnR>
                    <a:lnT>
                      <a:noFill/>
                    </a:lnT>
                    <a:lnB>
                      <a:noFill/>
                    </a:lnB>
                    <a:solidFill>
                      <a:srgbClr val="F0F5FC"/>
                    </a:solidFill>
                  </a:tcPr>
                </a:tc>
                <a:extLst>
                  <a:ext uri="{0D108BD9-81ED-4DB2-BD59-A6C34878D82A}">
                    <a16:rowId val="9"/>
                  </a:ext>
                </a:extLst>
              </a:tr>
              <a:tr h="5143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VWF:RCo/Ag</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vWF 黏附轴（血小板-血管）</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血浆/聚集-免疫</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2B 型/血小板型可变</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VWD 分型、PFA 异常后定位</a:t>
                      </a:r>
                      <a:endParaRPr/>
                    </a:p>
                  </a:txBody>
                  <a:tcPr marL="45720" marR="45720" marT="45720" marB="45720" anchor="ctr">
                    <a:lnL>
                      <a:noFill/>
                    </a:lnL>
                    <a:lnR>
                      <a:noFill/>
                    </a:lnR>
                    <a:lnT>
                      <a:noFill/>
                    </a:lnT>
                    <a:lnB>
                      <a:noFill/>
                    </a:lnB>
                    <a:solidFill>
                      <a:srgbClr val="FFFFFF"/>
                    </a:solidFill>
                  </a:tcPr>
                </a:tc>
                <a:extLst>
                  <a:ext uri="{0D108BD9-81ED-4DB2-BD59-A6C34878D82A}">
                    <a16:rowId val="10"/>
                  </a:ext>
                </a:extLst>
              </a:tr>
            </a:tbl>
          </a:graphicData>
        </a:graphic>
      </p:graphicFrame>
      <p:sp>
        <p:nvSpPr>
          <p:cNvPr id="707" name=""/>
          <p:cNvSpPr/>
          <p:nvPr/>
        </p:nvSpPr>
        <p:spPr>
          <a:xfrm rot="0" flipH="0" flipV="0">
            <a:off x="0" y="6324600"/>
            <a:ext cx="12192000" cy="342900"/>
          </a:xfrm>
          <a:prstGeom prst="rect">
            <a:avLst/>
          </a:prstGeom>
          <a:solidFill>
            <a:srgbClr val="F7F9FC"/>
          </a:solidFill>
          <a:ln/>
        </p:spPr>
        <p:txBody>
          <a:bodyPr/>
          <a:p/>
        </p:txBody>
      </p:sp>
      <p:sp>
        <p:nvSpPr>
          <p:cNvPr id="708" name="" descr="{&quot;isTemplate&quot;:true,&quot;type&quot;:&quot;text&quot;}"/>
          <p:cNvSpPr txBox="1"/>
          <p:nvPr/>
        </p:nvSpPr>
        <p:spPr>
          <a:xfrm rot="0" flipH="0" flipV="0">
            <a:off x="609600" y="6400800"/>
            <a:ext cx="9525000" cy="361950"/>
          </a:xfrm>
          <a:prstGeom prst="rect"/>
        </p:spPr>
        <p:txBody>
          <a:bodyPr wrap="square" lIns="0" tIns="0" rIns="0" bIns="0">
            <a:normAutofit/>
          </a:bodyPr>
          <a:p>
            <a:pPr>
              <a:lnSpc>
                <a:spcPct val="130000"/>
              </a:lnSpc>
            </a:pPr>
            <a:r>
              <a:rPr lang="zh-CN" sz="900">
                <a:solidFill>
                  <a:srgbClr val="6B7B8C"/>
                </a:solidFill>
                <a:latin typeface="Microsoft YaHei"/>
                <a:ea typeface="Microsoft YaHei"/>
              </a:rPr>
              <a:t>本章为综合性对照表：方法学依据分别为——血小板生理</a:t>
            </a:r>
            <a:r>
              <a:rPr lang="en-US" sz="900">
                <a:solidFill>
                  <a:srgbClr val="6B7B8C"/>
                </a:solidFill>
                <a:latin typeface="Microsoft YaHei"/>
                <a:ea typeface="Microsoft YaHei"/>
              </a:rPr>
              <a:t> Gremmel</a:t>
            </a:r>
            <a:r>
              <a:rPr lang="zh-CN" sz="900">
                <a:solidFill>
                  <a:srgbClr val="6B7B8C"/>
                </a:solidFill>
                <a:latin typeface="Microsoft YaHei"/>
                <a:ea typeface="Microsoft YaHei"/>
              </a:rPr>
              <a:t>（</a:t>
            </a:r>
            <a:r>
              <a:rPr lang="en-US" sz="900">
                <a:solidFill>
                  <a:srgbClr val="6B7B8C"/>
                </a:solidFill>
                <a:latin typeface="Microsoft YaHei"/>
                <a:ea typeface="Microsoft YaHei"/>
              </a:rPr>
              <a:t>PMID 26926581</a:t>
            </a:r>
            <a:r>
              <a:rPr lang="zh-CN" sz="900">
                <a:solidFill>
                  <a:srgbClr val="6B7B8C"/>
                </a:solidFill>
                <a:latin typeface="Microsoft YaHei"/>
                <a:ea typeface="Microsoft YaHei"/>
              </a:rPr>
              <a:t>）；聚集试验</a:t>
            </a:r>
            <a:r>
              <a:rPr lang="en-US" sz="900">
                <a:solidFill>
                  <a:srgbClr val="6B7B8C"/>
                </a:solidFill>
                <a:latin typeface="Microsoft YaHei"/>
                <a:ea typeface="Microsoft YaHei"/>
              </a:rPr>
              <a:t> ISTH </a:t>
            </a:r>
            <a:r>
              <a:rPr lang="zh-CN" sz="900">
                <a:solidFill>
                  <a:srgbClr val="6B7B8C"/>
                </a:solidFill>
                <a:latin typeface="Microsoft YaHei"/>
                <a:ea typeface="Microsoft YaHei"/>
              </a:rPr>
              <a:t>标准化（</a:t>
            </a:r>
            <a:r>
              <a:rPr lang="en-US" sz="900">
                <a:solidFill>
                  <a:srgbClr val="6B7B8C"/>
                </a:solidFill>
                <a:latin typeface="Microsoft YaHei"/>
                <a:ea typeface="Microsoft YaHei"/>
              </a:rPr>
              <a:t>PMID 23574625</a:t>
            </a:r>
            <a:r>
              <a:rPr lang="zh-CN" sz="900">
                <a:solidFill>
                  <a:srgbClr val="6B7B8C"/>
                </a:solidFill>
                <a:latin typeface="Microsoft YaHei"/>
                <a:ea typeface="Microsoft YaHei"/>
              </a:rPr>
              <a:t>）与阻抗法（</a:t>
            </a:r>
            <a:r>
              <a:rPr lang="en-US" sz="900">
                <a:solidFill>
                  <a:srgbClr val="6B7B8C"/>
                </a:solidFill>
                <a:latin typeface="Microsoft YaHei"/>
                <a:ea typeface="Microsoft YaHei"/>
              </a:rPr>
              <a:t>PMID 24148217</a:t>
            </a:r>
            <a:r>
              <a:rPr lang="zh-CN" sz="900">
                <a:solidFill>
                  <a:srgbClr val="6B7B8C"/>
                </a:solidFill>
                <a:latin typeface="Microsoft YaHei"/>
                <a:ea typeface="Microsoft YaHei"/>
              </a:rPr>
              <a:t>）；</a:t>
            </a:r>
            <a:r>
              <a:rPr lang="en-US" sz="900">
                <a:solidFill>
                  <a:srgbClr val="6B7B8C"/>
                </a:solidFill>
                <a:latin typeface="Microsoft YaHei"/>
                <a:ea typeface="Microsoft YaHei"/>
              </a:rPr>
              <a:t>PFA</a:t>
            </a:r>
            <a:r>
              <a:rPr lang="zh-CN" sz="900">
                <a:solidFill>
                  <a:srgbClr val="6B7B8C"/>
                </a:solidFill>
                <a:latin typeface="Microsoft YaHei"/>
                <a:ea typeface="Microsoft YaHei"/>
              </a:rPr>
              <a:t>（</a:t>
            </a:r>
            <a:r>
              <a:rPr lang="en-US" sz="900">
                <a:solidFill>
                  <a:srgbClr val="6B7B8C"/>
                </a:solidFill>
                <a:latin typeface="Microsoft YaHei"/>
                <a:ea typeface="Microsoft YaHei"/>
              </a:rPr>
              <a:t>PMID 37903565</a:t>
            </a:r>
            <a:r>
              <a:rPr lang="zh-CN" sz="900">
                <a:solidFill>
                  <a:srgbClr val="6B7B8C"/>
                </a:solidFill>
                <a:latin typeface="Microsoft YaHei"/>
                <a:ea typeface="Microsoft YaHei"/>
              </a:rPr>
              <a:t>）；</a:t>
            </a:r>
            <a:r>
              <a:rPr lang="en-US" sz="900">
                <a:solidFill>
                  <a:srgbClr val="6B7B8C"/>
                </a:solidFill>
                <a:latin typeface="Microsoft YaHei"/>
                <a:ea typeface="Microsoft YaHei"/>
              </a:rPr>
              <a:t>VET</a:t>
            </a:r>
            <a:r>
              <a:rPr lang="zh-CN" sz="900">
                <a:solidFill>
                  <a:srgbClr val="6B7B8C"/>
                </a:solidFill>
                <a:latin typeface="Microsoft YaHei"/>
                <a:ea typeface="Microsoft YaHei"/>
              </a:rPr>
              <a:t>（</a:t>
            </a:r>
            <a:r>
              <a:rPr lang="en-US" sz="900">
                <a:solidFill>
                  <a:srgbClr val="6B7B8C"/>
                </a:solidFill>
                <a:latin typeface="Microsoft YaHei"/>
                <a:ea typeface="Microsoft YaHei"/>
              </a:rPr>
              <a:t>PMID 21872428</a:t>
            </a:r>
            <a:r>
              <a:rPr lang="zh-CN" sz="900">
                <a:solidFill>
                  <a:srgbClr val="6B7B8C"/>
                </a:solidFill>
                <a:latin typeface="Microsoft YaHei"/>
                <a:ea typeface="Microsoft YaHei"/>
              </a:rPr>
              <a:t>）；参考区间（</a:t>
            </a:r>
            <a:r>
              <a:rPr lang="en-US" sz="900">
                <a:solidFill>
                  <a:srgbClr val="6B7B8C"/>
                </a:solidFill>
                <a:latin typeface="Microsoft YaHei"/>
                <a:ea typeface="Microsoft YaHei"/>
              </a:rPr>
              <a:t>PMID 23382888</a:t>
            </a:r>
            <a:r>
              <a:rPr lang="zh-CN" sz="900">
                <a:solidFill>
                  <a:srgbClr val="6B7B8C"/>
                </a:solidFill>
                <a:latin typeface="Microsoft YaHei"/>
                <a:ea typeface="Microsoft YaHei"/>
              </a:rPr>
              <a:t>）。</a:t>
            </a:r>
            <a:endParaRPr/>
          </a:p>
        </p:txBody>
      </p:sp>
      <p:sp>
        <p:nvSpPr>
          <p:cNvPr id="70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6.xml><?xml version="1.0" encoding="utf-8"?>
<p:sld xmlns:p="http://schemas.openxmlformats.org/presentationml/2006/main" xmlns:a="http://schemas.openxmlformats.org/drawingml/2006/main">
  <p:cSld>
    <p:spTree>
      <p:nvGrpSpPr>
        <p:cNvPr id="710" name="" descr="&lt;Slide notes={`演讲者备注：【GREMMEL-PHYS】血小板在血管损伤处经黏附、活化、聚集形成止血栓（一级止血），并通过膜表面促凝暴露与颗粒释放参与凝血级联、炎症与免疫。证据：Semin Thromb Hemost 2016;42:191-204，PMID 26926581。&#13;&#10;【CATTANEO-LTA】ISTH SSC 光学比浊聚集标准化共识：规范 PRP 制备、诱导剂浓度、双复管判读与质量控制，LTA 仍是血小板功能检测的参考方法。证据：J Thromb Haemost 2013;11:1183-1189，PMID 23574625。&#13;&#10;讲解提示：呼应第一章“数量+功能双维度”：一张“止血全景”需要 CBC（血小板+涂片）、凝血四项、必要时 VET/血小板功能三者拼图；任何单项“正常”都不能覆盖其余环节。`}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六章 与其他凝血/止血检测的异同&lt;/Text&gt;&#13;&#10;      &lt;Box style={{ width: 1, height: 24, background: '#3D7BD9' }} /&gt;&#13;&#10;      &lt;Text style={{ fontSize: 16, color: '#C7D6EC' }}&gt;为什么“凝血四项正常”不能排除血小板问题&lt;/Text&gt;&#13;&#10;    &lt;/Box&gt;&#13;&#10;    &lt;Text style={{ position: 'absolute', right: 64, top: 24, fontSize: 15, color: '#9DB8E0' }}&gt;36 / 77&lt;/Text&gt;&#13;&#10;  &lt;/Box&gt;&#13;&#10;  &lt;Box style={{ position: 'absolute', left: 64, top: 96, width: 562, height: 128, background: '#F0F5FC', borderRadius: 12, border: '1px solid #E5E7EB', padding: 20 }}&gt;&#13;&#10;&lt;Text style={{ fontSize: 19, color: '#0E3F8C', fontWeight: 'bold', textAlign: 'left', lineHeight: 1.5 }}&gt;逻辑盲区&lt;/Text&gt;&#13;&#10;&lt;Text style={{ fontSize: 17, color: '#2C3E50', textAlign: 'left', lineHeight: 1.62 }}&gt;PT/APTT 检测的是乏血小板血浆中的凝血因子级联，血小板在采血离心时已被去除——它们根本“看不见”血小板；故血小板重度减少或功能缺陷时 PT/APTT 可以完全正常。&lt;/Text&gt;&#13;&#10;  &lt;/Box&gt;&#13;&#10;  &lt;Box style={{ position: 'absolute', left: 654, top: 96, width: 562, height: 128, background: '#F0F5FC', borderRadius: 12, border: '1px solid #E5E7EB', padding: 20 }}&gt;&#13;&#10;&lt;Text style={{ fontSize: 19, color: '#0E3F8C', fontWeight: 'bold', textAlign: 'left', lineHeight: 1.5 }}&gt;临床后果&lt;/Text&gt;&#13;&#10;&lt;Text style={{ fontSize: 17, color: '#2C3E50', textAlign: 'left', lineHeight: 1.62 }}&gt;仅凭“凝血四项正常”排除出血体质是常见误判：如血小板无力症、服阿司匹林患者、尿毒症血小板病、轻型 vWD 都可能四项正常而临床明显出血。&lt;/Text&gt;&#13;&#10;  &lt;/Box&gt;&#13;&#10;  &lt;Box style={{ position: 'absolute', left: 64, top: 252, width: 562, height: 128, background: '#F0F5FC', borderRadius: 12, border: '1px solid #E5E7EB', padding: 20 }}&gt;&#13;&#10;&lt;Text style={{ fontSize: 19, color: '#0E3F8C', fontWeight: 'bold', textAlign: 'left', lineHeight: 1.5 }}&gt;正确路径&lt;/Text&gt;&#13;&#10;&lt;Text style={{ fontSize: 17, color: '#2C3E50', textAlign: 'left', lineHeight: 1.62 }}&gt;出血体质评估必须包含：血小板计数+血涂片（第一步）→ 按表型选功能/因子/VWF 检测（第二步）→ 必要时 VET/流式/基因（第三步），而非“先查凝血四项”。&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正常凝血四项”只能说明血浆因子侧没事，血小板侧需要自己的检测语言。&lt;/Text&gt;&#13;&#10;  &lt;/Box&gt;&#13;&#10;&#13;&#10;  &lt;Box style={{ position: 'absolute', left: 64, top: 556, width: 1152, height: 92, background: '#F0F5FC', borderRadius: 12, border: '1px solid #E5E7EB', padding: 20 }}&gt;&#13;&#10;&lt;Text style={{ fontSize: 17, color: '#2C3E50', textAlign: 'left', lineHeight: 1.6 }}&gt;小结：Semin Thromb Hemost 2016;42:191-204 (PMID 2692658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711" name=""/>
          <p:cNvSpPr/>
          <p:nvPr/>
        </p:nvSpPr>
        <p:spPr>
          <a:xfrm rot="0" flipH="0" flipV="0">
            <a:off x="0" y="0"/>
            <a:ext cx="12192000" cy="6858000"/>
          </a:xfrm>
          <a:prstGeom prst="rect">
            <a:avLst/>
          </a:prstGeom>
          <a:solidFill>
            <a:srgbClr val="FFFFFF"/>
          </a:solidFill>
          <a:ln/>
        </p:spPr>
        <p:txBody>
          <a:bodyPr/>
          <a:p/>
        </p:txBody>
      </p:sp>
      <p:sp>
        <p:nvSpPr>
          <p:cNvPr id="712" name=""/>
          <p:cNvSpPr/>
          <p:nvPr/>
        </p:nvSpPr>
        <p:spPr>
          <a:xfrm rot="0" flipH="0" flipV="0">
            <a:off x="0" y="0"/>
            <a:ext cx="12192000" cy="685800"/>
          </a:xfrm>
          <a:prstGeom prst="rect">
            <a:avLst/>
          </a:prstGeom>
          <a:solidFill>
            <a:srgbClr val="0E3F8C"/>
          </a:solidFill>
          <a:ln/>
        </p:spPr>
        <p:txBody>
          <a:bodyPr/>
          <a:p/>
        </p:txBody>
      </p:sp>
      <p:sp>
        <p:nvSpPr>
          <p:cNvPr id="713" name="" descr="{&quot;isTemplate&quot;:true,&quot;type&quot;:&quot;text&quot;}"/>
          <p:cNvSpPr txBox="1"/>
          <p:nvPr/>
        </p:nvSpPr>
        <p:spPr>
          <a:xfrm rot="0" flipH="0" flipV="0">
            <a:off x="609600" y="219075"/>
            <a:ext cx="2705100" cy="209550"/>
          </a:xfrm>
          <a:prstGeom prst="rect"/>
        </p:spPr>
        <p:txBody>
          <a:bodyPr wrap="none" lIns="0" tIns="0" rIns="0" bIns="0"/>
          <a:p>
            <a:pPr>
              <a:lnSpc>
                <a:spcPct val="100000"/>
              </a:lnSpc>
            </a:pPr>
            <a:r>
              <a:rPr lang="zh-CN" sz="1350" b="1">
                <a:solidFill>
                  <a:srgbClr val="FFFFFF"/>
                </a:solidFill>
                <a:latin typeface="Microsoft YaHei"/>
                <a:ea typeface="Microsoft YaHei"/>
              </a:rPr>
              <a:t>第六章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与其他凝血</a:t>
            </a:r>
            <a:r>
              <a:rPr lang="en-US" sz="1350" b="1">
                <a:solidFill>
                  <a:srgbClr val="FFFFFF"/>
                </a:solidFill>
                <a:latin typeface="Microsoft YaHei"/>
                <a:ea typeface="Microsoft YaHei"/>
              </a:rPr>
              <a:t>/</a:t>
            </a:r>
            <a:r>
              <a:rPr lang="zh-CN" sz="1350" b="1">
                <a:solidFill>
                  <a:srgbClr val="FFFFFF"/>
                </a:solidFill>
                <a:latin typeface="Microsoft YaHei"/>
                <a:ea typeface="Microsoft YaHei"/>
              </a:rPr>
              <a:t>止血检测的异同</a:t>
            </a:r>
            <a:endParaRPr/>
          </a:p>
        </p:txBody>
      </p:sp>
      <p:sp>
        <p:nvSpPr>
          <p:cNvPr id="714" name=""/>
          <p:cNvSpPr/>
          <p:nvPr/>
        </p:nvSpPr>
        <p:spPr>
          <a:xfrm rot="0" flipH="0" flipV="0">
            <a:off x="3467100" y="209550"/>
            <a:ext cx="9525" cy="228600"/>
          </a:xfrm>
          <a:prstGeom prst="rect">
            <a:avLst/>
          </a:prstGeom>
          <a:solidFill>
            <a:srgbClr val="3D7BD9"/>
          </a:solidFill>
          <a:ln/>
        </p:spPr>
        <p:txBody>
          <a:bodyPr/>
          <a:p/>
        </p:txBody>
      </p:sp>
      <p:sp>
        <p:nvSpPr>
          <p:cNvPr id="715" name="" descr="{&quot;isTemplate&quot;:true,&quot;type&quot;:&quot;text&quot;}"/>
          <p:cNvSpPr txBox="1"/>
          <p:nvPr/>
        </p:nvSpPr>
        <p:spPr>
          <a:xfrm rot="0" flipH="0" flipV="0">
            <a:off x="3629025" y="228600"/>
            <a:ext cx="3048000" cy="190500"/>
          </a:xfrm>
          <a:prstGeom prst="rect"/>
        </p:spPr>
        <p:txBody>
          <a:bodyPr wrap="none" lIns="0" tIns="0" rIns="0" bIns="0"/>
          <a:p>
            <a:pPr>
              <a:lnSpc>
                <a:spcPct val="100000"/>
              </a:lnSpc>
            </a:pPr>
            <a:r>
              <a:rPr lang="zh-CN" sz="1200">
                <a:solidFill>
                  <a:srgbClr val="C7D6EC"/>
                </a:solidFill>
                <a:latin typeface="Microsoft YaHei"/>
                <a:ea typeface="Microsoft YaHei"/>
              </a:rPr>
              <a:t>为什么“凝血四项正常”不能排除血小板问题</a:t>
            </a:r>
            <a:endParaRPr/>
          </a:p>
        </p:txBody>
      </p:sp>
      <p:sp>
        <p:nvSpPr>
          <p:cNvPr id="71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36 / 77</a:t>
            </a:r>
            <a:endParaRPr/>
          </a:p>
        </p:txBody>
      </p:sp>
      <p:sp>
        <p:nvSpPr>
          <p:cNvPr id="71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1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逻辑盲区</a:t>
            </a:r>
            <a:endParaRPr/>
          </a:p>
        </p:txBody>
      </p:sp>
      <p:sp>
        <p:nvSpPr>
          <p:cNvPr id="719"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PT/APTT </a:t>
            </a:r>
            <a:r>
              <a:rPr lang="zh-CN" sz="1275">
                <a:solidFill>
                  <a:srgbClr val="2C3E50"/>
                </a:solidFill>
                <a:latin typeface="Microsoft YaHei"/>
                <a:ea typeface="Microsoft YaHei"/>
              </a:rPr>
              <a:t>检测的是乏血小板血浆中的凝血因子级联，血小板在采血离心时已被去除——它们根本“看不见”血小板；故血小板重度减少或功能缺陷时</a:t>
            </a:r>
            <a:r>
              <a:rPr lang="en-US" sz="1275">
                <a:solidFill>
                  <a:srgbClr val="2C3E50"/>
                </a:solidFill>
                <a:latin typeface="Microsoft YaHei"/>
                <a:ea typeface="Microsoft YaHei"/>
              </a:rPr>
              <a:t> PT/APTT </a:t>
            </a:r>
            <a:r>
              <a:rPr lang="zh-CN" sz="1275">
                <a:solidFill>
                  <a:srgbClr val="2C3E50"/>
                </a:solidFill>
                <a:latin typeface="Microsoft YaHei"/>
                <a:ea typeface="Microsoft YaHei"/>
              </a:rPr>
              <a:t>可以完全正常。</a:t>
            </a:r>
            <a:endParaRPr/>
          </a:p>
        </p:txBody>
      </p:sp>
      <p:sp>
        <p:nvSpPr>
          <p:cNvPr id="72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2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临床后果</a:t>
            </a:r>
            <a:endParaRPr/>
          </a:p>
        </p:txBody>
      </p:sp>
      <p:sp>
        <p:nvSpPr>
          <p:cNvPr id="72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仅凭“凝血四项正常”排除出血体质是常见误判：如血小板无力症、服阿司匹林患者、尿毒症血小板病、轻型</a:t>
            </a:r>
            <a:r>
              <a:rPr lang="en-US" sz="1275">
                <a:solidFill>
                  <a:srgbClr val="2C3E50"/>
                </a:solidFill>
                <a:latin typeface="Microsoft YaHei"/>
                <a:ea typeface="Microsoft YaHei"/>
              </a:rPr>
              <a:t> vWD </a:t>
            </a:r>
            <a:r>
              <a:rPr lang="zh-CN" sz="1275">
                <a:solidFill>
                  <a:srgbClr val="2C3E50"/>
                </a:solidFill>
                <a:latin typeface="Microsoft YaHei"/>
                <a:ea typeface="Microsoft YaHei"/>
              </a:rPr>
              <a:t>都可能四项正常而临床明显出血。</a:t>
            </a:r>
            <a:endParaRPr/>
          </a:p>
        </p:txBody>
      </p:sp>
      <p:sp>
        <p:nvSpPr>
          <p:cNvPr id="72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2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正确路径</a:t>
            </a:r>
            <a:endParaRPr/>
          </a:p>
        </p:txBody>
      </p:sp>
      <p:sp>
        <p:nvSpPr>
          <p:cNvPr id="72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出血体质评估必须包含：血小板计数</a:t>
            </a:r>
            <a:r>
              <a:rPr lang="en-US" sz="1275">
                <a:solidFill>
                  <a:srgbClr val="2C3E50"/>
                </a:solidFill>
                <a:latin typeface="Microsoft YaHei"/>
                <a:ea typeface="Microsoft YaHei"/>
              </a:rPr>
              <a:t>+</a:t>
            </a:r>
            <a:r>
              <a:rPr lang="zh-CN" sz="1275">
                <a:solidFill>
                  <a:srgbClr val="2C3E50"/>
                </a:solidFill>
                <a:latin typeface="Microsoft YaHei"/>
                <a:ea typeface="Microsoft YaHei"/>
              </a:rPr>
              <a:t>血涂片（第一步）→</a:t>
            </a:r>
            <a:r>
              <a:rPr lang="en-US" sz="1275">
                <a:solidFill>
                  <a:srgbClr val="2C3E50"/>
                </a:solidFill>
                <a:latin typeface="Microsoft YaHei"/>
                <a:ea typeface="Microsoft YaHei"/>
              </a:rPr>
              <a:t> </a:t>
            </a:r>
            <a:r>
              <a:rPr lang="zh-CN" sz="1275">
                <a:solidFill>
                  <a:srgbClr val="2C3E50"/>
                </a:solidFill>
                <a:latin typeface="Microsoft YaHei"/>
                <a:ea typeface="Microsoft YaHei"/>
              </a:rPr>
              <a:t>按表型选功能</a:t>
            </a:r>
            <a:r>
              <a:rPr lang="en-US" sz="1275">
                <a:solidFill>
                  <a:srgbClr val="2C3E50"/>
                </a:solidFill>
                <a:latin typeface="Microsoft YaHei"/>
                <a:ea typeface="Microsoft YaHei"/>
              </a:rPr>
              <a:t>/</a:t>
            </a:r>
            <a:r>
              <a:rPr lang="zh-CN" sz="1275">
                <a:solidFill>
                  <a:srgbClr val="2C3E50"/>
                </a:solidFill>
                <a:latin typeface="Microsoft YaHei"/>
                <a:ea typeface="Microsoft YaHei"/>
              </a:rPr>
              <a:t>因子</a:t>
            </a:r>
            <a:r>
              <a:rPr lang="en-US" sz="1275">
                <a:solidFill>
                  <a:srgbClr val="2C3E50"/>
                </a:solidFill>
                <a:latin typeface="Microsoft YaHei"/>
                <a:ea typeface="Microsoft YaHei"/>
              </a:rPr>
              <a:t>/VWF </a:t>
            </a:r>
            <a:r>
              <a:rPr lang="zh-CN" sz="1275">
                <a:solidFill>
                  <a:srgbClr val="2C3E50"/>
                </a:solidFill>
                <a:latin typeface="Microsoft YaHei"/>
                <a:ea typeface="Microsoft YaHei"/>
              </a:rPr>
              <a:t>检测（第二步）→</a:t>
            </a:r>
            <a:r>
              <a:rPr lang="en-US" sz="1275">
                <a:solidFill>
                  <a:srgbClr val="2C3E50"/>
                </a:solidFill>
                <a:latin typeface="Microsoft YaHei"/>
                <a:ea typeface="Microsoft YaHei"/>
              </a:rPr>
              <a:t> </a:t>
            </a:r>
            <a:r>
              <a:rPr lang="zh-CN" sz="1275">
                <a:solidFill>
                  <a:srgbClr val="2C3E50"/>
                </a:solidFill>
                <a:latin typeface="Microsoft YaHei"/>
                <a:ea typeface="Microsoft YaHei"/>
              </a:rPr>
              <a:t>必要时</a:t>
            </a:r>
            <a:r>
              <a:rPr lang="en-US" sz="1275">
                <a:solidFill>
                  <a:srgbClr val="2C3E50"/>
                </a:solidFill>
                <a:latin typeface="Microsoft YaHei"/>
                <a:ea typeface="Microsoft YaHei"/>
              </a:rPr>
              <a:t> VET/</a:t>
            </a:r>
            <a:r>
              <a:rPr lang="zh-CN" sz="1275">
                <a:solidFill>
                  <a:srgbClr val="2C3E50"/>
                </a:solidFill>
                <a:latin typeface="Microsoft YaHei"/>
                <a:ea typeface="Microsoft YaHei"/>
              </a:rPr>
              <a:t>流式</a:t>
            </a:r>
            <a:r>
              <a:rPr lang="en-US" sz="1275">
                <a:solidFill>
                  <a:srgbClr val="2C3E50"/>
                </a:solidFill>
                <a:latin typeface="Microsoft YaHei"/>
                <a:ea typeface="Microsoft YaHei"/>
              </a:rPr>
              <a:t>/</a:t>
            </a:r>
            <a:r>
              <a:rPr lang="zh-CN" sz="1275">
                <a:solidFill>
                  <a:srgbClr val="2C3E50"/>
                </a:solidFill>
                <a:latin typeface="Microsoft YaHei"/>
                <a:ea typeface="Microsoft YaHei"/>
              </a:rPr>
              <a:t>基因（第三步），而非“先查凝血四项”。</a:t>
            </a:r>
            <a:endParaRPr/>
          </a:p>
        </p:txBody>
      </p:sp>
      <p:sp>
        <p:nvSpPr>
          <p:cNvPr id="72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2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72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72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3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“正常凝血四项”只能说明血浆因子侧没事，血小板侧需要自己的检测语言。</a:t>
            </a:r>
            <a:endParaRPr/>
          </a:p>
        </p:txBody>
      </p:sp>
      <p:sp>
        <p:nvSpPr>
          <p:cNvPr id="73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73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2016;42:191-204 (PMID 26926581)</a:t>
            </a:r>
            <a:endParaRPr/>
          </a:p>
        </p:txBody>
      </p:sp>
      <p:sp>
        <p:nvSpPr>
          <p:cNvPr id="733" name=""/>
          <p:cNvSpPr/>
          <p:nvPr/>
        </p:nvSpPr>
        <p:spPr>
          <a:xfrm rot="0" flipH="0" flipV="0">
            <a:off x="0" y="6324600"/>
            <a:ext cx="12192000" cy="342900"/>
          </a:xfrm>
          <a:prstGeom prst="rect">
            <a:avLst/>
          </a:prstGeom>
          <a:solidFill>
            <a:srgbClr val="F7F9FC"/>
          </a:solidFill>
          <a:ln/>
        </p:spPr>
        <p:txBody>
          <a:bodyPr/>
          <a:p/>
        </p:txBody>
      </p:sp>
      <p:sp>
        <p:nvSpPr>
          <p:cNvPr id="73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73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7.xml><?xml version="1.0" encoding="utf-8"?>
<p:sld xmlns:p="http://schemas.openxmlformats.org/presentationml/2006/main" xmlns:a="http://schemas.openxmlformats.org/drawingml/2006/main">
  <p:cSld>
    <p:spTree>
      <p:nvGrpSpPr>
        <p:cNvPr id="736" name="" descr="&lt;Slide notes={`演讲者备注：【FAVALORO-VWD-PFA】PFA-100/200 对 VWD 检测/排除的效用评价：对经典 VWD 敏感但对轻型、2B/2M 及血小板型 VWD 可能漏检，需结合 VWF 抗原/活性与血小板功能联合判断。证据：Thromb Res 2020;188:17-24，PMID 32036157。&#13;&#10;【FAVALORO-PFA】PFA-100/PFA-200 问世 30 年回顾：以剪切下全血闭合时间评价一级止血，对 VWD 与重度血小板病敏感，对轻中度血小板功能异常与抗血小板监测价值有限。证据：Semin Thromb Hemost 2024;50:320-324，PMID 37903565。&#13;&#10;讲解提示：给临床一个“出血问卷+初筛（CBC+PFA/涂片）+定位（vWF 全套/聚集/流式）”的最小闭环，避免在 vWD 与血小板病之间绕圈。`}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六章 与其他凝血/止血检测的异同&lt;/Text&gt;&#13;&#10;      &lt;Box style={{ width: 1, height: 24, background: '#3D7BD9' }} /&gt;&#13;&#10;      &lt;Text style={{ fontSize: 16, color: '#C7D6EC' }}&gt;血小板与 vWF：一级止血的“黄金搭档”&lt;/Text&gt;&#13;&#10;    &lt;/Box&gt;&#13;&#10;    &lt;Text style={{ position: 'absolute', right: 64, top: 24, fontSize: 15, color: '#9DB8E0' }}&gt;37 / 77&lt;/Text&gt;&#13;&#10;  &lt;/Box&gt;&#13;&#10;  &lt;Box style={{ position: 'absolute', left: 64, top: 96, width: 562, height: 128, background: '#F0F5FC', borderRadius: 12, border: '1px solid #E5E7EB', padding: 20 }}&gt;&#13;&#10;&lt;Text style={{ fontSize: 19, color: '#0E3F8C', fontWeight: 'bold', textAlign: 'left', lineHeight: 1.5 }}&gt;生理关系&lt;/Text&gt;&#13;&#10;&lt;Text style={{ fontSize: 17, color: '#2C3E50', textAlign: 'left', lineHeight: 1.62 }}&gt;vWF 介导血小板在高剪切下黏附（GPIb-vWF-胶原轴），并携带凝血因子 VIII；vWF 缺陷（vWD）与血小板自身缺陷临床表现相似（黏膜皮肤出血），检验上常需联合鉴别。&lt;/Text&gt;&#13;&#10;  &lt;/Box&gt;&#13;&#10;  &lt;Box style={{ position: 'absolute', left: 654, top: 96, width: 562, height: 128, background: '#F0F5FC', borderRadius: 12, border: '1px solid #E5E7EB', padding: 20 }}&gt;&#13;&#10;&lt;Text style={{ fontSize: 19, color: '#0E3F8C', fontWeight: 'bold', textAlign: 'left', lineHeight: 1.5 }}&gt;检测交叉&lt;/Text&gt;&#13;&#10;&lt;Text style={{ fontSize: 17, color: '#2C3E50', textAlign: 'left', lineHeight: 1.62 }}&gt;PFA 对 vWD 敏感但对轻型和某些亚型（2B/2M、血小板型）可漏检；ristocetin 诱导聚集（RIPA）可区分 vWD 与血小板型 vWD；血小板功能+ vWF:Ag/活性+多聚体联合才能定型。&lt;/Text&gt;&#13;&#10;  &lt;/Box&gt;&#13;&#10;  &lt;Box style={{ position: 'absolute', left: 64, top: 252, width: 562, height: 128, background: '#F0F5FC', borderRadius: 12, border: '1px solid #E5E7EB', padding: 20 }}&gt;&#13;&#10;&lt;Text style={{ fontSize: 19, color: '#0E3F8C', fontWeight: 'bold', textAlign: 'left', lineHeight: 1.5 }}&gt;临床落点&lt;/Text&gt;&#13;&#10;&lt;Text style={{ fontSize: 17, color: '#2C3E50', textAlign: 'left', lineHeight: 1.62 }}&gt;“PFA 异常→查 vWF 全套”是标准路径；同时警惕“血小板增多伴 vWD 样出血”（如 ET 获得性 vWD）——数量问题可能以“功能异常”的面貌出现。&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血小板与 vWF 互为“影子”：症状相似、检测交叉，解读必须成对进行。&lt;/Text&gt;&#13;&#10;  &lt;/Box&gt;&#13;&#10;&#13;&#10;  &lt;Box style={{ position: 'absolute', left: 64, top: 556, width: 1152, height: 92, background: '#F0F5FC', borderRadius: 12, border: '1px solid #E5E7EB', padding: 20 }}&gt;&#13;&#10;&lt;Text style={{ fontSize: 17, color: '#2C3E50', textAlign: 'left', lineHeight: 1.6 }}&gt;小结：Thromb Res 2020;188:17-24 (PMID 32036157)&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737" name=""/>
          <p:cNvSpPr/>
          <p:nvPr/>
        </p:nvSpPr>
        <p:spPr>
          <a:xfrm rot="0" flipH="0" flipV="0">
            <a:off x="0" y="0"/>
            <a:ext cx="12192000" cy="6858000"/>
          </a:xfrm>
          <a:prstGeom prst="rect">
            <a:avLst/>
          </a:prstGeom>
          <a:solidFill>
            <a:srgbClr val="FFFFFF"/>
          </a:solidFill>
          <a:ln/>
        </p:spPr>
        <p:txBody>
          <a:bodyPr/>
          <a:p/>
        </p:txBody>
      </p:sp>
      <p:sp>
        <p:nvSpPr>
          <p:cNvPr id="738" name=""/>
          <p:cNvSpPr/>
          <p:nvPr/>
        </p:nvSpPr>
        <p:spPr>
          <a:xfrm rot="0" flipH="0" flipV="0">
            <a:off x="0" y="0"/>
            <a:ext cx="12192000" cy="685800"/>
          </a:xfrm>
          <a:prstGeom prst="rect">
            <a:avLst/>
          </a:prstGeom>
          <a:solidFill>
            <a:srgbClr val="0E3F8C"/>
          </a:solidFill>
          <a:ln/>
        </p:spPr>
        <p:txBody>
          <a:bodyPr/>
          <a:p/>
        </p:txBody>
      </p:sp>
      <p:sp>
        <p:nvSpPr>
          <p:cNvPr id="739" name="" descr="{&quot;isTemplate&quot;:true,&quot;type&quot;:&quot;text&quot;}"/>
          <p:cNvSpPr txBox="1"/>
          <p:nvPr/>
        </p:nvSpPr>
        <p:spPr>
          <a:xfrm rot="0" flipH="0" flipV="0">
            <a:off x="609600" y="219075"/>
            <a:ext cx="2705100" cy="209550"/>
          </a:xfrm>
          <a:prstGeom prst="rect"/>
        </p:spPr>
        <p:txBody>
          <a:bodyPr wrap="none" lIns="0" tIns="0" rIns="0" bIns="0"/>
          <a:p>
            <a:pPr>
              <a:lnSpc>
                <a:spcPct val="100000"/>
              </a:lnSpc>
            </a:pPr>
            <a:r>
              <a:rPr lang="zh-CN" sz="1350" b="1">
                <a:solidFill>
                  <a:srgbClr val="FFFFFF"/>
                </a:solidFill>
                <a:latin typeface="Microsoft YaHei"/>
                <a:ea typeface="Microsoft YaHei"/>
              </a:rPr>
              <a:t>第六章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与其他凝血</a:t>
            </a:r>
            <a:r>
              <a:rPr lang="en-US" sz="1350" b="1">
                <a:solidFill>
                  <a:srgbClr val="FFFFFF"/>
                </a:solidFill>
                <a:latin typeface="Microsoft YaHei"/>
                <a:ea typeface="Microsoft YaHei"/>
              </a:rPr>
              <a:t>/</a:t>
            </a:r>
            <a:r>
              <a:rPr lang="zh-CN" sz="1350" b="1">
                <a:solidFill>
                  <a:srgbClr val="FFFFFF"/>
                </a:solidFill>
                <a:latin typeface="Microsoft YaHei"/>
                <a:ea typeface="Microsoft YaHei"/>
              </a:rPr>
              <a:t>止血检测的异同</a:t>
            </a:r>
            <a:endParaRPr/>
          </a:p>
        </p:txBody>
      </p:sp>
      <p:sp>
        <p:nvSpPr>
          <p:cNvPr id="740" name=""/>
          <p:cNvSpPr/>
          <p:nvPr/>
        </p:nvSpPr>
        <p:spPr>
          <a:xfrm rot="0" flipH="0" flipV="0">
            <a:off x="3467100" y="209550"/>
            <a:ext cx="9525" cy="228600"/>
          </a:xfrm>
          <a:prstGeom prst="rect">
            <a:avLst/>
          </a:prstGeom>
          <a:solidFill>
            <a:srgbClr val="3D7BD9"/>
          </a:solidFill>
          <a:ln/>
        </p:spPr>
        <p:txBody>
          <a:bodyPr/>
          <a:p/>
        </p:txBody>
      </p:sp>
      <p:sp>
        <p:nvSpPr>
          <p:cNvPr id="741" name="" descr="{&quot;isTemplate&quot;:true,&quot;type&quot;:&quot;text&quot;}"/>
          <p:cNvSpPr txBox="1"/>
          <p:nvPr/>
        </p:nvSpPr>
        <p:spPr>
          <a:xfrm rot="0" flipH="0" flipV="0">
            <a:off x="3629025" y="228600"/>
            <a:ext cx="2800350" cy="190500"/>
          </a:xfrm>
          <a:prstGeom prst="rect"/>
        </p:spPr>
        <p:txBody>
          <a:bodyPr wrap="none" lIns="0" tIns="0" rIns="0" bIns="0"/>
          <a:p>
            <a:pPr>
              <a:lnSpc>
                <a:spcPct val="100000"/>
              </a:lnSpc>
            </a:pPr>
            <a:r>
              <a:rPr lang="zh-CN" sz="1200">
                <a:solidFill>
                  <a:srgbClr val="C7D6EC"/>
                </a:solidFill>
                <a:latin typeface="Microsoft YaHei"/>
                <a:ea typeface="Microsoft YaHei"/>
              </a:rPr>
              <a:t>血小板与</a:t>
            </a:r>
            <a:r>
              <a:rPr lang="en-US" sz="1200">
                <a:solidFill>
                  <a:srgbClr val="C7D6EC"/>
                </a:solidFill>
                <a:latin typeface="Microsoft YaHei"/>
                <a:ea typeface="Microsoft YaHei"/>
              </a:rPr>
              <a:t> vWF</a:t>
            </a:r>
            <a:r>
              <a:rPr lang="zh-CN" sz="1200">
                <a:solidFill>
                  <a:srgbClr val="C7D6EC"/>
                </a:solidFill>
                <a:latin typeface="Microsoft YaHei"/>
                <a:ea typeface="Microsoft YaHei"/>
              </a:rPr>
              <a:t>：一级止血的“黄金搭档”</a:t>
            </a:r>
            <a:endParaRPr/>
          </a:p>
        </p:txBody>
      </p:sp>
      <p:sp>
        <p:nvSpPr>
          <p:cNvPr id="74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37 / 77</a:t>
            </a:r>
            <a:endParaRPr/>
          </a:p>
        </p:txBody>
      </p:sp>
      <p:sp>
        <p:nvSpPr>
          <p:cNvPr id="743"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4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生理关系</a:t>
            </a:r>
            <a:endParaRPr/>
          </a:p>
        </p:txBody>
      </p:sp>
      <p:sp>
        <p:nvSpPr>
          <p:cNvPr id="745"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vWF </a:t>
            </a:r>
            <a:r>
              <a:rPr lang="zh-CN" sz="1275">
                <a:solidFill>
                  <a:srgbClr val="2C3E50"/>
                </a:solidFill>
                <a:latin typeface="Microsoft YaHei"/>
                <a:ea typeface="Microsoft YaHei"/>
              </a:rPr>
              <a:t>介导血小板在高剪切下黏附（</a:t>
            </a:r>
            <a:r>
              <a:rPr lang="en-US" sz="1275">
                <a:solidFill>
                  <a:srgbClr val="2C3E50"/>
                </a:solidFill>
                <a:latin typeface="Microsoft YaHei"/>
                <a:ea typeface="Microsoft YaHei"/>
              </a:rPr>
              <a:t>GPIb-vWF-</a:t>
            </a:r>
            <a:r>
              <a:rPr lang="zh-CN" sz="1275">
                <a:solidFill>
                  <a:srgbClr val="2C3E50"/>
                </a:solidFill>
                <a:latin typeface="Microsoft YaHei"/>
                <a:ea typeface="Microsoft YaHei"/>
              </a:rPr>
              <a:t>胶原轴），并携带凝血因子</a:t>
            </a:r>
            <a:r>
              <a:rPr lang="en-US" sz="1275">
                <a:solidFill>
                  <a:srgbClr val="2C3E50"/>
                </a:solidFill>
                <a:latin typeface="Microsoft YaHei"/>
                <a:ea typeface="Microsoft YaHei"/>
              </a:rPr>
              <a:t> VIII</a:t>
            </a:r>
            <a:r>
              <a:rPr lang="zh-CN" sz="1275">
                <a:solidFill>
                  <a:srgbClr val="2C3E50"/>
                </a:solidFill>
                <a:latin typeface="Microsoft YaHei"/>
                <a:ea typeface="Microsoft YaHei"/>
              </a:rPr>
              <a:t>；</a:t>
            </a:r>
            <a:r>
              <a:rPr lang="en-US" sz="1275">
                <a:solidFill>
                  <a:srgbClr val="2C3E50"/>
                </a:solidFill>
                <a:latin typeface="Microsoft YaHei"/>
                <a:ea typeface="Microsoft YaHei"/>
              </a:rPr>
              <a:t>vWF </a:t>
            </a:r>
            <a:r>
              <a:rPr lang="zh-CN" sz="1275">
                <a:solidFill>
                  <a:srgbClr val="2C3E50"/>
                </a:solidFill>
                <a:latin typeface="Microsoft YaHei"/>
                <a:ea typeface="Microsoft YaHei"/>
              </a:rPr>
              <a:t>缺陷（</a:t>
            </a:r>
            <a:r>
              <a:rPr lang="en-US" sz="1275">
                <a:solidFill>
                  <a:srgbClr val="2C3E50"/>
                </a:solidFill>
                <a:latin typeface="Microsoft YaHei"/>
                <a:ea typeface="Microsoft YaHei"/>
              </a:rPr>
              <a:t>vWD</a:t>
            </a:r>
            <a:r>
              <a:rPr lang="zh-CN" sz="1275">
                <a:solidFill>
                  <a:srgbClr val="2C3E50"/>
                </a:solidFill>
                <a:latin typeface="Microsoft YaHei"/>
                <a:ea typeface="Microsoft YaHei"/>
              </a:rPr>
              <a:t>）与血小板自身缺陷临床表现相似（黏膜皮肤出血），检验上常需联合鉴别。</a:t>
            </a:r>
            <a:endParaRPr/>
          </a:p>
        </p:txBody>
      </p:sp>
      <p:sp>
        <p:nvSpPr>
          <p:cNvPr id="746"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4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检测交叉</a:t>
            </a:r>
            <a:endParaRPr/>
          </a:p>
        </p:txBody>
      </p:sp>
      <p:sp>
        <p:nvSpPr>
          <p:cNvPr id="748"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PFA </a:t>
            </a:r>
            <a:r>
              <a:rPr lang="zh-CN" sz="1275">
                <a:solidFill>
                  <a:srgbClr val="2C3E50"/>
                </a:solidFill>
                <a:latin typeface="Microsoft YaHei"/>
                <a:ea typeface="Microsoft YaHei"/>
              </a:rPr>
              <a:t>对</a:t>
            </a:r>
            <a:r>
              <a:rPr lang="en-US" sz="1275">
                <a:solidFill>
                  <a:srgbClr val="2C3E50"/>
                </a:solidFill>
                <a:latin typeface="Microsoft YaHei"/>
                <a:ea typeface="Microsoft YaHei"/>
              </a:rPr>
              <a:t> vWD </a:t>
            </a:r>
            <a:r>
              <a:rPr lang="zh-CN" sz="1275">
                <a:solidFill>
                  <a:srgbClr val="2C3E50"/>
                </a:solidFill>
                <a:latin typeface="Microsoft YaHei"/>
                <a:ea typeface="Microsoft YaHei"/>
              </a:rPr>
              <a:t>敏感但对轻型和某些亚型（</a:t>
            </a:r>
            <a:r>
              <a:rPr lang="en-US" sz="1275">
                <a:solidFill>
                  <a:srgbClr val="2C3E50"/>
                </a:solidFill>
                <a:latin typeface="Microsoft YaHei"/>
                <a:ea typeface="Microsoft YaHei"/>
              </a:rPr>
              <a:t>2B/2M</a:t>
            </a:r>
            <a:r>
              <a:rPr lang="zh-CN" sz="1275">
                <a:solidFill>
                  <a:srgbClr val="2C3E50"/>
                </a:solidFill>
                <a:latin typeface="Microsoft YaHei"/>
                <a:ea typeface="Microsoft YaHei"/>
              </a:rPr>
              <a:t>、血小板型）可漏检；</a:t>
            </a:r>
            <a:r>
              <a:rPr lang="en-US" sz="1275">
                <a:solidFill>
                  <a:srgbClr val="2C3E50"/>
                </a:solidFill>
                <a:latin typeface="Microsoft YaHei"/>
                <a:ea typeface="Microsoft YaHei"/>
              </a:rPr>
              <a:t>ristocetin </a:t>
            </a:r>
            <a:r>
              <a:rPr lang="zh-CN" sz="1275">
                <a:solidFill>
                  <a:srgbClr val="2C3E50"/>
                </a:solidFill>
                <a:latin typeface="Microsoft YaHei"/>
                <a:ea typeface="Microsoft YaHei"/>
              </a:rPr>
              <a:t>诱导聚集（</a:t>
            </a:r>
            <a:r>
              <a:rPr lang="en-US" sz="1275">
                <a:solidFill>
                  <a:srgbClr val="2C3E50"/>
                </a:solidFill>
                <a:latin typeface="Microsoft YaHei"/>
                <a:ea typeface="Microsoft YaHei"/>
              </a:rPr>
              <a:t>RIPA</a:t>
            </a:r>
            <a:r>
              <a:rPr lang="zh-CN" sz="1275">
                <a:solidFill>
                  <a:srgbClr val="2C3E50"/>
                </a:solidFill>
                <a:latin typeface="Microsoft YaHei"/>
                <a:ea typeface="Microsoft YaHei"/>
              </a:rPr>
              <a:t>）可区分</a:t>
            </a:r>
            <a:r>
              <a:rPr lang="en-US" sz="1275">
                <a:solidFill>
                  <a:srgbClr val="2C3E50"/>
                </a:solidFill>
                <a:latin typeface="Microsoft YaHei"/>
                <a:ea typeface="Microsoft YaHei"/>
              </a:rPr>
              <a:t> vWD </a:t>
            </a:r>
            <a:r>
              <a:rPr lang="zh-CN" sz="1275">
                <a:solidFill>
                  <a:srgbClr val="2C3E50"/>
                </a:solidFill>
                <a:latin typeface="Microsoft YaHei"/>
                <a:ea typeface="Microsoft YaHei"/>
              </a:rPr>
              <a:t>与血小板型</a:t>
            </a:r>
            <a:r>
              <a:rPr lang="en-US" sz="1275">
                <a:solidFill>
                  <a:srgbClr val="2C3E50"/>
                </a:solidFill>
                <a:latin typeface="Microsoft YaHei"/>
                <a:ea typeface="Microsoft YaHei"/>
              </a:rPr>
              <a:t> vWD</a:t>
            </a:r>
            <a:r>
              <a:rPr lang="zh-CN" sz="1275">
                <a:solidFill>
                  <a:srgbClr val="2C3E50"/>
                </a:solidFill>
                <a:latin typeface="Microsoft YaHei"/>
                <a:ea typeface="Microsoft YaHei"/>
              </a:rPr>
              <a:t>；血小板功能</a:t>
            </a:r>
            <a:r>
              <a:rPr lang="en-US" sz="1275">
                <a:solidFill>
                  <a:srgbClr val="2C3E50"/>
                </a:solidFill>
                <a:latin typeface="Microsoft YaHei"/>
                <a:ea typeface="Microsoft YaHei"/>
              </a:rPr>
              <a:t>+ vWF:Ag/</a:t>
            </a:r>
            <a:r>
              <a:rPr lang="zh-CN" sz="1275">
                <a:solidFill>
                  <a:srgbClr val="2C3E50"/>
                </a:solidFill>
                <a:latin typeface="Microsoft YaHei"/>
                <a:ea typeface="Microsoft YaHei"/>
              </a:rPr>
              <a:t>活性</a:t>
            </a:r>
            <a:r>
              <a:rPr lang="en-US" sz="1275">
                <a:solidFill>
                  <a:srgbClr val="2C3E50"/>
                </a:solidFill>
                <a:latin typeface="Microsoft YaHei"/>
                <a:ea typeface="Microsoft YaHei"/>
              </a:rPr>
              <a:t>+</a:t>
            </a:r>
            <a:r>
              <a:rPr lang="zh-CN" sz="1275">
                <a:solidFill>
                  <a:srgbClr val="2C3E50"/>
                </a:solidFill>
                <a:latin typeface="Microsoft YaHei"/>
                <a:ea typeface="Microsoft YaHei"/>
              </a:rPr>
              <a:t>多聚体联合才能定型。</a:t>
            </a:r>
            <a:endParaRPr/>
          </a:p>
        </p:txBody>
      </p:sp>
      <p:sp>
        <p:nvSpPr>
          <p:cNvPr id="749"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50"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临床落点</a:t>
            </a:r>
            <a:endParaRPr/>
          </a:p>
        </p:txBody>
      </p:sp>
      <p:sp>
        <p:nvSpPr>
          <p:cNvPr id="751"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“PFA </a:t>
            </a:r>
            <a:r>
              <a:rPr lang="zh-CN" sz="1275">
                <a:solidFill>
                  <a:srgbClr val="2C3E50"/>
                </a:solidFill>
                <a:latin typeface="Microsoft YaHei"/>
                <a:ea typeface="Microsoft YaHei"/>
              </a:rPr>
              <a:t>异常→查</a:t>
            </a:r>
            <a:r>
              <a:rPr lang="en-US" sz="1275">
                <a:solidFill>
                  <a:srgbClr val="2C3E50"/>
                </a:solidFill>
                <a:latin typeface="Microsoft YaHei"/>
                <a:ea typeface="Microsoft YaHei"/>
              </a:rPr>
              <a:t> vWF </a:t>
            </a:r>
            <a:r>
              <a:rPr lang="zh-CN" sz="1275">
                <a:solidFill>
                  <a:srgbClr val="2C3E50"/>
                </a:solidFill>
                <a:latin typeface="Microsoft YaHei"/>
                <a:ea typeface="Microsoft YaHei"/>
              </a:rPr>
              <a:t>全套”是标准路径；同时警惕“血小板增多伴</a:t>
            </a:r>
            <a:r>
              <a:rPr lang="en-US" sz="1275">
                <a:solidFill>
                  <a:srgbClr val="2C3E50"/>
                </a:solidFill>
                <a:latin typeface="Microsoft YaHei"/>
                <a:ea typeface="Microsoft YaHei"/>
              </a:rPr>
              <a:t> vWD </a:t>
            </a:r>
            <a:r>
              <a:rPr lang="zh-CN" sz="1275">
                <a:solidFill>
                  <a:srgbClr val="2C3E50"/>
                </a:solidFill>
                <a:latin typeface="Microsoft YaHei"/>
                <a:ea typeface="Microsoft YaHei"/>
              </a:rPr>
              <a:t>样出血”（如</a:t>
            </a:r>
            <a:r>
              <a:rPr lang="en-US" sz="1275">
                <a:solidFill>
                  <a:srgbClr val="2C3E50"/>
                </a:solidFill>
                <a:latin typeface="Microsoft YaHei"/>
                <a:ea typeface="Microsoft YaHei"/>
              </a:rPr>
              <a:t> ET </a:t>
            </a:r>
            <a:r>
              <a:rPr lang="zh-CN" sz="1275">
                <a:solidFill>
                  <a:srgbClr val="2C3E50"/>
                </a:solidFill>
                <a:latin typeface="Microsoft YaHei"/>
                <a:ea typeface="Microsoft YaHei"/>
              </a:rPr>
              <a:t>获得性</a:t>
            </a:r>
            <a:r>
              <a:rPr lang="en-US" sz="1275">
                <a:solidFill>
                  <a:srgbClr val="2C3E50"/>
                </a:solidFill>
                <a:latin typeface="Microsoft YaHei"/>
                <a:ea typeface="Microsoft YaHei"/>
              </a:rPr>
              <a:t> vWD</a:t>
            </a:r>
            <a:r>
              <a:rPr lang="zh-CN" sz="1275">
                <a:solidFill>
                  <a:srgbClr val="2C3E50"/>
                </a:solidFill>
                <a:latin typeface="Microsoft YaHei"/>
                <a:ea typeface="Microsoft YaHei"/>
              </a:rPr>
              <a:t>）——数量问题可能以“功能异常”的面貌出现。</a:t>
            </a:r>
            <a:endParaRPr/>
          </a:p>
        </p:txBody>
      </p:sp>
      <p:sp>
        <p:nvSpPr>
          <p:cNvPr id="752"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53"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754"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755"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56"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血小板与</a:t>
            </a:r>
            <a:r>
              <a:rPr lang="en-US" sz="1275">
                <a:solidFill>
                  <a:srgbClr val="2C3E50"/>
                </a:solidFill>
                <a:latin typeface="Microsoft YaHei"/>
                <a:ea typeface="Microsoft YaHei"/>
              </a:rPr>
              <a:t> vWF </a:t>
            </a:r>
            <a:r>
              <a:rPr lang="zh-CN" sz="1275">
                <a:solidFill>
                  <a:srgbClr val="2C3E50"/>
                </a:solidFill>
                <a:latin typeface="Microsoft YaHei"/>
                <a:ea typeface="Microsoft YaHei"/>
              </a:rPr>
              <a:t>互为“影子”：症状相似、检测交叉，解读必须成对进行。</a:t>
            </a:r>
            <a:endParaRPr/>
          </a:p>
        </p:txBody>
      </p:sp>
      <p:sp>
        <p:nvSpPr>
          <p:cNvPr id="75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75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Thromb Res 2020;188:17-24 (PMID 32036157)</a:t>
            </a:r>
            <a:endParaRPr/>
          </a:p>
        </p:txBody>
      </p:sp>
      <p:sp>
        <p:nvSpPr>
          <p:cNvPr id="759" name=""/>
          <p:cNvSpPr/>
          <p:nvPr/>
        </p:nvSpPr>
        <p:spPr>
          <a:xfrm rot="0" flipH="0" flipV="0">
            <a:off x="0" y="6324600"/>
            <a:ext cx="12192000" cy="342900"/>
          </a:xfrm>
          <a:prstGeom prst="rect">
            <a:avLst/>
          </a:prstGeom>
          <a:solidFill>
            <a:srgbClr val="F7F9FC"/>
          </a:solidFill>
          <a:ln/>
        </p:spPr>
        <p:txBody>
          <a:bodyPr/>
          <a:p/>
        </p:txBody>
      </p:sp>
      <p:sp>
        <p:nvSpPr>
          <p:cNvPr id="76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76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8.xml><?xml version="1.0" encoding="utf-8"?>
<p:sld xmlns:p="http://schemas.openxmlformats.org/presentationml/2006/main" xmlns:a="http://schemas.openxmlformats.org/drawingml/2006/main">
  <p:cSld>
    <p:spTree>
      <p:nvGrpSpPr>
        <p:cNvPr id="762" name="" descr="&lt;Slide notes={`演讲者备注：【FNX-OVERVIEW】血小板功能检测在冠脉介入中的角色演变综述：从 LTA 到床旁设备的可及性提高，但其对缺血/出血结局预测的增量价值仍存争议。证据：Vasc Health Risk Manag 2012;8:65-75，PMID 22371653。&#13;&#10;【GREMMEL-PHYS】血小板在血管损伤处经黏附、活化、聚集形成止血栓（一级止血），并通过膜表面促凝暴露与颗粒释放参与凝血级联、炎症与免疫。证据：Semin Thromb Hemost 2016;42:191-204，PMID 26926581。&#13;&#10;讲解提示：第六章收尾页——把选择权交还临床问题；预告第七、八章将按场景演示“何时启动哪一组检测”。`}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六章 与其他凝血/止血检测的异同&lt;/Text&gt;&#13;&#10;      &lt;Box style={{ width: 1, height: 24, background: '#3D7BD9' }} /&gt;&#13;&#10;      &lt;Text style={{ fontSize: 16, color: '#C7D6EC' }}&gt;联合解读：何时单查、何时组合&lt;/Text&gt;&#13;&#10;    &lt;/Box&gt;&#13;&#10;    &lt;Text style={{ position: 'absolute', right: 64, top: 24, fontSize: 15, color: '#9DB8E0' }}&gt;38 / 77&lt;/Text&gt;&#13;&#10;  &lt;/Box&gt;&#13;&#10;  &lt;Box style={{ position: 'absolute', left: 64, top: 96, width: 562, height: 128, background: '#F0F5FC', borderRadius: 12, border: '1px solid #E5E7EB', padding: 20 }}&gt;&#13;&#10;&lt;Text style={{ fontSize: 19, color: '#0E3F8C', fontWeight: 'bold', textAlign: 'left', lineHeight: 1.5 }}&gt;单查血小板场景&lt;/Text&gt;&#13;&#10;&lt;Text style={{ fontSize: 17, color: '#2C3E50', textAlign: 'left', lineHeight: 1.62 }}&gt;常规体检/化疗随访/ITP 随访：计数+涂片即可，不需要功能或凝血组合；术前若无出血史，常规也不需“功能全套”。&lt;/Text&gt;&#13;&#10;  &lt;/Box&gt;&#13;&#10;  &lt;Box style={{ position: 'absolute', left: 654, top: 96, width: 562, height: 128, background: '#F0F5FC', borderRadius: 12, border: '1px solid #E5E7EB', padding: 20 }}&gt;&#13;&#10;&lt;Text style={{ fontSize: 19, color: '#0E3F8C', fontWeight: 'bold', textAlign: 'left', lineHeight: 1.5 }}&gt;必须组合场景&lt;/Text&gt;&#13;&#10;&lt;Text style={{ fontSize: 17, color: '#2C3E50', textAlign: 'left', lineHeight: 1.62 }}&gt;①不明原因黏膜皮肤出血（血小板+凝血+VWF+功能）；②大出血复苏（CBC+VET/凝血动态）；③抗血小板围术期（计数+功能/VET）；④DIC/肝病动态（血小板+PT+FIB+D-D 趋势）。&lt;/Text&gt;&#13;&#10;  &lt;/Box&gt;&#13;&#10;  &lt;Box style={{ position: 'absolute', left: 64, top: 252, width: 562, height: 128, background: '#F0F5FC', borderRadius: 12, border: '1px solid #E5E7EB', padding: 20 }}&gt;&#13;&#10;&lt;Text style={{ fontSize: 19, color: '#0E3F8C', fontWeight: 'bold', textAlign: 'left', lineHeight: 1.5 }}&gt;顺序与成本&lt;/Text&gt;&#13;&#10;&lt;Text style={{ fontSize: 17, color: '#2C3E50', textAlign: 'left', lineHeight: 1.62 }}&gt;按“表型定向”由粗到细：筛查层（计数+涂片+凝血四项）→ 功能层（LTA/PFA/VET）→ 分子层（流式/基因）；避免一上来就全套分子检测。&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组合的原则是“由临床问题决定，而非由设备可及性决定”。&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Vasc Health Risk Manag 2012;8:65-75 (PMID 2237165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763" name=""/>
          <p:cNvSpPr/>
          <p:nvPr/>
        </p:nvSpPr>
        <p:spPr>
          <a:xfrm rot="0" flipH="0" flipV="0">
            <a:off x="0" y="0"/>
            <a:ext cx="12192000" cy="6858000"/>
          </a:xfrm>
          <a:prstGeom prst="rect">
            <a:avLst/>
          </a:prstGeom>
          <a:solidFill>
            <a:srgbClr val="FFFFFF"/>
          </a:solidFill>
          <a:ln/>
        </p:spPr>
        <p:txBody>
          <a:bodyPr/>
          <a:p/>
        </p:txBody>
      </p:sp>
      <p:sp>
        <p:nvSpPr>
          <p:cNvPr id="764" name=""/>
          <p:cNvSpPr/>
          <p:nvPr/>
        </p:nvSpPr>
        <p:spPr>
          <a:xfrm rot="0" flipH="0" flipV="0">
            <a:off x="0" y="0"/>
            <a:ext cx="12192000" cy="685800"/>
          </a:xfrm>
          <a:prstGeom prst="rect">
            <a:avLst/>
          </a:prstGeom>
          <a:solidFill>
            <a:srgbClr val="0E3F8C"/>
          </a:solidFill>
          <a:ln/>
        </p:spPr>
        <p:txBody>
          <a:bodyPr/>
          <a:p/>
        </p:txBody>
      </p:sp>
      <p:sp>
        <p:nvSpPr>
          <p:cNvPr id="765" name="" descr="{&quot;isTemplate&quot;:true,&quot;type&quot;:&quot;text&quot;}"/>
          <p:cNvSpPr txBox="1"/>
          <p:nvPr/>
        </p:nvSpPr>
        <p:spPr>
          <a:xfrm rot="0" flipH="0" flipV="0">
            <a:off x="609600" y="219075"/>
            <a:ext cx="2705100" cy="209550"/>
          </a:xfrm>
          <a:prstGeom prst="rect"/>
        </p:spPr>
        <p:txBody>
          <a:bodyPr wrap="none" lIns="0" tIns="0" rIns="0" bIns="0"/>
          <a:p>
            <a:pPr>
              <a:lnSpc>
                <a:spcPct val="100000"/>
              </a:lnSpc>
            </a:pPr>
            <a:r>
              <a:rPr lang="zh-CN" sz="1350" b="1">
                <a:solidFill>
                  <a:srgbClr val="FFFFFF"/>
                </a:solidFill>
                <a:latin typeface="Microsoft YaHei"/>
                <a:ea typeface="Microsoft YaHei"/>
              </a:rPr>
              <a:t>第六章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与其他凝血</a:t>
            </a:r>
            <a:r>
              <a:rPr lang="en-US" sz="1350" b="1">
                <a:solidFill>
                  <a:srgbClr val="FFFFFF"/>
                </a:solidFill>
                <a:latin typeface="Microsoft YaHei"/>
                <a:ea typeface="Microsoft YaHei"/>
              </a:rPr>
              <a:t>/</a:t>
            </a:r>
            <a:r>
              <a:rPr lang="zh-CN" sz="1350" b="1">
                <a:solidFill>
                  <a:srgbClr val="FFFFFF"/>
                </a:solidFill>
                <a:latin typeface="Microsoft YaHei"/>
                <a:ea typeface="Microsoft YaHei"/>
              </a:rPr>
              <a:t>止血检测的异同</a:t>
            </a:r>
            <a:endParaRPr/>
          </a:p>
        </p:txBody>
      </p:sp>
      <p:sp>
        <p:nvSpPr>
          <p:cNvPr id="766" name=""/>
          <p:cNvSpPr/>
          <p:nvPr/>
        </p:nvSpPr>
        <p:spPr>
          <a:xfrm rot="0" flipH="0" flipV="0">
            <a:off x="3467100" y="209550"/>
            <a:ext cx="9525" cy="228600"/>
          </a:xfrm>
          <a:prstGeom prst="rect">
            <a:avLst/>
          </a:prstGeom>
          <a:solidFill>
            <a:srgbClr val="3D7BD9"/>
          </a:solidFill>
          <a:ln/>
        </p:spPr>
        <p:txBody>
          <a:bodyPr/>
          <a:p/>
        </p:txBody>
      </p:sp>
      <p:sp>
        <p:nvSpPr>
          <p:cNvPr id="767" name="" descr="{&quot;isTemplate&quot;:true,&quot;type&quot;:&quot;text&quot;}"/>
          <p:cNvSpPr txBox="1"/>
          <p:nvPr/>
        </p:nvSpPr>
        <p:spPr>
          <a:xfrm rot="0" flipH="0" flipV="0">
            <a:off x="3629025" y="228600"/>
            <a:ext cx="2133600" cy="190500"/>
          </a:xfrm>
          <a:prstGeom prst="rect"/>
        </p:spPr>
        <p:txBody>
          <a:bodyPr wrap="none" lIns="0" tIns="0" rIns="0" bIns="0"/>
          <a:p>
            <a:pPr>
              <a:lnSpc>
                <a:spcPct val="100000"/>
              </a:lnSpc>
            </a:pPr>
            <a:r>
              <a:rPr lang="zh-CN" sz="1200">
                <a:solidFill>
                  <a:srgbClr val="C7D6EC"/>
                </a:solidFill>
                <a:latin typeface="Microsoft YaHei"/>
                <a:ea typeface="Microsoft YaHei"/>
              </a:rPr>
              <a:t>联合解读：何时单查、何时组合</a:t>
            </a:r>
            <a:endParaRPr/>
          </a:p>
        </p:txBody>
      </p:sp>
      <p:sp>
        <p:nvSpPr>
          <p:cNvPr id="76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38 / 77</a:t>
            </a:r>
            <a:endParaRPr/>
          </a:p>
        </p:txBody>
      </p:sp>
      <p:sp>
        <p:nvSpPr>
          <p:cNvPr id="76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7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单查血小板场景</a:t>
            </a:r>
            <a:endParaRPr/>
          </a:p>
        </p:txBody>
      </p:sp>
      <p:sp>
        <p:nvSpPr>
          <p:cNvPr id="771"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常规体检</a:t>
            </a:r>
            <a:r>
              <a:rPr lang="en-US" sz="1275">
                <a:solidFill>
                  <a:srgbClr val="2C3E50"/>
                </a:solidFill>
                <a:latin typeface="Microsoft YaHei"/>
                <a:ea typeface="Microsoft YaHei"/>
              </a:rPr>
              <a:t>/</a:t>
            </a:r>
            <a:r>
              <a:rPr lang="zh-CN" sz="1275">
                <a:solidFill>
                  <a:srgbClr val="2C3E50"/>
                </a:solidFill>
                <a:latin typeface="Microsoft YaHei"/>
                <a:ea typeface="Microsoft YaHei"/>
              </a:rPr>
              <a:t>化疗随访</a:t>
            </a:r>
            <a:r>
              <a:rPr lang="en-US" sz="1275">
                <a:solidFill>
                  <a:srgbClr val="2C3E50"/>
                </a:solidFill>
                <a:latin typeface="Microsoft YaHei"/>
                <a:ea typeface="Microsoft YaHei"/>
              </a:rPr>
              <a:t>/ITP </a:t>
            </a:r>
            <a:r>
              <a:rPr lang="zh-CN" sz="1275">
                <a:solidFill>
                  <a:srgbClr val="2C3E50"/>
                </a:solidFill>
                <a:latin typeface="Microsoft YaHei"/>
                <a:ea typeface="Microsoft YaHei"/>
              </a:rPr>
              <a:t>随访：计数</a:t>
            </a:r>
            <a:r>
              <a:rPr lang="en-US" sz="1275">
                <a:solidFill>
                  <a:srgbClr val="2C3E50"/>
                </a:solidFill>
                <a:latin typeface="Microsoft YaHei"/>
                <a:ea typeface="Microsoft YaHei"/>
              </a:rPr>
              <a:t>+</a:t>
            </a:r>
            <a:r>
              <a:rPr lang="zh-CN" sz="1275">
                <a:solidFill>
                  <a:srgbClr val="2C3E50"/>
                </a:solidFill>
                <a:latin typeface="Microsoft YaHei"/>
                <a:ea typeface="Microsoft YaHei"/>
              </a:rPr>
              <a:t>涂片即可，不需要功能或凝血组合；术前若无出血史，常规也不需“功能全套”。</a:t>
            </a:r>
            <a:endParaRPr/>
          </a:p>
        </p:txBody>
      </p:sp>
      <p:sp>
        <p:nvSpPr>
          <p:cNvPr id="77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7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必须组合场景</a:t>
            </a:r>
            <a:endParaRPr/>
          </a:p>
        </p:txBody>
      </p:sp>
      <p:sp>
        <p:nvSpPr>
          <p:cNvPr id="774"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①不明原因黏膜皮肤出血（血小板</a:t>
            </a:r>
            <a:r>
              <a:rPr lang="en-US" sz="1275">
                <a:solidFill>
                  <a:srgbClr val="2C3E50"/>
                </a:solidFill>
                <a:latin typeface="Microsoft YaHei"/>
                <a:ea typeface="Microsoft YaHei"/>
              </a:rPr>
              <a:t>+</a:t>
            </a:r>
            <a:r>
              <a:rPr lang="zh-CN" sz="1275">
                <a:solidFill>
                  <a:srgbClr val="2C3E50"/>
                </a:solidFill>
                <a:latin typeface="Microsoft YaHei"/>
                <a:ea typeface="Microsoft YaHei"/>
              </a:rPr>
              <a:t>凝血</a:t>
            </a:r>
            <a:r>
              <a:rPr lang="en-US" sz="1275">
                <a:solidFill>
                  <a:srgbClr val="2C3E50"/>
                </a:solidFill>
                <a:latin typeface="Microsoft YaHei"/>
                <a:ea typeface="Microsoft YaHei"/>
              </a:rPr>
              <a:t>+VWF+</a:t>
            </a:r>
            <a:r>
              <a:rPr lang="zh-CN" sz="1275">
                <a:solidFill>
                  <a:srgbClr val="2C3E50"/>
                </a:solidFill>
                <a:latin typeface="Microsoft YaHei"/>
                <a:ea typeface="Microsoft YaHei"/>
              </a:rPr>
              <a:t>功能）；②大出血复苏（</a:t>
            </a:r>
            <a:r>
              <a:rPr lang="en-US" sz="1275">
                <a:solidFill>
                  <a:srgbClr val="2C3E50"/>
                </a:solidFill>
                <a:latin typeface="Microsoft YaHei"/>
                <a:ea typeface="Microsoft YaHei"/>
              </a:rPr>
              <a:t>CBC+VET/</a:t>
            </a:r>
            <a:r>
              <a:rPr lang="zh-CN" sz="1275">
                <a:solidFill>
                  <a:srgbClr val="2C3E50"/>
                </a:solidFill>
                <a:latin typeface="Microsoft YaHei"/>
                <a:ea typeface="Microsoft YaHei"/>
              </a:rPr>
              <a:t>凝血动态）；③抗血小板围术期（计数</a:t>
            </a:r>
            <a:r>
              <a:rPr lang="en-US" sz="1275">
                <a:solidFill>
                  <a:srgbClr val="2C3E50"/>
                </a:solidFill>
                <a:latin typeface="Microsoft YaHei"/>
                <a:ea typeface="Microsoft YaHei"/>
              </a:rPr>
              <a:t>+</a:t>
            </a:r>
            <a:r>
              <a:rPr lang="zh-CN" sz="1275">
                <a:solidFill>
                  <a:srgbClr val="2C3E50"/>
                </a:solidFill>
                <a:latin typeface="Microsoft YaHei"/>
                <a:ea typeface="Microsoft YaHei"/>
              </a:rPr>
              <a:t>功能</a:t>
            </a:r>
            <a:r>
              <a:rPr lang="en-US" sz="1275">
                <a:solidFill>
                  <a:srgbClr val="2C3E50"/>
                </a:solidFill>
                <a:latin typeface="Microsoft YaHei"/>
                <a:ea typeface="Microsoft YaHei"/>
              </a:rPr>
              <a:t>/VET</a:t>
            </a:r>
            <a:r>
              <a:rPr lang="zh-CN" sz="1275">
                <a:solidFill>
                  <a:srgbClr val="2C3E50"/>
                </a:solidFill>
                <a:latin typeface="Microsoft YaHei"/>
                <a:ea typeface="Microsoft YaHei"/>
              </a:rPr>
              <a:t>）；④</a:t>
            </a:r>
            <a:r>
              <a:rPr lang="en-US" sz="1275">
                <a:solidFill>
                  <a:srgbClr val="2C3E50"/>
                </a:solidFill>
                <a:latin typeface="Microsoft YaHei"/>
                <a:ea typeface="Microsoft YaHei"/>
              </a:rPr>
              <a:t>DIC/</a:t>
            </a:r>
            <a:r>
              <a:rPr lang="zh-CN" sz="1275">
                <a:solidFill>
                  <a:srgbClr val="2C3E50"/>
                </a:solidFill>
                <a:latin typeface="Microsoft YaHei"/>
                <a:ea typeface="Microsoft YaHei"/>
              </a:rPr>
              <a:t>肝病动态（血小板</a:t>
            </a:r>
            <a:r>
              <a:rPr lang="en-US" sz="1275">
                <a:solidFill>
                  <a:srgbClr val="2C3E50"/>
                </a:solidFill>
                <a:latin typeface="Microsoft YaHei"/>
                <a:ea typeface="Microsoft YaHei"/>
              </a:rPr>
              <a:t>+PT+FIB+D-D </a:t>
            </a:r>
            <a:r>
              <a:rPr lang="zh-CN" sz="1275">
                <a:solidFill>
                  <a:srgbClr val="2C3E50"/>
                </a:solidFill>
                <a:latin typeface="Microsoft YaHei"/>
                <a:ea typeface="Microsoft YaHei"/>
              </a:rPr>
              <a:t>趋势）。</a:t>
            </a:r>
            <a:endParaRPr/>
          </a:p>
        </p:txBody>
      </p:sp>
      <p:sp>
        <p:nvSpPr>
          <p:cNvPr id="77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7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顺序与成本</a:t>
            </a:r>
            <a:endParaRPr/>
          </a:p>
        </p:txBody>
      </p:sp>
      <p:sp>
        <p:nvSpPr>
          <p:cNvPr id="77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按“表型定向”由粗到细：筛查层（计数</a:t>
            </a:r>
            <a:r>
              <a:rPr lang="en-US" sz="1275">
                <a:solidFill>
                  <a:srgbClr val="2C3E50"/>
                </a:solidFill>
                <a:latin typeface="Microsoft YaHei"/>
                <a:ea typeface="Microsoft YaHei"/>
              </a:rPr>
              <a:t>+</a:t>
            </a:r>
            <a:r>
              <a:rPr lang="zh-CN" sz="1275">
                <a:solidFill>
                  <a:srgbClr val="2C3E50"/>
                </a:solidFill>
                <a:latin typeface="Microsoft YaHei"/>
                <a:ea typeface="Microsoft YaHei"/>
              </a:rPr>
              <a:t>涂片</a:t>
            </a:r>
            <a:r>
              <a:rPr lang="en-US" sz="1275">
                <a:solidFill>
                  <a:srgbClr val="2C3E50"/>
                </a:solidFill>
                <a:latin typeface="Microsoft YaHei"/>
                <a:ea typeface="Microsoft YaHei"/>
              </a:rPr>
              <a:t>+</a:t>
            </a:r>
            <a:r>
              <a:rPr lang="zh-CN" sz="1275">
                <a:solidFill>
                  <a:srgbClr val="2C3E50"/>
                </a:solidFill>
                <a:latin typeface="Microsoft YaHei"/>
                <a:ea typeface="Microsoft YaHei"/>
              </a:rPr>
              <a:t>凝血四项）→</a:t>
            </a:r>
            <a:r>
              <a:rPr lang="en-US" sz="1275">
                <a:solidFill>
                  <a:srgbClr val="2C3E50"/>
                </a:solidFill>
                <a:latin typeface="Microsoft YaHei"/>
                <a:ea typeface="Microsoft YaHei"/>
              </a:rPr>
              <a:t> </a:t>
            </a:r>
            <a:r>
              <a:rPr lang="zh-CN" sz="1275">
                <a:solidFill>
                  <a:srgbClr val="2C3E50"/>
                </a:solidFill>
                <a:latin typeface="Microsoft YaHei"/>
                <a:ea typeface="Microsoft YaHei"/>
              </a:rPr>
              <a:t>功能层（</a:t>
            </a:r>
            <a:r>
              <a:rPr lang="en-US" sz="1275">
                <a:solidFill>
                  <a:srgbClr val="2C3E50"/>
                </a:solidFill>
                <a:latin typeface="Microsoft YaHei"/>
                <a:ea typeface="Microsoft YaHei"/>
              </a:rPr>
              <a:t>LTA/PFA/VET</a:t>
            </a:r>
            <a:r>
              <a:rPr lang="zh-CN" sz="1275">
                <a:solidFill>
                  <a:srgbClr val="2C3E50"/>
                </a:solidFill>
                <a:latin typeface="Microsoft YaHei"/>
                <a:ea typeface="Microsoft YaHei"/>
              </a:rPr>
              <a:t>）→</a:t>
            </a:r>
            <a:r>
              <a:rPr lang="en-US" sz="1275">
                <a:solidFill>
                  <a:srgbClr val="2C3E50"/>
                </a:solidFill>
                <a:latin typeface="Microsoft YaHei"/>
                <a:ea typeface="Microsoft YaHei"/>
              </a:rPr>
              <a:t> </a:t>
            </a:r>
            <a:r>
              <a:rPr lang="zh-CN" sz="1275">
                <a:solidFill>
                  <a:srgbClr val="2C3E50"/>
                </a:solidFill>
                <a:latin typeface="Microsoft YaHei"/>
                <a:ea typeface="Microsoft YaHei"/>
              </a:rPr>
              <a:t>分子层（流式</a:t>
            </a:r>
            <a:r>
              <a:rPr lang="en-US" sz="1275">
                <a:solidFill>
                  <a:srgbClr val="2C3E50"/>
                </a:solidFill>
                <a:latin typeface="Microsoft YaHei"/>
                <a:ea typeface="Microsoft YaHei"/>
              </a:rPr>
              <a:t>/</a:t>
            </a:r>
            <a:r>
              <a:rPr lang="zh-CN" sz="1275">
                <a:solidFill>
                  <a:srgbClr val="2C3E50"/>
                </a:solidFill>
                <a:latin typeface="Microsoft YaHei"/>
                <a:ea typeface="Microsoft YaHei"/>
              </a:rPr>
              <a:t>基因）；避免一上来就全套分子检测。</a:t>
            </a:r>
            <a:endParaRPr/>
          </a:p>
        </p:txBody>
      </p:sp>
      <p:sp>
        <p:nvSpPr>
          <p:cNvPr id="77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7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780"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78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782"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组合的原则是“由临床问题决定，而非由设备可及性决定”。</a:t>
            </a:r>
            <a:endParaRPr/>
          </a:p>
        </p:txBody>
      </p:sp>
      <p:sp>
        <p:nvSpPr>
          <p:cNvPr id="783"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784"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785"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Vasc Health Risk Manag 2012;8:65-75 (PMID 22371653)</a:t>
            </a:r>
            <a:endParaRPr/>
          </a:p>
        </p:txBody>
      </p:sp>
      <p:sp>
        <p:nvSpPr>
          <p:cNvPr id="786" name=""/>
          <p:cNvSpPr/>
          <p:nvPr/>
        </p:nvSpPr>
        <p:spPr>
          <a:xfrm rot="0" flipH="0" flipV="0">
            <a:off x="0" y="6324600"/>
            <a:ext cx="12192000" cy="342900"/>
          </a:xfrm>
          <a:prstGeom prst="rect">
            <a:avLst/>
          </a:prstGeom>
          <a:solidFill>
            <a:srgbClr val="F7F9FC"/>
          </a:solidFill>
          <a:ln/>
        </p:spPr>
        <p:txBody>
          <a:bodyPr/>
          <a:p/>
        </p:txBody>
      </p:sp>
      <p:sp>
        <p:nvSpPr>
          <p:cNvPr id="787"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78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39.xml><?xml version="1.0" encoding="utf-8"?>
<p:sld xmlns:p="http://schemas.openxmlformats.org/presentationml/2006/main" xmlns:a="http://schemas.openxmlformats.org/drawingml/2006/main">
  <p:cSld>
    <p:spTree>
      <p:nvGrpSpPr>
        <p:cNvPr id="789" name="" descr="&lt;Slide notes={`演讲者备注：第七章把血小板减少放到最常见的四大机制框架（生成不足/破坏增加/消耗与扣押/分布异常）里，逐一拆解免疫性（ITP、HIT、药源性）与消耗性（DIC、脓毒症）场景。核心信息：血小板减少只是一个“症状”，治疗方向（升板 vs 抗凝 vs 停肝素）取决于机制。`} style={{ width: '1280px', height: '720px', background: '#0E3F8C', padding: 0 }}&gt;&#13;&#10;  &lt;Box style={{ position: 'absolute', left: 0, top: 0, width: 12, height: 720, background: '#3D7BD9' }} /&gt;&#13;&#10;  &lt;Text style={{ position: 'absolute', left: 64, top: 138, fontSize: 22, color: '#9DB8E0', letterSpacing: 4 }}&gt;第 7 章&lt;/Text&gt;&#13;&#10;  &lt;Text style={{ position: 'absolute', left: 56, top: 168, fontSize: 150, color: '#164A9E', fontWeight: 'bold' }}&gt;07&lt;/Text&gt;&#13;&#10;  &lt;Text style={{ position: 'absolute', left: 64, top: 332, fontSize: 50, color: '#FFFFFF', fontWeight: 'bold' }}&gt;减少场景：免疫与消耗&lt;/Text&gt;&#13;&#10;  &lt;Text style={{ position: 'absolute', left: 64, top: 400, fontSize: 22, color: '#9DB8E0', fontFamily: 'Times New Roman' }}&gt;Immune &amp; Consumptive Thrombocytopenia&lt;/Text&gt;&#13;&#10;  &lt;Box key={0} style={{ position: 'absolute', left: 64, top: 472, width: 360, height: 150, background: '#12448F', borderRadius: 12, border: '1px solid #2E5BA8', padding: 20 }}&gt;&#13;&#10;    &lt;Text style={{ fontSize: 18, color: '#9DB8E0', fontWeight: 'bold', marginBottom: 8 }}&gt;免疫破坏&lt;/Text&gt;&#13;&#10;    &lt;Text style={{ fontSize: 15, color: '#C7D6EC', lineHeight: 1.5 }}&gt;ITP 自身抗体、HIT 血小板活化抗体、DITP 药敏抗体&lt;/Text&gt;&#13;&#10;  &lt;/Box&gt;  &lt;Box key={1} style={{ position: 'absolute', left: 452, top: 472, width: 360, height: 150, background: '#12448F', borderRadius: 12, border: '1px solid #2E5BA8', padding: 20 }}&gt;&#13;&#10;    &lt;Text style={{ fontSize: 18, color: '#9DB8E0', fontWeight: 'bold', marginBottom: 8 }}&gt;消耗性&lt;/Text&gt;&#13;&#10;    &lt;Text style={{ fontSize: 15, color: '#C7D6EC', lineHeight: 1.5 }}&gt;DIC、脓毒症微血栓、大量出血稀释&lt;/Text&gt;&#13;&#10;  &lt;/Box&gt;  &lt;Box key={2} style={{ position: 'absolute', left: 840, top: 472, width: 360, height: 150, background: '#12448F', borderRadius: 12, border: '1px solid #2E5BA8', padding: 20 }}&gt;&#13;&#10;    &lt;Text style={{ fontSize: 18, color: '#9DB8E0', fontWeight: 'bold', marginBottom: 8 }}&gt;场景化解读&lt;/Text&gt;&#13;&#10;    &lt;Text style={{ fontSize: 15, color: '#C7D6EC', lineHeight: 1.5 }}&gt;同一张“血小板减少”化验单，病因不同则处理相反&lt;/Text&gt;&#13;&#10;  &lt;/Box&gt;&#13;&#10;  &lt;Text style={{ position: 'absolute', right: 64, top: 660, fontSize: 15, color: '#9DB8E0' }}&gt;39 / 77&lt;/Text&gt;&#13;&#10;&lt;/Slide&gt;"/>
        <p:cNvGrpSpPr/>
        <p:nvPr/>
      </p:nvGrpSpPr>
      <p:grpSpPr>
        <a:xfrm>
          <a:off x="0" y="0"/>
          <a:ext cx="0" cy="0"/>
          <a:chOff x="0" y="0"/>
          <a:chExt cx="0" cy="0"/>
        </a:xfrm>
      </p:grpSpPr>
      <p:sp>
        <p:nvSpPr>
          <p:cNvPr id="790" name=""/>
          <p:cNvSpPr/>
          <p:nvPr/>
        </p:nvSpPr>
        <p:spPr>
          <a:xfrm rot="0" flipH="0" flipV="0">
            <a:off x="0" y="0"/>
            <a:ext cx="12192000" cy="6858000"/>
          </a:xfrm>
          <a:prstGeom prst="rect">
            <a:avLst/>
          </a:prstGeom>
          <a:solidFill>
            <a:srgbClr val="0E3F8C"/>
          </a:solidFill>
          <a:ln/>
        </p:spPr>
        <p:txBody>
          <a:bodyPr/>
          <a:p/>
        </p:txBody>
      </p:sp>
      <p:sp>
        <p:nvSpPr>
          <p:cNvPr id="791" name=""/>
          <p:cNvSpPr/>
          <p:nvPr/>
        </p:nvSpPr>
        <p:spPr>
          <a:xfrm rot="0" flipH="0" flipV="0">
            <a:off x="0" y="0"/>
            <a:ext cx="114300" cy="6858000"/>
          </a:xfrm>
          <a:prstGeom prst="rect">
            <a:avLst/>
          </a:prstGeom>
          <a:solidFill>
            <a:srgbClr val="3D7BD9"/>
          </a:solidFill>
          <a:ln/>
        </p:spPr>
        <p:txBody>
          <a:bodyPr/>
          <a:p/>
        </p:txBody>
      </p:sp>
      <p:sp>
        <p:nvSpPr>
          <p:cNvPr id="792"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7 </a:t>
            </a:r>
            <a:r>
              <a:rPr lang="zh-CN" sz="1650" spc="300">
                <a:solidFill>
                  <a:srgbClr val="9DB8E0"/>
                </a:solidFill>
                <a:latin typeface="Microsoft YaHei"/>
                <a:ea typeface="Microsoft YaHei"/>
              </a:rPr>
              <a:t>章</a:t>
            </a:r>
            <a:endParaRPr/>
          </a:p>
        </p:txBody>
      </p:sp>
      <p:sp>
        <p:nvSpPr>
          <p:cNvPr id="793"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07</a:t>
            </a:r>
            <a:endParaRPr/>
          </a:p>
        </p:txBody>
      </p:sp>
      <p:sp>
        <p:nvSpPr>
          <p:cNvPr id="794" name="" descr="{&quot;isTemplate&quot;:true,&quot;type&quot;:&quot;text&quot;}"/>
          <p:cNvSpPr txBox="1"/>
          <p:nvPr/>
        </p:nvSpPr>
        <p:spPr>
          <a:xfrm rot="0" flipH="0" flipV="0">
            <a:off x="609600" y="3162300"/>
            <a:ext cx="4762500" cy="571500"/>
          </a:xfrm>
          <a:prstGeom prst="rect"/>
        </p:spPr>
        <p:txBody>
          <a:bodyPr wrap="none" lIns="0" tIns="0" rIns="0" bIns="0"/>
          <a:p>
            <a:pPr>
              <a:lnSpc>
                <a:spcPct val="100000"/>
              </a:lnSpc>
            </a:pPr>
            <a:r>
              <a:rPr lang="zh-CN" sz="3750" b="1">
                <a:solidFill>
                  <a:srgbClr val="FFFFFF"/>
                </a:solidFill>
                <a:latin typeface="Microsoft YaHei"/>
                <a:ea typeface="Microsoft YaHei"/>
              </a:rPr>
              <a:t>减少场景：免疫与消耗</a:t>
            </a:r>
            <a:endParaRPr/>
          </a:p>
        </p:txBody>
      </p:sp>
      <p:sp>
        <p:nvSpPr>
          <p:cNvPr id="795" name="" descr="{&quot;isTemplate&quot;:true,&quot;type&quot;:&quot;text&quot;}"/>
          <p:cNvSpPr txBox="1"/>
          <p:nvPr/>
        </p:nvSpPr>
        <p:spPr>
          <a:xfrm rot="0" flipH="0" flipV="0">
            <a:off x="609600" y="3810000"/>
            <a:ext cx="3733800" cy="257175"/>
          </a:xfrm>
          <a:prstGeom prst="rect"/>
        </p:spPr>
        <p:txBody>
          <a:bodyPr wrap="none" lIns="0" tIns="0" rIns="0" bIns="0"/>
          <a:p>
            <a:pPr>
              <a:lnSpc>
                <a:spcPct val="100000"/>
              </a:lnSpc>
            </a:pPr>
            <a:r>
              <a:rPr lang="en-US" sz="1650">
                <a:solidFill>
                  <a:srgbClr val="9DB8E0"/>
                </a:solidFill>
                <a:latin typeface="Times New Roman"/>
                <a:ea typeface="Times New Roman"/>
              </a:rPr>
              <a:t>Immune &amp; Consumptive Thrombocytopenia</a:t>
            </a:r>
            <a:endParaRPr/>
          </a:p>
        </p:txBody>
      </p:sp>
      <p:sp>
        <p:nvSpPr>
          <p:cNvPr id="796"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797"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免疫破坏</a:t>
            </a:r>
            <a:endParaRPr/>
          </a:p>
        </p:txBody>
      </p:sp>
      <p:sp>
        <p:nvSpPr>
          <p:cNvPr id="798" name="" descr="{&quot;isTemplate&quot;:true,&quot;type&quot;:&quot;text&quot;}"/>
          <p:cNvSpPr txBox="1"/>
          <p:nvPr/>
        </p:nvSpPr>
        <p:spPr>
          <a:xfrm rot="0" flipH="0" flipV="0">
            <a:off x="800100" y="4972050"/>
            <a:ext cx="3048000" cy="514350"/>
          </a:xfrm>
          <a:prstGeom prst="rect"/>
        </p:spPr>
        <p:txBody>
          <a:bodyPr wrap="square" lIns="0" tIns="0" rIns="0" bIns="0">
            <a:normAutofit/>
          </a:bodyPr>
          <a:p>
            <a:pPr>
              <a:lnSpc>
                <a:spcPct val="150000"/>
              </a:lnSpc>
            </a:pPr>
            <a:r>
              <a:rPr lang="en-US" sz="1125">
                <a:solidFill>
                  <a:srgbClr val="C7D6EC"/>
                </a:solidFill>
                <a:latin typeface="Microsoft YaHei"/>
                <a:ea typeface="Microsoft YaHei"/>
              </a:rPr>
              <a:t>ITP </a:t>
            </a:r>
            <a:r>
              <a:rPr lang="zh-CN" sz="1125">
                <a:solidFill>
                  <a:srgbClr val="C7D6EC"/>
                </a:solidFill>
                <a:latin typeface="Microsoft YaHei"/>
                <a:ea typeface="Microsoft YaHei"/>
              </a:rPr>
              <a:t>自身抗体、</a:t>
            </a:r>
            <a:r>
              <a:rPr lang="en-US" sz="1125">
                <a:solidFill>
                  <a:srgbClr val="C7D6EC"/>
                </a:solidFill>
                <a:latin typeface="Microsoft YaHei"/>
                <a:ea typeface="Microsoft YaHei"/>
              </a:rPr>
              <a:t>HIT </a:t>
            </a:r>
            <a:r>
              <a:rPr lang="zh-CN" sz="1125">
                <a:solidFill>
                  <a:srgbClr val="C7D6EC"/>
                </a:solidFill>
                <a:latin typeface="Microsoft YaHei"/>
                <a:ea typeface="Microsoft YaHei"/>
              </a:rPr>
              <a:t>血小板活化抗体、</a:t>
            </a:r>
            <a:r>
              <a:rPr lang="en-US" sz="1125">
                <a:solidFill>
                  <a:srgbClr val="C7D6EC"/>
                </a:solidFill>
                <a:latin typeface="Microsoft YaHei"/>
                <a:ea typeface="Microsoft YaHei"/>
              </a:rPr>
              <a:t>DITP </a:t>
            </a:r>
            <a:r>
              <a:rPr lang="zh-CN" sz="1125">
                <a:solidFill>
                  <a:srgbClr val="C7D6EC"/>
                </a:solidFill>
                <a:latin typeface="Microsoft YaHei"/>
                <a:ea typeface="Microsoft YaHei"/>
              </a:rPr>
              <a:t>药敏抗体</a:t>
            </a:r>
            <a:endParaRPr/>
          </a:p>
        </p:txBody>
      </p:sp>
      <p:sp>
        <p:nvSpPr>
          <p:cNvPr id="799"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800"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消耗性</a:t>
            </a:r>
            <a:endParaRPr/>
          </a:p>
        </p:txBody>
      </p:sp>
      <p:sp>
        <p:nvSpPr>
          <p:cNvPr id="801"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DIC</a:t>
            </a:r>
            <a:r>
              <a:rPr lang="zh-CN" sz="1125">
                <a:solidFill>
                  <a:srgbClr val="C7D6EC"/>
                </a:solidFill>
                <a:latin typeface="Microsoft YaHei"/>
                <a:ea typeface="Microsoft YaHei"/>
              </a:rPr>
              <a:t>、脓毒症微血栓、大量出血稀释</a:t>
            </a:r>
            <a:endParaRPr/>
          </a:p>
        </p:txBody>
      </p:sp>
      <p:sp>
        <p:nvSpPr>
          <p:cNvPr id="802"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803"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场景化解读</a:t>
            </a:r>
            <a:endParaRPr/>
          </a:p>
        </p:txBody>
      </p:sp>
      <p:sp>
        <p:nvSpPr>
          <p:cNvPr id="804" name="" descr="{&quot;isTemplate&quot;:true,&quot;type&quot;:&quot;text&quot;}"/>
          <p:cNvSpPr txBox="1"/>
          <p:nvPr/>
        </p:nvSpPr>
        <p:spPr>
          <a:xfrm rot="0" flipH="0" flipV="0">
            <a:off x="8191500" y="4972050"/>
            <a:ext cx="3048000" cy="514350"/>
          </a:xfrm>
          <a:prstGeom prst="rect"/>
        </p:spPr>
        <p:txBody>
          <a:bodyPr wrap="square" lIns="0" tIns="0" rIns="0" bIns="0">
            <a:normAutofit/>
          </a:bodyPr>
          <a:p>
            <a:pPr>
              <a:lnSpc>
                <a:spcPct val="150000"/>
              </a:lnSpc>
            </a:pPr>
            <a:r>
              <a:rPr lang="zh-CN" sz="1125">
                <a:solidFill>
                  <a:srgbClr val="C7D6EC"/>
                </a:solidFill>
                <a:latin typeface="Microsoft YaHei"/>
                <a:ea typeface="Microsoft YaHei"/>
              </a:rPr>
              <a:t>同一张“血小板减少”化验单，病因不同则处理相反</a:t>
            </a:r>
            <a:endParaRPr/>
          </a:p>
        </p:txBody>
      </p:sp>
      <p:sp>
        <p:nvSpPr>
          <p:cNvPr id="805"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39 / 77</a:t>
            </a:r>
            <a:endParaRPr/>
          </a:p>
        </p:txBody>
      </p:sp>
    </p:spTree>
  </p:cSld>
</p:sld>
</file>

<file path=ppt/slides/slide40.xml><?xml version="1.0" encoding="utf-8"?>
<p:sld xmlns:p="http://schemas.openxmlformats.org/presentationml/2006/main" xmlns:a="http://schemas.openxmlformats.org/drawingml/2006/main">
  <p:cSld>
    <p:spTree>
      <p:nvGrpSpPr>
        <p:cNvPr id="832" name="" descr="&lt;Slide notes={`演讲者备注：【NEUNERT-ASH】ASH 2019 ITP 指南：糖皮质激素一线；对激素依赖/无效者推荐 TPO-RA、利妥昔单抗或脾切除；以出血而非单纯血小板数为主要治疗决策依据。证据：Blood Adv 2019;3:3829-3866，PMID 31794604。&#13;&#10;【PROVAN-ICR】国际共识报告（ICR）2019：ITP 诊断排除性流程与一线/二线治疗推荐；强调个体化与生活质量的评估。证据：Blood Adv 2019;3:3780-3817，PMID 31770441。&#13;&#10;【CN-ITP-GUIDE】《成人原发免疫性血小板减少症诊断与治疗中国指南（2020）》：诊断标准、出血评分与分层治疗（一线糖皮质激素/IVIG，二线 TPO-RA/利妥昔单抗等）。证据：中华血液学杂志 2020;41:617-623，PMID 32942813。&#13;&#10;讲解提示：展示成人 ITP 诊断路径简图：CBC+涂片（排除假性/白血病）→ 网织红/HP-HIV-HCV 等 → 分新发/持续/慢性；一线激素疗程要短（4-6 周内减停），避免长期激素。`}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ITP：诊断排除法 + 一线治疗框架&lt;/Text&gt;&#13;&#10;    &lt;/Box&gt;&#13;&#10;    &lt;Text style={{ position: 'absolute', right: 64, top: 24, fontSize: 15, color: '#9DB8E0' }}&gt;40 / 77&lt;/Text&gt;&#13;&#10;  &lt;/Box&gt;&#13;&#10;  &lt;Box style={{ position: 'absolute', left: 64, top: 96, width: 562, height: 128, background: '#F0F5FC', borderRadius: 12, border: '1px solid #E5E7EB', padding: 20 }}&gt;&#13;&#10;&lt;Text style={{ fontSize: 19, color: '#0E3F8C', fontWeight: 'bold', textAlign: 'left', lineHeight: 1.5 }}&gt;诊断要点&lt;/Text&gt;&#13;&#10;&lt;Text style={{ fontSize: 17, color: '#2C3E50', textAlign: 'left', lineHeight: 1.62 }}&gt;成人新发血小板 &amp;lt;100×10^9/L（多数 &amp;lt;30 就诊）、孤立性血小板减少、排除继发原因（药物、HP/HCV/HIV、自身免疫病、血液病、假性）后临床诊断；血涂片、病毒/免疫学筛查是常规组合。&lt;/Text&gt;&#13;&#10;  &lt;/Box&gt;&#13;&#10;  &lt;Box style={{ position: 'absolute', left: 654, top: 96, width: 562, height: 128, background: '#F0F5FC', borderRadius: 12, border: '1px solid #E5E7EB', padding: 20 }}&gt;&#13;&#10;&lt;Text style={{ fontSize: 19, color: '#0E3F8C', fontWeight: 'bold', textAlign: 'left', lineHeight: 1.5 }}&gt;一线治疗&lt;/Text&gt;&#13;&#10;&lt;Text style={{ fontSize: 17, color: '#2C3E50', textAlign: 'left', lineHeight: 1.62 }}&gt;糖皮质激素（如地塞米松/泼尼松）为标准一线，必要时 IVIG（急诊升板、需快速提升或激素禁忌）；观察策略适用于轻度、无出血者。&lt;/Text&gt;&#13;&#10;  &lt;/Box&gt;&#13;&#10;  &lt;Box style={{ position: 'absolute', left: 64, top: 252, width: 562, height: 128, background: '#F0F5FC', borderRadius: 12, border: '1px solid #E5E7EB', padding: 20 }}&gt;&#13;&#10;&lt;Text style={{ fontSize: 19, color: '#0E3F8C', fontWeight: 'bold', textAlign: 'left', lineHeight: 1.5 }}&gt;出血评估为轴&lt;/Text&gt;&#13;&#10;&lt;Text style={{ fontSize: 17, color: '#2C3E50', textAlign: 'left', lineHeight: 1.62 }}&gt;ASH/ICR 与中国指南一致：治疗强度以出血（而非单纯计数）为驱动；黏膜出血、内出血、老龄、抗凝/抗血小板合并者是升板“加急”信号。&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ITP 是“排除性诊断+出血驱动治疗”：别急着用“血小板数”单点决策。&lt;/Text&gt;&#13;&#10;  &lt;/Box&gt;&#13;&#10;&#13;&#10;  &lt;Box style={{ position: 'absolute', left: 64, top: 556, width: 1152, height: 92, background: '#F0F5FC', borderRadius: 12, border: '1px solid #E5E7EB', padding: 20 }}&gt;&#13;&#10;&lt;Text style={{ fontSize: 17, color: '#2C3E50', textAlign: 'left', lineHeight: 1.6 }}&gt;小结：Blood Adv 2019;3:3829-3866 (PMID 317946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833" name=""/>
          <p:cNvSpPr/>
          <p:nvPr/>
        </p:nvSpPr>
        <p:spPr>
          <a:xfrm rot="0" flipH="0" flipV="0">
            <a:off x="0" y="0"/>
            <a:ext cx="12192000" cy="6858000"/>
          </a:xfrm>
          <a:prstGeom prst="rect">
            <a:avLst/>
          </a:prstGeom>
          <a:solidFill>
            <a:srgbClr val="FFFFFF"/>
          </a:solidFill>
          <a:ln/>
        </p:spPr>
        <p:txBody>
          <a:bodyPr/>
          <a:p/>
        </p:txBody>
      </p:sp>
      <p:sp>
        <p:nvSpPr>
          <p:cNvPr id="834" name=""/>
          <p:cNvSpPr/>
          <p:nvPr/>
        </p:nvSpPr>
        <p:spPr>
          <a:xfrm rot="0" flipH="0" flipV="0">
            <a:off x="0" y="0"/>
            <a:ext cx="12192000" cy="685800"/>
          </a:xfrm>
          <a:prstGeom prst="rect">
            <a:avLst/>
          </a:prstGeom>
          <a:solidFill>
            <a:srgbClr val="0E3F8C"/>
          </a:solidFill>
          <a:ln/>
        </p:spPr>
        <p:txBody>
          <a:bodyPr/>
          <a:p/>
        </p:txBody>
      </p:sp>
      <p:sp>
        <p:nvSpPr>
          <p:cNvPr id="835"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836" name=""/>
          <p:cNvSpPr/>
          <p:nvPr/>
        </p:nvSpPr>
        <p:spPr>
          <a:xfrm rot="0" flipH="0" flipV="0">
            <a:off x="3048000" y="209550"/>
            <a:ext cx="9525" cy="228600"/>
          </a:xfrm>
          <a:prstGeom prst="rect">
            <a:avLst/>
          </a:prstGeom>
          <a:solidFill>
            <a:srgbClr val="3D7BD9"/>
          </a:solidFill>
          <a:ln/>
        </p:spPr>
        <p:txBody>
          <a:bodyPr/>
          <a:p/>
        </p:txBody>
      </p:sp>
      <p:sp>
        <p:nvSpPr>
          <p:cNvPr id="837" name="" descr="{&quot;isTemplate&quot;:true,&quot;type&quot;:&quot;text&quot;}"/>
          <p:cNvSpPr txBox="1"/>
          <p:nvPr/>
        </p:nvSpPr>
        <p:spPr>
          <a:xfrm rot="0" flipH="0" flipV="0">
            <a:off x="3209925" y="228600"/>
            <a:ext cx="2257425" cy="190500"/>
          </a:xfrm>
          <a:prstGeom prst="rect"/>
        </p:spPr>
        <p:txBody>
          <a:bodyPr wrap="none" lIns="0" tIns="0" rIns="0" bIns="0"/>
          <a:p>
            <a:pPr>
              <a:lnSpc>
                <a:spcPct val="100000"/>
              </a:lnSpc>
            </a:pPr>
            <a:r>
              <a:rPr lang="en-US" sz="1200">
                <a:solidFill>
                  <a:srgbClr val="C7D6EC"/>
                </a:solidFill>
                <a:latin typeface="Microsoft YaHei"/>
                <a:ea typeface="Microsoft YaHei"/>
              </a:rPr>
              <a:t>ITP</a:t>
            </a:r>
            <a:r>
              <a:rPr lang="zh-CN" sz="1200">
                <a:solidFill>
                  <a:srgbClr val="C7D6EC"/>
                </a:solidFill>
                <a:latin typeface="Microsoft YaHei"/>
                <a:ea typeface="Microsoft YaHei"/>
              </a:rPr>
              <a:t>：诊断排除法</a:t>
            </a:r>
            <a:r>
              <a:rPr lang="en-US" sz="1200">
                <a:solidFill>
                  <a:srgbClr val="C7D6EC"/>
                </a:solidFill>
                <a:latin typeface="Microsoft YaHei"/>
                <a:ea typeface="Microsoft YaHei"/>
              </a:rPr>
              <a:t> + </a:t>
            </a:r>
            <a:r>
              <a:rPr lang="zh-CN" sz="1200">
                <a:solidFill>
                  <a:srgbClr val="C7D6EC"/>
                </a:solidFill>
                <a:latin typeface="Microsoft YaHei"/>
                <a:ea typeface="Microsoft YaHei"/>
              </a:rPr>
              <a:t>一线治疗框架</a:t>
            </a:r>
            <a:endParaRPr/>
          </a:p>
        </p:txBody>
      </p:sp>
      <p:sp>
        <p:nvSpPr>
          <p:cNvPr id="83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40 / 77</a:t>
            </a:r>
            <a:endParaRPr/>
          </a:p>
        </p:txBody>
      </p:sp>
      <p:sp>
        <p:nvSpPr>
          <p:cNvPr id="83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4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诊断要点</a:t>
            </a:r>
            <a:endParaRPr/>
          </a:p>
        </p:txBody>
      </p:sp>
      <p:sp>
        <p:nvSpPr>
          <p:cNvPr id="841"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成人新发血小板</a:t>
            </a:r>
            <a:r>
              <a:rPr lang="en-US" sz="1275">
                <a:solidFill>
                  <a:srgbClr val="2C3E50"/>
                </a:solidFill>
                <a:latin typeface="Microsoft YaHei"/>
                <a:ea typeface="Microsoft YaHei"/>
              </a:rPr>
              <a:t> &lt;100×10^9/L</a:t>
            </a:r>
            <a:r>
              <a:rPr lang="zh-CN" sz="1275">
                <a:solidFill>
                  <a:srgbClr val="2C3E50"/>
                </a:solidFill>
                <a:latin typeface="Microsoft YaHei"/>
                <a:ea typeface="Microsoft YaHei"/>
              </a:rPr>
              <a:t>（多数</a:t>
            </a:r>
            <a:r>
              <a:rPr lang="en-US" sz="1275">
                <a:solidFill>
                  <a:srgbClr val="2C3E50"/>
                </a:solidFill>
                <a:latin typeface="Microsoft YaHei"/>
                <a:ea typeface="Microsoft YaHei"/>
              </a:rPr>
              <a:t> &lt;30 </a:t>
            </a:r>
            <a:r>
              <a:rPr lang="zh-CN" sz="1275">
                <a:solidFill>
                  <a:srgbClr val="2C3E50"/>
                </a:solidFill>
                <a:latin typeface="Microsoft YaHei"/>
                <a:ea typeface="Microsoft YaHei"/>
              </a:rPr>
              <a:t>就诊）、孤立性血小板减少、排除继发原因（药物、</a:t>
            </a:r>
            <a:r>
              <a:rPr lang="en-US" sz="1275">
                <a:solidFill>
                  <a:srgbClr val="2C3E50"/>
                </a:solidFill>
                <a:latin typeface="Microsoft YaHei"/>
                <a:ea typeface="Microsoft YaHei"/>
              </a:rPr>
              <a:t>HP/HCV/HIV</a:t>
            </a:r>
            <a:r>
              <a:rPr lang="zh-CN" sz="1275">
                <a:solidFill>
                  <a:srgbClr val="2C3E50"/>
                </a:solidFill>
                <a:latin typeface="Microsoft YaHei"/>
                <a:ea typeface="Microsoft YaHei"/>
              </a:rPr>
              <a:t>、自身免疫病、血液病、假性）后临床诊断；血涂片、病毒</a:t>
            </a:r>
            <a:r>
              <a:rPr lang="en-US" sz="1275">
                <a:solidFill>
                  <a:srgbClr val="2C3E50"/>
                </a:solidFill>
                <a:latin typeface="Microsoft YaHei"/>
                <a:ea typeface="Microsoft YaHei"/>
              </a:rPr>
              <a:t>/</a:t>
            </a:r>
            <a:r>
              <a:rPr lang="zh-CN" sz="1275">
                <a:solidFill>
                  <a:srgbClr val="2C3E50"/>
                </a:solidFill>
                <a:latin typeface="Microsoft YaHei"/>
                <a:ea typeface="Microsoft YaHei"/>
              </a:rPr>
              <a:t>免疫学筛查是常规组合。</a:t>
            </a:r>
            <a:endParaRPr/>
          </a:p>
        </p:txBody>
      </p:sp>
      <p:sp>
        <p:nvSpPr>
          <p:cNvPr id="84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4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一线治疗</a:t>
            </a:r>
            <a:endParaRPr/>
          </a:p>
        </p:txBody>
      </p:sp>
      <p:sp>
        <p:nvSpPr>
          <p:cNvPr id="844" name="" descr="{&quot;isTemplate&quot;:true,&quot;type&quot;:&quot;text&quot;}"/>
          <p:cNvSpPr txBox="1"/>
          <p:nvPr/>
        </p:nvSpPr>
        <p:spPr>
          <a:xfrm rot="0" flipH="0" flipV="0">
            <a:off x="641985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糖皮质激素（如地塞米松</a:t>
            </a:r>
            <a:r>
              <a:rPr lang="en-US" sz="1275">
                <a:solidFill>
                  <a:srgbClr val="2C3E50"/>
                </a:solidFill>
                <a:latin typeface="Microsoft YaHei"/>
                <a:ea typeface="Microsoft YaHei"/>
              </a:rPr>
              <a:t>/</a:t>
            </a:r>
            <a:r>
              <a:rPr lang="zh-CN" sz="1275">
                <a:solidFill>
                  <a:srgbClr val="2C3E50"/>
                </a:solidFill>
                <a:latin typeface="Microsoft YaHei"/>
                <a:ea typeface="Microsoft YaHei"/>
              </a:rPr>
              <a:t>泼尼松）为标准一线，必要时</a:t>
            </a:r>
            <a:r>
              <a:rPr lang="en-US" sz="1275">
                <a:solidFill>
                  <a:srgbClr val="2C3E50"/>
                </a:solidFill>
                <a:latin typeface="Microsoft YaHei"/>
                <a:ea typeface="Microsoft YaHei"/>
              </a:rPr>
              <a:t> IVIG</a:t>
            </a:r>
            <a:r>
              <a:rPr lang="zh-CN" sz="1275">
                <a:solidFill>
                  <a:srgbClr val="2C3E50"/>
                </a:solidFill>
                <a:latin typeface="Microsoft YaHei"/>
                <a:ea typeface="Microsoft YaHei"/>
              </a:rPr>
              <a:t>（急诊升板、需快速提升或激素禁忌）；观察策略适用于轻度、无出血者。</a:t>
            </a:r>
            <a:endParaRPr/>
          </a:p>
        </p:txBody>
      </p:sp>
      <p:sp>
        <p:nvSpPr>
          <p:cNvPr id="84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4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出血评估为轴</a:t>
            </a:r>
            <a:endParaRPr/>
          </a:p>
        </p:txBody>
      </p:sp>
      <p:sp>
        <p:nvSpPr>
          <p:cNvPr id="84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ASH/ICR </a:t>
            </a:r>
            <a:r>
              <a:rPr lang="zh-CN" sz="1275">
                <a:solidFill>
                  <a:srgbClr val="2C3E50"/>
                </a:solidFill>
                <a:latin typeface="Microsoft YaHei"/>
                <a:ea typeface="Microsoft YaHei"/>
              </a:rPr>
              <a:t>与中国指南一致：治疗强度以出血（而非单纯计数）为驱动；黏膜出血、内出血、老龄、抗凝</a:t>
            </a:r>
            <a:r>
              <a:rPr lang="en-US" sz="1275">
                <a:solidFill>
                  <a:srgbClr val="2C3E50"/>
                </a:solidFill>
                <a:latin typeface="Microsoft YaHei"/>
                <a:ea typeface="Microsoft YaHei"/>
              </a:rPr>
              <a:t>/</a:t>
            </a:r>
            <a:r>
              <a:rPr lang="zh-CN" sz="1275">
                <a:solidFill>
                  <a:srgbClr val="2C3E50"/>
                </a:solidFill>
                <a:latin typeface="Microsoft YaHei"/>
                <a:ea typeface="Microsoft YaHei"/>
              </a:rPr>
              <a:t>抗血小板合并者是升板“加急”信号。</a:t>
            </a:r>
            <a:endParaRPr/>
          </a:p>
        </p:txBody>
      </p:sp>
      <p:sp>
        <p:nvSpPr>
          <p:cNvPr id="84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4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850"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85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52"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ITP </a:t>
            </a:r>
            <a:r>
              <a:rPr lang="zh-CN" sz="1275">
                <a:solidFill>
                  <a:srgbClr val="2C3E50"/>
                </a:solidFill>
                <a:latin typeface="Microsoft YaHei"/>
                <a:ea typeface="Microsoft YaHei"/>
              </a:rPr>
              <a:t>是“排除性诊断</a:t>
            </a:r>
            <a:r>
              <a:rPr lang="en-US" sz="1275">
                <a:solidFill>
                  <a:srgbClr val="2C3E50"/>
                </a:solidFill>
                <a:latin typeface="Microsoft YaHei"/>
                <a:ea typeface="Microsoft YaHei"/>
              </a:rPr>
              <a:t>+</a:t>
            </a:r>
            <a:r>
              <a:rPr lang="zh-CN" sz="1275">
                <a:solidFill>
                  <a:srgbClr val="2C3E50"/>
                </a:solidFill>
                <a:latin typeface="Microsoft YaHei"/>
                <a:ea typeface="Microsoft YaHei"/>
              </a:rPr>
              <a:t>出血驱动治疗”：别急着用“血小板数”单点决策。</a:t>
            </a:r>
            <a:endParaRPr/>
          </a:p>
        </p:txBody>
      </p:sp>
      <p:sp>
        <p:nvSpPr>
          <p:cNvPr id="85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85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Adv 2019;3:3829-3866 (PMID 31794604)</a:t>
            </a:r>
            <a:endParaRPr/>
          </a:p>
        </p:txBody>
      </p:sp>
      <p:sp>
        <p:nvSpPr>
          <p:cNvPr id="855" name=""/>
          <p:cNvSpPr/>
          <p:nvPr/>
        </p:nvSpPr>
        <p:spPr>
          <a:xfrm rot="0" flipH="0" flipV="0">
            <a:off x="0" y="6324600"/>
            <a:ext cx="12192000" cy="342900"/>
          </a:xfrm>
          <a:prstGeom prst="rect">
            <a:avLst/>
          </a:prstGeom>
          <a:solidFill>
            <a:srgbClr val="F7F9FC"/>
          </a:solidFill>
          <a:ln/>
        </p:spPr>
        <p:txBody>
          <a:bodyPr/>
          <a:p/>
        </p:txBody>
      </p:sp>
      <p:sp>
        <p:nvSpPr>
          <p:cNvPr id="85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85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1.xml><?xml version="1.0" encoding="utf-8"?>
<p:sld xmlns:p="http://schemas.openxmlformats.org/presentationml/2006/main" xmlns:a="http://schemas.openxmlformats.org/drawingml/2006/main">
  <p:cSld>
    <p:spTree>
      <p:nvGrpSpPr>
        <p:cNvPr id="858" name="" descr="&lt;Slide notes={`演讲者备注：【KUTER-ROMI】罗米司亭 III 期 RCT：慢性 ITP 患者血小板应答率显著高于安慰剂，减少挽救治疗与出血事件，确立 TPO-RA 疗效与安全性。证据：Lancet 2008;371:395-403，PMID 18242413。&#13;&#10;【CHENG-RAISE】RAISE：艾曲泊帕 6 个月随机双盲 RCT 显著提高慢性 ITP 血小板计数（中位峰值 50×10^9/L 以上达 59%）并降低出血，支持 TPO-RA 用于二线。证据：Lancet 2011;377:393-402，PMID 20739054。&#13;&#10;讲解提示：对比两药给药方式（皮下每周 vs 口服每日）与随访指标；说明“应答的定义（≥50×10^9/L）”统一了临床与试验语言，第十一章案例 3 会完整走一遍二线启用流程。`}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ITP 二线：TPO-RA 的证据与个体化选择&lt;/Text&gt;&#13;&#10;    &lt;/Box&gt;&#13;&#10;    &lt;Text style={{ position: 'absolute', right: 64, top: 24, fontSize: 15, color: '#9DB8E0' }}&gt;41 / 77&lt;/Text&gt;&#13;&#10;  &lt;/Box&gt;&#13;&#10;  &lt;Box style={{ position: 'absolute', left: 64, top: 96, width: 562, height: 128, background: '#F0F5FC', borderRadius: 12, border: '1px solid #E5E7EB', padding: 20 }}&gt;&#13;&#10;&lt;Text style={{ fontSize: 19, color: '#0E3F8C', fontWeight: 'bold', textAlign: 'left', lineHeight: 1.5 }}&gt;TPO-RA 疗效&lt;/Text&gt;&#13;&#10;&lt;Text style={{ fontSize: 17, color: '#2C3E50', textAlign: 'left', lineHeight: 1.62 }}&gt;罗米司亭 III 期：总应答率 79%—88%（切脾/未切脾）vs 安慰剂 0—14%；RAISE（艾曲泊帕）：应答 ≥79% vs 28%，OR 8.2，均显著减少挽救治疗与出血、并允许减停联合用药。&lt;/Text&gt;&#13;&#10;  &lt;/Box&gt;&#13;&#10;  &lt;Box style={{ position: 'absolute', left: 654, top: 96, width: 562, height: 128, background: '#F0F5FC', borderRadius: 12, border: '1px solid #E5E7EB', padding: 20 }}&gt;&#13;&#10;&lt;Text style={{ fontSize: 19, color: '#0E3F8C', fontWeight: 'bold', textAlign: 'left', lineHeight: 1.5 }}&gt;适用人群&lt;/Text&gt;&#13;&#10;&lt;Text style={{ fontSize: 17, color: '#2C3E50', textAlign: 'left', lineHeight: 1.62 }}&gt;激素依赖/无效、切脾失败或不适合切脾者；如今 TPO-RA 越来越多地前移为二线首选之一（与利妥昔单抗/切脾共同构成 ICR 推荐选项），需结合年龄、依从性、血栓风险个体化。&lt;/Text&gt;&#13;&#10;  &lt;/Box&gt;&#13;&#10;  &lt;Box style={{ position: 'absolute', left: 64, top: 252, width: 562, height: 128, background: '#F0F5FC', borderRadius: 12, border: '1px solid #E5E7EB', padding: 20 }}&gt;&#13;&#10;&lt;Text style={{ fontSize: 19, color: '#0E3F8C', fontWeight: 'bold', textAlign: 'left', lineHeight: 1.5 }}&gt;监测要点&lt;/Text&gt;&#13;&#10;&lt;Text style={{ fontSize: 17, color: '#2C3E50', textAlign: 'left', lineHeight: 1.62 }}&gt;用药期间动态监测血小板（目标多设定在 ≥50 且 ≤400×10^9/L 区间）；关注血栓事件、肝功能（艾曲泊帕）、停药后复发与血常规（罕见髓系转化风险虽低仍需随访）。&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TPO-RA 让多数 ITP 患者摆脱激素依赖；疗效监测本质是“动态计数管理”。&lt;/Text&gt;&#13;&#10;  &lt;/Box&gt;&#13;&#10;&#13;&#10;  &lt;Box style={{ position: 'absolute', left: 64, top: 556, width: 1152, height: 92, background: '#F0F5FC', borderRadius: 12, border: '1px solid #E5E7EB', padding: 20 }}&gt;&#13;&#10;&lt;Text style={{ fontSize: 17, color: '#2C3E50', textAlign: 'left', lineHeight: 1.6 }}&gt;小结：Lancet 2008;371:395-403 (PMID 1824241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859" name=""/>
          <p:cNvSpPr/>
          <p:nvPr/>
        </p:nvSpPr>
        <p:spPr>
          <a:xfrm rot="0" flipH="0" flipV="0">
            <a:off x="0" y="0"/>
            <a:ext cx="12192000" cy="6858000"/>
          </a:xfrm>
          <a:prstGeom prst="rect">
            <a:avLst/>
          </a:prstGeom>
          <a:solidFill>
            <a:srgbClr val="FFFFFF"/>
          </a:solidFill>
          <a:ln/>
        </p:spPr>
        <p:txBody>
          <a:bodyPr/>
          <a:p/>
        </p:txBody>
      </p:sp>
      <p:sp>
        <p:nvSpPr>
          <p:cNvPr id="860" name=""/>
          <p:cNvSpPr/>
          <p:nvPr/>
        </p:nvSpPr>
        <p:spPr>
          <a:xfrm rot="0" flipH="0" flipV="0">
            <a:off x="0" y="0"/>
            <a:ext cx="12192000" cy="685800"/>
          </a:xfrm>
          <a:prstGeom prst="rect">
            <a:avLst/>
          </a:prstGeom>
          <a:solidFill>
            <a:srgbClr val="0E3F8C"/>
          </a:solidFill>
          <a:ln/>
        </p:spPr>
        <p:txBody>
          <a:bodyPr/>
          <a:p/>
        </p:txBody>
      </p:sp>
      <p:sp>
        <p:nvSpPr>
          <p:cNvPr id="861"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862" name=""/>
          <p:cNvSpPr/>
          <p:nvPr/>
        </p:nvSpPr>
        <p:spPr>
          <a:xfrm rot="0" flipH="0" flipV="0">
            <a:off x="3048000" y="209550"/>
            <a:ext cx="9525" cy="228600"/>
          </a:xfrm>
          <a:prstGeom prst="rect">
            <a:avLst/>
          </a:prstGeom>
          <a:solidFill>
            <a:srgbClr val="3D7BD9"/>
          </a:solidFill>
          <a:ln/>
        </p:spPr>
        <p:txBody>
          <a:bodyPr/>
          <a:p/>
        </p:txBody>
      </p:sp>
      <p:sp>
        <p:nvSpPr>
          <p:cNvPr id="863" name="" descr="{&quot;isTemplate&quot;:true,&quot;type&quot;:&quot;text&quot;}"/>
          <p:cNvSpPr txBox="1"/>
          <p:nvPr/>
        </p:nvSpPr>
        <p:spPr>
          <a:xfrm rot="0" flipH="0" flipV="0">
            <a:off x="3209925" y="228600"/>
            <a:ext cx="2724150" cy="190500"/>
          </a:xfrm>
          <a:prstGeom prst="rect"/>
        </p:spPr>
        <p:txBody>
          <a:bodyPr wrap="none" lIns="0" tIns="0" rIns="0" bIns="0"/>
          <a:p>
            <a:pPr>
              <a:lnSpc>
                <a:spcPct val="100000"/>
              </a:lnSpc>
            </a:pPr>
            <a:r>
              <a:rPr lang="en-US" sz="1200">
                <a:solidFill>
                  <a:srgbClr val="C7D6EC"/>
                </a:solidFill>
                <a:latin typeface="Microsoft YaHei"/>
                <a:ea typeface="Microsoft YaHei"/>
              </a:rPr>
              <a:t>ITP </a:t>
            </a:r>
            <a:r>
              <a:rPr lang="zh-CN" sz="1200">
                <a:solidFill>
                  <a:srgbClr val="C7D6EC"/>
                </a:solidFill>
                <a:latin typeface="Microsoft YaHei"/>
                <a:ea typeface="Microsoft YaHei"/>
              </a:rPr>
              <a:t>二线：</a:t>
            </a:r>
            <a:r>
              <a:rPr lang="en-US" sz="1200">
                <a:solidFill>
                  <a:srgbClr val="C7D6EC"/>
                </a:solidFill>
                <a:latin typeface="Microsoft YaHei"/>
                <a:ea typeface="Microsoft YaHei"/>
              </a:rPr>
              <a:t>TPO-RA </a:t>
            </a:r>
            <a:r>
              <a:rPr lang="zh-CN" sz="1200">
                <a:solidFill>
                  <a:srgbClr val="C7D6EC"/>
                </a:solidFill>
                <a:latin typeface="Microsoft YaHei"/>
                <a:ea typeface="Microsoft YaHei"/>
              </a:rPr>
              <a:t>的证据与个体化选择</a:t>
            </a:r>
            <a:endParaRPr/>
          </a:p>
        </p:txBody>
      </p:sp>
      <p:sp>
        <p:nvSpPr>
          <p:cNvPr id="864"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41 / 77</a:t>
            </a:r>
            <a:endParaRPr/>
          </a:p>
        </p:txBody>
      </p:sp>
      <p:sp>
        <p:nvSpPr>
          <p:cNvPr id="865"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66"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TPO-RA </a:t>
            </a:r>
            <a:r>
              <a:rPr lang="zh-CN" sz="1425" b="1">
                <a:solidFill>
                  <a:srgbClr val="0E3F8C"/>
                </a:solidFill>
                <a:latin typeface="Microsoft YaHei"/>
                <a:ea typeface="Microsoft YaHei"/>
              </a:rPr>
              <a:t>疗效</a:t>
            </a:r>
            <a:endParaRPr/>
          </a:p>
        </p:txBody>
      </p:sp>
      <p:sp>
        <p:nvSpPr>
          <p:cNvPr id="867"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罗米司亭</a:t>
            </a:r>
            <a:r>
              <a:rPr lang="en-US" sz="1275">
                <a:solidFill>
                  <a:srgbClr val="2C3E50"/>
                </a:solidFill>
                <a:latin typeface="Microsoft YaHei"/>
                <a:ea typeface="Microsoft YaHei"/>
              </a:rPr>
              <a:t> III </a:t>
            </a:r>
            <a:r>
              <a:rPr lang="zh-CN" sz="1275">
                <a:solidFill>
                  <a:srgbClr val="2C3E50"/>
                </a:solidFill>
                <a:latin typeface="Microsoft YaHei"/>
                <a:ea typeface="Microsoft YaHei"/>
              </a:rPr>
              <a:t>期：总应答率</a:t>
            </a:r>
            <a:r>
              <a:rPr lang="en-US" sz="1275">
                <a:solidFill>
                  <a:srgbClr val="2C3E50"/>
                </a:solidFill>
                <a:latin typeface="Microsoft YaHei"/>
                <a:ea typeface="Microsoft YaHei"/>
              </a:rPr>
              <a:t> 79%—88%</a:t>
            </a:r>
            <a:r>
              <a:rPr lang="zh-CN" sz="1275">
                <a:solidFill>
                  <a:srgbClr val="2C3E50"/>
                </a:solidFill>
                <a:latin typeface="Microsoft YaHei"/>
                <a:ea typeface="Microsoft YaHei"/>
              </a:rPr>
              <a:t>（切脾</a:t>
            </a:r>
            <a:r>
              <a:rPr lang="en-US" sz="1275">
                <a:solidFill>
                  <a:srgbClr val="2C3E50"/>
                </a:solidFill>
                <a:latin typeface="Microsoft YaHei"/>
                <a:ea typeface="Microsoft YaHei"/>
              </a:rPr>
              <a:t>/</a:t>
            </a:r>
            <a:r>
              <a:rPr lang="zh-CN" sz="1275">
                <a:solidFill>
                  <a:srgbClr val="2C3E50"/>
                </a:solidFill>
                <a:latin typeface="Microsoft YaHei"/>
                <a:ea typeface="Microsoft YaHei"/>
              </a:rPr>
              <a:t>未切脾）</a:t>
            </a:r>
            <a:r>
              <a:rPr lang="en-US" sz="1275">
                <a:solidFill>
                  <a:srgbClr val="2C3E50"/>
                </a:solidFill>
                <a:latin typeface="Microsoft YaHei"/>
                <a:ea typeface="Microsoft YaHei"/>
              </a:rPr>
              <a:t>vs </a:t>
            </a:r>
            <a:r>
              <a:rPr lang="zh-CN" sz="1275">
                <a:solidFill>
                  <a:srgbClr val="2C3E50"/>
                </a:solidFill>
                <a:latin typeface="Microsoft YaHei"/>
                <a:ea typeface="Microsoft YaHei"/>
              </a:rPr>
              <a:t>安慰剂</a:t>
            </a:r>
            <a:r>
              <a:rPr lang="en-US" sz="1275">
                <a:solidFill>
                  <a:srgbClr val="2C3E50"/>
                </a:solidFill>
                <a:latin typeface="Microsoft YaHei"/>
                <a:ea typeface="Microsoft YaHei"/>
              </a:rPr>
              <a:t> 0—14%</a:t>
            </a:r>
            <a:r>
              <a:rPr lang="zh-CN" sz="1275">
                <a:solidFill>
                  <a:srgbClr val="2C3E50"/>
                </a:solidFill>
                <a:latin typeface="Microsoft YaHei"/>
                <a:ea typeface="Microsoft YaHei"/>
              </a:rPr>
              <a:t>；</a:t>
            </a:r>
            <a:r>
              <a:rPr lang="en-US" sz="1275">
                <a:solidFill>
                  <a:srgbClr val="2C3E50"/>
                </a:solidFill>
                <a:latin typeface="Microsoft YaHei"/>
                <a:ea typeface="Microsoft YaHei"/>
              </a:rPr>
              <a:t>RAISE</a:t>
            </a:r>
            <a:r>
              <a:rPr lang="zh-CN" sz="1275">
                <a:solidFill>
                  <a:srgbClr val="2C3E50"/>
                </a:solidFill>
                <a:latin typeface="Microsoft YaHei"/>
                <a:ea typeface="Microsoft YaHei"/>
              </a:rPr>
              <a:t>（艾曲泊帕）：应答</a:t>
            </a:r>
            <a:r>
              <a:rPr lang="en-US" sz="1275">
                <a:solidFill>
                  <a:srgbClr val="2C3E50"/>
                </a:solidFill>
                <a:latin typeface="Microsoft YaHei"/>
                <a:ea typeface="Microsoft YaHei"/>
              </a:rPr>
              <a:t> ≥79% vs 28%</a:t>
            </a:r>
            <a:r>
              <a:rPr lang="zh-CN" sz="1275">
                <a:solidFill>
                  <a:srgbClr val="2C3E50"/>
                </a:solidFill>
                <a:latin typeface="Microsoft YaHei"/>
                <a:ea typeface="Microsoft YaHei"/>
              </a:rPr>
              <a:t>，</a:t>
            </a:r>
            <a:r>
              <a:rPr lang="en-US" sz="1275">
                <a:solidFill>
                  <a:srgbClr val="2C3E50"/>
                </a:solidFill>
                <a:latin typeface="Microsoft YaHei"/>
                <a:ea typeface="Microsoft YaHei"/>
              </a:rPr>
              <a:t>OR 8.2</a:t>
            </a:r>
            <a:r>
              <a:rPr lang="zh-CN" sz="1275">
                <a:solidFill>
                  <a:srgbClr val="2C3E50"/>
                </a:solidFill>
                <a:latin typeface="Microsoft YaHei"/>
                <a:ea typeface="Microsoft YaHei"/>
              </a:rPr>
              <a:t>，均显著减少挽救治疗与出血、并允许减停联合用药。</a:t>
            </a:r>
            <a:endParaRPr/>
          </a:p>
        </p:txBody>
      </p:sp>
      <p:sp>
        <p:nvSpPr>
          <p:cNvPr id="868"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69"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适用人群</a:t>
            </a:r>
            <a:endParaRPr/>
          </a:p>
        </p:txBody>
      </p:sp>
      <p:sp>
        <p:nvSpPr>
          <p:cNvPr id="870"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激素依赖</a:t>
            </a:r>
            <a:r>
              <a:rPr lang="en-US" sz="1275">
                <a:solidFill>
                  <a:srgbClr val="2C3E50"/>
                </a:solidFill>
                <a:latin typeface="Microsoft YaHei"/>
                <a:ea typeface="Microsoft YaHei"/>
              </a:rPr>
              <a:t>/</a:t>
            </a:r>
            <a:r>
              <a:rPr lang="zh-CN" sz="1275">
                <a:solidFill>
                  <a:srgbClr val="2C3E50"/>
                </a:solidFill>
                <a:latin typeface="Microsoft YaHei"/>
                <a:ea typeface="Microsoft YaHei"/>
              </a:rPr>
              <a:t>无效、切脾失败或不适合切脾者；如今</a:t>
            </a:r>
            <a:r>
              <a:rPr lang="en-US" sz="1275">
                <a:solidFill>
                  <a:srgbClr val="2C3E50"/>
                </a:solidFill>
                <a:latin typeface="Microsoft YaHei"/>
                <a:ea typeface="Microsoft YaHei"/>
              </a:rPr>
              <a:t> TPO-RA </a:t>
            </a:r>
            <a:r>
              <a:rPr lang="zh-CN" sz="1275">
                <a:solidFill>
                  <a:srgbClr val="2C3E50"/>
                </a:solidFill>
                <a:latin typeface="Microsoft YaHei"/>
                <a:ea typeface="Microsoft YaHei"/>
              </a:rPr>
              <a:t>越来越多地前移为二线首选之一（与利妥昔单抗</a:t>
            </a:r>
            <a:r>
              <a:rPr lang="en-US" sz="1275">
                <a:solidFill>
                  <a:srgbClr val="2C3E50"/>
                </a:solidFill>
                <a:latin typeface="Microsoft YaHei"/>
                <a:ea typeface="Microsoft YaHei"/>
              </a:rPr>
              <a:t>/</a:t>
            </a:r>
            <a:r>
              <a:rPr lang="zh-CN" sz="1275">
                <a:solidFill>
                  <a:srgbClr val="2C3E50"/>
                </a:solidFill>
                <a:latin typeface="Microsoft YaHei"/>
                <a:ea typeface="Microsoft YaHei"/>
              </a:rPr>
              <a:t>切脾共同构成</a:t>
            </a:r>
            <a:r>
              <a:rPr lang="en-US" sz="1275">
                <a:solidFill>
                  <a:srgbClr val="2C3E50"/>
                </a:solidFill>
                <a:latin typeface="Microsoft YaHei"/>
                <a:ea typeface="Microsoft YaHei"/>
              </a:rPr>
              <a:t> ICR </a:t>
            </a:r>
            <a:r>
              <a:rPr lang="zh-CN" sz="1275">
                <a:solidFill>
                  <a:srgbClr val="2C3E50"/>
                </a:solidFill>
                <a:latin typeface="Microsoft YaHei"/>
                <a:ea typeface="Microsoft YaHei"/>
              </a:rPr>
              <a:t>推荐选项），需结合年龄、依从性、血栓风险个体化。</a:t>
            </a:r>
            <a:endParaRPr/>
          </a:p>
        </p:txBody>
      </p:sp>
      <p:sp>
        <p:nvSpPr>
          <p:cNvPr id="871"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72"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监测要点</a:t>
            </a:r>
            <a:endParaRPr/>
          </a:p>
        </p:txBody>
      </p:sp>
      <p:sp>
        <p:nvSpPr>
          <p:cNvPr id="873"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用药期间动态监测血小板（目标多设定在</a:t>
            </a:r>
            <a:r>
              <a:rPr lang="en-US" sz="1275">
                <a:solidFill>
                  <a:srgbClr val="2C3E50"/>
                </a:solidFill>
                <a:latin typeface="Microsoft YaHei"/>
                <a:ea typeface="Microsoft YaHei"/>
              </a:rPr>
              <a:t> ≥50 </a:t>
            </a:r>
            <a:r>
              <a:rPr lang="zh-CN" sz="1275">
                <a:solidFill>
                  <a:srgbClr val="2C3E50"/>
                </a:solidFill>
                <a:latin typeface="Microsoft YaHei"/>
                <a:ea typeface="Microsoft YaHei"/>
              </a:rPr>
              <a:t>且</a:t>
            </a:r>
            <a:r>
              <a:rPr lang="en-US" sz="1275">
                <a:solidFill>
                  <a:srgbClr val="2C3E50"/>
                </a:solidFill>
                <a:latin typeface="Microsoft YaHei"/>
                <a:ea typeface="Microsoft YaHei"/>
              </a:rPr>
              <a:t> ≤400×10^9/L </a:t>
            </a:r>
            <a:r>
              <a:rPr lang="zh-CN" sz="1275">
                <a:solidFill>
                  <a:srgbClr val="2C3E50"/>
                </a:solidFill>
                <a:latin typeface="Microsoft YaHei"/>
                <a:ea typeface="Microsoft YaHei"/>
              </a:rPr>
              <a:t>区间）；关注血栓事件、肝功能（艾曲泊帕）、停药后复发与血常规（罕见髓系转化风险虽低仍需随访）。</a:t>
            </a:r>
            <a:endParaRPr/>
          </a:p>
        </p:txBody>
      </p:sp>
      <p:sp>
        <p:nvSpPr>
          <p:cNvPr id="874"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75"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876"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877"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78"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TPO-RA </a:t>
            </a:r>
            <a:r>
              <a:rPr lang="zh-CN" sz="1275">
                <a:solidFill>
                  <a:srgbClr val="2C3E50"/>
                </a:solidFill>
                <a:latin typeface="Microsoft YaHei"/>
                <a:ea typeface="Microsoft YaHei"/>
              </a:rPr>
              <a:t>让多数</a:t>
            </a:r>
            <a:r>
              <a:rPr lang="en-US" sz="1275">
                <a:solidFill>
                  <a:srgbClr val="2C3E50"/>
                </a:solidFill>
                <a:latin typeface="Microsoft YaHei"/>
                <a:ea typeface="Microsoft YaHei"/>
              </a:rPr>
              <a:t> ITP </a:t>
            </a:r>
            <a:r>
              <a:rPr lang="zh-CN" sz="1275">
                <a:solidFill>
                  <a:srgbClr val="2C3E50"/>
                </a:solidFill>
                <a:latin typeface="Microsoft YaHei"/>
                <a:ea typeface="Microsoft YaHei"/>
              </a:rPr>
              <a:t>患者摆脱激素依赖；疗效监测本质是“动态计数管理”。</a:t>
            </a:r>
            <a:endParaRPr/>
          </a:p>
        </p:txBody>
      </p:sp>
      <p:sp>
        <p:nvSpPr>
          <p:cNvPr id="87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88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Lancet 2008;371:395-403 (PMID 18242413)</a:t>
            </a:r>
            <a:endParaRPr/>
          </a:p>
        </p:txBody>
      </p:sp>
      <p:sp>
        <p:nvSpPr>
          <p:cNvPr id="881" name=""/>
          <p:cNvSpPr/>
          <p:nvPr/>
        </p:nvSpPr>
        <p:spPr>
          <a:xfrm rot="0" flipH="0" flipV="0">
            <a:off x="0" y="6324600"/>
            <a:ext cx="12192000" cy="342900"/>
          </a:xfrm>
          <a:prstGeom prst="rect">
            <a:avLst/>
          </a:prstGeom>
          <a:solidFill>
            <a:srgbClr val="F7F9FC"/>
          </a:solidFill>
          <a:ln/>
        </p:spPr>
        <p:txBody>
          <a:bodyPr/>
          <a:p/>
        </p:txBody>
      </p:sp>
      <p:sp>
        <p:nvSpPr>
          <p:cNvPr id="88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88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2.xml><?xml version="1.0" encoding="utf-8"?>
<p:sld xmlns:p="http://schemas.openxmlformats.org/presentationml/2006/main" xmlns:a="http://schemas.openxmlformats.org/drawingml/2006/main">
  <p:cSld>
    <p:spTree>
      <p:nvGrpSpPr>
        <p:cNvPr id="884" name="" descr="&lt;Slide notes={`演讲者备注：【LO-4TS】4Ts 评分验证研究：低危（≤3）阴性预测值高可基本排除 HIT；中/高危需行 PF4/肝素抗体与功能学确认。证据：J Thromb Haemost 2006;4:759-765，PMID 16634744。&#13;&#10;【CUKER-ASH-HIT】ASH 2018 VTE-HIT 指南：4Ts 中低危可不检测抗体；HIT 确诊/高度怀疑者停肝素并改用非肝素抗凝（阿加曲班/比伐芦定/磺达肝癸钠/DOAC），避免华法林单用。证据：Blood Adv 2018;2:3360-3392，PMID 30482768。&#13;&#10;【HIT-LAB】HIT 临床与实验室整合诊断：免疫学检测（PF4/肝素 ELISA）敏感性高但特异性低，SRA/血小板活化功能试验特异性高，主张临床+实验室联合解读。证据：Semin Thromb Hemost 2014;40:106-114，PMID 24363239。&#13;&#10;讲解提示：强调 HIT 的“反常识”——血小板低却要抗凝（换非肝素），因为死亡主因是血栓；4Ts 中“血小板下降 &gt;50%”比绝对值更有价值（动态监测的意义，见第九章）。`}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HIT：血小板减少+血栓的“危险组合”&lt;/Text&gt;&#13;&#10;    &lt;/Box&gt;&#13;&#10;    &lt;Text style={{ position: 'absolute', right: 64, top: 24, fontSize: 15, color: '#9DB8E0' }}&gt;42 / 77&lt;/Text&gt;&#13;&#10;  &lt;/Box&gt;&#13;&#10;  &lt;Box style={{ position: 'absolute', left: 64, top: 96, width: 562, height: 128, background: '#F0F5FC', borderRadius: 12, border: '1px solid #E5E7EB', padding: 20 }}&gt;&#13;&#10;&lt;Text style={{ fontSize: 19, color: '#0E3F8C', fontWeight: 'bold', textAlign: 'left', lineHeight: 1.5 }}&gt;发病机制与特征&lt;/Text&gt;&#13;&#10;&lt;Text style={{ fontSize: 17, color: '#2C3E50', textAlign: 'left', lineHeight: 1.62 }}&gt;肝素-PF4 复合物刺激产生血小板活化抗体（IgG），激活血小板并损伤内皮——临床为“血小板减少+血栓（可先于或同时）”，常在肝素使用后 5—10 天出现；血栓风险远高于出血。&lt;/Text&gt;&#13;&#10;  &lt;/Box&gt;&#13;&#10;  &lt;Box style={{ position: 'absolute', left: 654, top: 96, width: 562, height: 128, background: '#F0F5FC', borderRadius: 12, border: '1px solid #E5E7EB', padding: 20 }}&gt;&#13;&#10;&lt;Text style={{ fontSize: 19, color: '#0E3F8C', fontWeight: 'bold', textAlign: 'left', lineHeight: 1.5 }}&gt;4Ts 评分&lt;/Text&gt;&#13;&#10;&lt;Text style={{ fontSize: 17, color: '#2C3E50', textAlign: 'left', lineHeight: 1.62 }}&gt;血小板减少幅度与时间、血栓/皮肤坏死、其他原因排除四项计分：≤3 低危（阴性预测值高、可基本排除）；4—5 中危、6—8 高危需行实验室确认。&lt;/Text&gt;&#13;&#10;  &lt;/Box&gt;&#13;&#10;  &lt;Box style={{ position: 'absolute', left: 64, top: 252, width: 562, height: 128, background: '#F0F5FC', borderRadius: 12, border: '1px solid #E5E7EB', padding: 20 }}&gt;&#13;&#10;&lt;Text style={{ fontSize: 19, color: '#0E3F8C', fontWeight: 'bold', textAlign: 'left', lineHeight: 1.5 }}&gt;实验室诊断&lt;/Text&gt;&#13;&#10;&lt;Text style={{ fontSize: 17, color: '#2C3E50', textAlign: 'left', lineHeight: 1.62 }}&gt;免疫学（PF4/肝素 ELISA 或乳胶免疫）敏感性高、特异性低，仅可“排除”；确诊需功能学（SRA/血小板活化）或强阳性+典型临床；临床-实验室联合解读是准则。&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HIT 的诊断是“临床评分+实验室确认”双轨制：低危不查、中高危才查，避免过度诊断。&lt;/Text&gt;&#13;&#10;  &lt;/Box&gt;&#13;&#10;&#13;&#10;  &lt;Box style={{ position: 'absolute', left: 64, top: 556, width: 1152, height: 92, background: '#F0F5FC', borderRadius: 12, border: '1px solid #E5E7EB', padding: 20 }}&gt;&#13;&#10;&lt;Text style={{ fontSize: 17, color: '#2C3E50', textAlign: 'left', lineHeight: 1.6 }}&gt;小结：J Thromb Haemost 2006;4:759-765 (PMID 1663474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885" name=""/>
          <p:cNvSpPr/>
          <p:nvPr/>
        </p:nvSpPr>
        <p:spPr>
          <a:xfrm rot="0" flipH="0" flipV="0">
            <a:off x="0" y="0"/>
            <a:ext cx="12192000" cy="6858000"/>
          </a:xfrm>
          <a:prstGeom prst="rect">
            <a:avLst/>
          </a:prstGeom>
          <a:solidFill>
            <a:srgbClr val="FFFFFF"/>
          </a:solidFill>
          <a:ln/>
        </p:spPr>
        <p:txBody>
          <a:bodyPr/>
          <a:p/>
        </p:txBody>
      </p:sp>
      <p:sp>
        <p:nvSpPr>
          <p:cNvPr id="886" name=""/>
          <p:cNvSpPr/>
          <p:nvPr/>
        </p:nvSpPr>
        <p:spPr>
          <a:xfrm rot="0" flipH="0" flipV="0">
            <a:off x="0" y="0"/>
            <a:ext cx="12192000" cy="685800"/>
          </a:xfrm>
          <a:prstGeom prst="rect">
            <a:avLst/>
          </a:prstGeom>
          <a:solidFill>
            <a:srgbClr val="0E3F8C"/>
          </a:solidFill>
          <a:ln/>
        </p:spPr>
        <p:txBody>
          <a:bodyPr/>
          <a:p/>
        </p:txBody>
      </p:sp>
      <p:sp>
        <p:nvSpPr>
          <p:cNvPr id="887"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888" name=""/>
          <p:cNvSpPr/>
          <p:nvPr/>
        </p:nvSpPr>
        <p:spPr>
          <a:xfrm rot="0" flipH="0" flipV="0">
            <a:off x="3048000" y="209550"/>
            <a:ext cx="9525" cy="228600"/>
          </a:xfrm>
          <a:prstGeom prst="rect">
            <a:avLst/>
          </a:prstGeom>
          <a:solidFill>
            <a:srgbClr val="3D7BD9"/>
          </a:solidFill>
          <a:ln/>
        </p:spPr>
        <p:txBody>
          <a:bodyPr/>
          <a:p/>
        </p:txBody>
      </p:sp>
      <p:sp>
        <p:nvSpPr>
          <p:cNvPr id="889" name="" descr="{&quot;isTemplate&quot;:true,&quot;type&quot;:&quot;text&quot;}"/>
          <p:cNvSpPr txBox="1"/>
          <p:nvPr/>
        </p:nvSpPr>
        <p:spPr>
          <a:xfrm rot="0" flipH="0" flipV="0">
            <a:off x="3209925" y="228600"/>
            <a:ext cx="2657475" cy="190500"/>
          </a:xfrm>
          <a:prstGeom prst="rect"/>
        </p:spPr>
        <p:txBody>
          <a:bodyPr wrap="none" lIns="0" tIns="0" rIns="0" bIns="0"/>
          <a:p>
            <a:pPr>
              <a:lnSpc>
                <a:spcPct val="100000"/>
              </a:lnSpc>
            </a:pPr>
            <a:r>
              <a:rPr lang="en-US" sz="1200">
                <a:solidFill>
                  <a:srgbClr val="C7D6EC"/>
                </a:solidFill>
                <a:latin typeface="Microsoft YaHei"/>
                <a:ea typeface="Microsoft YaHei"/>
              </a:rPr>
              <a:t>HIT</a:t>
            </a:r>
            <a:r>
              <a:rPr lang="zh-CN" sz="1200">
                <a:solidFill>
                  <a:srgbClr val="C7D6EC"/>
                </a:solidFill>
                <a:latin typeface="Microsoft YaHei"/>
                <a:ea typeface="Microsoft YaHei"/>
              </a:rPr>
              <a:t>：血小板减少</a:t>
            </a:r>
            <a:r>
              <a:rPr lang="en-US" sz="1200">
                <a:solidFill>
                  <a:srgbClr val="C7D6EC"/>
                </a:solidFill>
                <a:latin typeface="Microsoft YaHei"/>
                <a:ea typeface="Microsoft YaHei"/>
              </a:rPr>
              <a:t>+</a:t>
            </a:r>
            <a:r>
              <a:rPr lang="zh-CN" sz="1200">
                <a:solidFill>
                  <a:srgbClr val="C7D6EC"/>
                </a:solidFill>
                <a:latin typeface="Microsoft YaHei"/>
                <a:ea typeface="Microsoft YaHei"/>
              </a:rPr>
              <a:t>血栓的“危险组合”</a:t>
            </a:r>
            <a:endParaRPr/>
          </a:p>
        </p:txBody>
      </p:sp>
      <p:sp>
        <p:nvSpPr>
          <p:cNvPr id="89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42 / 77</a:t>
            </a:r>
            <a:endParaRPr/>
          </a:p>
        </p:txBody>
      </p:sp>
      <p:sp>
        <p:nvSpPr>
          <p:cNvPr id="89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9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发病机制与特征</a:t>
            </a:r>
            <a:endParaRPr/>
          </a:p>
        </p:txBody>
      </p:sp>
      <p:sp>
        <p:nvSpPr>
          <p:cNvPr id="89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肝素</a:t>
            </a:r>
            <a:r>
              <a:rPr lang="en-US" sz="1275">
                <a:solidFill>
                  <a:srgbClr val="2C3E50"/>
                </a:solidFill>
                <a:latin typeface="Microsoft YaHei"/>
                <a:ea typeface="Microsoft YaHei"/>
              </a:rPr>
              <a:t>-PF4 </a:t>
            </a:r>
            <a:r>
              <a:rPr lang="zh-CN" sz="1275">
                <a:solidFill>
                  <a:srgbClr val="2C3E50"/>
                </a:solidFill>
                <a:latin typeface="Microsoft YaHei"/>
                <a:ea typeface="Microsoft YaHei"/>
              </a:rPr>
              <a:t>复合物刺激产生血小板活化抗体（</a:t>
            </a:r>
            <a:r>
              <a:rPr lang="en-US" sz="1275">
                <a:solidFill>
                  <a:srgbClr val="2C3E50"/>
                </a:solidFill>
                <a:latin typeface="Microsoft YaHei"/>
                <a:ea typeface="Microsoft YaHei"/>
              </a:rPr>
              <a:t>IgG</a:t>
            </a:r>
            <a:r>
              <a:rPr lang="zh-CN" sz="1275">
                <a:solidFill>
                  <a:srgbClr val="2C3E50"/>
                </a:solidFill>
                <a:latin typeface="Microsoft YaHei"/>
                <a:ea typeface="Microsoft YaHei"/>
              </a:rPr>
              <a:t>），激活血小板并损伤内皮——临床为“血小板减少</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血栓（可先于或同时）”，常在肝素使用后</a:t>
            </a:r>
            <a:r>
              <a:rPr lang="en-US" sz="1275">
                <a:solidFill>
                  <a:srgbClr val="2C3E50"/>
                </a:solidFill>
                <a:latin typeface="Microsoft YaHei"/>
                <a:ea typeface="Microsoft YaHei"/>
              </a:rPr>
              <a:t> 5—10 </a:t>
            </a:r>
            <a:r>
              <a:rPr lang="zh-CN" sz="1275">
                <a:solidFill>
                  <a:srgbClr val="2C3E50"/>
                </a:solidFill>
                <a:latin typeface="Microsoft YaHei"/>
                <a:ea typeface="Microsoft YaHei"/>
              </a:rPr>
              <a:t>天出现；血栓风险远高于出血。</a:t>
            </a:r>
            <a:endParaRPr/>
          </a:p>
        </p:txBody>
      </p:sp>
      <p:sp>
        <p:nvSpPr>
          <p:cNvPr id="89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9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4Ts </a:t>
            </a:r>
            <a:r>
              <a:rPr lang="zh-CN" sz="1425" b="1">
                <a:solidFill>
                  <a:srgbClr val="0E3F8C"/>
                </a:solidFill>
                <a:latin typeface="Microsoft YaHei"/>
                <a:ea typeface="Microsoft YaHei"/>
              </a:rPr>
              <a:t>评分</a:t>
            </a:r>
            <a:endParaRPr/>
          </a:p>
        </p:txBody>
      </p:sp>
      <p:sp>
        <p:nvSpPr>
          <p:cNvPr id="896"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血小板减少幅度与时间、血栓</a:t>
            </a:r>
            <a:r>
              <a:rPr lang="en-US" sz="1275">
                <a:solidFill>
                  <a:srgbClr val="2C3E50"/>
                </a:solidFill>
                <a:latin typeface="Microsoft YaHei"/>
                <a:ea typeface="Microsoft YaHei"/>
              </a:rPr>
              <a:t>/</a:t>
            </a:r>
            <a:r>
              <a:rPr lang="zh-CN" sz="1275">
                <a:solidFill>
                  <a:srgbClr val="2C3E50"/>
                </a:solidFill>
                <a:latin typeface="Microsoft YaHei"/>
                <a:ea typeface="Microsoft YaHei"/>
              </a:rPr>
              <a:t>皮肤坏死、其他原因排除四项计分：≤</a:t>
            </a:r>
            <a:r>
              <a:rPr lang="en-US" sz="1275">
                <a:solidFill>
                  <a:srgbClr val="2C3E50"/>
                </a:solidFill>
                <a:latin typeface="Microsoft YaHei"/>
                <a:ea typeface="Microsoft YaHei"/>
              </a:rPr>
              <a:t>3 </a:t>
            </a:r>
            <a:r>
              <a:rPr lang="zh-CN" sz="1275">
                <a:solidFill>
                  <a:srgbClr val="2C3E50"/>
                </a:solidFill>
                <a:latin typeface="Microsoft YaHei"/>
                <a:ea typeface="Microsoft YaHei"/>
              </a:rPr>
              <a:t>低危（阴性预测值高、可基本排除）；</a:t>
            </a:r>
            <a:r>
              <a:rPr lang="en-US" sz="1275">
                <a:solidFill>
                  <a:srgbClr val="2C3E50"/>
                </a:solidFill>
                <a:latin typeface="Microsoft YaHei"/>
                <a:ea typeface="Microsoft YaHei"/>
              </a:rPr>
              <a:t>4—5 </a:t>
            </a:r>
            <a:r>
              <a:rPr lang="zh-CN" sz="1275">
                <a:solidFill>
                  <a:srgbClr val="2C3E50"/>
                </a:solidFill>
                <a:latin typeface="Microsoft YaHei"/>
                <a:ea typeface="Microsoft YaHei"/>
              </a:rPr>
              <a:t>中危、</a:t>
            </a:r>
            <a:r>
              <a:rPr lang="en-US" sz="1275">
                <a:solidFill>
                  <a:srgbClr val="2C3E50"/>
                </a:solidFill>
                <a:latin typeface="Microsoft YaHei"/>
                <a:ea typeface="Microsoft YaHei"/>
              </a:rPr>
              <a:t>6—8 </a:t>
            </a:r>
            <a:r>
              <a:rPr lang="zh-CN" sz="1275">
                <a:solidFill>
                  <a:srgbClr val="2C3E50"/>
                </a:solidFill>
                <a:latin typeface="Microsoft YaHei"/>
                <a:ea typeface="Microsoft YaHei"/>
              </a:rPr>
              <a:t>高危需行实验室确认。</a:t>
            </a:r>
            <a:endParaRPr/>
          </a:p>
        </p:txBody>
      </p:sp>
      <p:sp>
        <p:nvSpPr>
          <p:cNvPr id="89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89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实验室诊断</a:t>
            </a:r>
            <a:endParaRPr/>
          </a:p>
        </p:txBody>
      </p:sp>
      <p:sp>
        <p:nvSpPr>
          <p:cNvPr id="89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免疫学（</a:t>
            </a:r>
            <a:r>
              <a:rPr lang="en-US" sz="1275">
                <a:solidFill>
                  <a:srgbClr val="2C3E50"/>
                </a:solidFill>
                <a:latin typeface="Microsoft YaHei"/>
                <a:ea typeface="Microsoft YaHei"/>
              </a:rPr>
              <a:t>PF4/</a:t>
            </a:r>
            <a:r>
              <a:rPr lang="zh-CN" sz="1275">
                <a:solidFill>
                  <a:srgbClr val="2C3E50"/>
                </a:solidFill>
                <a:latin typeface="Microsoft YaHei"/>
                <a:ea typeface="Microsoft YaHei"/>
              </a:rPr>
              <a:t>肝素</a:t>
            </a:r>
            <a:r>
              <a:rPr lang="en-US" sz="1275">
                <a:solidFill>
                  <a:srgbClr val="2C3E50"/>
                </a:solidFill>
                <a:latin typeface="Microsoft YaHei"/>
                <a:ea typeface="Microsoft YaHei"/>
              </a:rPr>
              <a:t> ELISA </a:t>
            </a:r>
            <a:r>
              <a:rPr lang="zh-CN" sz="1275">
                <a:solidFill>
                  <a:srgbClr val="2C3E50"/>
                </a:solidFill>
                <a:latin typeface="Microsoft YaHei"/>
                <a:ea typeface="Microsoft YaHei"/>
              </a:rPr>
              <a:t>或乳胶免疫）敏感性高、特异性低，仅可“排除”；确诊需功能学（</a:t>
            </a:r>
            <a:r>
              <a:rPr lang="en-US" sz="1275">
                <a:solidFill>
                  <a:srgbClr val="2C3E50"/>
                </a:solidFill>
                <a:latin typeface="Microsoft YaHei"/>
                <a:ea typeface="Microsoft YaHei"/>
              </a:rPr>
              <a:t>SRA/</a:t>
            </a:r>
            <a:r>
              <a:rPr lang="zh-CN" sz="1275">
                <a:solidFill>
                  <a:srgbClr val="2C3E50"/>
                </a:solidFill>
                <a:latin typeface="Microsoft YaHei"/>
                <a:ea typeface="Microsoft YaHei"/>
              </a:rPr>
              <a:t>血小板活化）或强阳性</a:t>
            </a:r>
            <a:r>
              <a:rPr lang="en-US" sz="1275">
                <a:solidFill>
                  <a:srgbClr val="2C3E50"/>
                </a:solidFill>
                <a:latin typeface="Microsoft YaHei"/>
                <a:ea typeface="Microsoft YaHei"/>
              </a:rPr>
              <a:t>+</a:t>
            </a:r>
            <a:r>
              <a:rPr lang="zh-CN" sz="1275">
                <a:solidFill>
                  <a:srgbClr val="2C3E50"/>
                </a:solidFill>
                <a:latin typeface="Microsoft YaHei"/>
                <a:ea typeface="Microsoft YaHei"/>
              </a:rPr>
              <a:t>典型临床；临床</a:t>
            </a:r>
            <a:r>
              <a:rPr lang="en-US" sz="1275">
                <a:solidFill>
                  <a:srgbClr val="2C3E50"/>
                </a:solidFill>
                <a:latin typeface="Microsoft YaHei"/>
                <a:ea typeface="Microsoft YaHei"/>
              </a:rPr>
              <a:t>-</a:t>
            </a:r>
            <a:r>
              <a:rPr lang="zh-CN" sz="1275">
                <a:solidFill>
                  <a:srgbClr val="2C3E50"/>
                </a:solidFill>
                <a:latin typeface="Microsoft YaHei"/>
                <a:ea typeface="Microsoft YaHei"/>
              </a:rPr>
              <a:t>实验室联合解读是准则。</a:t>
            </a:r>
            <a:endParaRPr/>
          </a:p>
        </p:txBody>
      </p:sp>
      <p:sp>
        <p:nvSpPr>
          <p:cNvPr id="90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0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90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90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04"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HIT </a:t>
            </a:r>
            <a:r>
              <a:rPr lang="zh-CN" sz="1275">
                <a:solidFill>
                  <a:srgbClr val="2C3E50"/>
                </a:solidFill>
                <a:latin typeface="Microsoft YaHei"/>
                <a:ea typeface="Microsoft YaHei"/>
              </a:rPr>
              <a:t>的诊断是“临床评分</a:t>
            </a:r>
            <a:r>
              <a:rPr lang="en-US" sz="1275">
                <a:solidFill>
                  <a:srgbClr val="2C3E50"/>
                </a:solidFill>
                <a:latin typeface="Microsoft YaHei"/>
                <a:ea typeface="Microsoft YaHei"/>
              </a:rPr>
              <a:t>+</a:t>
            </a:r>
            <a:r>
              <a:rPr lang="zh-CN" sz="1275">
                <a:solidFill>
                  <a:srgbClr val="2C3E50"/>
                </a:solidFill>
                <a:latin typeface="Microsoft YaHei"/>
                <a:ea typeface="Microsoft YaHei"/>
              </a:rPr>
              <a:t>实验室确认”双轨制：低危不查、中高危才查，避免过度诊断。</a:t>
            </a:r>
            <a:endParaRPr/>
          </a:p>
        </p:txBody>
      </p:sp>
      <p:sp>
        <p:nvSpPr>
          <p:cNvPr id="905"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906"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2006;4:759-765 (PMID 16634744)</a:t>
            </a:r>
            <a:endParaRPr/>
          </a:p>
        </p:txBody>
      </p:sp>
      <p:sp>
        <p:nvSpPr>
          <p:cNvPr id="907" name=""/>
          <p:cNvSpPr/>
          <p:nvPr/>
        </p:nvSpPr>
        <p:spPr>
          <a:xfrm rot="0" flipH="0" flipV="0">
            <a:off x="0" y="6324600"/>
            <a:ext cx="12192000" cy="342900"/>
          </a:xfrm>
          <a:prstGeom prst="rect">
            <a:avLst/>
          </a:prstGeom>
          <a:solidFill>
            <a:srgbClr val="F7F9FC"/>
          </a:solidFill>
          <a:ln/>
        </p:spPr>
        <p:txBody>
          <a:bodyPr/>
          <a:p/>
        </p:txBody>
      </p:sp>
      <p:sp>
        <p:nvSpPr>
          <p:cNvPr id="90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90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3.xml><?xml version="1.0" encoding="utf-8"?>
<p:sld xmlns:p="http://schemas.openxmlformats.org/presentationml/2006/main" xmlns:a="http://schemas.openxmlformats.org/drawingml/2006/main">
  <p:cSld>
    <p:spTree>
      <p:nvGrpSpPr>
        <p:cNvPr id="910" name="" descr="&lt;Slide notes={`演讲者备注：【CUKER-ASH-HIT】ASH 2018 VTE-HIT 指南：4Ts 中低危可不检测抗体；HIT 确诊/高度怀疑者停肝素并改用非肝素抗凝（阿加曲班/比伐芦定/磺达肝癸钠/DOAC），避免华法林单用。证据：Blood Adv 2018;2:3360-3392，PMID 30482768。&#13;&#10;讲解提示：给出 ICU/心外常见落地细节——即使微量肝素冲管也要停；ECMO/透析中 HIT 的替代抗凝选择；第十一章案例 2 将演示完整鉴别与切换过程。`}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HIT 处理：停肝素、换抗凝、控血栓&lt;/Text&gt;&#13;&#10;    &lt;/Box&gt;&#13;&#10;    &lt;Text style={{ position: 'absolute', right: 64, top: 24, fontSize: 15, color: '#9DB8E0' }}&gt;43 / 77&lt;/Text&gt;&#13;&#10;  &lt;/Box&gt;&#13;&#10;  &lt;Box style={{ position: 'absolute', left: 64, top: 96, width: 562, height: 128, background: '#F0F5FC', borderRadius: 12, border: '1px solid #E5E7EB', padding: 20 }}&gt;&#13;&#10;&lt;Text style={{ fontSize: 19, color: '#0E3F8C', fontWeight: 'bold', textAlign: 'left', lineHeight: 1.5 }}&gt;第一步：立即处理&lt;/Text&gt;&#13;&#10;&lt;Text style={{ fontSize: 17, color: '#2C3E50', textAlign: 'left', lineHeight: 1.62 }}&gt;一旦中高危怀疑即停用一切肝素（含冲洗、管路、LMWH），同时评估血栓（下肢静脉超声等）；4Ts 低危者不停、不测、不加抗凝。&lt;/Text&gt;&#13;&#10;  &lt;/Box&gt;&#13;&#10;  &lt;Box style={{ position: 'absolute', left: 654, top: 96, width: 562, height: 128, background: '#F0F5FC', borderRadius: 12, border: '1px solid #E5E7EB', padding: 20 }}&gt;&#13;&#10;&lt;Text style={{ fontSize: 19, color: '#0E3F8C', fontWeight: 'bold', textAlign: 'left', lineHeight: 1.5 }}&gt;换用非肝素抗凝&lt;/Text&gt;&#13;&#10;&lt;Text style={{ fontSize: 17, color: '#2C3E50', textAlign: 'left', lineHeight: 1.62 }}&gt;ASH 指南：急性 HIT 推荐阿加曲班、比伐芦定、达那肝素、磺达肝癸钠或 DOAC（利伐沙班/阿哌沙班等）之一；肾功能/肝功能与出血风险决定选择。&lt;/Text&gt;&#13;&#10;  &lt;/Box&gt;&#13;&#10;  &lt;Box style={{ position: 'absolute', left: 64, top: 252, width: 562, height: 128, background: '#F0F5FC', borderRadius: 12, border: '1px solid #E5E7EB', padding: 20 }}&gt;&#13;&#10;&lt;Text style={{ fontSize: 19, color: '#0E3F8C', fontWeight: 'bold', textAlign: 'left', lineHeight: 1.5 }}&gt;血小板监测与华法林&lt;/Text&gt;&#13;&#10;&lt;Text style={{ fontSize: 17, color: '#2C3E50', textAlign: 'left', lineHeight: 1.62 }}&gt;治疗期间每日/隔日监测血小板直至回升（通常 &amp;gt;150 或恢复基线）；华法林仅在血小板充分回升（如 &amp;gt;150）且已桥接非肝素抗凝后才启用，避免华法林诱导的肢体坏疽等并发症。&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HIT 的管理节奏是“先停后换再监测”：每一步都绑定血小板计数的动态变化。&lt;/Text&gt;&#13;&#10;  &lt;/Box&gt;&#13;&#10;&#13;&#10;  &lt;Box style={{ position: 'absolute', left: 64, top: 556, width: 1152, height: 92, background: '#F0F5FC', borderRadius: 12, border: '1px solid #E5E7EB', padding: 20 }}&gt;&#13;&#10;&lt;Text style={{ fontSize: 17, color: '#2C3E50', textAlign: 'left', lineHeight: 1.6 }}&gt;小结：Blood Adv 2018;2:3360-3392 (PMID 30482768)&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911" name=""/>
          <p:cNvSpPr/>
          <p:nvPr/>
        </p:nvSpPr>
        <p:spPr>
          <a:xfrm rot="0" flipH="0" flipV="0">
            <a:off x="0" y="0"/>
            <a:ext cx="12192000" cy="6858000"/>
          </a:xfrm>
          <a:prstGeom prst="rect">
            <a:avLst/>
          </a:prstGeom>
          <a:solidFill>
            <a:srgbClr val="FFFFFF"/>
          </a:solidFill>
          <a:ln/>
        </p:spPr>
        <p:txBody>
          <a:bodyPr/>
          <a:p/>
        </p:txBody>
      </p:sp>
      <p:sp>
        <p:nvSpPr>
          <p:cNvPr id="912" name=""/>
          <p:cNvSpPr/>
          <p:nvPr/>
        </p:nvSpPr>
        <p:spPr>
          <a:xfrm rot="0" flipH="0" flipV="0">
            <a:off x="0" y="0"/>
            <a:ext cx="12192000" cy="685800"/>
          </a:xfrm>
          <a:prstGeom prst="rect">
            <a:avLst/>
          </a:prstGeom>
          <a:solidFill>
            <a:srgbClr val="0E3F8C"/>
          </a:solidFill>
          <a:ln/>
        </p:spPr>
        <p:txBody>
          <a:bodyPr/>
          <a:p/>
        </p:txBody>
      </p:sp>
      <p:sp>
        <p:nvSpPr>
          <p:cNvPr id="913"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914" name=""/>
          <p:cNvSpPr/>
          <p:nvPr/>
        </p:nvSpPr>
        <p:spPr>
          <a:xfrm rot="0" flipH="0" flipV="0">
            <a:off x="3048000" y="209550"/>
            <a:ext cx="9525" cy="228600"/>
          </a:xfrm>
          <a:prstGeom prst="rect">
            <a:avLst/>
          </a:prstGeom>
          <a:solidFill>
            <a:srgbClr val="3D7BD9"/>
          </a:solidFill>
          <a:ln/>
        </p:spPr>
        <p:txBody>
          <a:bodyPr/>
          <a:p/>
        </p:txBody>
      </p:sp>
      <p:sp>
        <p:nvSpPr>
          <p:cNvPr id="915" name="" descr="{&quot;isTemplate&quot;:true,&quot;type&quot;:&quot;text&quot;}"/>
          <p:cNvSpPr txBox="1"/>
          <p:nvPr/>
        </p:nvSpPr>
        <p:spPr>
          <a:xfrm rot="0" flipH="0" flipV="0">
            <a:off x="3209925" y="228600"/>
            <a:ext cx="2428875" cy="190500"/>
          </a:xfrm>
          <a:prstGeom prst="rect"/>
        </p:spPr>
        <p:txBody>
          <a:bodyPr wrap="none" lIns="0" tIns="0" rIns="0" bIns="0"/>
          <a:p>
            <a:pPr>
              <a:lnSpc>
                <a:spcPct val="100000"/>
              </a:lnSpc>
            </a:pPr>
            <a:r>
              <a:rPr lang="en-US" sz="1200">
                <a:solidFill>
                  <a:srgbClr val="C7D6EC"/>
                </a:solidFill>
                <a:latin typeface="Microsoft YaHei"/>
                <a:ea typeface="Microsoft YaHei"/>
              </a:rPr>
              <a:t>HIT </a:t>
            </a:r>
            <a:r>
              <a:rPr lang="zh-CN" sz="1200">
                <a:solidFill>
                  <a:srgbClr val="C7D6EC"/>
                </a:solidFill>
                <a:latin typeface="Microsoft YaHei"/>
                <a:ea typeface="Microsoft YaHei"/>
              </a:rPr>
              <a:t>处理：停肝素、换抗凝、控血栓</a:t>
            </a:r>
            <a:endParaRPr/>
          </a:p>
        </p:txBody>
      </p:sp>
      <p:sp>
        <p:nvSpPr>
          <p:cNvPr id="91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43 / 77</a:t>
            </a:r>
            <a:endParaRPr/>
          </a:p>
        </p:txBody>
      </p:sp>
      <p:sp>
        <p:nvSpPr>
          <p:cNvPr id="91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1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第一步：立即处理</a:t>
            </a:r>
            <a:endParaRPr/>
          </a:p>
        </p:txBody>
      </p:sp>
      <p:sp>
        <p:nvSpPr>
          <p:cNvPr id="919"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一旦中高危怀疑即停用一切肝素（含冲洗、管路、</a:t>
            </a:r>
            <a:r>
              <a:rPr lang="en-US" sz="1275">
                <a:solidFill>
                  <a:srgbClr val="2C3E50"/>
                </a:solidFill>
                <a:latin typeface="Microsoft YaHei"/>
                <a:ea typeface="Microsoft YaHei"/>
              </a:rPr>
              <a:t>LMWH</a:t>
            </a:r>
            <a:r>
              <a:rPr lang="zh-CN" sz="1275">
                <a:solidFill>
                  <a:srgbClr val="2C3E50"/>
                </a:solidFill>
                <a:latin typeface="Microsoft YaHei"/>
                <a:ea typeface="Microsoft YaHei"/>
              </a:rPr>
              <a:t>），同时评估血栓（下肢静脉超声等）；</a:t>
            </a:r>
            <a:r>
              <a:rPr lang="en-US" sz="1275">
                <a:solidFill>
                  <a:srgbClr val="2C3E50"/>
                </a:solidFill>
                <a:latin typeface="Microsoft YaHei"/>
                <a:ea typeface="Microsoft YaHei"/>
              </a:rPr>
              <a:t>4Ts </a:t>
            </a:r>
            <a:r>
              <a:rPr lang="zh-CN" sz="1275">
                <a:solidFill>
                  <a:srgbClr val="2C3E50"/>
                </a:solidFill>
                <a:latin typeface="Microsoft YaHei"/>
                <a:ea typeface="Microsoft YaHei"/>
              </a:rPr>
              <a:t>低危者不停、不测、不加抗凝。</a:t>
            </a:r>
            <a:endParaRPr/>
          </a:p>
        </p:txBody>
      </p:sp>
      <p:sp>
        <p:nvSpPr>
          <p:cNvPr id="92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2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换用非肝素抗凝</a:t>
            </a:r>
            <a:endParaRPr/>
          </a:p>
        </p:txBody>
      </p:sp>
      <p:sp>
        <p:nvSpPr>
          <p:cNvPr id="922"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ASH </a:t>
            </a:r>
            <a:r>
              <a:rPr lang="zh-CN" sz="1275">
                <a:solidFill>
                  <a:srgbClr val="2C3E50"/>
                </a:solidFill>
                <a:latin typeface="Microsoft YaHei"/>
                <a:ea typeface="Microsoft YaHei"/>
              </a:rPr>
              <a:t>指南：急性</a:t>
            </a:r>
            <a:r>
              <a:rPr lang="en-US" sz="1275">
                <a:solidFill>
                  <a:srgbClr val="2C3E50"/>
                </a:solidFill>
                <a:latin typeface="Microsoft YaHei"/>
                <a:ea typeface="Microsoft YaHei"/>
              </a:rPr>
              <a:t> HIT </a:t>
            </a:r>
            <a:r>
              <a:rPr lang="zh-CN" sz="1275">
                <a:solidFill>
                  <a:srgbClr val="2C3E50"/>
                </a:solidFill>
                <a:latin typeface="Microsoft YaHei"/>
                <a:ea typeface="Microsoft YaHei"/>
              </a:rPr>
              <a:t>推荐阿加曲班、比伐芦定、达那肝素、磺达肝癸钠或</a:t>
            </a:r>
            <a:r>
              <a:rPr lang="en-US" sz="1275">
                <a:solidFill>
                  <a:srgbClr val="2C3E50"/>
                </a:solidFill>
                <a:latin typeface="Microsoft YaHei"/>
                <a:ea typeface="Microsoft YaHei"/>
              </a:rPr>
              <a:t> DOAC</a:t>
            </a:r>
            <a:r>
              <a:rPr lang="zh-CN" sz="1275">
                <a:solidFill>
                  <a:srgbClr val="2C3E50"/>
                </a:solidFill>
                <a:latin typeface="Microsoft YaHei"/>
                <a:ea typeface="Microsoft YaHei"/>
              </a:rPr>
              <a:t>（利伐沙班</a:t>
            </a:r>
            <a:r>
              <a:rPr lang="en-US" sz="1275">
                <a:solidFill>
                  <a:srgbClr val="2C3E50"/>
                </a:solidFill>
                <a:latin typeface="Microsoft YaHei"/>
                <a:ea typeface="Microsoft YaHei"/>
              </a:rPr>
              <a:t>/</a:t>
            </a:r>
            <a:r>
              <a:rPr lang="zh-CN" sz="1275">
                <a:solidFill>
                  <a:srgbClr val="2C3E50"/>
                </a:solidFill>
                <a:latin typeface="Microsoft YaHei"/>
                <a:ea typeface="Microsoft YaHei"/>
              </a:rPr>
              <a:t>阿哌沙班等）之一；肾功能</a:t>
            </a:r>
            <a:r>
              <a:rPr lang="en-US" sz="1275">
                <a:solidFill>
                  <a:srgbClr val="2C3E50"/>
                </a:solidFill>
                <a:latin typeface="Microsoft YaHei"/>
                <a:ea typeface="Microsoft YaHei"/>
              </a:rPr>
              <a:t>/</a:t>
            </a:r>
            <a:r>
              <a:rPr lang="zh-CN" sz="1275">
                <a:solidFill>
                  <a:srgbClr val="2C3E50"/>
                </a:solidFill>
                <a:latin typeface="Microsoft YaHei"/>
                <a:ea typeface="Microsoft YaHei"/>
              </a:rPr>
              <a:t>肝功能与出血风险决定选择。</a:t>
            </a:r>
            <a:endParaRPr/>
          </a:p>
        </p:txBody>
      </p:sp>
      <p:sp>
        <p:nvSpPr>
          <p:cNvPr id="92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2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血小板监测与华法林</a:t>
            </a:r>
            <a:endParaRPr/>
          </a:p>
        </p:txBody>
      </p:sp>
      <p:sp>
        <p:nvSpPr>
          <p:cNvPr id="92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治疗期间每日</a:t>
            </a:r>
            <a:r>
              <a:rPr lang="en-US" sz="1275">
                <a:solidFill>
                  <a:srgbClr val="2C3E50"/>
                </a:solidFill>
                <a:latin typeface="Microsoft YaHei"/>
                <a:ea typeface="Microsoft YaHei"/>
              </a:rPr>
              <a:t>/</a:t>
            </a:r>
            <a:r>
              <a:rPr lang="zh-CN" sz="1275">
                <a:solidFill>
                  <a:srgbClr val="2C3E50"/>
                </a:solidFill>
                <a:latin typeface="Microsoft YaHei"/>
                <a:ea typeface="Microsoft YaHei"/>
              </a:rPr>
              <a:t>隔日监测血小板直至回升（通常</a:t>
            </a:r>
            <a:r>
              <a:rPr lang="en-US" sz="1275">
                <a:solidFill>
                  <a:srgbClr val="2C3E50"/>
                </a:solidFill>
                <a:latin typeface="Microsoft YaHei"/>
                <a:ea typeface="Microsoft YaHei"/>
              </a:rPr>
              <a:t> &gt;150 </a:t>
            </a:r>
            <a:r>
              <a:rPr lang="zh-CN" sz="1275">
                <a:solidFill>
                  <a:srgbClr val="2C3E50"/>
                </a:solidFill>
                <a:latin typeface="Microsoft YaHei"/>
                <a:ea typeface="Microsoft YaHei"/>
              </a:rPr>
              <a:t>或恢复基线）；华法林仅在血小板充分回升（如</a:t>
            </a:r>
            <a:r>
              <a:rPr lang="en-US" sz="1275">
                <a:solidFill>
                  <a:srgbClr val="2C3E50"/>
                </a:solidFill>
                <a:latin typeface="Microsoft YaHei"/>
                <a:ea typeface="Microsoft YaHei"/>
              </a:rPr>
              <a:t> &gt;150</a:t>
            </a:r>
            <a:r>
              <a:rPr lang="zh-CN" sz="1275">
                <a:solidFill>
                  <a:srgbClr val="2C3E50"/>
                </a:solidFill>
                <a:latin typeface="Microsoft YaHei"/>
                <a:ea typeface="Microsoft YaHei"/>
              </a:rPr>
              <a:t>）且已桥接非肝素抗凝后才启用，避免华法林诱导的肢体坏疽等并发症。</a:t>
            </a:r>
            <a:endParaRPr/>
          </a:p>
        </p:txBody>
      </p:sp>
      <p:sp>
        <p:nvSpPr>
          <p:cNvPr id="92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2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92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92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3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HIT </a:t>
            </a:r>
            <a:r>
              <a:rPr lang="zh-CN" sz="1275">
                <a:solidFill>
                  <a:srgbClr val="2C3E50"/>
                </a:solidFill>
                <a:latin typeface="Microsoft YaHei"/>
                <a:ea typeface="Microsoft YaHei"/>
              </a:rPr>
              <a:t>的管理节奏是“先停后换再监测”：每一步都绑定血小板计数的动态变化。</a:t>
            </a:r>
            <a:endParaRPr/>
          </a:p>
        </p:txBody>
      </p:sp>
      <p:sp>
        <p:nvSpPr>
          <p:cNvPr id="93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93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Adv 2018;2:3360-3392 (PMID 30482768)</a:t>
            </a:r>
            <a:endParaRPr/>
          </a:p>
        </p:txBody>
      </p:sp>
      <p:sp>
        <p:nvSpPr>
          <p:cNvPr id="933" name=""/>
          <p:cNvSpPr/>
          <p:nvPr/>
        </p:nvSpPr>
        <p:spPr>
          <a:xfrm rot="0" flipH="0" flipV="0">
            <a:off x="0" y="6324600"/>
            <a:ext cx="12192000" cy="342900"/>
          </a:xfrm>
          <a:prstGeom prst="rect">
            <a:avLst/>
          </a:prstGeom>
          <a:solidFill>
            <a:srgbClr val="F7F9FC"/>
          </a:solidFill>
          <a:ln/>
        </p:spPr>
        <p:txBody>
          <a:bodyPr/>
          <a:p/>
        </p:txBody>
      </p:sp>
      <p:sp>
        <p:nvSpPr>
          <p:cNvPr id="93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93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4.xml><?xml version="1.0" encoding="utf-8"?>
<p:sld xmlns:p="http://schemas.openxmlformats.org/presentationml/2006/main" xmlns:a="http://schemas.openxmlformats.org/drawingml/2006/main">
  <p:cSld>
    <p:spTree>
      <p:nvGrpSpPr>
        <p:cNvPr id="936" name="" descr="&lt;Slide notes={`演讲者备注：【TAYLOR-ISTH-DIC】ISTH 显性 DIC 积分：血小板进行性下降为四项核心指标之一（动态变化较绝对值更关键），强调重复测定与趋势判读。证据：Thromb Haemost 2001;86:1327-1330，PMID 11816725。&#13;&#10;【CN-DIC-2023】中国 DIC 诊治专家共识（2023）：动态监测、分层干预；血小板进行性下降是 DIC 诊断与分期的重要参数。证据：中华血液学杂志 2023;44:624-631，PMID 37803834。&#13;&#10;讲解提示：画 DIC 两条下降曲线对比——脓毒症慢坡下降 vs 急性早幼粒白血病暴发式下降；强调“血小板+PT+FIB+D-D 四联动态”是 DIC 监测的最小套餐。`}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DIC 中的血小板：积分与“动态”语言&lt;/Text&gt;&#13;&#10;    &lt;/Box&gt;&#13;&#10;    &lt;Text style={{ position: 'absolute', right: 64, top: 24, fontSize: 15, color: '#9DB8E0' }}&gt;44 / 77&lt;/Text&gt;&#13;&#10;  &lt;/Box&gt;&#13;&#10;  &lt;Box style={{ position: 'absolute', left: 64, top: 96, width: 562, height: 128, background: '#F0F5FC', borderRadius: 12, border: '1px solid #E5E7EB', padding: 20 }}&gt;&#13;&#10;&lt;Text style={{ fontSize: 19, color: '#0E3F8C', fontWeight: 'bold', textAlign: 'left', lineHeight: 1.5 }}&gt;血小板在 DIC 中的角色&lt;/Text&gt;&#13;&#10;&lt;Text style={{ fontSize: 17, color: '#2C3E50', textAlign: 'left', lineHeight: 1.62 }}&gt;DIC 是系统性疾病激活凝血、消耗血小板与凝血因子并伴纤溶；血小板进行性下降是 ISTH 显性 DIC 积分四项核心之一（另三项：PT 延长、纤维蛋白相关标志物、纤维蛋白原下降）。&lt;/Text&gt;&#13;&#10;  &lt;/Box&gt;&#13;&#10;  &lt;Box style={{ position: 'absolute', left: 654, top: 96, width: 562, height: 128, background: '#F0F5FC', borderRadius: 12, border: '1px solid #E5E7EB', padding: 20 }}&gt;&#13;&#10;&lt;Text style={{ fontSize: 19, color: '#0E3F8C', fontWeight: 'bold', textAlign: 'left', lineHeight: 1.5 }}&gt;积分与动态&lt;/Text&gt;&#13;&#10;&lt;Text style={{ fontSize: 17, color: '#2C3E50', textAlign: 'left', lineHeight: 1.62 }}&gt;ISTH 积分强调“动态复测”：急性期每 4—8 小时、稳定后每日评估；血小板下降 &amp;gt;50% 或 24h 降幅显著时应提高积分——趋势比单点绝对值更能反映消耗强度。&lt;/Text&gt;&#13;&#10;  &lt;/Box&gt;&#13;&#10;  &lt;Box style={{ position: 'absolute', left: 64, top: 252, width: 562, height: 128, background: '#F0F5FC', borderRadius: 12, border: '1px solid #E5E7EB', padding: 20 }}&gt;&#13;&#10;&lt;Text style={{ fontSize: 19, color: '#0E3F8C', fontWeight: 'bold', textAlign: 'left', lineHeight: 1.5 }}&gt;治疗逻辑&lt;/Text&gt;&#13;&#10;&lt;Text style={{ fontSize: 17, color: '#2C3E50', textAlign: 'left', lineHeight: 1.62 }}&gt;以处理原发病为根本；按出血/血栓表型分层：活动出血者血小板 &amp;lt;50 可输注支持（同时补冷沉淀/纤维蛋白原），合并血栓者抗凝；避免盲目输注“喂”血栓（纤溶亢进者先抗纤溶）。&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DIC 里血小板是“消耗速度的仪表盘”：动态下降的速度与形态决定分期与干预。&lt;/Text&gt;&#13;&#10;  &lt;/Box&gt;&#13;&#10;&#13;&#10;  &lt;Box style={{ position: 'absolute', left: 64, top: 556, width: 1152, height: 92, background: '#F0F5FC', borderRadius: 12, border: '1px solid #E5E7EB', padding: 20 }}&gt;&#13;&#10;&lt;Text style={{ fontSize: 17, color: '#2C3E50', textAlign: 'left', lineHeight: 1.6 }}&gt;小结：Thromb Haemost 2001;86:1327-1330 (PMID 11816725)&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937" name=""/>
          <p:cNvSpPr/>
          <p:nvPr/>
        </p:nvSpPr>
        <p:spPr>
          <a:xfrm rot="0" flipH="0" flipV="0">
            <a:off x="0" y="0"/>
            <a:ext cx="12192000" cy="6858000"/>
          </a:xfrm>
          <a:prstGeom prst="rect">
            <a:avLst/>
          </a:prstGeom>
          <a:solidFill>
            <a:srgbClr val="FFFFFF"/>
          </a:solidFill>
          <a:ln/>
        </p:spPr>
        <p:txBody>
          <a:bodyPr/>
          <a:p/>
        </p:txBody>
      </p:sp>
      <p:sp>
        <p:nvSpPr>
          <p:cNvPr id="938" name=""/>
          <p:cNvSpPr/>
          <p:nvPr/>
        </p:nvSpPr>
        <p:spPr>
          <a:xfrm rot="0" flipH="0" flipV="0">
            <a:off x="0" y="0"/>
            <a:ext cx="12192000" cy="685800"/>
          </a:xfrm>
          <a:prstGeom prst="rect">
            <a:avLst/>
          </a:prstGeom>
          <a:solidFill>
            <a:srgbClr val="0E3F8C"/>
          </a:solidFill>
          <a:ln/>
        </p:spPr>
        <p:txBody>
          <a:bodyPr/>
          <a:p/>
        </p:txBody>
      </p:sp>
      <p:sp>
        <p:nvSpPr>
          <p:cNvPr id="939"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940" name=""/>
          <p:cNvSpPr/>
          <p:nvPr/>
        </p:nvSpPr>
        <p:spPr>
          <a:xfrm rot="0" flipH="0" flipV="0">
            <a:off x="3048000" y="209550"/>
            <a:ext cx="9525" cy="228600"/>
          </a:xfrm>
          <a:prstGeom prst="rect">
            <a:avLst/>
          </a:prstGeom>
          <a:solidFill>
            <a:srgbClr val="3D7BD9"/>
          </a:solidFill>
          <a:ln/>
        </p:spPr>
        <p:txBody>
          <a:bodyPr/>
          <a:p/>
        </p:txBody>
      </p:sp>
      <p:sp>
        <p:nvSpPr>
          <p:cNvPr id="941" name="" descr="{&quot;isTemplate&quot;:true,&quot;type&quot;:&quot;text&quot;}"/>
          <p:cNvSpPr txBox="1"/>
          <p:nvPr/>
        </p:nvSpPr>
        <p:spPr>
          <a:xfrm rot="0" flipH="0" flipV="0">
            <a:off x="3209925" y="228600"/>
            <a:ext cx="2600325" cy="190500"/>
          </a:xfrm>
          <a:prstGeom prst="rect"/>
        </p:spPr>
        <p:txBody>
          <a:bodyPr wrap="none" lIns="0" tIns="0" rIns="0" bIns="0"/>
          <a:p>
            <a:pPr>
              <a:lnSpc>
                <a:spcPct val="100000"/>
              </a:lnSpc>
            </a:pPr>
            <a:r>
              <a:rPr lang="en-US" sz="1200">
                <a:solidFill>
                  <a:srgbClr val="C7D6EC"/>
                </a:solidFill>
                <a:latin typeface="Microsoft YaHei"/>
                <a:ea typeface="Microsoft YaHei"/>
              </a:rPr>
              <a:t>DIC </a:t>
            </a:r>
            <a:r>
              <a:rPr lang="zh-CN" sz="1200">
                <a:solidFill>
                  <a:srgbClr val="C7D6EC"/>
                </a:solidFill>
                <a:latin typeface="Microsoft YaHei"/>
                <a:ea typeface="Microsoft YaHei"/>
              </a:rPr>
              <a:t>中的血小板：积分与“动态”语言</a:t>
            </a:r>
            <a:endParaRPr/>
          </a:p>
        </p:txBody>
      </p:sp>
      <p:sp>
        <p:nvSpPr>
          <p:cNvPr id="94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44 / 77</a:t>
            </a:r>
            <a:endParaRPr/>
          </a:p>
        </p:txBody>
      </p:sp>
      <p:sp>
        <p:nvSpPr>
          <p:cNvPr id="943"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4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血小板在</a:t>
            </a:r>
            <a:r>
              <a:rPr lang="en-US" sz="1425" b="1">
                <a:solidFill>
                  <a:srgbClr val="0E3F8C"/>
                </a:solidFill>
                <a:latin typeface="Microsoft YaHei"/>
                <a:ea typeface="Microsoft YaHei"/>
              </a:rPr>
              <a:t> DIC </a:t>
            </a:r>
            <a:r>
              <a:rPr lang="zh-CN" sz="1425" b="1">
                <a:solidFill>
                  <a:srgbClr val="0E3F8C"/>
                </a:solidFill>
                <a:latin typeface="Microsoft YaHei"/>
                <a:ea typeface="Microsoft YaHei"/>
              </a:rPr>
              <a:t>中的角色</a:t>
            </a:r>
            <a:endParaRPr/>
          </a:p>
        </p:txBody>
      </p:sp>
      <p:sp>
        <p:nvSpPr>
          <p:cNvPr id="945"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DIC </a:t>
            </a:r>
            <a:r>
              <a:rPr lang="zh-CN" sz="1275">
                <a:solidFill>
                  <a:srgbClr val="2C3E50"/>
                </a:solidFill>
                <a:latin typeface="Microsoft YaHei"/>
                <a:ea typeface="Microsoft YaHei"/>
              </a:rPr>
              <a:t>是系统性疾病激活凝血、消耗血小板与凝血因子并伴纤溶；血小板进行性下降是</a:t>
            </a:r>
            <a:r>
              <a:rPr lang="en-US" sz="1275">
                <a:solidFill>
                  <a:srgbClr val="2C3E50"/>
                </a:solidFill>
                <a:latin typeface="Microsoft YaHei"/>
                <a:ea typeface="Microsoft YaHei"/>
              </a:rPr>
              <a:t> ISTH </a:t>
            </a:r>
            <a:r>
              <a:rPr lang="zh-CN" sz="1275">
                <a:solidFill>
                  <a:srgbClr val="2C3E50"/>
                </a:solidFill>
                <a:latin typeface="Microsoft YaHei"/>
                <a:ea typeface="Microsoft YaHei"/>
              </a:rPr>
              <a:t>显性</a:t>
            </a:r>
            <a:r>
              <a:rPr lang="en-US" sz="1275">
                <a:solidFill>
                  <a:srgbClr val="2C3E50"/>
                </a:solidFill>
                <a:latin typeface="Microsoft YaHei"/>
                <a:ea typeface="Microsoft YaHei"/>
              </a:rPr>
              <a:t> DIC </a:t>
            </a:r>
            <a:r>
              <a:rPr lang="zh-CN" sz="1275">
                <a:solidFill>
                  <a:srgbClr val="2C3E50"/>
                </a:solidFill>
                <a:latin typeface="Microsoft YaHei"/>
                <a:ea typeface="Microsoft YaHei"/>
              </a:rPr>
              <a:t>积分四项核心之一（另三项：</a:t>
            </a:r>
            <a:r>
              <a:rPr lang="en-US" sz="1275">
                <a:solidFill>
                  <a:srgbClr val="2C3E50"/>
                </a:solidFill>
                <a:latin typeface="Microsoft YaHei"/>
                <a:ea typeface="Microsoft YaHei"/>
              </a:rPr>
              <a:t>PT </a:t>
            </a:r>
            <a:r>
              <a:rPr lang="zh-CN" sz="1275">
                <a:solidFill>
                  <a:srgbClr val="2C3E50"/>
                </a:solidFill>
                <a:latin typeface="Microsoft YaHei"/>
                <a:ea typeface="Microsoft YaHei"/>
              </a:rPr>
              <a:t>延长、纤维蛋白相关标志物、纤维蛋白原下降）。</a:t>
            </a:r>
            <a:endParaRPr/>
          </a:p>
        </p:txBody>
      </p:sp>
      <p:sp>
        <p:nvSpPr>
          <p:cNvPr id="946"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4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积分与动态</a:t>
            </a:r>
            <a:endParaRPr/>
          </a:p>
        </p:txBody>
      </p:sp>
      <p:sp>
        <p:nvSpPr>
          <p:cNvPr id="948"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ISTH </a:t>
            </a:r>
            <a:r>
              <a:rPr lang="zh-CN" sz="1275">
                <a:solidFill>
                  <a:srgbClr val="2C3E50"/>
                </a:solidFill>
                <a:latin typeface="Microsoft YaHei"/>
                <a:ea typeface="Microsoft YaHei"/>
              </a:rPr>
              <a:t>积分强调“动态复测”：急性期每</a:t>
            </a:r>
            <a:r>
              <a:rPr lang="en-US" sz="1275">
                <a:solidFill>
                  <a:srgbClr val="2C3E50"/>
                </a:solidFill>
                <a:latin typeface="Microsoft YaHei"/>
                <a:ea typeface="Microsoft YaHei"/>
              </a:rPr>
              <a:t> 4—8 </a:t>
            </a:r>
            <a:r>
              <a:rPr lang="zh-CN" sz="1275">
                <a:solidFill>
                  <a:srgbClr val="2C3E50"/>
                </a:solidFill>
                <a:latin typeface="Microsoft YaHei"/>
                <a:ea typeface="Microsoft YaHei"/>
              </a:rPr>
              <a:t>小时、稳定后每日评估；血小板下降</a:t>
            </a:r>
            <a:r>
              <a:rPr lang="en-US" sz="1275">
                <a:solidFill>
                  <a:srgbClr val="2C3E50"/>
                </a:solidFill>
                <a:latin typeface="Microsoft YaHei"/>
                <a:ea typeface="Microsoft YaHei"/>
              </a:rPr>
              <a:t> &gt;50% </a:t>
            </a:r>
            <a:r>
              <a:rPr lang="zh-CN" sz="1275">
                <a:solidFill>
                  <a:srgbClr val="2C3E50"/>
                </a:solidFill>
                <a:latin typeface="Microsoft YaHei"/>
                <a:ea typeface="Microsoft YaHei"/>
              </a:rPr>
              <a:t>或</a:t>
            </a:r>
            <a:r>
              <a:rPr lang="en-US" sz="1275">
                <a:solidFill>
                  <a:srgbClr val="2C3E50"/>
                </a:solidFill>
                <a:latin typeface="Microsoft YaHei"/>
                <a:ea typeface="Microsoft YaHei"/>
              </a:rPr>
              <a:t> 24h </a:t>
            </a:r>
            <a:r>
              <a:rPr lang="zh-CN" sz="1275">
                <a:solidFill>
                  <a:srgbClr val="2C3E50"/>
                </a:solidFill>
                <a:latin typeface="Microsoft YaHei"/>
                <a:ea typeface="Microsoft YaHei"/>
              </a:rPr>
              <a:t>降幅显著时应提高积分——趋势比单点绝对值更能反映消耗强度。</a:t>
            </a:r>
            <a:endParaRPr/>
          </a:p>
        </p:txBody>
      </p:sp>
      <p:sp>
        <p:nvSpPr>
          <p:cNvPr id="949"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50"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治疗逻辑</a:t>
            </a:r>
            <a:endParaRPr/>
          </a:p>
        </p:txBody>
      </p:sp>
      <p:sp>
        <p:nvSpPr>
          <p:cNvPr id="951"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以处理原发病为根本；按出血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血栓表型分层：活动出血者血小板</a:t>
            </a:r>
            <a:r>
              <a:rPr lang="en-US" sz="1275">
                <a:solidFill>
                  <a:srgbClr val="2C3E50"/>
                </a:solidFill>
                <a:latin typeface="Microsoft YaHei"/>
                <a:ea typeface="Microsoft YaHei"/>
              </a:rPr>
              <a:t> &lt;50 </a:t>
            </a:r>
            <a:r>
              <a:rPr lang="zh-CN" sz="1275">
                <a:solidFill>
                  <a:srgbClr val="2C3E50"/>
                </a:solidFill>
                <a:latin typeface="Microsoft YaHei"/>
                <a:ea typeface="Microsoft YaHei"/>
              </a:rPr>
              <a:t>可输注支持（同时补冷沉淀</a:t>
            </a:r>
            <a:r>
              <a:rPr lang="en-US" sz="1275">
                <a:solidFill>
                  <a:srgbClr val="2C3E50"/>
                </a:solidFill>
                <a:latin typeface="Microsoft YaHei"/>
                <a:ea typeface="Microsoft YaHei"/>
              </a:rPr>
              <a:t>/</a:t>
            </a:r>
            <a:r>
              <a:rPr lang="zh-CN" sz="1275">
                <a:solidFill>
                  <a:srgbClr val="2C3E50"/>
                </a:solidFill>
                <a:latin typeface="Microsoft YaHei"/>
                <a:ea typeface="Microsoft YaHei"/>
              </a:rPr>
              <a:t>纤维蛋白原），合并血栓者抗凝；避免盲目输注“喂”血栓（纤溶亢进者先抗纤溶）。</a:t>
            </a:r>
            <a:endParaRPr/>
          </a:p>
        </p:txBody>
      </p:sp>
      <p:sp>
        <p:nvSpPr>
          <p:cNvPr id="952"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53"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954"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955"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56"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DIC </a:t>
            </a:r>
            <a:r>
              <a:rPr lang="zh-CN" sz="1275">
                <a:solidFill>
                  <a:srgbClr val="2C3E50"/>
                </a:solidFill>
                <a:latin typeface="Microsoft YaHei"/>
                <a:ea typeface="Microsoft YaHei"/>
              </a:rPr>
              <a:t>里血小板是“消耗速度的仪表盘”：动态下降的速度与形态决定分期与干预。</a:t>
            </a:r>
            <a:endParaRPr/>
          </a:p>
        </p:txBody>
      </p:sp>
      <p:sp>
        <p:nvSpPr>
          <p:cNvPr id="95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95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Thromb Haemost 2001;86:1327-1330 (PMID 11816725)</a:t>
            </a:r>
            <a:endParaRPr/>
          </a:p>
        </p:txBody>
      </p:sp>
      <p:sp>
        <p:nvSpPr>
          <p:cNvPr id="959" name=""/>
          <p:cNvSpPr/>
          <p:nvPr/>
        </p:nvSpPr>
        <p:spPr>
          <a:xfrm rot="0" flipH="0" flipV="0">
            <a:off x="0" y="6324600"/>
            <a:ext cx="12192000" cy="342900"/>
          </a:xfrm>
          <a:prstGeom prst="rect">
            <a:avLst/>
          </a:prstGeom>
          <a:solidFill>
            <a:srgbClr val="F7F9FC"/>
          </a:solidFill>
          <a:ln/>
        </p:spPr>
        <p:txBody>
          <a:bodyPr/>
          <a:p/>
        </p:txBody>
      </p:sp>
      <p:sp>
        <p:nvSpPr>
          <p:cNvPr id="96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96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5.xml><?xml version="1.0" encoding="utf-8"?>
<p:sld xmlns:p="http://schemas.openxmlformats.org/presentationml/2006/main" xmlns:a="http://schemas.openxmlformats.org/drawingml/2006/main">
  <p:cSld>
    <p:spTree>
      <p:nvGrpSpPr>
        <p:cNvPr id="962" name="" descr="&lt;Slide notes={`演讲者备注：【GREINACHER-ICU】ICU 血小板减少评估与处理：发生率高且常为多因素（消耗、稀释、药物、免疫）；按 4Ts/涂片/骨髓等分步鉴别，避免对假性与轻度减少过度输注。证据：Blood 2016;128:3032-3042，PMID 28034871。&#13;&#10;讲解提示：给出 ICU 三步法：①确认（涂片/换管/Δ趋势）；②机制（破坏/生成/分布/稀释）；③行动（处理原发+按出血风险输注）。第十一章案例 2 即“ICU 骤降”的完整推演。`}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ICU 血小板减少：多因素叠加的鉴别&lt;/Text&gt;&#13;&#10;    &lt;/Box&gt;&#13;&#10;    &lt;Text style={{ position: 'absolute', right: 64, top: 24, fontSize: 15, color: '#9DB8E0' }}&gt;45 / 77&lt;/Text&gt;&#13;&#10;  &lt;/Box&gt;&#13;&#10;  &lt;Box style={{ position: 'absolute', left: 64, top: 96, width: 562, height: 128, background: '#F0F5FC', borderRadius: 12, border: '1px solid #E5E7EB', padding: 20 }}&gt;&#13;&#10;&lt;Text style={{ fontSize: 19, color: '#0E3F8C', fontWeight: 'bold', textAlign: 'left', lineHeight: 1.5 }}&gt;发生率与预后&lt;/Text&gt;&#13;&#10;&lt;Text style={{ fontSize: 17, color: '#2C3E50', textAlign: 'left', lineHeight: 1.62 }}&gt;ICU 患者血小板减少发生率约 35%—50%，与器官衰竭、出血与病死率独立相关；常为多因素（脓毒症消耗、稀释、药物、DIC、肝素暴露、免疫）叠加，很少是单一原因。&lt;/Text&gt;&#13;&#10;  &lt;/Box&gt;&#13;&#10;  &lt;Box style={{ position: 'absolute', left: 654, top: 96, width: 562, height: 128, background: '#F0F5FC', borderRadius: 12, border: '1px solid #E5E7EB', padding: 20 }}&gt;&#13;&#10;&lt;Text style={{ fontSize: 19, color: '#0E3F8C', fontWeight: 'bold', textAlign: 'left', lineHeight: 1.5 }}&gt;鉴别框架&lt;/Text&gt;&#13;&#10;&lt;Text style={{ fontSize: 17, color: '#2C3E50', textAlign: 'left', lineHeight: 1.62 }}&gt;按 4Ts 快速排除 HIT；涂片排除假性与 DIC 线索；结合肝功能（脾扣押/生成）、感染指标与用药清单（抗生素、抗血小板、质子泵等）逐项排查；必要时骨髓穿刺（持续不明原因减少）。&lt;/Text&gt;&#13;&#10;  &lt;/Box&gt;&#13;&#10;  &lt;Box style={{ position: 'absolute', left: 64, top: 252, width: 562, height: 128, background: '#F0F5FC', borderRadius: 12, border: '1px solid #E5E7EB', padding: 20 }}&gt;&#13;&#10;&lt;Text style={{ fontSize: 19, color: '#0E3F8C', fontWeight: 'bold', textAlign: 'left', lineHeight: 1.5 }}&gt;监测与处理&lt;/Text&gt;&#13;&#10;&lt;Text style={{ fontSize: 17, color: '#2C3E50', textAlign: 'left', lineHeight: 1.62 }}&gt;动态频率取决于病因（HIT 每日、DIC 4—8h、稳定恢复每日即可）；输注仅在有出血风险或为操作准备时按阈值进行——ICU 的常见错误是对“低计数无出血”者常规输注。&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ICU 血小板减少是“多因一果”：先别急着输注，先完成机制分诊与药物排查。&lt;/Text&gt;&#13;&#10;  &lt;/Box&gt;&#13;&#10;&#13;&#10;  &lt;Box style={{ position: 'absolute', left: 64, top: 556, width: 1152, height: 92, background: '#F0F5FC', borderRadius: 12, border: '1px solid #E5E7EB', padding: 20 }}&gt;&#13;&#10;&lt;Text style={{ fontSize: 17, color: '#2C3E50', textAlign: 'left', lineHeight: 1.6 }}&gt;小结：Blood 2016;128:3032-3042 (PMID 2803487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963" name=""/>
          <p:cNvSpPr/>
          <p:nvPr/>
        </p:nvSpPr>
        <p:spPr>
          <a:xfrm rot="0" flipH="0" flipV="0">
            <a:off x="0" y="0"/>
            <a:ext cx="12192000" cy="6858000"/>
          </a:xfrm>
          <a:prstGeom prst="rect">
            <a:avLst/>
          </a:prstGeom>
          <a:solidFill>
            <a:srgbClr val="FFFFFF"/>
          </a:solidFill>
          <a:ln/>
        </p:spPr>
        <p:txBody>
          <a:bodyPr/>
          <a:p/>
        </p:txBody>
      </p:sp>
      <p:sp>
        <p:nvSpPr>
          <p:cNvPr id="964" name=""/>
          <p:cNvSpPr/>
          <p:nvPr/>
        </p:nvSpPr>
        <p:spPr>
          <a:xfrm rot="0" flipH="0" flipV="0">
            <a:off x="0" y="0"/>
            <a:ext cx="12192000" cy="685800"/>
          </a:xfrm>
          <a:prstGeom prst="rect">
            <a:avLst/>
          </a:prstGeom>
          <a:solidFill>
            <a:srgbClr val="0E3F8C"/>
          </a:solidFill>
          <a:ln/>
        </p:spPr>
        <p:txBody>
          <a:bodyPr/>
          <a:p/>
        </p:txBody>
      </p:sp>
      <p:sp>
        <p:nvSpPr>
          <p:cNvPr id="965"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966" name=""/>
          <p:cNvSpPr/>
          <p:nvPr/>
        </p:nvSpPr>
        <p:spPr>
          <a:xfrm rot="0" flipH="0" flipV="0">
            <a:off x="3048000" y="209550"/>
            <a:ext cx="9525" cy="228600"/>
          </a:xfrm>
          <a:prstGeom prst="rect">
            <a:avLst/>
          </a:prstGeom>
          <a:solidFill>
            <a:srgbClr val="3D7BD9"/>
          </a:solidFill>
          <a:ln/>
        </p:spPr>
        <p:txBody>
          <a:bodyPr/>
          <a:p/>
        </p:txBody>
      </p:sp>
      <p:sp>
        <p:nvSpPr>
          <p:cNvPr id="967" name="" descr="{&quot;isTemplate&quot;:true,&quot;type&quot;:&quot;text&quot;}"/>
          <p:cNvSpPr txBox="1"/>
          <p:nvPr/>
        </p:nvSpPr>
        <p:spPr>
          <a:xfrm rot="0" flipH="0" flipV="0">
            <a:off x="3209925" y="228600"/>
            <a:ext cx="2447925" cy="190500"/>
          </a:xfrm>
          <a:prstGeom prst="rect"/>
        </p:spPr>
        <p:txBody>
          <a:bodyPr wrap="none" lIns="0" tIns="0" rIns="0" bIns="0"/>
          <a:p>
            <a:pPr>
              <a:lnSpc>
                <a:spcPct val="100000"/>
              </a:lnSpc>
            </a:pPr>
            <a:r>
              <a:rPr lang="en-US" sz="1200">
                <a:solidFill>
                  <a:srgbClr val="C7D6EC"/>
                </a:solidFill>
                <a:latin typeface="Microsoft YaHei"/>
                <a:ea typeface="Microsoft YaHei"/>
              </a:rPr>
              <a:t>ICU </a:t>
            </a:r>
            <a:r>
              <a:rPr lang="zh-CN" sz="1200">
                <a:solidFill>
                  <a:srgbClr val="C7D6EC"/>
                </a:solidFill>
                <a:latin typeface="Microsoft YaHei"/>
                <a:ea typeface="Microsoft YaHei"/>
              </a:rPr>
              <a:t>血小板减少：多因素叠加的鉴别</a:t>
            </a:r>
            <a:endParaRPr/>
          </a:p>
        </p:txBody>
      </p:sp>
      <p:sp>
        <p:nvSpPr>
          <p:cNvPr id="96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45 / 77</a:t>
            </a:r>
            <a:endParaRPr/>
          </a:p>
        </p:txBody>
      </p:sp>
      <p:sp>
        <p:nvSpPr>
          <p:cNvPr id="96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7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发生率与预后</a:t>
            </a:r>
            <a:endParaRPr/>
          </a:p>
        </p:txBody>
      </p:sp>
      <p:sp>
        <p:nvSpPr>
          <p:cNvPr id="971"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ICU </a:t>
            </a:r>
            <a:r>
              <a:rPr lang="zh-CN" sz="1275">
                <a:solidFill>
                  <a:srgbClr val="2C3E50"/>
                </a:solidFill>
                <a:latin typeface="Microsoft YaHei"/>
                <a:ea typeface="Microsoft YaHei"/>
              </a:rPr>
              <a:t>患者血小板减少发生率约</a:t>
            </a:r>
            <a:r>
              <a:rPr lang="en-US" sz="1275">
                <a:solidFill>
                  <a:srgbClr val="2C3E50"/>
                </a:solidFill>
                <a:latin typeface="Microsoft YaHei"/>
                <a:ea typeface="Microsoft YaHei"/>
              </a:rPr>
              <a:t> 35%—50%</a:t>
            </a:r>
            <a:r>
              <a:rPr lang="zh-CN" sz="1275">
                <a:solidFill>
                  <a:srgbClr val="2C3E50"/>
                </a:solidFill>
                <a:latin typeface="Microsoft YaHei"/>
                <a:ea typeface="Microsoft YaHei"/>
              </a:rPr>
              <a:t>，与器官衰竭、出血与病死率独立相关；常为多因素（脓毒症消耗、稀释、药物、</a:t>
            </a:r>
            <a:r>
              <a:rPr lang="en-US" sz="1275">
                <a:solidFill>
                  <a:srgbClr val="2C3E50"/>
                </a:solidFill>
                <a:latin typeface="Microsoft YaHei"/>
                <a:ea typeface="Microsoft YaHei"/>
              </a:rPr>
              <a:t>DIC</a:t>
            </a:r>
            <a:r>
              <a:rPr lang="zh-CN" sz="1275">
                <a:solidFill>
                  <a:srgbClr val="2C3E50"/>
                </a:solidFill>
                <a:latin typeface="Microsoft YaHei"/>
                <a:ea typeface="Microsoft YaHei"/>
              </a:rPr>
              <a:t>、肝素暴露、免疫）叠加，很少是单一原因。</a:t>
            </a:r>
            <a:endParaRPr/>
          </a:p>
        </p:txBody>
      </p:sp>
      <p:sp>
        <p:nvSpPr>
          <p:cNvPr id="97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7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鉴别框架</a:t>
            </a:r>
            <a:endParaRPr/>
          </a:p>
        </p:txBody>
      </p:sp>
      <p:sp>
        <p:nvSpPr>
          <p:cNvPr id="974"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按</a:t>
            </a:r>
            <a:r>
              <a:rPr lang="en-US" sz="1275">
                <a:solidFill>
                  <a:srgbClr val="2C3E50"/>
                </a:solidFill>
                <a:latin typeface="Microsoft YaHei"/>
                <a:ea typeface="Microsoft YaHei"/>
              </a:rPr>
              <a:t> 4Ts </a:t>
            </a:r>
            <a:r>
              <a:rPr lang="zh-CN" sz="1275">
                <a:solidFill>
                  <a:srgbClr val="2C3E50"/>
                </a:solidFill>
                <a:latin typeface="Microsoft YaHei"/>
                <a:ea typeface="Microsoft YaHei"/>
              </a:rPr>
              <a:t>快速排除</a:t>
            </a:r>
            <a:r>
              <a:rPr lang="en-US" sz="1275">
                <a:solidFill>
                  <a:srgbClr val="2C3E50"/>
                </a:solidFill>
                <a:latin typeface="Microsoft YaHei"/>
                <a:ea typeface="Microsoft YaHei"/>
              </a:rPr>
              <a:t> HIT</a:t>
            </a:r>
            <a:r>
              <a:rPr lang="zh-CN" sz="1275">
                <a:solidFill>
                  <a:srgbClr val="2C3E50"/>
                </a:solidFill>
                <a:latin typeface="Microsoft YaHei"/>
                <a:ea typeface="Microsoft YaHei"/>
              </a:rPr>
              <a:t>；涂片排除假性与</a:t>
            </a:r>
            <a:r>
              <a:rPr lang="en-US" sz="1275">
                <a:solidFill>
                  <a:srgbClr val="2C3E50"/>
                </a:solidFill>
                <a:latin typeface="Microsoft YaHei"/>
                <a:ea typeface="Microsoft YaHei"/>
              </a:rPr>
              <a:t> DIC </a:t>
            </a:r>
            <a:r>
              <a:rPr lang="zh-CN" sz="1275">
                <a:solidFill>
                  <a:srgbClr val="2C3E50"/>
                </a:solidFill>
                <a:latin typeface="Microsoft YaHei"/>
                <a:ea typeface="Microsoft YaHei"/>
              </a:rPr>
              <a:t>线索；结合肝功能（脾扣押</a:t>
            </a:r>
            <a:r>
              <a:rPr lang="en-US" sz="1275">
                <a:solidFill>
                  <a:srgbClr val="2C3E50"/>
                </a:solidFill>
                <a:latin typeface="Microsoft YaHei"/>
                <a:ea typeface="Microsoft YaHei"/>
              </a:rPr>
              <a:t>/</a:t>
            </a:r>
            <a:r>
              <a:rPr lang="zh-CN" sz="1275">
                <a:solidFill>
                  <a:srgbClr val="2C3E50"/>
                </a:solidFill>
                <a:latin typeface="Microsoft YaHei"/>
                <a:ea typeface="Microsoft YaHei"/>
              </a:rPr>
              <a:t>生成）、感染指标与用药清单（抗生素、抗血小板、质子泵等）逐项排查；必要时骨髓穿刺（持续不明原因减少）。</a:t>
            </a:r>
            <a:endParaRPr/>
          </a:p>
        </p:txBody>
      </p:sp>
      <p:sp>
        <p:nvSpPr>
          <p:cNvPr id="97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7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监测与处理</a:t>
            </a:r>
            <a:endParaRPr/>
          </a:p>
        </p:txBody>
      </p:sp>
      <p:sp>
        <p:nvSpPr>
          <p:cNvPr id="97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动态频率取决于病因（</a:t>
            </a:r>
            <a:r>
              <a:rPr lang="en-US" sz="1275">
                <a:solidFill>
                  <a:srgbClr val="2C3E50"/>
                </a:solidFill>
                <a:latin typeface="Microsoft YaHei"/>
                <a:ea typeface="Microsoft YaHei"/>
              </a:rPr>
              <a:t>HIT </a:t>
            </a:r>
            <a:r>
              <a:rPr lang="zh-CN" sz="1275">
                <a:solidFill>
                  <a:srgbClr val="2C3E50"/>
                </a:solidFill>
                <a:latin typeface="Microsoft YaHei"/>
                <a:ea typeface="Microsoft YaHei"/>
              </a:rPr>
              <a:t>每日、</a:t>
            </a:r>
            <a:r>
              <a:rPr lang="en-US" sz="1275">
                <a:solidFill>
                  <a:srgbClr val="2C3E50"/>
                </a:solidFill>
                <a:latin typeface="Microsoft YaHei"/>
                <a:ea typeface="Microsoft YaHei"/>
              </a:rPr>
              <a:t>DIC 4—8h</a:t>
            </a:r>
            <a:r>
              <a:rPr lang="zh-CN" sz="1275">
                <a:solidFill>
                  <a:srgbClr val="2C3E50"/>
                </a:solidFill>
                <a:latin typeface="Microsoft YaHei"/>
                <a:ea typeface="Microsoft YaHei"/>
              </a:rPr>
              <a:t>、稳定恢复每日即可）；输注仅在有出血风险或为操作准备时按阈值进行——</a:t>
            </a:r>
            <a:r>
              <a:rPr lang="en-US" sz="1275">
                <a:solidFill>
                  <a:srgbClr val="2C3E50"/>
                </a:solidFill>
                <a:latin typeface="Microsoft YaHei"/>
                <a:ea typeface="Microsoft YaHei"/>
              </a:rPr>
              <a:t>ICU </a:t>
            </a:r>
            <a:r>
              <a:rPr lang="zh-CN" sz="1275">
                <a:solidFill>
                  <a:srgbClr val="2C3E50"/>
                </a:solidFill>
                <a:latin typeface="Microsoft YaHei"/>
                <a:ea typeface="Microsoft YaHei"/>
              </a:rPr>
              <a:t>的常见错误是对“低计数无出血”者常规输注。</a:t>
            </a:r>
            <a:endParaRPr/>
          </a:p>
        </p:txBody>
      </p:sp>
      <p:sp>
        <p:nvSpPr>
          <p:cNvPr id="97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7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980"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98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82"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ICU </a:t>
            </a:r>
            <a:r>
              <a:rPr lang="zh-CN" sz="1275">
                <a:solidFill>
                  <a:srgbClr val="2C3E50"/>
                </a:solidFill>
                <a:latin typeface="Microsoft YaHei"/>
                <a:ea typeface="Microsoft YaHei"/>
              </a:rPr>
              <a:t>血小板减少是“多因一果”：先别急着输注，先完成机制分诊与药物排查。</a:t>
            </a:r>
            <a:endParaRPr/>
          </a:p>
        </p:txBody>
      </p:sp>
      <p:sp>
        <p:nvSpPr>
          <p:cNvPr id="98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98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2016;128:3032-3042 (PMID 28034871)</a:t>
            </a:r>
            <a:endParaRPr/>
          </a:p>
        </p:txBody>
      </p:sp>
      <p:sp>
        <p:nvSpPr>
          <p:cNvPr id="985" name=""/>
          <p:cNvSpPr/>
          <p:nvPr/>
        </p:nvSpPr>
        <p:spPr>
          <a:xfrm rot="0" flipH="0" flipV="0">
            <a:off x="0" y="6324600"/>
            <a:ext cx="12192000" cy="342900"/>
          </a:xfrm>
          <a:prstGeom prst="rect">
            <a:avLst/>
          </a:prstGeom>
          <a:solidFill>
            <a:srgbClr val="F7F9FC"/>
          </a:solidFill>
          <a:ln/>
        </p:spPr>
        <p:txBody>
          <a:bodyPr/>
          <a:p/>
        </p:txBody>
      </p:sp>
      <p:sp>
        <p:nvSpPr>
          <p:cNvPr id="98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98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6.xml><?xml version="1.0" encoding="utf-8"?>
<p:sld xmlns:p="http://schemas.openxmlformats.org/presentationml/2006/main" xmlns:a="http://schemas.openxmlformats.org/drawingml/2006/main">
  <p:cSld>
    <p:spTree>
      <p:nvGrpSpPr>
        <p:cNvPr id="988" name="" descr="&lt;Slide notes={`演讲者备注：【ASTER-DITP】药源性免疫性血小板减少（DITP）综述：药物依赖性抗体破坏血小板，典型用药后 5-10 天骤降；诊断核心为停药后恢复与药物依赖抗体证据。证据：N Engl J Med 2007;357:580-587，PMID 17687133。&#13;&#10;讲解提示：示范一张“用药-血小板”时间轴表格的查法；强调 ITP 与 DITP 的鉴别点（DITP 骤降伴近期新药、停药自行恢复），避免把 DITP 误诊为 ITP 而错误上激素。`}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七章 减少场景：免疫与消耗&lt;/Text&gt;&#13;&#10;      &lt;Box style={{ width: 1, height: 24, background: '#3D7BD9' }} /&gt;&#13;&#10;      &lt;Text style={{ fontSize: 16, color: '#C7D6EC' }}&gt;药源性血小板减少（DITP）：时序是最佳线索&lt;/Text&gt;&#13;&#10;    &lt;/Box&gt;&#13;&#10;    &lt;Text style={{ position: 'absolute', right: 64, top: 24, fontSize: 15, color: '#9DB8E0' }}&gt;46 / 77&lt;/Text&gt;&#13;&#10;  &lt;/Box&gt;&#13;&#10;  &lt;Box style={{ position: 'absolute', left: 64, top: 96, width: 562, height: 128, background: '#F0F5FC', borderRadius: 12, border: '1px solid #E5E7EB', padding: 20 }}&gt;&#13;&#10;&lt;Text style={{ fontSize: 19, color: '#0E3F8C', fontWeight: 'bold', textAlign: 'left', lineHeight: 1.5 }}&gt;机制与典型时序&lt;/Text&gt;&#13;&#10;&lt;Text style={{ fontSize: 17, color: '#2C3E50', textAlign: 'left', lineHeight: 1.62 }}&gt;药物依赖性抗体（半抗原/免疫复合物/药物诱导自身抗体）破坏血小板：典型为用药后 5—10 天血小板骤降（再次暴露可数小时内），出血较血栓常见。&lt;/Text&gt;&#13;&#10;  &lt;/Box&gt;&#13;&#10;  &lt;Box style={{ position: 'absolute', left: 654, top: 96, width: 562, height: 128, background: '#F0F5FC', borderRadius: 12, border: '1px solid #E5E7EB', padding: 20 }}&gt;&#13;&#10;&lt;Text style={{ fontSize: 19, color: '#0E3F8C', fontWeight: 'bold', textAlign: 'left', lineHeight: 1.5 }}&gt;高怀疑药物&lt;/Text&gt;&#13;&#10;&lt;Text style={{ fontSize: 17, color: '#2C3E50', textAlign: 'left', lineHeight: 1.62 }}&gt;肝素（HIT 特殊类型）、GPIIb/IIIa 拮抗剂、奎宁/奎尼丁、磺胺与 β-内酰胺类、万古霉素、利奈唑胺、抗癫痫药、部分中药等；ICU 中抗生素与 H2 阻滞剂常被低估。&lt;/Text&gt;&#13;&#10;  &lt;/Box&gt;&#13;&#10;  &lt;Box style={{ position: 'absolute', left: 64, top: 252, width: 562, height: 128, background: '#F0F5FC', borderRadius: 12, border: '1px solid #E5E7EB', padding: 20 }}&gt;&#13;&#10;&lt;Text style={{ fontSize: 19, color: '#0E3F8C', fontWeight: 'bold', textAlign: 'left', lineHeight: 1.5 }}&gt;诊断与管理&lt;/Text&gt;&#13;&#10;&lt;Text style={{ fontSize: 17, color: '#2C3E50', textAlign: 'left', lineHeight: 1.62 }}&gt;诊断靠“停药-恢复-再激发”临床证据+药物依赖性抗体检测（部分中心）；处理核心是停用可疑药物并支持治疗，血小板通常在停药后数日至 1—2 周恢复；重症出血时 IVIG/血小板输注桥接。&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DITP 的鉴别钥匙在“用药时间线”：把化验单与给药记录并排看，往往一眼破案。&lt;/Text&gt;&#13;&#10;  &lt;/Box&gt;&#13;&#10;&#13;&#10;  &lt;Box style={{ position: 'absolute', left: 64, top: 556, width: 1152, height: 92, background: '#F0F5FC', borderRadius: 12, border: '1px solid #E5E7EB', padding: 20 }}&gt;&#13;&#10;&lt;Text style={{ fontSize: 17, color: '#2C3E50', textAlign: 'left', lineHeight: 1.6 }}&gt;小结：N Engl J Med 2007;357:580-587 (PMID 1768713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989" name=""/>
          <p:cNvSpPr/>
          <p:nvPr/>
        </p:nvSpPr>
        <p:spPr>
          <a:xfrm rot="0" flipH="0" flipV="0">
            <a:off x="0" y="0"/>
            <a:ext cx="12192000" cy="6858000"/>
          </a:xfrm>
          <a:prstGeom prst="rect">
            <a:avLst/>
          </a:prstGeom>
          <a:solidFill>
            <a:srgbClr val="FFFFFF"/>
          </a:solidFill>
          <a:ln/>
        </p:spPr>
        <p:txBody>
          <a:bodyPr/>
          <a:p/>
        </p:txBody>
      </p:sp>
      <p:sp>
        <p:nvSpPr>
          <p:cNvPr id="990" name=""/>
          <p:cNvSpPr/>
          <p:nvPr/>
        </p:nvSpPr>
        <p:spPr>
          <a:xfrm rot="0" flipH="0" flipV="0">
            <a:off x="0" y="0"/>
            <a:ext cx="12192000" cy="685800"/>
          </a:xfrm>
          <a:prstGeom prst="rect">
            <a:avLst/>
          </a:prstGeom>
          <a:solidFill>
            <a:srgbClr val="0E3F8C"/>
          </a:solidFill>
          <a:ln/>
        </p:spPr>
        <p:txBody>
          <a:bodyPr/>
          <a:p/>
        </p:txBody>
      </p:sp>
      <p:sp>
        <p:nvSpPr>
          <p:cNvPr id="991"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第七章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减少场景：免疫与消耗</a:t>
            </a:r>
            <a:endParaRPr/>
          </a:p>
        </p:txBody>
      </p:sp>
      <p:sp>
        <p:nvSpPr>
          <p:cNvPr id="992" name=""/>
          <p:cNvSpPr/>
          <p:nvPr/>
        </p:nvSpPr>
        <p:spPr>
          <a:xfrm rot="0" flipH="0" flipV="0">
            <a:off x="3048000" y="209550"/>
            <a:ext cx="9525" cy="228600"/>
          </a:xfrm>
          <a:prstGeom prst="rect">
            <a:avLst/>
          </a:prstGeom>
          <a:solidFill>
            <a:srgbClr val="3D7BD9"/>
          </a:solidFill>
          <a:ln/>
        </p:spPr>
        <p:txBody>
          <a:bodyPr/>
          <a:p/>
        </p:txBody>
      </p:sp>
      <p:sp>
        <p:nvSpPr>
          <p:cNvPr id="993" name="" descr="{&quot;isTemplate&quot;:true,&quot;type&quot;:&quot;text&quot;}"/>
          <p:cNvSpPr txBox="1"/>
          <p:nvPr/>
        </p:nvSpPr>
        <p:spPr>
          <a:xfrm rot="0" flipH="0" flipV="0">
            <a:off x="3209925" y="228600"/>
            <a:ext cx="3086100" cy="190500"/>
          </a:xfrm>
          <a:prstGeom prst="rect"/>
        </p:spPr>
        <p:txBody>
          <a:bodyPr wrap="none" lIns="0" tIns="0" rIns="0" bIns="0"/>
          <a:p>
            <a:pPr>
              <a:lnSpc>
                <a:spcPct val="100000"/>
              </a:lnSpc>
            </a:pPr>
            <a:r>
              <a:rPr lang="zh-CN" sz="1200">
                <a:solidFill>
                  <a:srgbClr val="C7D6EC"/>
                </a:solidFill>
                <a:latin typeface="Microsoft YaHei"/>
                <a:ea typeface="Microsoft YaHei"/>
              </a:rPr>
              <a:t>药源性血小板减少（</a:t>
            </a:r>
            <a:r>
              <a:rPr lang="en-US" sz="1200">
                <a:solidFill>
                  <a:srgbClr val="C7D6EC"/>
                </a:solidFill>
                <a:latin typeface="Microsoft YaHei"/>
                <a:ea typeface="Microsoft YaHei"/>
              </a:rPr>
              <a:t>DITP</a:t>
            </a:r>
            <a:r>
              <a:rPr lang="zh-CN" sz="1200">
                <a:solidFill>
                  <a:srgbClr val="C7D6EC"/>
                </a:solidFill>
                <a:latin typeface="Microsoft YaHei"/>
                <a:ea typeface="Microsoft YaHei"/>
              </a:rPr>
              <a:t>）：时序是最佳线索</a:t>
            </a:r>
            <a:endParaRPr/>
          </a:p>
        </p:txBody>
      </p:sp>
      <p:sp>
        <p:nvSpPr>
          <p:cNvPr id="994"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46 / 77</a:t>
            </a:r>
            <a:endParaRPr/>
          </a:p>
        </p:txBody>
      </p:sp>
      <p:sp>
        <p:nvSpPr>
          <p:cNvPr id="995"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96"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机制与典型时序</a:t>
            </a:r>
            <a:endParaRPr/>
          </a:p>
        </p:txBody>
      </p:sp>
      <p:sp>
        <p:nvSpPr>
          <p:cNvPr id="997"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药物依赖性抗体（半抗原</a:t>
            </a:r>
            <a:r>
              <a:rPr lang="en-US" sz="1275">
                <a:solidFill>
                  <a:srgbClr val="2C3E50"/>
                </a:solidFill>
                <a:latin typeface="Microsoft YaHei"/>
                <a:ea typeface="Microsoft YaHei"/>
              </a:rPr>
              <a:t>/</a:t>
            </a:r>
            <a:r>
              <a:rPr lang="zh-CN" sz="1275">
                <a:solidFill>
                  <a:srgbClr val="2C3E50"/>
                </a:solidFill>
                <a:latin typeface="Microsoft YaHei"/>
                <a:ea typeface="Microsoft YaHei"/>
              </a:rPr>
              <a:t>免疫复合物</a:t>
            </a:r>
            <a:r>
              <a:rPr lang="en-US" sz="1275">
                <a:solidFill>
                  <a:srgbClr val="2C3E50"/>
                </a:solidFill>
                <a:latin typeface="Microsoft YaHei"/>
                <a:ea typeface="Microsoft YaHei"/>
              </a:rPr>
              <a:t>/</a:t>
            </a:r>
            <a:r>
              <a:rPr lang="zh-CN" sz="1275">
                <a:solidFill>
                  <a:srgbClr val="2C3E50"/>
                </a:solidFill>
                <a:latin typeface="Microsoft YaHei"/>
                <a:ea typeface="Microsoft YaHei"/>
              </a:rPr>
              <a:t>药物诱导自身抗体）破坏血小板：典型为用药后</a:t>
            </a:r>
            <a:r>
              <a:rPr lang="en-US" sz="1275">
                <a:solidFill>
                  <a:srgbClr val="2C3E50"/>
                </a:solidFill>
                <a:latin typeface="Microsoft YaHei"/>
                <a:ea typeface="Microsoft YaHei"/>
              </a:rPr>
              <a:t> 5—10 </a:t>
            </a:r>
            <a:r>
              <a:rPr lang="zh-CN" sz="1275">
                <a:solidFill>
                  <a:srgbClr val="2C3E50"/>
                </a:solidFill>
                <a:latin typeface="Microsoft YaHei"/>
                <a:ea typeface="Microsoft YaHei"/>
              </a:rPr>
              <a:t>天血小板骤降（再次暴露可数小时内），出血较血栓常见。</a:t>
            </a:r>
            <a:endParaRPr/>
          </a:p>
        </p:txBody>
      </p:sp>
      <p:sp>
        <p:nvSpPr>
          <p:cNvPr id="998"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999"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高怀疑药物</a:t>
            </a:r>
            <a:endParaRPr/>
          </a:p>
        </p:txBody>
      </p:sp>
      <p:sp>
        <p:nvSpPr>
          <p:cNvPr id="1000"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肝素（</a:t>
            </a:r>
            <a:r>
              <a:rPr lang="en-US" sz="1275">
                <a:solidFill>
                  <a:srgbClr val="2C3E50"/>
                </a:solidFill>
                <a:latin typeface="Microsoft YaHei"/>
                <a:ea typeface="Microsoft YaHei"/>
              </a:rPr>
              <a:t>HIT </a:t>
            </a:r>
            <a:r>
              <a:rPr lang="zh-CN" sz="1275">
                <a:solidFill>
                  <a:srgbClr val="2C3E50"/>
                </a:solidFill>
                <a:latin typeface="Microsoft YaHei"/>
                <a:ea typeface="Microsoft YaHei"/>
              </a:rPr>
              <a:t>特殊类型）、</a:t>
            </a:r>
            <a:r>
              <a:rPr lang="en-US" sz="1275">
                <a:solidFill>
                  <a:srgbClr val="2C3E50"/>
                </a:solidFill>
                <a:latin typeface="Microsoft YaHei"/>
                <a:ea typeface="Microsoft YaHei"/>
              </a:rPr>
              <a:t>GPIIb/IIIa </a:t>
            </a:r>
            <a:r>
              <a:rPr lang="zh-CN" sz="1275">
                <a:solidFill>
                  <a:srgbClr val="2C3E50"/>
                </a:solidFill>
                <a:latin typeface="Microsoft YaHei"/>
                <a:ea typeface="Microsoft YaHei"/>
              </a:rPr>
              <a:t>拮抗剂、奎宁</a:t>
            </a:r>
            <a:r>
              <a:rPr lang="en-US" sz="1275">
                <a:solidFill>
                  <a:srgbClr val="2C3E50"/>
                </a:solidFill>
                <a:latin typeface="Microsoft YaHei"/>
                <a:ea typeface="Microsoft YaHei"/>
              </a:rPr>
              <a:t>/</a:t>
            </a:r>
            <a:r>
              <a:rPr lang="zh-CN" sz="1275">
                <a:solidFill>
                  <a:srgbClr val="2C3E50"/>
                </a:solidFill>
                <a:latin typeface="Microsoft YaHei"/>
                <a:ea typeface="Microsoft YaHei"/>
              </a:rPr>
              <a:t>奎尼丁、磺胺与</a:t>
            </a:r>
            <a:r>
              <a:rPr lang="en-US" sz="1275">
                <a:solidFill>
                  <a:srgbClr val="2C3E50"/>
                </a:solidFill>
                <a:latin typeface="Microsoft YaHei"/>
                <a:ea typeface="Microsoft YaHei"/>
              </a:rPr>
              <a:t> β-</a:t>
            </a:r>
            <a:r>
              <a:rPr lang="zh-CN" sz="1275">
                <a:solidFill>
                  <a:srgbClr val="2C3E50"/>
                </a:solidFill>
                <a:latin typeface="Microsoft YaHei"/>
                <a:ea typeface="Microsoft YaHei"/>
              </a:rPr>
              <a:t>内酰胺类、万古霉素、利奈唑胺、抗癫痫药、部分中药等；</a:t>
            </a:r>
            <a:r>
              <a:rPr lang="en-US" sz="1275">
                <a:solidFill>
                  <a:srgbClr val="2C3E50"/>
                </a:solidFill>
                <a:latin typeface="Microsoft YaHei"/>
                <a:ea typeface="Microsoft YaHei"/>
              </a:rPr>
              <a:t>ICU </a:t>
            </a:r>
            <a:r>
              <a:rPr lang="zh-CN" sz="1275">
                <a:solidFill>
                  <a:srgbClr val="2C3E50"/>
                </a:solidFill>
                <a:latin typeface="Microsoft YaHei"/>
                <a:ea typeface="Microsoft YaHei"/>
              </a:rPr>
              <a:t>中抗生素与</a:t>
            </a:r>
            <a:r>
              <a:rPr lang="en-US" sz="1275">
                <a:solidFill>
                  <a:srgbClr val="2C3E50"/>
                </a:solidFill>
                <a:latin typeface="Microsoft YaHei"/>
                <a:ea typeface="Microsoft YaHei"/>
              </a:rPr>
              <a:t> H2 </a:t>
            </a:r>
            <a:r>
              <a:rPr lang="zh-CN" sz="1275">
                <a:solidFill>
                  <a:srgbClr val="2C3E50"/>
                </a:solidFill>
                <a:latin typeface="Microsoft YaHei"/>
                <a:ea typeface="Microsoft YaHei"/>
              </a:rPr>
              <a:t>阻滞剂常被低估。</a:t>
            </a:r>
            <a:endParaRPr/>
          </a:p>
        </p:txBody>
      </p:sp>
      <p:sp>
        <p:nvSpPr>
          <p:cNvPr id="1001"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02"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诊断与管理</a:t>
            </a:r>
            <a:endParaRPr/>
          </a:p>
        </p:txBody>
      </p:sp>
      <p:sp>
        <p:nvSpPr>
          <p:cNvPr id="1003"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诊断靠“停药</a:t>
            </a:r>
            <a:r>
              <a:rPr lang="en-US" sz="1275">
                <a:solidFill>
                  <a:srgbClr val="2C3E50"/>
                </a:solidFill>
                <a:latin typeface="Microsoft YaHei"/>
                <a:ea typeface="Microsoft YaHei"/>
              </a:rPr>
              <a:t>-</a:t>
            </a:r>
            <a:r>
              <a:rPr lang="zh-CN" sz="1275">
                <a:solidFill>
                  <a:srgbClr val="2C3E50"/>
                </a:solidFill>
                <a:latin typeface="Microsoft YaHei"/>
                <a:ea typeface="Microsoft YaHei"/>
              </a:rPr>
              <a:t>恢复</a:t>
            </a:r>
            <a:r>
              <a:rPr lang="en-US" sz="1275">
                <a:solidFill>
                  <a:srgbClr val="2C3E50"/>
                </a:solidFill>
                <a:latin typeface="Microsoft YaHei"/>
                <a:ea typeface="Microsoft YaHei"/>
              </a:rPr>
              <a:t>-</a:t>
            </a:r>
            <a:r>
              <a:rPr lang="zh-CN" sz="1275">
                <a:solidFill>
                  <a:srgbClr val="2C3E50"/>
                </a:solidFill>
                <a:latin typeface="Microsoft YaHei"/>
                <a:ea typeface="Microsoft YaHei"/>
              </a:rPr>
              <a:t>再激发”临床证据</a:t>
            </a:r>
            <a:r>
              <a:rPr lang="en-US" sz="1275">
                <a:solidFill>
                  <a:srgbClr val="2C3E50"/>
                </a:solidFill>
                <a:latin typeface="Microsoft YaHei"/>
                <a:ea typeface="Microsoft YaHei"/>
              </a:rPr>
              <a:t>+</a:t>
            </a:r>
            <a:r>
              <a:rPr lang="zh-CN" sz="1275">
                <a:solidFill>
                  <a:srgbClr val="2C3E50"/>
                </a:solidFill>
                <a:latin typeface="Microsoft YaHei"/>
                <a:ea typeface="Microsoft YaHei"/>
              </a:rPr>
              <a:t>药物依赖性抗体检测（部分中心）；处理核心是停用可疑药物并支持治疗，血小板通常在停药后数日至</a:t>
            </a:r>
            <a:r>
              <a:rPr lang="en-US" sz="1275">
                <a:solidFill>
                  <a:srgbClr val="2C3E50"/>
                </a:solidFill>
                <a:latin typeface="Microsoft YaHei"/>
                <a:ea typeface="Microsoft YaHei"/>
              </a:rPr>
              <a:t> 1—2 </a:t>
            </a:r>
            <a:r>
              <a:rPr lang="zh-CN" sz="1275">
                <a:solidFill>
                  <a:srgbClr val="2C3E50"/>
                </a:solidFill>
                <a:latin typeface="Microsoft YaHei"/>
                <a:ea typeface="Microsoft YaHei"/>
              </a:rPr>
              <a:t>周恢复；重症出血时</a:t>
            </a:r>
            <a:r>
              <a:rPr lang="en-US" sz="1275">
                <a:solidFill>
                  <a:srgbClr val="2C3E50"/>
                </a:solidFill>
                <a:latin typeface="Microsoft YaHei"/>
                <a:ea typeface="Microsoft YaHei"/>
              </a:rPr>
              <a:t> IVIG/</a:t>
            </a:r>
            <a:r>
              <a:rPr lang="zh-CN" sz="1275">
                <a:solidFill>
                  <a:srgbClr val="2C3E50"/>
                </a:solidFill>
                <a:latin typeface="Microsoft YaHei"/>
                <a:ea typeface="Microsoft YaHei"/>
              </a:rPr>
              <a:t>血小板输注桥接。</a:t>
            </a:r>
            <a:endParaRPr/>
          </a:p>
        </p:txBody>
      </p:sp>
      <p:sp>
        <p:nvSpPr>
          <p:cNvPr id="1004"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05"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006"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007"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08"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DITP </a:t>
            </a:r>
            <a:r>
              <a:rPr lang="zh-CN" sz="1275">
                <a:solidFill>
                  <a:srgbClr val="2C3E50"/>
                </a:solidFill>
                <a:latin typeface="Microsoft YaHei"/>
                <a:ea typeface="Microsoft YaHei"/>
              </a:rPr>
              <a:t>的鉴别钥匙在“用药时间线”：把化验单与给药记录并排看，往往一眼破案。</a:t>
            </a:r>
            <a:endParaRPr/>
          </a:p>
        </p:txBody>
      </p:sp>
      <p:sp>
        <p:nvSpPr>
          <p:cNvPr id="100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01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N Engl J Med 2007;357:580-587 (PMID 17687133)</a:t>
            </a:r>
            <a:endParaRPr/>
          </a:p>
        </p:txBody>
      </p:sp>
      <p:sp>
        <p:nvSpPr>
          <p:cNvPr id="1011" name=""/>
          <p:cNvSpPr/>
          <p:nvPr/>
        </p:nvSpPr>
        <p:spPr>
          <a:xfrm rot="0" flipH="0" flipV="0">
            <a:off x="0" y="6324600"/>
            <a:ext cx="12192000" cy="342900"/>
          </a:xfrm>
          <a:prstGeom prst="rect">
            <a:avLst/>
          </a:prstGeom>
          <a:solidFill>
            <a:srgbClr val="F7F9FC"/>
          </a:solidFill>
          <a:ln/>
        </p:spPr>
        <p:txBody>
          <a:bodyPr/>
          <a:p/>
        </p:txBody>
      </p:sp>
      <p:sp>
        <p:nvSpPr>
          <p:cNvPr id="101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01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7.xml><?xml version="1.0" encoding="utf-8"?>
<p:sld xmlns:p="http://schemas.openxmlformats.org/presentationml/2006/main" xmlns:a="http://schemas.openxmlformats.org/drawingml/2006/main">
  <p:cSld>
    <p:spTree>
      <p:nvGrpSpPr>
        <p:cNvPr id="1014" name="" descr="&lt;Slide notes={`演讲者备注：第八章把血小板解读放进“特殊生理/病理状态”与“围术期”场景。这些场景的共同特点是：单纯血小板计数不足以指导决策——肝病要讲再平衡止血、妊娠要讲生理参考下移、创伤/心外要讲数量+功能+VET 的联合管理、抗血小板药要讲停药与监测的平衡。`} style={{ width: '1280px', height: '720px', background: '#0E3F8C', padding: 0 }}&gt;&#13;&#10;  &lt;Box style={{ position: 'absolute', left: 0, top: 0, width: 12, height: 720, background: '#3D7BD9' }} /&gt;&#13;&#10;  &lt;Text style={{ position: 'absolute', left: 64, top: 138, fontSize: 22, color: '#9DB8E0', letterSpacing: 4 }}&gt;第 8 章&lt;/Text&gt;&#13;&#10;  &lt;Text style={{ position: 'absolute', left: 56, top: 168, fontSize: 150, color: '#164A9E', fontWeight: 'bold' }}&gt;08&lt;/Text&gt;&#13;&#10;  &lt;Text style={{ position: 'absolute', left: 64, top: 332, fontSize: 50, color: '#FFFFFF', fontWeight: 'bold' }}&gt;特殊人群与围术期场景&lt;/Text&gt;&#13;&#10;  &lt;Text style={{ position: 'absolute', left: 64, top: 400, fontSize: 22, color: '#9DB8E0', fontFamily: 'Times New Roman' }}&gt;Special Populations &amp; Perioperative Care&lt;/Text&gt;&#13;&#10;  &lt;Box key={0} style={{ position: 'absolute', left: 64, top: 472, width: 360, height: 150, background: '#12448F', borderRadius: 12, border: '1px solid #2E5BA8', padding: 20 }}&gt;&#13;&#10;    &lt;Text style={{ fontSize: 18, color: '#9DB8E0', fontWeight: 'bold', marginBottom: 8 }}&gt;再平衡与代偿&lt;/Text&gt;&#13;&#10;    &lt;Text style={{ fontSize: 15, color: '#C7D6EC', lineHeight: 1.5 }}&gt;肝病、妊娠、尿毒症等“稳态被改写”的人群&lt;/Text&gt;&#13;&#10;  &lt;/Box&gt;  &lt;Box key={1} style={{ position: 'absolute', left: 452, top: 472, width: 360, height: 150, background: '#12448F', borderRadius: 12, border: '1px solid #2E5BA8', padding: 20 }}&gt;&#13;&#10;    &lt;Text style={{ fontSize: 18, color: '#9DB8E0', fontWeight: 'bold', marginBottom: 8 }}&gt;围术期止血&lt;/Text&gt;&#13;&#10;    &lt;Text style={{ fontSize: 15, color: '#C7D6EC', lineHeight: 1.5 }}&gt;创伤、心脏外科的血小板目标与功能评估&lt;/Text&gt;&#13;&#10;  &lt;/Box&gt;  &lt;Box key={2} style={{ position: 'absolute', left: 840, top: 472, width: 360, height: 150, background: '#12448F', borderRadius: 12, border: '1px solid #2E5BA8', padding: 20 }}&gt;&#13;&#10;    &lt;Text style={{ fontSize: 18, color: '#9DB8E0', fontWeight: 'bold', marginBottom: 8 }}&gt;输注与监测&lt;/Text&gt;&#13;&#10;    &lt;Text style={{ fontSize: 15, color: '#C7D6EC', lineHeight: 1.5 }}&gt;阈值、无效输注与抗血小板停药/监测的平衡&lt;/Text&gt;&#13;&#10;  &lt;/Box&gt;&#13;&#10;  &lt;Text style={{ position: 'absolute', right: 64, top: 660, fontSize: 15, color: '#9DB8E0' }}&gt;47 / 77&lt;/Text&gt;&#13;&#10;&lt;/Slide&gt;"/>
        <p:cNvGrpSpPr/>
        <p:nvPr/>
      </p:nvGrpSpPr>
      <p:grpSpPr>
        <a:xfrm>
          <a:off x="0" y="0"/>
          <a:ext cx="0" cy="0"/>
          <a:chOff x="0" y="0"/>
          <a:chExt cx="0" cy="0"/>
        </a:xfrm>
      </p:grpSpPr>
      <p:sp>
        <p:nvSpPr>
          <p:cNvPr id="1015" name=""/>
          <p:cNvSpPr/>
          <p:nvPr/>
        </p:nvSpPr>
        <p:spPr>
          <a:xfrm rot="0" flipH="0" flipV="0">
            <a:off x="0" y="0"/>
            <a:ext cx="12192000" cy="6858000"/>
          </a:xfrm>
          <a:prstGeom prst="rect">
            <a:avLst/>
          </a:prstGeom>
          <a:solidFill>
            <a:srgbClr val="0E3F8C"/>
          </a:solidFill>
          <a:ln/>
        </p:spPr>
        <p:txBody>
          <a:bodyPr/>
          <a:p/>
        </p:txBody>
      </p:sp>
      <p:sp>
        <p:nvSpPr>
          <p:cNvPr id="1016" name=""/>
          <p:cNvSpPr/>
          <p:nvPr/>
        </p:nvSpPr>
        <p:spPr>
          <a:xfrm rot="0" flipH="0" flipV="0">
            <a:off x="0" y="0"/>
            <a:ext cx="114300" cy="6858000"/>
          </a:xfrm>
          <a:prstGeom prst="rect">
            <a:avLst/>
          </a:prstGeom>
          <a:solidFill>
            <a:srgbClr val="3D7BD9"/>
          </a:solidFill>
          <a:ln/>
        </p:spPr>
        <p:txBody>
          <a:bodyPr/>
          <a:p/>
        </p:txBody>
      </p:sp>
      <p:sp>
        <p:nvSpPr>
          <p:cNvPr id="1017"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8 </a:t>
            </a:r>
            <a:r>
              <a:rPr lang="zh-CN" sz="1650" spc="300">
                <a:solidFill>
                  <a:srgbClr val="9DB8E0"/>
                </a:solidFill>
                <a:latin typeface="Microsoft YaHei"/>
                <a:ea typeface="Microsoft YaHei"/>
              </a:rPr>
              <a:t>章</a:t>
            </a:r>
            <a:endParaRPr/>
          </a:p>
        </p:txBody>
      </p:sp>
      <p:sp>
        <p:nvSpPr>
          <p:cNvPr id="1018"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08</a:t>
            </a:r>
            <a:endParaRPr/>
          </a:p>
        </p:txBody>
      </p:sp>
      <p:sp>
        <p:nvSpPr>
          <p:cNvPr id="1019" name="" descr="{&quot;isTemplate&quot;:true,&quot;type&quot;:&quot;text&quot;}"/>
          <p:cNvSpPr txBox="1"/>
          <p:nvPr/>
        </p:nvSpPr>
        <p:spPr>
          <a:xfrm rot="0" flipH="0" flipV="0">
            <a:off x="609600" y="3162300"/>
            <a:ext cx="4762500" cy="571500"/>
          </a:xfrm>
          <a:prstGeom prst="rect"/>
        </p:spPr>
        <p:txBody>
          <a:bodyPr wrap="none" lIns="0" tIns="0" rIns="0" bIns="0"/>
          <a:p>
            <a:pPr>
              <a:lnSpc>
                <a:spcPct val="100000"/>
              </a:lnSpc>
            </a:pPr>
            <a:r>
              <a:rPr lang="zh-CN" sz="3750" b="1">
                <a:solidFill>
                  <a:srgbClr val="FFFFFF"/>
                </a:solidFill>
                <a:latin typeface="Microsoft YaHei"/>
                <a:ea typeface="Microsoft YaHei"/>
              </a:rPr>
              <a:t>特殊人群与围术期场景</a:t>
            </a:r>
            <a:endParaRPr/>
          </a:p>
        </p:txBody>
      </p:sp>
      <p:sp>
        <p:nvSpPr>
          <p:cNvPr id="1020" name="" descr="{&quot;isTemplate&quot;:true,&quot;type&quot;:&quot;text&quot;}"/>
          <p:cNvSpPr txBox="1"/>
          <p:nvPr/>
        </p:nvSpPr>
        <p:spPr>
          <a:xfrm rot="0" flipH="0" flipV="0">
            <a:off x="609600" y="3810000"/>
            <a:ext cx="3495675" cy="257175"/>
          </a:xfrm>
          <a:prstGeom prst="rect"/>
        </p:spPr>
        <p:txBody>
          <a:bodyPr wrap="none" lIns="0" tIns="0" rIns="0" bIns="0"/>
          <a:p>
            <a:pPr>
              <a:lnSpc>
                <a:spcPct val="100000"/>
              </a:lnSpc>
            </a:pPr>
            <a:r>
              <a:rPr lang="en-US" sz="1650">
                <a:solidFill>
                  <a:srgbClr val="9DB8E0"/>
                </a:solidFill>
                <a:latin typeface="Times New Roman"/>
                <a:ea typeface="Times New Roman"/>
              </a:rPr>
              <a:t>Special Populations &amp; Perioperative Care</a:t>
            </a:r>
            <a:endParaRPr/>
          </a:p>
        </p:txBody>
      </p:sp>
      <p:sp>
        <p:nvSpPr>
          <p:cNvPr id="1021"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022"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再平衡与代偿</a:t>
            </a:r>
            <a:endParaRPr/>
          </a:p>
        </p:txBody>
      </p:sp>
      <p:sp>
        <p:nvSpPr>
          <p:cNvPr id="1023"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肝病、妊娠、尿毒症等“稳态被改写”的人群</a:t>
            </a:r>
            <a:endParaRPr/>
          </a:p>
        </p:txBody>
      </p:sp>
      <p:sp>
        <p:nvSpPr>
          <p:cNvPr id="1024"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025"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围术期止血</a:t>
            </a:r>
            <a:endParaRPr/>
          </a:p>
        </p:txBody>
      </p:sp>
      <p:sp>
        <p:nvSpPr>
          <p:cNvPr id="1026"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创伤、心脏外科的血小板目标与功能评估</a:t>
            </a:r>
            <a:endParaRPr/>
          </a:p>
        </p:txBody>
      </p:sp>
      <p:sp>
        <p:nvSpPr>
          <p:cNvPr id="1027"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028"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输注与监测</a:t>
            </a:r>
            <a:endParaRPr/>
          </a:p>
        </p:txBody>
      </p:sp>
      <p:sp>
        <p:nvSpPr>
          <p:cNvPr id="1029"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阈值、无效输注与抗血小板停药</a:t>
            </a:r>
            <a:r>
              <a:rPr lang="en-US" sz="1125">
                <a:solidFill>
                  <a:srgbClr val="C7D6EC"/>
                </a:solidFill>
                <a:latin typeface="Microsoft YaHei"/>
                <a:ea typeface="Microsoft YaHei"/>
              </a:rPr>
              <a:t>/</a:t>
            </a:r>
            <a:r>
              <a:rPr lang="zh-CN" sz="1125">
                <a:solidFill>
                  <a:srgbClr val="C7D6EC"/>
                </a:solidFill>
                <a:latin typeface="Microsoft YaHei"/>
                <a:ea typeface="Microsoft YaHei"/>
              </a:rPr>
              <a:t>监测的平衡</a:t>
            </a:r>
            <a:endParaRPr/>
          </a:p>
        </p:txBody>
      </p:sp>
      <p:sp>
        <p:nvSpPr>
          <p:cNvPr id="1030"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47 / 77</a:t>
            </a:r>
            <a:endParaRPr/>
          </a:p>
        </p:txBody>
      </p:sp>
    </p:spTree>
  </p:cSld>
</p:sld>
</file>

<file path=ppt/slides/slide48.xml><?xml version="1.0" encoding="utf-8"?>
<p:sld xmlns:p="http://schemas.openxmlformats.org/presentationml/2006/main" xmlns:a="http://schemas.openxmlformats.org/drawingml/2006/main">
  <p:cSld>
    <p:spTree>
      <p:nvGrpSpPr>
        <p:cNvPr id="1031" name="" descr="&lt;Slide notes={`演讲者备注：【LISMAN-REBAL】肝病再平衡止血概念（ISTH SSC）：促凝与抗凝成分同步下降，常规血小板/PT 异常不一定预示出血；操作与出血决策需整体评估。证据：J Thromb Haemost 2021;19:1116-1122，PMID 33792172。&#13;&#10;【TRIPODI-LIVER】慢性肝病凝血病：血小板减少与凝血因子下降并存于再平衡止血系统中，血小板计数不能单独预测有创操作出血。证据：N Engl J Med 2011;365:147-156，PMID 21751907。&#13;&#10;讲解提示：举反例——Child C 肝硬化血小板 40、PT 延长 3s，做肝活检/腹腔镜：若按“传统纠正观”会输血小板，但指南导向是不常规预防性纠正；反之血小板 &lt;20—30 且操作高危时再考虑 TPO-RA 短程提升。`}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肝病血小板减少：再平衡止血视角&lt;/Text&gt;&#13;&#10;    &lt;/Box&gt;&#13;&#10;    &lt;Text style={{ position: 'absolute', right: 64, top: 24, fontSize: 15, color: '#9DB8E0' }}&gt;48 / 77&lt;/Text&gt;&#13;&#10;  &lt;/Box&gt;&#13;&#10;  &lt;Box style={{ position: 'absolute', left: 64, top: 96, width: 562, height: 128, background: '#F0F5FC', borderRadius: 12, border: '1px solid #E5E7EB', padding: 20 }}&gt;&#13;&#10;&lt;Text style={{ fontSize: 19, color: '#0E3F8C', fontWeight: 'bold', textAlign: 'left', lineHeight: 1.5 }}&gt;机制&lt;/Text&gt;&#13;&#10;&lt;Text style={{ fontSize: 17, color: '#2C3E50', textAlign: 'left', lineHeight: 1.62 }}&gt;门脉高压脾扣押+TPO 生成不足（肝硬化时肝源 TPO 下降）+免疫破坏共同导致血小板减少；但肝病同时存在促凝/抗凝因子同步下降——“再平衡”状态。&lt;/Text&gt;&#13;&#10;  &lt;/Box&gt;&#13;&#10;  &lt;Box style={{ position: 'absolute', left: 654, top: 96, width: 562, height: 128, background: '#F0F5FC', borderRadius: 12, border: '1px solid #E5E7EB', padding: 20 }}&gt;&#13;&#10;&lt;Text style={{ fontSize: 19, color: '#0E3F8C', fontWeight: 'bold', textAlign: 'left', lineHeight: 1.5 }}&gt;解读要义&lt;/Text&gt;&#13;&#10;&lt;Text style={{ fontSize: 17, color: '#2C3E50', textAlign: 'left', lineHeight: 1.62 }}&gt;ISTH SSC 明确指出：慢性肝病血小板/PT 异常不等于出血风险升高，不应单凭血小板数决定有创操作前的“纠正”；应结合肝功能分级、操作出血风险与整体止血评估。&lt;/Text&gt;&#13;&#10;  &lt;/Box&gt;&#13;&#10;  &lt;Box style={{ position: 'absolute', left: 64, top: 252, width: 562, height: 128, background: '#F0F5FC', borderRadius: 12, border: '1px solid #E5E7EB', padding: 20 }}&gt;&#13;&#10;&lt;Text style={{ fontSize: 19, color: '#0E3F8C', fontWeight: 'bold', textAlign: 'left', lineHeight: 1.5 }}&gt;干预选择&lt;/Text&gt;&#13;&#10;&lt;Text style={{ fontSize: 17, color: '#2C3E50', textAlign: 'left', lineHeight: 1.62 }}&gt;确需提升（操作前/出血/血小板极低）时：TPO-RA（阿伐曲泊帕等，尤其操作前短程）或脾动脉栓塞/分流（针对门脉高压），血小板输注作用短暂且易产生抗体，不作为首选。&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肝病的血小板数字要放进“再平衡”框架读：宁做整体出血风险评估，勿做数字式“纠正”。&lt;/Text&gt;&#13;&#10;  &lt;/Box&gt;&#13;&#10;&#13;&#10;  &lt;Box style={{ position: 'absolute', left: 64, top: 556, width: 1152, height: 92, background: '#F0F5FC', borderRadius: 12, border: '1px solid #E5E7EB', padding: 20 }}&gt;&#13;&#10;&lt;Text style={{ fontSize: 17, color: '#2C3E50', textAlign: 'left', lineHeight: 1.6 }}&gt;小结：J Thromb Haemost 2021;19:1116-1122 (PMID 3379217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032" name=""/>
          <p:cNvSpPr/>
          <p:nvPr/>
        </p:nvSpPr>
        <p:spPr>
          <a:xfrm rot="0" flipH="0" flipV="0">
            <a:off x="0" y="0"/>
            <a:ext cx="12192000" cy="6858000"/>
          </a:xfrm>
          <a:prstGeom prst="rect">
            <a:avLst/>
          </a:prstGeom>
          <a:solidFill>
            <a:srgbClr val="FFFFFF"/>
          </a:solidFill>
          <a:ln/>
        </p:spPr>
        <p:txBody>
          <a:bodyPr/>
          <a:p/>
        </p:txBody>
      </p:sp>
      <p:sp>
        <p:nvSpPr>
          <p:cNvPr id="1033" name=""/>
          <p:cNvSpPr/>
          <p:nvPr/>
        </p:nvSpPr>
        <p:spPr>
          <a:xfrm rot="0" flipH="0" flipV="0">
            <a:off x="0" y="0"/>
            <a:ext cx="12192000" cy="685800"/>
          </a:xfrm>
          <a:prstGeom prst="rect">
            <a:avLst/>
          </a:prstGeom>
          <a:solidFill>
            <a:srgbClr val="0E3F8C"/>
          </a:solidFill>
          <a:ln/>
        </p:spPr>
        <p:txBody>
          <a:bodyPr/>
          <a:p/>
        </p:txBody>
      </p:sp>
      <p:sp>
        <p:nvSpPr>
          <p:cNvPr id="1034"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035" name=""/>
          <p:cNvSpPr/>
          <p:nvPr/>
        </p:nvSpPr>
        <p:spPr>
          <a:xfrm rot="0" flipH="0" flipV="0">
            <a:off x="3048000" y="209550"/>
            <a:ext cx="9525" cy="228600"/>
          </a:xfrm>
          <a:prstGeom prst="rect">
            <a:avLst/>
          </a:prstGeom>
          <a:solidFill>
            <a:srgbClr val="3D7BD9"/>
          </a:solidFill>
          <a:ln/>
        </p:spPr>
        <p:txBody>
          <a:bodyPr/>
          <a:p/>
        </p:txBody>
      </p:sp>
      <p:sp>
        <p:nvSpPr>
          <p:cNvPr id="1036" name="" descr="{&quot;isTemplate&quot;:true,&quot;type&quot;:&quot;text&quot;}"/>
          <p:cNvSpPr txBox="1"/>
          <p:nvPr/>
        </p:nvSpPr>
        <p:spPr>
          <a:xfrm rot="0" flipH="0" flipV="0">
            <a:off x="3209925" y="228600"/>
            <a:ext cx="2286000" cy="190500"/>
          </a:xfrm>
          <a:prstGeom prst="rect"/>
        </p:spPr>
        <p:txBody>
          <a:bodyPr wrap="none" lIns="0" tIns="0" rIns="0" bIns="0"/>
          <a:p>
            <a:pPr>
              <a:lnSpc>
                <a:spcPct val="100000"/>
              </a:lnSpc>
            </a:pPr>
            <a:r>
              <a:rPr lang="zh-CN" sz="1200">
                <a:solidFill>
                  <a:srgbClr val="C7D6EC"/>
                </a:solidFill>
                <a:latin typeface="Microsoft YaHei"/>
                <a:ea typeface="Microsoft YaHei"/>
              </a:rPr>
              <a:t>肝病血小板减少：再平衡止血视角</a:t>
            </a:r>
            <a:endParaRPr/>
          </a:p>
        </p:txBody>
      </p:sp>
      <p:sp>
        <p:nvSpPr>
          <p:cNvPr id="103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48 / 77</a:t>
            </a:r>
            <a:endParaRPr/>
          </a:p>
        </p:txBody>
      </p:sp>
      <p:sp>
        <p:nvSpPr>
          <p:cNvPr id="103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3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机制</a:t>
            </a:r>
            <a:endParaRPr/>
          </a:p>
        </p:txBody>
      </p:sp>
      <p:sp>
        <p:nvSpPr>
          <p:cNvPr id="1040"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门脉高压脾扣押</a:t>
            </a:r>
            <a:r>
              <a:rPr lang="en-US" sz="1275">
                <a:solidFill>
                  <a:srgbClr val="2C3E50"/>
                </a:solidFill>
                <a:latin typeface="Microsoft YaHei"/>
                <a:ea typeface="Microsoft YaHei"/>
              </a:rPr>
              <a:t>+TPO </a:t>
            </a:r>
            <a:r>
              <a:rPr lang="zh-CN" sz="1275">
                <a:solidFill>
                  <a:srgbClr val="2C3E50"/>
                </a:solidFill>
                <a:latin typeface="Microsoft YaHei"/>
                <a:ea typeface="Microsoft YaHei"/>
              </a:rPr>
              <a:t>生成不足（肝硬化时肝源</a:t>
            </a:r>
            <a:r>
              <a:rPr lang="en-US" sz="1275">
                <a:solidFill>
                  <a:srgbClr val="2C3E50"/>
                </a:solidFill>
                <a:latin typeface="Microsoft YaHei"/>
                <a:ea typeface="Microsoft YaHei"/>
              </a:rPr>
              <a:t> TPO </a:t>
            </a:r>
            <a:r>
              <a:rPr lang="zh-CN" sz="1275">
                <a:solidFill>
                  <a:srgbClr val="2C3E50"/>
                </a:solidFill>
                <a:latin typeface="Microsoft YaHei"/>
                <a:ea typeface="Microsoft YaHei"/>
              </a:rPr>
              <a:t>下降）</a:t>
            </a:r>
            <a:r>
              <a:rPr lang="en-US" sz="1275">
                <a:solidFill>
                  <a:srgbClr val="2C3E50"/>
                </a:solidFill>
                <a:latin typeface="Microsoft YaHei"/>
                <a:ea typeface="Microsoft YaHei"/>
              </a:rPr>
              <a:t>+</a:t>
            </a:r>
            <a:r>
              <a:rPr lang="zh-CN" sz="1275">
                <a:solidFill>
                  <a:srgbClr val="2C3E50"/>
                </a:solidFill>
                <a:latin typeface="Microsoft YaHei"/>
                <a:ea typeface="Microsoft YaHei"/>
              </a:rPr>
              <a:t>免疫破坏共同导致血小板减少；但肝病同时存在促凝</a:t>
            </a:r>
            <a:r>
              <a:rPr lang="en-US" sz="1275">
                <a:solidFill>
                  <a:srgbClr val="2C3E50"/>
                </a:solidFill>
                <a:latin typeface="Microsoft YaHei"/>
                <a:ea typeface="Microsoft YaHei"/>
              </a:rPr>
              <a:t>/</a:t>
            </a:r>
            <a:r>
              <a:rPr lang="zh-CN" sz="1275">
                <a:solidFill>
                  <a:srgbClr val="2C3E50"/>
                </a:solidFill>
                <a:latin typeface="Microsoft YaHei"/>
                <a:ea typeface="Microsoft YaHei"/>
              </a:rPr>
              <a:t>抗凝因子同步下降——“再平衡”状态。</a:t>
            </a:r>
            <a:endParaRPr/>
          </a:p>
        </p:txBody>
      </p:sp>
      <p:sp>
        <p:nvSpPr>
          <p:cNvPr id="104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4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解读要义</a:t>
            </a:r>
            <a:endParaRPr/>
          </a:p>
        </p:txBody>
      </p:sp>
      <p:sp>
        <p:nvSpPr>
          <p:cNvPr id="1043"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ISTH SSC </a:t>
            </a:r>
            <a:r>
              <a:rPr lang="zh-CN" sz="1275">
                <a:solidFill>
                  <a:srgbClr val="2C3E50"/>
                </a:solidFill>
                <a:latin typeface="Microsoft YaHei"/>
                <a:ea typeface="Microsoft YaHei"/>
              </a:rPr>
              <a:t>明确指出：慢性肝病血小板</a:t>
            </a:r>
            <a:r>
              <a:rPr lang="en-US" sz="1275">
                <a:solidFill>
                  <a:srgbClr val="2C3E50"/>
                </a:solidFill>
                <a:latin typeface="Microsoft YaHei"/>
                <a:ea typeface="Microsoft YaHei"/>
              </a:rPr>
              <a:t>/PT </a:t>
            </a:r>
            <a:r>
              <a:rPr lang="zh-CN" sz="1275">
                <a:solidFill>
                  <a:srgbClr val="2C3E50"/>
                </a:solidFill>
                <a:latin typeface="Microsoft YaHei"/>
                <a:ea typeface="Microsoft YaHei"/>
              </a:rPr>
              <a:t>异常不等于出血风险升高，不应单凭血小板数决定有创操作前的“纠正”；应结合肝功能分级、操作出血风险与整体止血评估。</a:t>
            </a:r>
            <a:endParaRPr/>
          </a:p>
        </p:txBody>
      </p:sp>
      <p:sp>
        <p:nvSpPr>
          <p:cNvPr id="104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4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干预选择</a:t>
            </a:r>
            <a:endParaRPr/>
          </a:p>
        </p:txBody>
      </p:sp>
      <p:sp>
        <p:nvSpPr>
          <p:cNvPr id="1046"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确需提升（操作前</a:t>
            </a:r>
            <a:r>
              <a:rPr lang="en-US" sz="1275">
                <a:solidFill>
                  <a:srgbClr val="2C3E50"/>
                </a:solidFill>
                <a:latin typeface="Microsoft YaHei"/>
                <a:ea typeface="Microsoft YaHei"/>
              </a:rPr>
              <a:t>/</a:t>
            </a:r>
            <a:r>
              <a:rPr lang="zh-CN" sz="1275">
                <a:solidFill>
                  <a:srgbClr val="2C3E50"/>
                </a:solidFill>
                <a:latin typeface="Microsoft YaHei"/>
                <a:ea typeface="Microsoft YaHei"/>
              </a:rPr>
              <a:t>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血小板极低）时：</a:t>
            </a:r>
            <a:r>
              <a:rPr lang="en-US" sz="1275">
                <a:solidFill>
                  <a:srgbClr val="2C3E50"/>
                </a:solidFill>
                <a:latin typeface="Microsoft YaHei"/>
                <a:ea typeface="Microsoft YaHei"/>
              </a:rPr>
              <a:t>TPO-RA</a:t>
            </a:r>
            <a:r>
              <a:rPr lang="zh-CN" sz="1275">
                <a:solidFill>
                  <a:srgbClr val="2C3E50"/>
                </a:solidFill>
                <a:latin typeface="Microsoft YaHei"/>
                <a:ea typeface="Microsoft YaHei"/>
              </a:rPr>
              <a:t>（阿伐曲泊帕等，尤其操作前短程）或脾动脉栓塞</a:t>
            </a:r>
            <a:r>
              <a:rPr lang="en-US" sz="1275">
                <a:solidFill>
                  <a:srgbClr val="2C3E50"/>
                </a:solidFill>
                <a:latin typeface="Microsoft YaHei"/>
                <a:ea typeface="Microsoft YaHei"/>
              </a:rPr>
              <a:t>/</a:t>
            </a:r>
            <a:r>
              <a:rPr lang="zh-CN" sz="1275">
                <a:solidFill>
                  <a:srgbClr val="2C3E50"/>
                </a:solidFill>
                <a:latin typeface="Microsoft YaHei"/>
                <a:ea typeface="Microsoft YaHei"/>
              </a:rPr>
              <a:t>分流（针对门脉高压），血小板输注作用短暂且易产生抗体，不作为首选。</a:t>
            </a:r>
            <a:endParaRPr/>
          </a:p>
        </p:txBody>
      </p:sp>
      <p:sp>
        <p:nvSpPr>
          <p:cNvPr id="104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4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04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05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051"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肝病的血小板数字要放进“再平衡”框架读：宁做整体出血风险评估，勿做数字式“纠正”。</a:t>
            </a:r>
            <a:endParaRPr/>
          </a:p>
        </p:txBody>
      </p:sp>
      <p:sp>
        <p:nvSpPr>
          <p:cNvPr id="1052"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053"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2021;19:1116-1122 (PMID 33792172)</a:t>
            </a:r>
            <a:endParaRPr/>
          </a:p>
        </p:txBody>
      </p:sp>
      <p:sp>
        <p:nvSpPr>
          <p:cNvPr id="1054" name=""/>
          <p:cNvSpPr/>
          <p:nvPr/>
        </p:nvSpPr>
        <p:spPr>
          <a:xfrm rot="0" flipH="0" flipV="0">
            <a:off x="0" y="6324600"/>
            <a:ext cx="12192000" cy="342900"/>
          </a:xfrm>
          <a:prstGeom prst="rect">
            <a:avLst/>
          </a:prstGeom>
          <a:solidFill>
            <a:srgbClr val="F7F9FC"/>
          </a:solidFill>
          <a:ln/>
        </p:spPr>
        <p:txBody>
          <a:bodyPr/>
          <a:p/>
        </p:txBody>
      </p:sp>
      <p:sp>
        <p:nvSpPr>
          <p:cNvPr id="1055"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056"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49.xml><?xml version="1.0" encoding="utf-8"?>
<p:sld xmlns:p="http://schemas.openxmlformats.org/presentationml/2006/main" xmlns:a="http://schemas.openxmlformats.org/drawingml/2006/main">
  <p:cSld>
    <p:spTree>
      <p:nvGrpSpPr>
        <p:cNvPr id="1057" name="" descr="&lt;Slide notes={`演讲者备注：【GERNSHEIMER-PREG】妊娠期血小板减少处理：妊娠期血小板减少症最常见（良性），其次子痫前期/HELLP 与 ITP；分娩与麻醉决策按血小板数与出血风险分层。证据：Blood 2013;121:38-47，PMID 23149846。&#13;&#10;讲解提示：强调两个时间窗——孕早中期出现中重度减少更像 ITP；孕晚期快速下降+高血压/肝损要警惕 HELLP/TMA；产后持续不恢复需重新评估。椎管内麻醉阈值为多学科共识实践，具体以本中心 SOP 为准。`}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妊娠期血小板减少：生理下移与危险分层&lt;/Text&gt;&#13;&#10;    &lt;/Box&gt;&#13;&#10;    &lt;Text style={{ position: 'absolute', right: 64, top: 24, fontSize: 15, color: '#9DB8E0' }}&gt;49 / 77&lt;/Text&gt;&#13;&#10;  &lt;/Box&gt;&#13;&#10;  &lt;Box style={{ position: 'absolute', left: 64, top: 96, width: 562, height: 206, background: '#F0F5FC', borderRadius: 12, border: '1px solid #E5E7EB', padding: 20 }}&gt;&#13;&#10;&lt;Text style={{ fontSize: 19, color: '#0E3F8C', fontWeight: 'bold', textAlign: 'left', lineHeight: 1.5 }}&gt;病因谱&lt;/Text&gt;&#13;&#10;&lt;Text style={{ fontSize: 17, color: '#2C3E50', textAlign: 'left', lineHeight: 1.62 }}&gt;最常见为妊娠期血小板减少症（良性、轻度、孕中晚期、产后恢复）；其次子痫前期/HELLP、ITP；少见血栓性微血管病（TTP/HUS、急性脂肪肝）——后二者是产科急症。&lt;/Text&gt;&#13;&#10;  &lt;/Box&gt;&#13;&#10;  &lt;Box style={{ position: 'absolute', left: 654, top: 96, width: 562, height: 206, background: '#F0F5FC', borderRadius: 12, border: '1px solid #E5E7EB', padding: 20 }}&gt;&#13;&#10;&lt;Text style={{ fontSize: 19, color: '#0E3F8C', fontWeight: 'bold', textAlign: 'left', lineHeight: 1.5 }}&gt;解读要点&lt;/Text&gt;&#13;&#10;&lt;Text style={{ fontSize: 17, color: '#2C3E50', textAlign: 'left', lineHeight: 1.62 }}&gt;妊娠“正常”血小板随孕周轻度下移（约 5%—10%），轻度减少（&amp;gt;75—100）无出血表现者可观察；血小板 &amp;lt;50 或伴高血压/肝酶升高/溶血时须排查子痫前期-HELLP 与 TMA。&lt;/Text&gt;&#13;&#10;  &lt;/Box&gt;&#13;&#10;  &lt;Box style={{ position: 'absolute', left: 64, top: 330, width: 562, height: 206, background: '#F0F5FC', borderRadius: 12, border: '1px solid #E5E7EB', padding: 20 }}&gt;&#13;&#10;&lt;Text style={{ fontSize: 19, color: '#0E3F8C', fontWeight: 'bold', textAlign: 'left', lineHeight: 1.5 }}&gt;分娩与麻醉决策&lt;/Text&gt;&#13;&#10;&lt;Text style={{ fontSize: 17, color: '#2C3E50', textAlign: 'left', lineHeight: 1.62 }}&gt;阴道分娩一般可耐受较低血小板；椎管内麻醉习惯以血小板 ≥70—80×10^9/L 为相对安全线（个体化+多学科）；分娩期 &amp;lt;50 或活动出血时按输注阈值管理（ITP 需与产科联合管理）。&lt;/Text&gt;&#13;&#10;  &lt;/Box&gt;&#13;&#10;  &lt;Box style={{ position: 'absolute', left: 654, top: 330, width: 562, height: 206, background: '#F0F5FC', borderRadius: 12, border: '1px solid #E5E7EB', padding: 20 }}&gt;&#13;&#10;&lt;Text style={{ fontSize: 19, color: '#0E3F8C', fontWeight: 'bold', textAlign: 'left', lineHeight: 1.5 }}&gt;小结&lt;/Text&gt;&#13;&#10;&lt;Text style={{ fontSize: 17, color: '#2C3E50', textAlign: 'left', lineHeight: 1.62 }}&gt;妊娠血小板减少的读法：先分“良性 vs 危险”，再谈“分娩/麻醉阈值”，勿把妊娠期血小板减少症一律当 ITP 治疗。&lt;/Text&gt;&#13;&#10;  &lt;/Box&gt;&#13;&#10;&#13;&#10;  &lt;Box style={{ position: 'absolute', left: 64, top: 556, width: 1152, height: 92, background: '#F0F5FC', borderRadius: 12, border: '1px solid #E5E7EB', padding: 20 }}&gt;&#13;&#10;&lt;Text style={{ fontSize: 17, color: '#2C3E50', textAlign: 'left', lineHeight: 1.6 }}&gt;小结：Blood 2013;121:38-47 (PMID 23149846)&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058" name=""/>
          <p:cNvSpPr/>
          <p:nvPr/>
        </p:nvSpPr>
        <p:spPr>
          <a:xfrm rot="0" flipH="0" flipV="0">
            <a:off x="0" y="0"/>
            <a:ext cx="12192000" cy="6858000"/>
          </a:xfrm>
          <a:prstGeom prst="rect">
            <a:avLst/>
          </a:prstGeom>
          <a:solidFill>
            <a:srgbClr val="FFFFFF"/>
          </a:solidFill>
          <a:ln/>
        </p:spPr>
        <p:txBody>
          <a:bodyPr/>
          <a:p/>
        </p:txBody>
      </p:sp>
      <p:sp>
        <p:nvSpPr>
          <p:cNvPr id="1059" name=""/>
          <p:cNvSpPr/>
          <p:nvPr/>
        </p:nvSpPr>
        <p:spPr>
          <a:xfrm rot="0" flipH="0" flipV="0">
            <a:off x="0" y="0"/>
            <a:ext cx="12192000" cy="685800"/>
          </a:xfrm>
          <a:prstGeom prst="rect">
            <a:avLst/>
          </a:prstGeom>
          <a:solidFill>
            <a:srgbClr val="0E3F8C"/>
          </a:solidFill>
          <a:ln/>
        </p:spPr>
        <p:txBody>
          <a:bodyPr/>
          <a:p/>
        </p:txBody>
      </p:sp>
      <p:sp>
        <p:nvSpPr>
          <p:cNvPr id="1060"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061" name=""/>
          <p:cNvSpPr/>
          <p:nvPr/>
        </p:nvSpPr>
        <p:spPr>
          <a:xfrm rot="0" flipH="0" flipV="0">
            <a:off x="3048000" y="209550"/>
            <a:ext cx="9525" cy="228600"/>
          </a:xfrm>
          <a:prstGeom prst="rect">
            <a:avLst/>
          </a:prstGeom>
          <a:solidFill>
            <a:srgbClr val="3D7BD9"/>
          </a:solidFill>
          <a:ln/>
        </p:spPr>
        <p:txBody>
          <a:bodyPr/>
          <a:p/>
        </p:txBody>
      </p:sp>
      <p:sp>
        <p:nvSpPr>
          <p:cNvPr id="1062" name="" descr="{&quot;isTemplate&quot;:true,&quot;type&quot;:&quot;text&quot;}"/>
          <p:cNvSpPr txBox="1"/>
          <p:nvPr/>
        </p:nvSpPr>
        <p:spPr>
          <a:xfrm rot="0" flipH="0" flipV="0">
            <a:off x="3209925" y="228600"/>
            <a:ext cx="2743200" cy="190500"/>
          </a:xfrm>
          <a:prstGeom prst="rect"/>
        </p:spPr>
        <p:txBody>
          <a:bodyPr wrap="none" lIns="0" tIns="0" rIns="0" bIns="0"/>
          <a:p>
            <a:pPr>
              <a:lnSpc>
                <a:spcPct val="100000"/>
              </a:lnSpc>
            </a:pPr>
            <a:r>
              <a:rPr lang="zh-CN" sz="1200">
                <a:solidFill>
                  <a:srgbClr val="C7D6EC"/>
                </a:solidFill>
                <a:latin typeface="Microsoft YaHei"/>
                <a:ea typeface="Microsoft YaHei"/>
              </a:rPr>
              <a:t>妊娠期血小板减少：生理下移与危险分层</a:t>
            </a:r>
            <a:endParaRPr/>
          </a:p>
        </p:txBody>
      </p:sp>
      <p:sp>
        <p:nvSpPr>
          <p:cNvPr id="1063"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49 / 77</a:t>
            </a:r>
            <a:endParaRPr/>
          </a:p>
        </p:txBody>
      </p:sp>
      <p:sp>
        <p:nvSpPr>
          <p:cNvPr id="1064" name=""/>
          <p:cNvSpPr/>
          <p:nvPr/>
        </p:nvSpPr>
        <p:spPr>
          <a:xfrm rot="0" flipH="0" flipV="0">
            <a:off x="60960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065"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病因谱</a:t>
            </a:r>
            <a:endParaRPr/>
          </a:p>
        </p:txBody>
      </p:sp>
      <p:sp>
        <p:nvSpPr>
          <p:cNvPr id="1066"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最常见为妊娠期血小板减少症（良性、轻度、孕中晚期、产后恢复）；其次子痫前期</a:t>
            </a:r>
            <a:r>
              <a:rPr lang="en-US" sz="1275">
                <a:solidFill>
                  <a:srgbClr val="2C3E50"/>
                </a:solidFill>
                <a:latin typeface="Microsoft YaHei"/>
                <a:ea typeface="Microsoft YaHei"/>
              </a:rPr>
              <a:t>/HELLP</a:t>
            </a:r>
            <a:r>
              <a:rPr lang="zh-CN" sz="1275">
                <a:solidFill>
                  <a:srgbClr val="2C3E50"/>
                </a:solidFill>
                <a:latin typeface="Microsoft YaHei"/>
                <a:ea typeface="Microsoft YaHei"/>
              </a:rPr>
              <a:t>、</a:t>
            </a:r>
            <a:r>
              <a:rPr lang="en-US" sz="1275">
                <a:solidFill>
                  <a:srgbClr val="2C3E50"/>
                </a:solidFill>
                <a:latin typeface="Microsoft YaHei"/>
                <a:ea typeface="Microsoft YaHei"/>
              </a:rPr>
              <a:t>ITP</a:t>
            </a:r>
            <a:r>
              <a:rPr lang="zh-CN" sz="1275">
                <a:solidFill>
                  <a:srgbClr val="2C3E50"/>
                </a:solidFill>
                <a:latin typeface="Microsoft YaHei"/>
                <a:ea typeface="Microsoft YaHei"/>
              </a:rPr>
              <a:t>；少见血栓性微血管病（</a:t>
            </a:r>
            <a:r>
              <a:rPr lang="en-US" sz="1275">
                <a:solidFill>
                  <a:srgbClr val="2C3E50"/>
                </a:solidFill>
                <a:latin typeface="Microsoft YaHei"/>
                <a:ea typeface="Microsoft YaHei"/>
              </a:rPr>
              <a:t>TTP/HUS</a:t>
            </a:r>
            <a:r>
              <a:rPr lang="zh-CN" sz="1275">
                <a:solidFill>
                  <a:srgbClr val="2C3E50"/>
                </a:solidFill>
                <a:latin typeface="Microsoft YaHei"/>
                <a:ea typeface="Microsoft YaHei"/>
              </a:rPr>
              <a:t>、急性脂肪肝）——后二者是产科急症。</a:t>
            </a:r>
            <a:endParaRPr/>
          </a:p>
        </p:txBody>
      </p:sp>
      <p:sp>
        <p:nvSpPr>
          <p:cNvPr id="1067" name=""/>
          <p:cNvSpPr/>
          <p:nvPr/>
        </p:nvSpPr>
        <p:spPr>
          <a:xfrm rot="0" flipH="0" flipV="0">
            <a:off x="622935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068"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解读要点</a:t>
            </a:r>
            <a:endParaRPr/>
          </a:p>
        </p:txBody>
      </p:sp>
      <p:sp>
        <p:nvSpPr>
          <p:cNvPr id="1069"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妊娠“正常”血小板随孕周轻度下移（约</a:t>
            </a:r>
            <a:r>
              <a:rPr lang="en-US" sz="1275">
                <a:solidFill>
                  <a:srgbClr val="2C3E50"/>
                </a:solidFill>
                <a:latin typeface="Microsoft YaHei"/>
                <a:ea typeface="Microsoft YaHei"/>
              </a:rPr>
              <a:t> 5%—10%</a:t>
            </a:r>
            <a:r>
              <a:rPr lang="zh-CN" sz="1275">
                <a:solidFill>
                  <a:srgbClr val="2C3E50"/>
                </a:solidFill>
                <a:latin typeface="Microsoft YaHei"/>
                <a:ea typeface="Microsoft YaHei"/>
              </a:rPr>
              <a:t>），轻度减少（</a:t>
            </a:r>
            <a:r>
              <a:rPr lang="en-US" sz="1275">
                <a:solidFill>
                  <a:srgbClr val="2C3E50"/>
                </a:solidFill>
                <a:latin typeface="Microsoft YaHei"/>
                <a:ea typeface="Microsoft YaHei"/>
              </a:rPr>
              <a:t>&gt;75—100</a:t>
            </a:r>
            <a:r>
              <a:rPr lang="zh-CN" sz="1275">
                <a:solidFill>
                  <a:srgbClr val="2C3E50"/>
                </a:solidFill>
                <a:latin typeface="Microsoft YaHei"/>
                <a:ea typeface="Microsoft YaHei"/>
              </a:rPr>
              <a:t>）无出血表现者可观察；血小板</a:t>
            </a:r>
            <a:r>
              <a:rPr lang="en-US" sz="1275">
                <a:solidFill>
                  <a:srgbClr val="2C3E50"/>
                </a:solidFill>
                <a:latin typeface="Microsoft YaHei"/>
                <a:ea typeface="Microsoft YaHei"/>
              </a:rPr>
              <a:t> &lt;50 </a:t>
            </a:r>
            <a:r>
              <a:rPr lang="zh-CN" sz="1275">
                <a:solidFill>
                  <a:srgbClr val="2C3E50"/>
                </a:solidFill>
                <a:latin typeface="Microsoft YaHei"/>
                <a:ea typeface="Microsoft YaHei"/>
              </a:rPr>
              <a:t>或伴高血压</a:t>
            </a:r>
            <a:r>
              <a:rPr lang="en-US" sz="1275">
                <a:solidFill>
                  <a:srgbClr val="2C3E50"/>
                </a:solidFill>
                <a:latin typeface="Microsoft YaHei"/>
                <a:ea typeface="Microsoft YaHei"/>
              </a:rPr>
              <a:t>/</a:t>
            </a:r>
            <a:r>
              <a:rPr lang="zh-CN" sz="1275">
                <a:solidFill>
                  <a:srgbClr val="2C3E50"/>
                </a:solidFill>
                <a:latin typeface="Microsoft YaHei"/>
                <a:ea typeface="Microsoft YaHei"/>
              </a:rPr>
              <a:t>肝酶升高</a:t>
            </a:r>
            <a:r>
              <a:rPr lang="en-US" sz="1275">
                <a:solidFill>
                  <a:srgbClr val="2C3E50"/>
                </a:solidFill>
                <a:latin typeface="Microsoft YaHei"/>
                <a:ea typeface="Microsoft YaHei"/>
              </a:rPr>
              <a:t>/</a:t>
            </a:r>
            <a:r>
              <a:rPr lang="zh-CN" sz="1275">
                <a:solidFill>
                  <a:srgbClr val="2C3E50"/>
                </a:solidFill>
                <a:latin typeface="Microsoft YaHei"/>
                <a:ea typeface="Microsoft YaHei"/>
              </a:rPr>
              <a:t>溶血时须排查子痫前期</a:t>
            </a:r>
            <a:r>
              <a:rPr lang="en-US" sz="1275">
                <a:solidFill>
                  <a:srgbClr val="2C3E50"/>
                </a:solidFill>
                <a:latin typeface="Microsoft YaHei"/>
                <a:ea typeface="Microsoft YaHei"/>
              </a:rPr>
              <a:t>-HELLP </a:t>
            </a:r>
            <a:r>
              <a:rPr lang="zh-CN" sz="1275">
                <a:solidFill>
                  <a:srgbClr val="2C3E50"/>
                </a:solidFill>
                <a:latin typeface="Microsoft YaHei"/>
                <a:ea typeface="Microsoft YaHei"/>
              </a:rPr>
              <a:t>与</a:t>
            </a:r>
            <a:r>
              <a:rPr lang="en-US" sz="1275">
                <a:solidFill>
                  <a:srgbClr val="2C3E50"/>
                </a:solidFill>
                <a:latin typeface="Microsoft YaHei"/>
                <a:ea typeface="Microsoft YaHei"/>
              </a:rPr>
              <a:t> TMA</a:t>
            </a:r>
            <a:r>
              <a:rPr lang="zh-CN" sz="1275">
                <a:solidFill>
                  <a:srgbClr val="2C3E50"/>
                </a:solidFill>
                <a:latin typeface="Microsoft YaHei"/>
                <a:ea typeface="Microsoft YaHei"/>
              </a:rPr>
              <a:t>。</a:t>
            </a:r>
            <a:endParaRPr/>
          </a:p>
        </p:txBody>
      </p:sp>
      <p:sp>
        <p:nvSpPr>
          <p:cNvPr id="1070" name=""/>
          <p:cNvSpPr/>
          <p:nvPr/>
        </p:nvSpPr>
        <p:spPr>
          <a:xfrm rot="0" flipH="0" flipV="0">
            <a:off x="60960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071" name="" descr="{&quot;isTemplate&quot;:true,&quot;type&quot;:&quot;text&quot;}"/>
          <p:cNvSpPr txBox="1"/>
          <p:nvPr/>
        </p:nvSpPr>
        <p:spPr>
          <a:xfrm rot="0" flipH="0" flipV="0">
            <a:off x="80010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分娩与麻醉决策</a:t>
            </a:r>
            <a:endParaRPr/>
          </a:p>
        </p:txBody>
      </p:sp>
      <p:sp>
        <p:nvSpPr>
          <p:cNvPr id="1072" name="" descr="{&quot;isTemplate&quot;:true,&quot;type&quot;:&quot;text&quot;}"/>
          <p:cNvSpPr txBox="1"/>
          <p:nvPr/>
        </p:nvSpPr>
        <p:spPr>
          <a:xfrm rot="0" flipH="0" flipV="0">
            <a:off x="800100" y="366712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阴道分娩一般可耐受较低血小板；椎管内麻醉习惯以血小板</a:t>
            </a:r>
            <a:r>
              <a:rPr lang="en-US" sz="1275">
                <a:solidFill>
                  <a:srgbClr val="2C3E50"/>
                </a:solidFill>
                <a:latin typeface="Microsoft YaHei"/>
                <a:ea typeface="Microsoft YaHei"/>
              </a:rPr>
              <a:t> ≥70—80×10^9/L </a:t>
            </a:r>
            <a:r>
              <a:rPr lang="zh-CN" sz="1275">
                <a:solidFill>
                  <a:srgbClr val="2C3E50"/>
                </a:solidFill>
                <a:latin typeface="Microsoft YaHei"/>
                <a:ea typeface="Microsoft YaHei"/>
              </a:rPr>
              <a:t>为相对安全线（个体化</a:t>
            </a:r>
            <a:r>
              <a:rPr lang="en-US" sz="1275">
                <a:solidFill>
                  <a:srgbClr val="2C3E50"/>
                </a:solidFill>
                <a:latin typeface="Microsoft YaHei"/>
                <a:ea typeface="Microsoft YaHei"/>
              </a:rPr>
              <a:t>+</a:t>
            </a:r>
            <a:r>
              <a:rPr lang="zh-CN" sz="1275">
                <a:solidFill>
                  <a:srgbClr val="2C3E50"/>
                </a:solidFill>
                <a:latin typeface="Microsoft YaHei"/>
                <a:ea typeface="Microsoft YaHei"/>
              </a:rPr>
              <a:t>多学科）；分娩期</a:t>
            </a:r>
            <a:r>
              <a:rPr lang="en-US" sz="1275">
                <a:solidFill>
                  <a:srgbClr val="2C3E50"/>
                </a:solidFill>
                <a:latin typeface="Microsoft YaHei"/>
                <a:ea typeface="Microsoft YaHei"/>
              </a:rPr>
              <a:t> &lt;50 </a:t>
            </a:r>
            <a:r>
              <a:rPr lang="zh-CN" sz="1275">
                <a:solidFill>
                  <a:srgbClr val="2C3E50"/>
                </a:solidFill>
                <a:latin typeface="Microsoft YaHei"/>
                <a:ea typeface="Microsoft YaHei"/>
              </a:rPr>
              <a:t>或活动出血时按输注阈值管理（</a:t>
            </a:r>
            <a:r>
              <a:rPr lang="en-US" sz="1275">
                <a:solidFill>
                  <a:srgbClr val="2C3E50"/>
                </a:solidFill>
                <a:latin typeface="Microsoft YaHei"/>
                <a:ea typeface="Microsoft YaHei"/>
              </a:rPr>
              <a:t>ITP </a:t>
            </a:r>
            <a:r>
              <a:rPr lang="zh-CN" sz="1275">
                <a:solidFill>
                  <a:srgbClr val="2C3E50"/>
                </a:solidFill>
                <a:latin typeface="Microsoft YaHei"/>
                <a:ea typeface="Microsoft YaHei"/>
              </a:rPr>
              <a:t>需与产科联合管理）。</a:t>
            </a:r>
            <a:endParaRPr/>
          </a:p>
        </p:txBody>
      </p:sp>
      <p:sp>
        <p:nvSpPr>
          <p:cNvPr id="1073" name=""/>
          <p:cNvSpPr/>
          <p:nvPr/>
        </p:nvSpPr>
        <p:spPr>
          <a:xfrm rot="0" flipH="0" flipV="0">
            <a:off x="622935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074" name="" descr="{&quot;isTemplate&quot;:true,&quot;type&quot;:&quot;text&quot;}"/>
          <p:cNvSpPr txBox="1"/>
          <p:nvPr/>
        </p:nvSpPr>
        <p:spPr>
          <a:xfrm rot="0" flipH="0" flipV="0">
            <a:off x="641985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075" name="" descr="{&quot;isTemplate&quot;:true,&quot;type&quot;:&quot;text&quot;}"/>
          <p:cNvSpPr txBox="1"/>
          <p:nvPr/>
        </p:nvSpPr>
        <p:spPr>
          <a:xfrm rot="0" flipH="0" flipV="0">
            <a:off x="6419850" y="366712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妊娠血小板减少的读法：先分“良性</a:t>
            </a:r>
            <a:r>
              <a:rPr lang="en-US" sz="1275">
                <a:solidFill>
                  <a:srgbClr val="2C3E50"/>
                </a:solidFill>
                <a:latin typeface="Microsoft YaHei"/>
                <a:ea typeface="Microsoft YaHei"/>
              </a:rPr>
              <a:t> vs </a:t>
            </a:r>
            <a:r>
              <a:rPr lang="zh-CN" sz="1275">
                <a:solidFill>
                  <a:srgbClr val="2C3E50"/>
                </a:solidFill>
                <a:latin typeface="Microsoft YaHei"/>
                <a:ea typeface="Microsoft YaHei"/>
              </a:rPr>
              <a:t>危险”，再谈“分娩</a:t>
            </a:r>
            <a:r>
              <a:rPr lang="en-US" sz="1275">
                <a:solidFill>
                  <a:srgbClr val="2C3E50"/>
                </a:solidFill>
                <a:latin typeface="Microsoft YaHei"/>
                <a:ea typeface="Microsoft YaHei"/>
              </a:rPr>
              <a:t>/</a:t>
            </a:r>
            <a:r>
              <a:rPr lang="zh-CN" sz="1275">
                <a:solidFill>
                  <a:srgbClr val="2C3E50"/>
                </a:solidFill>
                <a:latin typeface="Microsoft YaHei"/>
                <a:ea typeface="Microsoft YaHei"/>
              </a:rPr>
              <a:t>麻醉阈值”，勿把妊娠期血小板减少症一律当</a:t>
            </a:r>
            <a:r>
              <a:rPr lang="en-US" sz="1275">
                <a:solidFill>
                  <a:srgbClr val="2C3E50"/>
                </a:solidFill>
                <a:latin typeface="Microsoft YaHei"/>
                <a:ea typeface="Microsoft YaHei"/>
              </a:rPr>
              <a:t> ITP </a:t>
            </a:r>
            <a:r>
              <a:rPr lang="zh-CN" sz="1275">
                <a:solidFill>
                  <a:srgbClr val="2C3E50"/>
                </a:solidFill>
                <a:latin typeface="Microsoft YaHei"/>
                <a:ea typeface="Microsoft YaHei"/>
              </a:rPr>
              <a:t>治疗。</a:t>
            </a:r>
            <a:endParaRPr/>
          </a:p>
        </p:txBody>
      </p:sp>
      <p:sp>
        <p:nvSpPr>
          <p:cNvPr id="107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07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2013;121:38-47 (PMID 23149846)</a:t>
            </a:r>
            <a:endParaRPr/>
          </a:p>
        </p:txBody>
      </p:sp>
      <p:sp>
        <p:nvSpPr>
          <p:cNvPr id="1078" name=""/>
          <p:cNvSpPr/>
          <p:nvPr/>
        </p:nvSpPr>
        <p:spPr>
          <a:xfrm rot="0" flipH="0" flipV="0">
            <a:off x="0" y="6324600"/>
            <a:ext cx="12192000" cy="342900"/>
          </a:xfrm>
          <a:prstGeom prst="rect">
            <a:avLst/>
          </a:prstGeom>
          <a:solidFill>
            <a:srgbClr val="F7F9FC"/>
          </a:solidFill>
          <a:ln/>
        </p:spPr>
        <p:txBody>
          <a:bodyPr/>
          <a:p/>
        </p:txBody>
      </p:sp>
      <p:sp>
        <p:nvSpPr>
          <p:cNvPr id="107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08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0.xml><?xml version="1.0" encoding="utf-8"?>
<p:sld xmlns:p="http://schemas.openxmlformats.org/presentationml/2006/main" xmlns:a="http://schemas.openxmlformats.org/drawingml/2006/main">
  <p:cSld>
    <p:spTree>
      <p:nvGrpSpPr>
        <p:cNvPr id="1110" name="" descr="&lt;Slide notes={`演讲者备注：【HOLCOMB-PROPPR】PROPPR：严重创伤大出血 1:1:1 与 1:1:2 输注相比，24h/30d 总死亡率无统计学差异，但 1:1:1 组止血更快、24h 内失血性死亡更低。证据：JAMA 2015;313:471-482，PMID 25647203。&#13;&#10;【EU-TRAUMA-6】欧洲创伤大出血与凝血病管理第 6 版指南（2023）：创伤出血期建议维持血小板计数&gt;50×10^9/L，多发性创伤/活动性出血或 TBI 患者目标更高（TBI≥100×10^9/L），推荐 VET 导向管理。证据：Crit Care 2023;27:80，PMID 36859355。&#13;&#10;讲解提示：讲清 PROPPR 的“阴性主终点+阳性次终点”故事——总死亡率未降但止血更快、失血死亡更少，支撑损伤控制复苏“比例更早更足”的实践转变。第十一章案例 5 会演示 TBI 患者血小板管理。`}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创伤大出血：血小板在“损伤控制复苏”中的位置&lt;/Text&gt;&#13;&#10;    &lt;/Box&gt;&#13;&#10;    &lt;Text style={{ position: 'absolute', right: 64, top: 24, fontSize: 15, color: '#9DB8E0' }}&gt;50 / 77&lt;/Text&gt;&#13;&#10;  &lt;/Box&gt;&#13;&#10;  &lt;Box style={{ position: 'absolute', left: 64, top: 96, width: 562, height: 206, background: '#F0F5FC', borderRadius: 12, border: '1px solid #E5E7EB', padding: 20 }}&gt;&#13;&#10;&lt;Text style={{ fontSize: 19, color: '#0E3F8C', fontWeight: 'bold', textAlign: 'left', lineHeight: 1.5 }}&gt;PROPPR 证据&lt;/Text&gt;&#13;&#10;&lt;Text style={{ fontSize: 17, color: '#2C3E50', textAlign: 'left', lineHeight: 1.62 }}&gt;严重创伤大出血 1:1:1 vs 1:1:2：24h 死亡率 12.7% vs 17.0%（P=0.12）、30d 22.4% vs 26.1%（P=0.26）无显著差异，但 1:1:1 组止血成功更高（86% vs 78%）且 24h 内失血性死亡更低（9.2% vs 14.6%，P=0.03），并发症未增加。&lt;/Text&gt;&#13;&#10;  &lt;/Box&gt;&#13;&#10;  &lt;Box style={{ position: 'absolute', left: 654, top: 96, width: 562, height: 206, background: '#F0F5FC', borderRadius: 12, border: '1px solid #E5E7EB', padding: 20 }}&gt;&#13;&#10;&lt;Text style={{ fontSize: 19, color: '#0E3F8C', fontWeight: 'bold', textAlign: 'left', lineHeight: 1.5 }}&gt;血小板目标&lt;/Text&gt;&#13;&#10;&lt;Text style={{ fontSize: 17, color: '#2C3E50', textAlign: 'left', lineHeight: 1.62 }}&gt;欧洲创伤指南（2023 第 6 版）：出血创伤患者维持血小板 &amp;gt;50×10^9/L；多发性创伤/活动性出血与 TBI 建议更高目标（TBI 常 ≥100×10^9/L）；复苏早期按 1:1:1 经验性给予以预防稀释性血小板减少。&lt;/Text&gt;&#13;&#10;  &lt;/Box&gt;&#13;&#10;  &lt;Box style={{ position: 'absolute', left: 64, top: 330, width: 562, height: 206, background: '#F0F5FC', borderRadius: 12, border: '1px solid #E5E7EB', padding: 20 }}&gt;&#13;&#10;&lt;Text style={{ fontSize: 19, color: '#0E3F8C', fontWeight: 'bold', textAlign: 'left', lineHeight: 1.5 }}&gt;VET 导向&lt;/Text&gt;&#13;&#10;&lt;Text style={{ fontSize: 17, color: '#2C3E50', textAlign: 'left', lineHeight: 1.62 }}&gt;条件允许时以 VET 动态评估血小板/纤维蛋白原贡献（MA/MCF 低→血小板或纤维蛋白原），减少盲目输注；同时早期氨甲环酸、目标化纤维蛋白原补充共同降低消耗。&lt;/Text&gt;&#13;&#10;  &lt;/Box&gt;&#13;&#10;  &lt;Box style={{ position: 'absolute', left: 654, top: 330, width: 562, height: 206, background: '#F0F5FC', borderRadius: 12, border: '1px solid #E5E7EB', padding: 20 }}&gt;&#13;&#10;&lt;Text style={{ fontSize: 19, color: '#0E3F8C', fontWeight: 'bold', textAlign: 'left', lineHeight: 1.5 }}&gt;小结&lt;/Text&gt;&#13;&#10;&lt;Text style={{ fontSize: 17, color: '#2C3E50', textAlign: 'left', lineHeight: 1.62 }}&gt;创伤场景把血小板从“输血条目”升级为“复苏策略变量”：时机（早期 1:1:1）、目标（50/100）与工具（VET）三者并重。&lt;/Text&gt;&#13;&#10;  &lt;/Box&gt;&#13;&#10;&#13;&#10;  &lt;Box style={{ position: 'absolute', left: 64, top: 556, width: 1152, height: 92, background: '#F0F5FC', borderRadius: 12, border: '1px solid #E5E7EB', padding: 20 }}&gt;&#13;&#10;&lt;Text style={{ fontSize: 17, color: '#2C3E50', textAlign: 'left', lineHeight: 1.6 }}&gt;小结：JAMA 2015;313:471-482 (PMID 2564720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111" name=""/>
          <p:cNvSpPr/>
          <p:nvPr/>
        </p:nvSpPr>
        <p:spPr>
          <a:xfrm rot="0" flipH="0" flipV="0">
            <a:off x="0" y="0"/>
            <a:ext cx="12192000" cy="6858000"/>
          </a:xfrm>
          <a:prstGeom prst="rect">
            <a:avLst/>
          </a:prstGeom>
          <a:solidFill>
            <a:srgbClr val="FFFFFF"/>
          </a:solidFill>
          <a:ln/>
        </p:spPr>
        <p:txBody>
          <a:bodyPr/>
          <a:p/>
        </p:txBody>
      </p:sp>
      <p:sp>
        <p:nvSpPr>
          <p:cNvPr id="1112" name=""/>
          <p:cNvSpPr/>
          <p:nvPr/>
        </p:nvSpPr>
        <p:spPr>
          <a:xfrm rot="0" flipH="0" flipV="0">
            <a:off x="0" y="0"/>
            <a:ext cx="12192000" cy="685800"/>
          </a:xfrm>
          <a:prstGeom prst="rect">
            <a:avLst/>
          </a:prstGeom>
          <a:solidFill>
            <a:srgbClr val="0E3F8C"/>
          </a:solidFill>
          <a:ln/>
        </p:spPr>
        <p:txBody>
          <a:bodyPr/>
          <a:p/>
        </p:txBody>
      </p:sp>
      <p:sp>
        <p:nvSpPr>
          <p:cNvPr id="1113"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114" name=""/>
          <p:cNvSpPr/>
          <p:nvPr/>
        </p:nvSpPr>
        <p:spPr>
          <a:xfrm rot="0" flipH="0" flipV="0">
            <a:off x="3048000" y="209550"/>
            <a:ext cx="9525" cy="228600"/>
          </a:xfrm>
          <a:prstGeom prst="rect">
            <a:avLst/>
          </a:prstGeom>
          <a:solidFill>
            <a:srgbClr val="3D7BD9"/>
          </a:solidFill>
          <a:ln/>
        </p:spPr>
        <p:txBody>
          <a:bodyPr/>
          <a:p/>
        </p:txBody>
      </p:sp>
      <p:sp>
        <p:nvSpPr>
          <p:cNvPr id="1115" name="" descr="{&quot;isTemplate&quot;:true,&quot;type&quot;:&quot;text&quot;}"/>
          <p:cNvSpPr txBox="1"/>
          <p:nvPr/>
        </p:nvSpPr>
        <p:spPr>
          <a:xfrm rot="0" flipH="0" flipV="0">
            <a:off x="3209925" y="228600"/>
            <a:ext cx="3352800" cy="190500"/>
          </a:xfrm>
          <a:prstGeom prst="rect"/>
        </p:spPr>
        <p:txBody>
          <a:bodyPr wrap="none" lIns="0" tIns="0" rIns="0" bIns="0"/>
          <a:p>
            <a:pPr>
              <a:lnSpc>
                <a:spcPct val="100000"/>
              </a:lnSpc>
            </a:pPr>
            <a:r>
              <a:rPr lang="zh-CN" sz="1200">
                <a:solidFill>
                  <a:srgbClr val="C7D6EC"/>
                </a:solidFill>
                <a:latin typeface="Microsoft YaHei"/>
                <a:ea typeface="Microsoft YaHei"/>
              </a:rPr>
              <a:t>创伤大出血：血小板在“损伤控制复苏”中的位置</a:t>
            </a:r>
            <a:endParaRPr/>
          </a:p>
        </p:txBody>
      </p:sp>
      <p:sp>
        <p:nvSpPr>
          <p:cNvPr id="111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50 / 77</a:t>
            </a:r>
            <a:endParaRPr/>
          </a:p>
        </p:txBody>
      </p:sp>
      <p:sp>
        <p:nvSpPr>
          <p:cNvPr id="1117" name=""/>
          <p:cNvSpPr/>
          <p:nvPr/>
        </p:nvSpPr>
        <p:spPr>
          <a:xfrm rot="0" flipH="0" flipV="0">
            <a:off x="60960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11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PROPPR </a:t>
            </a:r>
            <a:r>
              <a:rPr lang="zh-CN" sz="1425" b="1">
                <a:solidFill>
                  <a:srgbClr val="0E3F8C"/>
                </a:solidFill>
                <a:latin typeface="Microsoft YaHei"/>
                <a:ea typeface="Microsoft YaHei"/>
              </a:rPr>
              <a:t>证据</a:t>
            </a:r>
            <a:endParaRPr/>
          </a:p>
        </p:txBody>
      </p:sp>
      <p:sp>
        <p:nvSpPr>
          <p:cNvPr id="1119" name="" descr="{&quot;isTemplate&quot;:true,&quot;type&quot;:&quot;text&quot;}"/>
          <p:cNvSpPr txBox="1"/>
          <p:nvPr/>
        </p:nvSpPr>
        <p:spPr>
          <a:xfrm rot="0" flipH="0" flipV="0">
            <a:off x="800100" y="14382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严重创伤大出血</a:t>
            </a:r>
            <a:r>
              <a:rPr lang="en-US" sz="1275">
                <a:solidFill>
                  <a:srgbClr val="2C3E50"/>
                </a:solidFill>
                <a:latin typeface="Microsoft YaHei"/>
                <a:ea typeface="Microsoft YaHei"/>
              </a:rPr>
              <a:t> 1:1:1 vs 1:1:2</a:t>
            </a:r>
            <a:r>
              <a:rPr lang="zh-CN" sz="1275">
                <a:solidFill>
                  <a:srgbClr val="2C3E50"/>
                </a:solidFill>
                <a:latin typeface="Microsoft YaHei"/>
                <a:ea typeface="Microsoft YaHei"/>
              </a:rPr>
              <a:t>：</a:t>
            </a:r>
            <a:r>
              <a:rPr lang="en-US" sz="1275">
                <a:solidFill>
                  <a:srgbClr val="2C3E50"/>
                </a:solidFill>
                <a:latin typeface="Microsoft YaHei"/>
                <a:ea typeface="Microsoft YaHei"/>
              </a:rPr>
              <a:t>24h </a:t>
            </a:r>
            <a:r>
              <a:rPr lang="zh-CN" sz="1275">
                <a:solidFill>
                  <a:srgbClr val="2C3E50"/>
                </a:solidFill>
                <a:latin typeface="Microsoft YaHei"/>
                <a:ea typeface="Microsoft YaHei"/>
              </a:rPr>
              <a:t>死亡率</a:t>
            </a:r>
            <a:r>
              <a:rPr lang="en-US" sz="1275">
                <a:solidFill>
                  <a:srgbClr val="2C3E50"/>
                </a:solidFill>
                <a:latin typeface="Microsoft YaHei"/>
                <a:ea typeface="Microsoft YaHei"/>
              </a:rPr>
              <a:t> 12.7% vs 17.0%</a:t>
            </a:r>
            <a:r>
              <a:rPr lang="zh-CN" sz="1275">
                <a:solidFill>
                  <a:srgbClr val="2C3E50"/>
                </a:solidFill>
                <a:latin typeface="Microsoft YaHei"/>
                <a:ea typeface="Microsoft YaHei"/>
              </a:rPr>
              <a:t>（</a:t>
            </a:r>
            <a:r>
              <a:rPr lang="en-US" sz="1275">
                <a:solidFill>
                  <a:srgbClr val="2C3E50"/>
                </a:solidFill>
                <a:latin typeface="Microsoft YaHei"/>
                <a:ea typeface="Microsoft YaHei"/>
              </a:rPr>
              <a:t>P=0.12</a:t>
            </a:r>
            <a:r>
              <a:rPr lang="zh-CN" sz="1275">
                <a:solidFill>
                  <a:srgbClr val="2C3E50"/>
                </a:solidFill>
                <a:latin typeface="Microsoft YaHei"/>
                <a:ea typeface="Microsoft YaHei"/>
              </a:rPr>
              <a:t>）、</a:t>
            </a:r>
            <a:r>
              <a:rPr lang="en-US" sz="1275">
                <a:solidFill>
                  <a:srgbClr val="2C3E50"/>
                </a:solidFill>
                <a:latin typeface="Microsoft YaHei"/>
                <a:ea typeface="Microsoft YaHei"/>
              </a:rPr>
              <a:t>30d 22.4% vs 26.1%</a:t>
            </a:r>
            <a:r>
              <a:rPr lang="zh-CN" sz="1275">
                <a:solidFill>
                  <a:srgbClr val="2C3E50"/>
                </a:solidFill>
                <a:latin typeface="Microsoft YaHei"/>
                <a:ea typeface="Microsoft YaHei"/>
              </a:rPr>
              <a:t>（</a:t>
            </a:r>
            <a:r>
              <a:rPr lang="en-US" sz="1275">
                <a:solidFill>
                  <a:srgbClr val="2C3E50"/>
                </a:solidFill>
                <a:latin typeface="Microsoft YaHei"/>
                <a:ea typeface="Microsoft YaHei"/>
              </a:rPr>
              <a:t>P=0.26</a:t>
            </a:r>
            <a:r>
              <a:rPr lang="zh-CN" sz="1275">
                <a:solidFill>
                  <a:srgbClr val="2C3E50"/>
                </a:solidFill>
                <a:latin typeface="Microsoft YaHei"/>
                <a:ea typeface="Microsoft YaHei"/>
              </a:rPr>
              <a:t>）无显著差异，但</a:t>
            </a:r>
            <a:r>
              <a:rPr lang="en-US" sz="1275">
                <a:solidFill>
                  <a:srgbClr val="2C3E50"/>
                </a:solidFill>
                <a:latin typeface="Microsoft YaHei"/>
                <a:ea typeface="Microsoft YaHei"/>
              </a:rPr>
              <a:t> 1:1:1 </a:t>
            </a:r>
            <a:r>
              <a:rPr lang="zh-CN" sz="1275">
                <a:solidFill>
                  <a:srgbClr val="2C3E50"/>
                </a:solidFill>
                <a:latin typeface="Microsoft YaHei"/>
                <a:ea typeface="Microsoft YaHei"/>
              </a:rPr>
              <a:t>组止血成功更高（</a:t>
            </a:r>
            <a:r>
              <a:rPr lang="en-US" sz="1275">
                <a:solidFill>
                  <a:srgbClr val="2C3E50"/>
                </a:solidFill>
                <a:latin typeface="Microsoft YaHei"/>
                <a:ea typeface="Microsoft YaHei"/>
              </a:rPr>
              <a:t>86% vs 78%</a:t>
            </a:r>
            <a:r>
              <a:rPr lang="zh-CN" sz="1275">
                <a:solidFill>
                  <a:srgbClr val="2C3E50"/>
                </a:solidFill>
                <a:latin typeface="Microsoft YaHei"/>
                <a:ea typeface="Microsoft YaHei"/>
              </a:rPr>
              <a:t>）且</a:t>
            </a:r>
            <a:r>
              <a:rPr lang="en-US" sz="1275">
                <a:solidFill>
                  <a:srgbClr val="2C3E50"/>
                </a:solidFill>
                <a:latin typeface="Microsoft YaHei"/>
                <a:ea typeface="Microsoft YaHei"/>
              </a:rPr>
              <a:t> 24h </a:t>
            </a:r>
            <a:r>
              <a:rPr lang="zh-CN" sz="1275">
                <a:solidFill>
                  <a:srgbClr val="2C3E50"/>
                </a:solidFill>
                <a:latin typeface="Microsoft YaHei"/>
                <a:ea typeface="Microsoft YaHei"/>
              </a:rPr>
              <a:t>内失血性死亡更低（</a:t>
            </a:r>
            <a:r>
              <a:rPr lang="en-US" sz="1275">
                <a:solidFill>
                  <a:srgbClr val="2C3E50"/>
                </a:solidFill>
                <a:latin typeface="Microsoft YaHei"/>
                <a:ea typeface="Microsoft YaHei"/>
              </a:rPr>
              <a:t>9.2% vs 14.6%</a:t>
            </a:r>
            <a:r>
              <a:rPr lang="zh-CN" sz="1275">
                <a:solidFill>
                  <a:srgbClr val="2C3E50"/>
                </a:solidFill>
                <a:latin typeface="Microsoft YaHei"/>
                <a:ea typeface="Microsoft YaHei"/>
              </a:rPr>
              <a:t>，</a:t>
            </a:r>
            <a:r>
              <a:rPr lang="en-US" sz="1275">
                <a:solidFill>
                  <a:srgbClr val="2C3E50"/>
                </a:solidFill>
                <a:latin typeface="Microsoft YaHei"/>
                <a:ea typeface="Microsoft YaHei"/>
              </a:rPr>
              <a:t>P=0.03</a:t>
            </a:r>
            <a:r>
              <a:rPr lang="zh-CN" sz="1275">
                <a:solidFill>
                  <a:srgbClr val="2C3E50"/>
                </a:solidFill>
                <a:latin typeface="Microsoft YaHei"/>
                <a:ea typeface="Microsoft YaHei"/>
              </a:rPr>
              <a:t>），并发症未增加。</a:t>
            </a:r>
            <a:endParaRPr/>
          </a:p>
        </p:txBody>
      </p:sp>
      <p:sp>
        <p:nvSpPr>
          <p:cNvPr id="1120" name=""/>
          <p:cNvSpPr/>
          <p:nvPr/>
        </p:nvSpPr>
        <p:spPr>
          <a:xfrm rot="0" flipH="0" flipV="0">
            <a:off x="6229350" y="91440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12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血小板目标</a:t>
            </a:r>
            <a:endParaRPr/>
          </a:p>
        </p:txBody>
      </p:sp>
      <p:sp>
        <p:nvSpPr>
          <p:cNvPr id="1122"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欧洲创伤指南（</a:t>
            </a:r>
            <a:r>
              <a:rPr lang="en-US" sz="1275">
                <a:solidFill>
                  <a:srgbClr val="2C3E50"/>
                </a:solidFill>
                <a:latin typeface="Microsoft YaHei"/>
                <a:ea typeface="Microsoft YaHei"/>
              </a:rPr>
              <a:t>2023 </a:t>
            </a:r>
            <a:r>
              <a:rPr lang="zh-CN" sz="1275">
                <a:solidFill>
                  <a:srgbClr val="2C3E50"/>
                </a:solidFill>
                <a:latin typeface="Microsoft YaHei"/>
                <a:ea typeface="Microsoft YaHei"/>
              </a:rPr>
              <a:t>第</a:t>
            </a:r>
            <a:r>
              <a:rPr lang="en-US" sz="1275">
                <a:solidFill>
                  <a:srgbClr val="2C3E50"/>
                </a:solidFill>
                <a:latin typeface="Microsoft YaHei"/>
                <a:ea typeface="Microsoft YaHei"/>
              </a:rPr>
              <a:t> 6 </a:t>
            </a:r>
            <a:r>
              <a:rPr lang="zh-CN" sz="1275">
                <a:solidFill>
                  <a:srgbClr val="2C3E50"/>
                </a:solidFill>
                <a:latin typeface="Microsoft YaHei"/>
                <a:ea typeface="Microsoft YaHei"/>
              </a:rPr>
              <a:t>版）：出血创伤患者维持血小板</a:t>
            </a:r>
            <a:r>
              <a:rPr lang="en-US" sz="1275">
                <a:solidFill>
                  <a:srgbClr val="2C3E50"/>
                </a:solidFill>
                <a:latin typeface="Microsoft YaHei"/>
                <a:ea typeface="Microsoft YaHei"/>
              </a:rPr>
              <a:t> &gt;50×10^9/L</a:t>
            </a:r>
            <a:r>
              <a:rPr lang="zh-CN" sz="1275">
                <a:solidFill>
                  <a:srgbClr val="2C3E50"/>
                </a:solidFill>
                <a:latin typeface="Microsoft YaHei"/>
                <a:ea typeface="Microsoft YaHei"/>
              </a:rPr>
              <a:t>；多发性创伤</a:t>
            </a:r>
            <a:r>
              <a:rPr lang="en-US" sz="1275">
                <a:solidFill>
                  <a:srgbClr val="2C3E50"/>
                </a:solidFill>
                <a:latin typeface="Microsoft YaHei"/>
                <a:ea typeface="Microsoft YaHei"/>
              </a:rPr>
              <a:t>/</a:t>
            </a:r>
            <a:r>
              <a:rPr lang="zh-CN" sz="1275">
                <a:solidFill>
                  <a:srgbClr val="2C3E50"/>
                </a:solidFill>
                <a:latin typeface="Microsoft YaHei"/>
                <a:ea typeface="Microsoft YaHei"/>
              </a:rPr>
              <a:t>活动性出血与</a:t>
            </a:r>
            <a:r>
              <a:rPr lang="en-US" sz="1275">
                <a:solidFill>
                  <a:srgbClr val="2C3E50"/>
                </a:solidFill>
                <a:latin typeface="Microsoft YaHei"/>
                <a:ea typeface="Microsoft YaHei"/>
              </a:rPr>
              <a:t> TBI </a:t>
            </a:r>
            <a:r>
              <a:rPr lang="zh-CN" sz="1275">
                <a:solidFill>
                  <a:srgbClr val="2C3E50"/>
                </a:solidFill>
                <a:latin typeface="Microsoft YaHei"/>
                <a:ea typeface="Microsoft YaHei"/>
              </a:rPr>
              <a:t>建议更高目标（</a:t>
            </a:r>
            <a:r>
              <a:rPr lang="en-US" sz="1275">
                <a:solidFill>
                  <a:srgbClr val="2C3E50"/>
                </a:solidFill>
                <a:latin typeface="Microsoft YaHei"/>
                <a:ea typeface="Microsoft YaHei"/>
              </a:rPr>
              <a:t>TBI </a:t>
            </a:r>
            <a:r>
              <a:rPr lang="zh-CN" sz="1275">
                <a:solidFill>
                  <a:srgbClr val="2C3E50"/>
                </a:solidFill>
                <a:latin typeface="Microsoft YaHei"/>
                <a:ea typeface="Microsoft YaHei"/>
              </a:rPr>
              <a:t>常</a:t>
            </a:r>
            <a:r>
              <a:rPr lang="en-US" sz="1275">
                <a:solidFill>
                  <a:srgbClr val="2C3E50"/>
                </a:solidFill>
                <a:latin typeface="Microsoft YaHei"/>
                <a:ea typeface="Microsoft YaHei"/>
              </a:rPr>
              <a:t> ≥100×10^9/L</a:t>
            </a:r>
            <a:r>
              <a:rPr lang="zh-CN" sz="1275">
                <a:solidFill>
                  <a:srgbClr val="2C3E50"/>
                </a:solidFill>
                <a:latin typeface="Microsoft YaHei"/>
                <a:ea typeface="Microsoft YaHei"/>
              </a:rPr>
              <a:t>）；复苏早期按</a:t>
            </a:r>
            <a:r>
              <a:rPr lang="en-US" sz="1275">
                <a:solidFill>
                  <a:srgbClr val="2C3E50"/>
                </a:solidFill>
                <a:latin typeface="Microsoft YaHei"/>
                <a:ea typeface="Microsoft YaHei"/>
              </a:rPr>
              <a:t> 1:1:1 </a:t>
            </a:r>
            <a:r>
              <a:rPr lang="zh-CN" sz="1275">
                <a:solidFill>
                  <a:srgbClr val="2C3E50"/>
                </a:solidFill>
                <a:latin typeface="Microsoft YaHei"/>
                <a:ea typeface="Microsoft YaHei"/>
              </a:rPr>
              <a:t>经验性给予以预防稀释性血小板减少。</a:t>
            </a:r>
            <a:endParaRPr/>
          </a:p>
        </p:txBody>
      </p:sp>
      <p:sp>
        <p:nvSpPr>
          <p:cNvPr id="1123" name=""/>
          <p:cNvSpPr/>
          <p:nvPr/>
        </p:nvSpPr>
        <p:spPr>
          <a:xfrm rot="0" flipH="0" flipV="0">
            <a:off x="60960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124" name="" descr="{&quot;isTemplate&quot;:true,&quot;type&quot;:&quot;text&quot;}"/>
          <p:cNvSpPr txBox="1"/>
          <p:nvPr/>
        </p:nvSpPr>
        <p:spPr>
          <a:xfrm rot="0" flipH="0" flipV="0">
            <a:off x="800100" y="333375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VET </a:t>
            </a:r>
            <a:r>
              <a:rPr lang="zh-CN" sz="1425" b="1">
                <a:solidFill>
                  <a:srgbClr val="0E3F8C"/>
                </a:solidFill>
                <a:latin typeface="Microsoft YaHei"/>
                <a:ea typeface="Microsoft YaHei"/>
              </a:rPr>
              <a:t>导向</a:t>
            </a:r>
            <a:endParaRPr/>
          </a:p>
        </p:txBody>
      </p:sp>
      <p:sp>
        <p:nvSpPr>
          <p:cNvPr id="1125" name="" descr="{&quot;isTemplate&quot;:true,&quot;type&quot;:&quot;text&quot;}"/>
          <p:cNvSpPr txBox="1"/>
          <p:nvPr/>
        </p:nvSpPr>
        <p:spPr>
          <a:xfrm rot="0" flipH="0" flipV="0">
            <a:off x="800100" y="366712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条件允许时以</a:t>
            </a:r>
            <a:r>
              <a:rPr lang="en-US" sz="1275">
                <a:solidFill>
                  <a:srgbClr val="2C3E50"/>
                </a:solidFill>
                <a:latin typeface="Microsoft YaHei"/>
                <a:ea typeface="Microsoft YaHei"/>
              </a:rPr>
              <a:t> VET </a:t>
            </a:r>
            <a:r>
              <a:rPr lang="zh-CN" sz="1275">
                <a:solidFill>
                  <a:srgbClr val="2C3E50"/>
                </a:solidFill>
                <a:latin typeface="Microsoft YaHei"/>
                <a:ea typeface="Microsoft YaHei"/>
              </a:rPr>
              <a:t>动态评估血小板</a:t>
            </a:r>
            <a:r>
              <a:rPr lang="en-US" sz="1275">
                <a:solidFill>
                  <a:srgbClr val="2C3E50"/>
                </a:solidFill>
                <a:latin typeface="Microsoft YaHei"/>
                <a:ea typeface="Microsoft YaHei"/>
              </a:rPr>
              <a:t>/</a:t>
            </a:r>
            <a:r>
              <a:rPr lang="zh-CN" sz="1275">
                <a:solidFill>
                  <a:srgbClr val="2C3E50"/>
                </a:solidFill>
                <a:latin typeface="Microsoft YaHei"/>
                <a:ea typeface="Microsoft YaHei"/>
              </a:rPr>
              <a:t>纤维蛋白原贡献（</a:t>
            </a:r>
            <a:r>
              <a:rPr lang="en-US" sz="1275">
                <a:solidFill>
                  <a:srgbClr val="2C3E50"/>
                </a:solidFill>
                <a:latin typeface="Microsoft YaHei"/>
                <a:ea typeface="Microsoft YaHei"/>
              </a:rPr>
              <a:t>MA/MCF </a:t>
            </a:r>
            <a:r>
              <a:rPr lang="zh-CN" sz="1275">
                <a:solidFill>
                  <a:srgbClr val="2C3E50"/>
                </a:solidFill>
                <a:latin typeface="Microsoft YaHei"/>
                <a:ea typeface="Microsoft YaHei"/>
              </a:rPr>
              <a:t>低→血小板或纤维蛋白原），减少盲目输注；同时早期氨甲环酸、目标化纤维蛋白原补充共同降低消耗。</a:t>
            </a:r>
            <a:endParaRPr/>
          </a:p>
        </p:txBody>
      </p:sp>
      <p:sp>
        <p:nvSpPr>
          <p:cNvPr id="1126" name=""/>
          <p:cNvSpPr/>
          <p:nvPr/>
        </p:nvSpPr>
        <p:spPr>
          <a:xfrm rot="0" flipH="0" flipV="0">
            <a:off x="6229350" y="3143250"/>
            <a:ext cx="5353050" cy="1962150"/>
          </a:xfrm>
          <a:prstGeom prst="roundRect">
            <a:avLst>
              <a:gd name="adj" fmla="val 5825"/>
            </a:avLst>
          </a:prstGeom>
          <a:solidFill>
            <a:srgbClr val="F0F5FC"/>
          </a:solidFill>
          <a:ln w="12700">
            <a:solidFill>
              <a:srgbClr val="E5E7EB"/>
            </a:solidFill>
            <a:prstDash val="solid"/>
          </a:ln>
        </p:spPr>
        <p:txBody>
          <a:bodyPr/>
          <a:p/>
        </p:txBody>
      </p:sp>
      <p:sp>
        <p:nvSpPr>
          <p:cNvPr id="1127" name="" descr="{&quot;isTemplate&quot;:true,&quot;type&quot;:&quot;text&quot;}"/>
          <p:cNvSpPr txBox="1"/>
          <p:nvPr/>
        </p:nvSpPr>
        <p:spPr>
          <a:xfrm rot="0" flipH="0" flipV="0">
            <a:off x="6419850" y="333375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128" name="" descr="{&quot;isTemplate&quot;:true,&quot;type&quot;:&quot;text&quot;}"/>
          <p:cNvSpPr txBox="1"/>
          <p:nvPr/>
        </p:nvSpPr>
        <p:spPr>
          <a:xfrm rot="0" flipH="0" flipV="0">
            <a:off x="6419850" y="366712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创伤场景把血小板从“输血条目”升级为“复苏策略变量”：时机（早期</a:t>
            </a:r>
            <a:r>
              <a:rPr lang="en-US" sz="1275">
                <a:solidFill>
                  <a:srgbClr val="2C3E50"/>
                </a:solidFill>
                <a:latin typeface="Microsoft YaHei"/>
                <a:ea typeface="Microsoft YaHei"/>
              </a:rPr>
              <a:t> 1:1:1</a:t>
            </a:r>
            <a:r>
              <a:rPr lang="zh-CN" sz="1275">
                <a:solidFill>
                  <a:srgbClr val="2C3E50"/>
                </a:solidFill>
                <a:latin typeface="Microsoft YaHei"/>
                <a:ea typeface="Microsoft YaHei"/>
              </a:rPr>
              <a:t>）、目标（</a:t>
            </a:r>
            <a:r>
              <a:rPr lang="en-US" sz="1275">
                <a:solidFill>
                  <a:srgbClr val="2C3E50"/>
                </a:solidFill>
                <a:latin typeface="Microsoft YaHei"/>
                <a:ea typeface="Microsoft YaHei"/>
              </a:rPr>
              <a:t>50/100</a:t>
            </a:r>
            <a:r>
              <a:rPr lang="zh-CN" sz="1275">
                <a:solidFill>
                  <a:srgbClr val="2C3E50"/>
                </a:solidFill>
                <a:latin typeface="Microsoft YaHei"/>
                <a:ea typeface="Microsoft YaHei"/>
              </a:rPr>
              <a:t>）与工具（</a:t>
            </a:r>
            <a:r>
              <a:rPr lang="en-US" sz="1275">
                <a:solidFill>
                  <a:srgbClr val="2C3E50"/>
                </a:solidFill>
                <a:latin typeface="Microsoft YaHei"/>
                <a:ea typeface="Microsoft YaHei"/>
              </a:rPr>
              <a:t>VET</a:t>
            </a:r>
            <a:r>
              <a:rPr lang="zh-CN" sz="1275">
                <a:solidFill>
                  <a:srgbClr val="2C3E50"/>
                </a:solidFill>
                <a:latin typeface="Microsoft YaHei"/>
                <a:ea typeface="Microsoft YaHei"/>
              </a:rPr>
              <a:t>）三者并重。</a:t>
            </a:r>
            <a:endParaRPr/>
          </a:p>
        </p:txBody>
      </p:sp>
      <p:sp>
        <p:nvSpPr>
          <p:cNvPr id="112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13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JAMA 2015;313:471-482 (PMID 25647203)</a:t>
            </a:r>
            <a:endParaRPr/>
          </a:p>
        </p:txBody>
      </p:sp>
      <p:sp>
        <p:nvSpPr>
          <p:cNvPr id="1131" name=""/>
          <p:cNvSpPr/>
          <p:nvPr/>
        </p:nvSpPr>
        <p:spPr>
          <a:xfrm rot="0" flipH="0" flipV="0">
            <a:off x="0" y="6324600"/>
            <a:ext cx="12192000" cy="342900"/>
          </a:xfrm>
          <a:prstGeom prst="rect">
            <a:avLst/>
          </a:prstGeom>
          <a:solidFill>
            <a:srgbClr val="F7F9FC"/>
          </a:solidFill>
          <a:ln/>
        </p:spPr>
        <p:txBody>
          <a:bodyPr/>
          <a:p/>
        </p:txBody>
      </p:sp>
      <p:sp>
        <p:nvSpPr>
          <p:cNvPr id="113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13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1.xml><?xml version="1.0" encoding="utf-8"?>
<p:sld xmlns:p="http://schemas.openxmlformats.org/presentationml/2006/main" xmlns:a="http://schemas.openxmlformats.org/drawingml/2006/main">
  <p:cSld>
    <p:spTree>
      <p:nvGrpSpPr>
        <p:cNvPr id="1134" name="" descr="&lt;Slide notes={`演讲者备注：【EACTS-PBM】EACTS/EACTA 心脏手术患者血液管理指南（2017 版）：CPB 相关血小板功能障碍是出血重要因素，推荐围术期血小板功能与 VET 监测导向个体化止血治疗。证据：J Cardiothorac Vasc Anesth 2018;32:88-120，PMID 29029100。&#13;&#10;【BOLLIGER-TEG】血栓弹力图（TEG）原理与应用综述：MA 等参数反映血小板-纤维蛋白共同作用形成的血块强度，可用于围术期/创伤的目标导向输血。证据：Transfus Med Rev 2012;26:1-13，PMID 21872428。&#13;&#10;讲解提示：结合案例 4（CPB 后血小板 90 仍渗血，VET 示 MA 低、FIBTEM 正常→输血小板后止血）说明“计数正常≠功能正常”；给出停药时间轴速查。`}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心脏外科/CPB：计数“不低”也要防功能不行&lt;/Text&gt;&#13;&#10;    &lt;/Box&gt;&#13;&#10;    &lt;Text style={{ position: 'absolute', right: 64, top: 24, fontSize: 15, color: '#9DB8E0' }}&gt;51 / 77&lt;/Text&gt;&#13;&#10;  &lt;/Box&gt;&#13;&#10;  &lt;Box style={{ position: 'absolute', left: 64, top: 96, width: 562, height: 128, background: '#F0F5FC', borderRadius: 12, border: '1px solid #E5E7EB', padding: 20 }}&gt;&#13;&#10;&lt;Text style={{ fontSize: 19, color: '#0E3F8C', fontWeight: 'bold', textAlign: 'left', lineHeight: 1.5 }}&gt;CPB 对血小板的伤害&lt;/Text&gt;&#13;&#10;&lt;Text style={{ fontSize: 17, color: '#2C3E50', textAlign: 'left', lineHeight: 1.62 }}&gt;体外循环管路剪切+激活使血小板数量下降（消耗/稀释）并出现获得性功能障碍（α 颗粒耗竭、受体下调），是术后早期出血的主要原因之一——此时血小板计数可能“尚可”但功能已差。&lt;/Text&gt;&#13;&#10;  &lt;/Box&gt;&#13;&#10;  &lt;Box style={{ position: 'absolute', left: 654, top: 96, width: 562, height: 128, background: '#F0F5FC', borderRadius: 12, border: '1px solid #E5E7EB', padding: 20 }}&gt;&#13;&#10;&lt;Text style={{ fontSize: 19, color: '#0E3F8C', fontWeight: 'bold', textAlign: 'left', lineHeight: 1.5 }}&gt;围术期管理&lt;/Text&gt;&#13;&#10;&lt;Text style={{ fontSize: 17, color: '#2C3E50', textAlign: 'left', lineHeight: 1.62 }}&gt;EACTS/EACTA 指南：CPB 相关出血优先用 VET（如血小板图/EXTEM 的 A10）定位“血小板端”贡献；明确血小板减少（&amp;lt;50）或功能低下所致出血时按目标输注血小板；非血小板因素（残余肝素、低纤）先行处理。&lt;/Text&gt;&#13;&#10;  &lt;/Box&gt;&#13;&#10;  &lt;Box style={{ position: 'absolute', left: 64, top: 252, width: 562, height: 128, background: '#F0F5FC', borderRadius: 12, border: '1px solid #E5E7EB', padding: 20 }}&gt;&#13;&#10;&lt;Text style={{ fontSize: 19, color: '#0E3F8C', fontWeight: 'bold', textAlign: 'left', lineHeight: 1.5 }}&gt;抗血小板停药策略&lt;/Text&gt;&#13;&#10;&lt;Text style={{ fontSize: 17, color: '#2C3E50', textAlign: 'left', lineHeight: 1.62 }}&gt;择期手术：阿司匹林多可继续（出血增量小、常不停）；P2Y12 抑制剂按停药时间窗（替格瑞洛 3—5 天、氯吡格雷 5—7 天）在必要时桥接；急诊手术则依出血-缺血平衡个体化并备血小板。&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心外场景是“数量与功能必须同看”的最典型舞台：MA/A10 才是“够不够用”的答案。&lt;/Text&gt;&#13;&#10;  &lt;/Box&gt;&#13;&#10;&#13;&#10;  &lt;Box style={{ position: 'absolute', left: 64, top: 556, width: 1152, height: 92, background: '#F0F5FC', borderRadius: 12, border: '1px solid #E5E7EB', padding: 20 }}&gt;&#13;&#10;&lt;Text style={{ fontSize: 17, color: '#2C3E50', textAlign: 'left', lineHeight: 1.6 }}&gt;小结：J Cardiothorac Vasc Anesth 2018;32:88-120 (PMID 29029100)&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135" name=""/>
          <p:cNvSpPr/>
          <p:nvPr/>
        </p:nvSpPr>
        <p:spPr>
          <a:xfrm rot="0" flipH="0" flipV="0">
            <a:off x="0" y="0"/>
            <a:ext cx="12192000" cy="6858000"/>
          </a:xfrm>
          <a:prstGeom prst="rect">
            <a:avLst/>
          </a:prstGeom>
          <a:solidFill>
            <a:srgbClr val="FFFFFF"/>
          </a:solidFill>
          <a:ln/>
        </p:spPr>
        <p:txBody>
          <a:bodyPr/>
          <a:p/>
        </p:txBody>
      </p:sp>
      <p:sp>
        <p:nvSpPr>
          <p:cNvPr id="1136" name=""/>
          <p:cNvSpPr/>
          <p:nvPr/>
        </p:nvSpPr>
        <p:spPr>
          <a:xfrm rot="0" flipH="0" flipV="0">
            <a:off x="0" y="0"/>
            <a:ext cx="12192000" cy="685800"/>
          </a:xfrm>
          <a:prstGeom prst="rect">
            <a:avLst/>
          </a:prstGeom>
          <a:solidFill>
            <a:srgbClr val="0E3F8C"/>
          </a:solidFill>
          <a:ln/>
        </p:spPr>
        <p:txBody>
          <a:bodyPr/>
          <a:p/>
        </p:txBody>
      </p:sp>
      <p:sp>
        <p:nvSpPr>
          <p:cNvPr id="1137"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138" name=""/>
          <p:cNvSpPr/>
          <p:nvPr/>
        </p:nvSpPr>
        <p:spPr>
          <a:xfrm rot="0" flipH="0" flipV="0">
            <a:off x="3048000" y="209550"/>
            <a:ext cx="9525" cy="228600"/>
          </a:xfrm>
          <a:prstGeom prst="rect">
            <a:avLst/>
          </a:prstGeom>
          <a:solidFill>
            <a:srgbClr val="3D7BD9"/>
          </a:solidFill>
          <a:ln/>
        </p:spPr>
        <p:txBody>
          <a:bodyPr/>
          <a:p/>
        </p:txBody>
      </p:sp>
      <p:sp>
        <p:nvSpPr>
          <p:cNvPr id="1139" name="" descr="{&quot;isTemplate&quot;:true,&quot;type&quot;:&quot;text&quot;}"/>
          <p:cNvSpPr txBox="1"/>
          <p:nvPr/>
        </p:nvSpPr>
        <p:spPr>
          <a:xfrm rot="0" flipH="0" flipV="0">
            <a:off x="3209925" y="228600"/>
            <a:ext cx="3105150" cy="190500"/>
          </a:xfrm>
          <a:prstGeom prst="rect"/>
        </p:spPr>
        <p:txBody>
          <a:bodyPr wrap="none" lIns="0" tIns="0" rIns="0" bIns="0"/>
          <a:p>
            <a:pPr>
              <a:lnSpc>
                <a:spcPct val="100000"/>
              </a:lnSpc>
            </a:pPr>
            <a:r>
              <a:rPr lang="zh-CN" sz="1200">
                <a:solidFill>
                  <a:srgbClr val="C7D6EC"/>
                </a:solidFill>
                <a:latin typeface="Microsoft YaHei"/>
                <a:ea typeface="Microsoft YaHei"/>
              </a:rPr>
              <a:t>心脏外科</a:t>
            </a:r>
            <a:r>
              <a:rPr lang="en-US" sz="1200">
                <a:solidFill>
                  <a:srgbClr val="C7D6EC"/>
                </a:solidFill>
                <a:latin typeface="Microsoft YaHei"/>
                <a:ea typeface="Microsoft YaHei"/>
              </a:rPr>
              <a:t>/CPB</a:t>
            </a:r>
            <a:r>
              <a:rPr lang="zh-CN" sz="1200">
                <a:solidFill>
                  <a:srgbClr val="C7D6EC"/>
                </a:solidFill>
                <a:latin typeface="Microsoft YaHei"/>
                <a:ea typeface="Microsoft YaHei"/>
              </a:rPr>
              <a:t>：计数“不低”也要防功能不行</a:t>
            </a:r>
            <a:endParaRPr/>
          </a:p>
        </p:txBody>
      </p:sp>
      <p:sp>
        <p:nvSpPr>
          <p:cNvPr id="114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51 / 77</a:t>
            </a:r>
            <a:endParaRPr/>
          </a:p>
        </p:txBody>
      </p:sp>
      <p:sp>
        <p:nvSpPr>
          <p:cNvPr id="114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4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CPB </a:t>
            </a:r>
            <a:r>
              <a:rPr lang="zh-CN" sz="1425" b="1">
                <a:solidFill>
                  <a:srgbClr val="0E3F8C"/>
                </a:solidFill>
                <a:latin typeface="Microsoft YaHei"/>
                <a:ea typeface="Microsoft YaHei"/>
              </a:rPr>
              <a:t>对血小板的伤害</a:t>
            </a:r>
            <a:endParaRPr/>
          </a:p>
        </p:txBody>
      </p:sp>
      <p:sp>
        <p:nvSpPr>
          <p:cNvPr id="114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体外循环管路剪切</a:t>
            </a:r>
            <a:r>
              <a:rPr lang="en-US" sz="1275">
                <a:solidFill>
                  <a:srgbClr val="2C3E50"/>
                </a:solidFill>
                <a:latin typeface="Microsoft YaHei"/>
                <a:ea typeface="Microsoft YaHei"/>
              </a:rPr>
              <a:t>+</a:t>
            </a:r>
            <a:r>
              <a:rPr lang="zh-CN" sz="1275">
                <a:solidFill>
                  <a:srgbClr val="2C3E50"/>
                </a:solidFill>
                <a:latin typeface="Microsoft YaHei"/>
                <a:ea typeface="Microsoft YaHei"/>
              </a:rPr>
              <a:t>激活使血小板数量下降（消耗</a:t>
            </a:r>
            <a:r>
              <a:rPr lang="en-US" sz="1275">
                <a:solidFill>
                  <a:srgbClr val="2C3E50"/>
                </a:solidFill>
                <a:latin typeface="Microsoft YaHei"/>
                <a:ea typeface="Microsoft YaHei"/>
              </a:rPr>
              <a:t>/</a:t>
            </a:r>
            <a:r>
              <a:rPr lang="zh-CN" sz="1275">
                <a:solidFill>
                  <a:srgbClr val="2C3E50"/>
                </a:solidFill>
                <a:latin typeface="Microsoft YaHei"/>
                <a:ea typeface="Microsoft YaHei"/>
              </a:rPr>
              <a:t>稀释）并出现获得性功能障碍（α</a:t>
            </a:r>
            <a:r>
              <a:rPr lang="en-US" sz="1275">
                <a:solidFill>
                  <a:srgbClr val="2C3E50"/>
                </a:solidFill>
                <a:latin typeface="Microsoft YaHei"/>
                <a:ea typeface="Microsoft YaHei"/>
              </a:rPr>
              <a:t> </a:t>
            </a:r>
            <a:r>
              <a:rPr lang="zh-CN" sz="1275">
                <a:solidFill>
                  <a:srgbClr val="2C3E50"/>
                </a:solidFill>
                <a:latin typeface="Microsoft YaHei"/>
                <a:ea typeface="Microsoft YaHei"/>
              </a:rPr>
              <a:t>颗粒耗竭、受体下调），是术后早期出血的主要原因之一——此时血小板计数可能“尚可”但功能已差。</a:t>
            </a:r>
            <a:endParaRPr/>
          </a:p>
        </p:txBody>
      </p:sp>
      <p:sp>
        <p:nvSpPr>
          <p:cNvPr id="114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4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围术期管理</a:t>
            </a:r>
            <a:endParaRPr/>
          </a:p>
        </p:txBody>
      </p:sp>
      <p:sp>
        <p:nvSpPr>
          <p:cNvPr id="1146"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EACTS/EACTA </a:t>
            </a:r>
            <a:r>
              <a:rPr lang="zh-CN" sz="1275">
                <a:solidFill>
                  <a:srgbClr val="2C3E50"/>
                </a:solidFill>
                <a:latin typeface="Microsoft YaHei"/>
                <a:ea typeface="Microsoft YaHei"/>
              </a:rPr>
              <a:t>指南：</a:t>
            </a:r>
            <a:r>
              <a:rPr lang="en-US" sz="1275">
                <a:solidFill>
                  <a:srgbClr val="2C3E50"/>
                </a:solidFill>
                <a:latin typeface="Microsoft YaHei"/>
                <a:ea typeface="Microsoft YaHei"/>
              </a:rPr>
              <a:t>CPB </a:t>
            </a:r>
            <a:r>
              <a:rPr lang="zh-CN" sz="1275">
                <a:solidFill>
                  <a:srgbClr val="2C3E50"/>
                </a:solidFill>
                <a:latin typeface="Microsoft YaHei"/>
                <a:ea typeface="Microsoft YaHei"/>
              </a:rPr>
              <a:t>相关出血优先用</a:t>
            </a:r>
            <a:r>
              <a:rPr lang="en-US" sz="1275">
                <a:solidFill>
                  <a:srgbClr val="2C3E50"/>
                </a:solidFill>
                <a:latin typeface="Microsoft YaHei"/>
                <a:ea typeface="Microsoft YaHei"/>
              </a:rPr>
              <a:t> VET</a:t>
            </a:r>
            <a:r>
              <a:rPr lang="zh-CN" sz="1275">
                <a:solidFill>
                  <a:srgbClr val="2C3E50"/>
                </a:solidFill>
                <a:latin typeface="Microsoft YaHei"/>
                <a:ea typeface="Microsoft YaHei"/>
              </a:rPr>
              <a:t>（如血小板图</a:t>
            </a:r>
            <a:r>
              <a:rPr lang="en-US" sz="1275">
                <a:solidFill>
                  <a:srgbClr val="2C3E50"/>
                </a:solidFill>
                <a:latin typeface="Microsoft YaHei"/>
                <a:ea typeface="Microsoft YaHei"/>
              </a:rPr>
              <a:t>/EXTEM </a:t>
            </a:r>
            <a:r>
              <a:rPr lang="zh-CN" sz="1275">
                <a:solidFill>
                  <a:srgbClr val="2C3E50"/>
                </a:solidFill>
                <a:latin typeface="Microsoft YaHei"/>
                <a:ea typeface="Microsoft YaHei"/>
              </a:rPr>
              <a:t>的</a:t>
            </a:r>
            <a:r>
              <a:rPr lang="en-US" sz="1275">
                <a:solidFill>
                  <a:srgbClr val="2C3E50"/>
                </a:solidFill>
                <a:latin typeface="Microsoft YaHei"/>
                <a:ea typeface="Microsoft YaHei"/>
              </a:rPr>
              <a:t> A10</a:t>
            </a:r>
            <a:r>
              <a:rPr lang="zh-CN" sz="1275">
                <a:solidFill>
                  <a:srgbClr val="2C3E50"/>
                </a:solidFill>
                <a:latin typeface="Microsoft YaHei"/>
                <a:ea typeface="Microsoft YaHei"/>
              </a:rPr>
              <a:t>）定位“血小板端”贡献；明确血小板减少（</a:t>
            </a:r>
            <a:r>
              <a:rPr lang="en-US" sz="1275">
                <a:solidFill>
                  <a:srgbClr val="2C3E50"/>
                </a:solidFill>
                <a:latin typeface="Microsoft YaHei"/>
                <a:ea typeface="Microsoft YaHei"/>
              </a:rPr>
              <a:t>&lt;50</a:t>
            </a:r>
            <a:r>
              <a:rPr lang="zh-CN" sz="1275">
                <a:solidFill>
                  <a:srgbClr val="2C3E50"/>
                </a:solidFill>
                <a:latin typeface="Microsoft YaHei"/>
                <a:ea typeface="Microsoft YaHei"/>
              </a:rPr>
              <a:t>）或功能低下所致出血时按目标输注血小板；非血小板因素（残余肝素、低纤）先行处理。</a:t>
            </a:r>
            <a:endParaRPr/>
          </a:p>
        </p:txBody>
      </p:sp>
      <p:sp>
        <p:nvSpPr>
          <p:cNvPr id="114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4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抗血小板停药策略</a:t>
            </a:r>
            <a:endParaRPr/>
          </a:p>
        </p:txBody>
      </p:sp>
      <p:sp>
        <p:nvSpPr>
          <p:cNvPr id="114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择期手术：阿司匹林多可继续（出血增量小、常不停）；</a:t>
            </a:r>
            <a:r>
              <a:rPr lang="en-US" sz="1275">
                <a:solidFill>
                  <a:srgbClr val="2C3E50"/>
                </a:solidFill>
                <a:latin typeface="Microsoft YaHei"/>
                <a:ea typeface="Microsoft YaHei"/>
              </a:rPr>
              <a:t>P2Y12 </a:t>
            </a:r>
            <a:r>
              <a:rPr lang="zh-CN" sz="1275">
                <a:solidFill>
                  <a:srgbClr val="2C3E50"/>
                </a:solidFill>
                <a:latin typeface="Microsoft YaHei"/>
                <a:ea typeface="Microsoft YaHei"/>
              </a:rPr>
              <a:t>抑制剂按停药时间窗（替格瑞洛</a:t>
            </a:r>
            <a:r>
              <a:rPr lang="en-US" sz="1275">
                <a:solidFill>
                  <a:srgbClr val="2C3E50"/>
                </a:solidFill>
                <a:latin typeface="Microsoft YaHei"/>
                <a:ea typeface="Microsoft YaHei"/>
              </a:rPr>
              <a:t> 3—5 </a:t>
            </a:r>
            <a:r>
              <a:rPr lang="zh-CN" sz="1275">
                <a:solidFill>
                  <a:srgbClr val="2C3E50"/>
                </a:solidFill>
                <a:latin typeface="Microsoft YaHei"/>
                <a:ea typeface="Microsoft YaHei"/>
              </a:rPr>
              <a:t>天、氯吡格雷</a:t>
            </a:r>
            <a:r>
              <a:rPr lang="en-US" sz="1275">
                <a:solidFill>
                  <a:srgbClr val="2C3E50"/>
                </a:solidFill>
                <a:latin typeface="Microsoft YaHei"/>
                <a:ea typeface="Microsoft YaHei"/>
              </a:rPr>
              <a:t> 5—7 </a:t>
            </a:r>
            <a:r>
              <a:rPr lang="zh-CN" sz="1275">
                <a:solidFill>
                  <a:srgbClr val="2C3E50"/>
                </a:solidFill>
                <a:latin typeface="Microsoft YaHei"/>
                <a:ea typeface="Microsoft YaHei"/>
              </a:rPr>
              <a:t>天）在必要时桥接；急诊手术则依出血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缺血平衡个体化并备血小板。</a:t>
            </a:r>
            <a:endParaRPr/>
          </a:p>
        </p:txBody>
      </p:sp>
      <p:sp>
        <p:nvSpPr>
          <p:cNvPr id="115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5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15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15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54"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心外场景是“数量与功能必须同看”的最典型舞台：</a:t>
            </a:r>
            <a:r>
              <a:rPr lang="en-US" sz="1275">
                <a:solidFill>
                  <a:srgbClr val="2C3E50"/>
                </a:solidFill>
                <a:latin typeface="Microsoft YaHei"/>
                <a:ea typeface="Microsoft YaHei"/>
              </a:rPr>
              <a:t>MA/A10 </a:t>
            </a:r>
            <a:r>
              <a:rPr lang="zh-CN" sz="1275">
                <a:solidFill>
                  <a:srgbClr val="2C3E50"/>
                </a:solidFill>
                <a:latin typeface="Microsoft YaHei"/>
                <a:ea typeface="Microsoft YaHei"/>
              </a:rPr>
              <a:t>才是“够不够用”的答案。</a:t>
            </a:r>
            <a:endParaRPr/>
          </a:p>
        </p:txBody>
      </p:sp>
      <p:sp>
        <p:nvSpPr>
          <p:cNvPr id="1155"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156"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Cardiothorac Vasc Anesth 2018;32:88-120 (PMID 29029100)</a:t>
            </a:r>
            <a:endParaRPr/>
          </a:p>
        </p:txBody>
      </p:sp>
      <p:sp>
        <p:nvSpPr>
          <p:cNvPr id="1157" name=""/>
          <p:cNvSpPr/>
          <p:nvPr/>
        </p:nvSpPr>
        <p:spPr>
          <a:xfrm rot="0" flipH="0" flipV="0">
            <a:off x="0" y="6324600"/>
            <a:ext cx="12192000" cy="342900"/>
          </a:xfrm>
          <a:prstGeom prst="rect">
            <a:avLst/>
          </a:prstGeom>
          <a:solidFill>
            <a:srgbClr val="F7F9FC"/>
          </a:solidFill>
          <a:ln/>
        </p:spPr>
        <p:txBody>
          <a:bodyPr/>
          <a:p/>
        </p:txBody>
      </p:sp>
      <p:sp>
        <p:nvSpPr>
          <p:cNvPr id="115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15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2.xml><?xml version="1.0" encoding="utf-8"?>
<p:sld xmlns:p="http://schemas.openxmlformats.org/presentationml/2006/main" xmlns:a="http://schemas.openxmlformats.org/drawingml/2006/main">
  <p:cSld>
    <p:spTree>
      <p:nvGrpSpPr>
        <p:cNvPr id="1160" name="" descr="&lt;Slide notes={`演讲者备注：【PRICE-GRAVITAS】GRAVITAS：PCI 后高残留血小板反应者给予高剂量氯吡格雷未降低 6 个月缺血事件，显示常规床旁血小板功能监测导向调药的获益有限。证据：JAMA 2011;305:1097-1105，PMID 21406646。&#13;&#10;【ANTARCTIC】ANTARCTIC：老年 ACS 支架患者基于床旁血小板功能监测调整抗血小板治疗未能减少心血管事件与出血，再次提示监测导向策略未改善临床结局。证据：Lancet 2016;388:2015-2022，PMID 27581531。&#13;&#10;【FNX-MONITOR-REV】抗血小板治疗血小板功能监测为何未转化为临床获益的深度分析：药理异质性、检测切点、样本时机与结局事件频谱等均为原因。证据：Circ Cardiovasc Interv 2019;12:e007749，PMID 31694410。&#13;&#10;讲解提示：解释阴性原因（药理异质性、切点不稳、事件频谱、随访期），并指出这与“出血体质评估”场景不同——不要因监测调药阴性就把血小板功能检测整体否定（见第三章方法定位）。`}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抗血小板治疗监测：GRAVITAS/ANTARCTIC 后的冷思考&lt;/Text&gt;&#13;&#10;    &lt;/Box&gt;&#13;&#10;    &lt;Text style={{ position: 'absolute', right: 64, top: 24, fontSize: 15, color: '#9DB8E0' }}&gt;52 / 77&lt;/Text&gt;&#13;&#10;  &lt;/Box&gt;&#13;&#10;  &lt;Box style={{ position: 'absolute', left: 64, top: 96, width: 562, height: 128, background: '#F0F5FC', borderRadius: 12, border: '1px solid #E5E7EB', padding: 20 }}&gt;&#13;&#10;&lt;Text style={{ fontSize: 19, color: '#0E3F8C', fontWeight: 'bold', textAlign: 'left', lineHeight: 1.5 }}&gt;监测的依据&lt;/Text&gt;&#13;&#10;&lt;Text style={{ fontSize: 17, color: '#2C3E50', textAlign: 'left', lineHeight: 1.62 }}&gt;高残留血小板反应性（HPR，如 VerifyNow PRU 高值）与 PCI 后支架血栓相关；理论上按检测调整治疗可降低缺血——这是推动功能监测的原始动力。&lt;/Text&gt;&#13;&#10;  &lt;/Box&gt;&#13;&#10;  &lt;Box style={{ position: 'absolute', left: 654, top: 96, width: 562, height: 128, background: '#F0F5FC', borderRadius: 12, border: '1px solid #E5E7EB', padding: 20 }}&gt;&#13;&#10;&lt;Text style={{ fontSize: 19, color: '#0E3F8C', fontWeight: 'bold', textAlign: 'left', lineHeight: 1.5 }}&gt;阴性试验的现实&lt;/Text&gt;&#13;&#10;&lt;Text style={{ fontSize: 17, color: '#2C3E50', textAlign: 'left', lineHeight: 1.62 }}&gt;GRAVITAS：HPR 者高剂量氯吡格雷未降低 6 个月缺血事件（2.3% vs 2.3%，HR 1.01）；ANTARCTIC：老年 ACS 按监测调药未改善 12 个月缺血+出血复合终点（28% vs 28%）。监测导向策略未能转化为临床获益。&lt;/Text&gt;&#13;&#10;  &lt;/Box&gt;&#13;&#10;  &lt;Box style={{ position: 'absolute', left: 64, top: 252, width: 562, height: 128, background: '#F0F5FC', borderRadius: 12, border: '1px solid #E5E7EB', padding: 20 }}&gt;&#13;&#10;&lt;Text style={{ fontSize: 19, color: '#0E3F8C', fontWeight: 'bold', textAlign: 'left', lineHeight: 1.5 }}&gt;今天的定位&lt;/Text&gt;&#13;&#10;&lt;Text style={{ fontSize: 17, color: '#2C3E50', textAlign: 'left', lineHeight: 1.62 }}&gt;指南不推荐 PCI 后常规血小板功能监测调药；仍建议用于特定高危/复杂场景（疑似抵抗、高出血-缺血矛盾、桥接评估）与出血体质评估；解读需结合药物暴露时机与临床。&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测得准”不等于“调得对”：抗血小板监测的价值在风险分层与研究场景，而非常规处方导航。&lt;/Text&gt;&#13;&#10;  &lt;/Box&gt;&#13;&#10;&#13;&#10;  &lt;Box style={{ position: 'absolute', left: 64, top: 556, width: 1152, height: 92, background: '#F0F5FC', borderRadius: 12, border: '1px solid #E5E7EB', padding: 20 }}&gt;&#13;&#10;&lt;Text style={{ fontSize: 17, color: '#2C3E50', textAlign: 'left', lineHeight: 1.6 }}&gt;小结：JAMA 2011;305:1097-1105 (PMID 21406646)&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161" name=""/>
          <p:cNvSpPr/>
          <p:nvPr/>
        </p:nvSpPr>
        <p:spPr>
          <a:xfrm rot="0" flipH="0" flipV="0">
            <a:off x="0" y="0"/>
            <a:ext cx="12192000" cy="6858000"/>
          </a:xfrm>
          <a:prstGeom prst="rect">
            <a:avLst/>
          </a:prstGeom>
          <a:solidFill>
            <a:srgbClr val="FFFFFF"/>
          </a:solidFill>
          <a:ln/>
        </p:spPr>
        <p:txBody>
          <a:bodyPr/>
          <a:p/>
        </p:txBody>
      </p:sp>
      <p:sp>
        <p:nvSpPr>
          <p:cNvPr id="1162" name=""/>
          <p:cNvSpPr/>
          <p:nvPr/>
        </p:nvSpPr>
        <p:spPr>
          <a:xfrm rot="0" flipH="0" flipV="0">
            <a:off x="0" y="0"/>
            <a:ext cx="12192000" cy="685800"/>
          </a:xfrm>
          <a:prstGeom prst="rect">
            <a:avLst/>
          </a:prstGeom>
          <a:solidFill>
            <a:srgbClr val="0E3F8C"/>
          </a:solidFill>
          <a:ln/>
        </p:spPr>
        <p:txBody>
          <a:bodyPr/>
          <a:p/>
        </p:txBody>
      </p:sp>
      <p:sp>
        <p:nvSpPr>
          <p:cNvPr id="1163"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164" name=""/>
          <p:cNvSpPr/>
          <p:nvPr/>
        </p:nvSpPr>
        <p:spPr>
          <a:xfrm rot="0" flipH="0" flipV="0">
            <a:off x="3048000" y="209550"/>
            <a:ext cx="9525" cy="228600"/>
          </a:xfrm>
          <a:prstGeom prst="rect">
            <a:avLst/>
          </a:prstGeom>
          <a:solidFill>
            <a:srgbClr val="3D7BD9"/>
          </a:solidFill>
          <a:ln/>
        </p:spPr>
        <p:txBody>
          <a:bodyPr/>
          <a:p/>
        </p:txBody>
      </p:sp>
      <p:sp>
        <p:nvSpPr>
          <p:cNvPr id="1165" name="" descr="{&quot;isTemplate&quot;:true,&quot;type&quot;:&quot;text&quot;}"/>
          <p:cNvSpPr txBox="1"/>
          <p:nvPr/>
        </p:nvSpPr>
        <p:spPr>
          <a:xfrm rot="0" flipH="0" flipV="0">
            <a:off x="3209925" y="228600"/>
            <a:ext cx="3819525" cy="190500"/>
          </a:xfrm>
          <a:prstGeom prst="rect"/>
        </p:spPr>
        <p:txBody>
          <a:bodyPr wrap="none" lIns="0" tIns="0" rIns="0" bIns="0"/>
          <a:p>
            <a:pPr>
              <a:lnSpc>
                <a:spcPct val="100000"/>
              </a:lnSpc>
            </a:pPr>
            <a:r>
              <a:rPr lang="zh-CN" sz="1200">
                <a:solidFill>
                  <a:srgbClr val="C7D6EC"/>
                </a:solidFill>
                <a:latin typeface="Microsoft YaHei"/>
                <a:ea typeface="Microsoft YaHei"/>
              </a:rPr>
              <a:t>抗血小板治疗监测：</a:t>
            </a:r>
            <a:r>
              <a:rPr lang="en-US" sz="1200">
                <a:solidFill>
                  <a:srgbClr val="C7D6EC"/>
                </a:solidFill>
                <a:latin typeface="Microsoft YaHei"/>
                <a:ea typeface="Microsoft YaHei"/>
              </a:rPr>
              <a:t>GRAVITAS/ANTARCTIC </a:t>
            </a:r>
            <a:r>
              <a:rPr lang="zh-CN" sz="1200">
                <a:solidFill>
                  <a:srgbClr val="C7D6EC"/>
                </a:solidFill>
                <a:latin typeface="Microsoft YaHei"/>
                <a:ea typeface="Microsoft YaHei"/>
              </a:rPr>
              <a:t>后的冷思考</a:t>
            </a:r>
            <a:endParaRPr/>
          </a:p>
        </p:txBody>
      </p:sp>
      <p:sp>
        <p:nvSpPr>
          <p:cNvPr id="116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52 / 77</a:t>
            </a:r>
            <a:endParaRPr/>
          </a:p>
        </p:txBody>
      </p:sp>
      <p:sp>
        <p:nvSpPr>
          <p:cNvPr id="116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6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监测的依据</a:t>
            </a:r>
            <a:endParaRPr/>
          </a:p>
        </p:txBody>
      </p:sp>
      <p:sp>
        <p:nvSpPr>
          <p:cNvPr id="1169"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高残留血小板反应性（</a:t>
            </a:r>
            <a:r>
              <a:rPr lang="en-US" sz="1275">
                <a:solidFill>
                  <a:srgbClr val="2C3E50"/>
                </a:solidFill>
                <a:latin typeface="Microsoft YaHei"/>
                <a:ea typeface="Microsoft YaHei"/>
              </a:rPr>
              <a:t>HPR</a:t>
            </a:r>
            <a:r>
              <a:rPr lang="zh-CN" sz="1275">
                <a:solidFill>
                  <a:srgbClr val="2C3E50"/>
                </a:solidFill>
                <a:latin typeface="Microsoft YaHei"/>
                <a:ea typeface="Microsoft YaHei"/>
              </a:rPr>
              <a:t>，如</a:t>
            </a:r>
            <a:r>
              <a:rPr lang="en-US" sz="1275">
                <a:solidFill>
                  <a:srgbClr val="2C3E50"/>
                </a:solidFill>
                <a:latin typeface="Microsoft YaHei"/>
                <a:ea typeface="Microsoft YaHei"/>
              </a:rPr>
              <a:t> VerifyNow PRU </a:t>
            </a:r>
            <a:r>
              <a:rPr lang="zh-CN" sz="1275">
                <a:solidFill>
                  <a:srgbClr val="2C3E50"/>
                </a:solidFill>
                <a:latin typeface="Microsoft YaHei"/>
                <a:ea typeface="Microsoft YaHei"/>
              </a:rPr>
              <a:t>高值）与</a:t>
            </a:r>
            <a:r>
              <a:rPr lang="en-US" sz="1275">
                <a:solidFill>
                  <a:srgbClr val="2C3E50"/>
                </a:solidFill>
                <a:latin typeface="Microsoft YaHei"/>
                <a:ea typeface="Microsoft YaHei"/>
              </a:rPr>
              <a:t> PCI </a:t>
            </a:r>
            <a:r>
              <a:rPr lang="zh-CN" sz="1275">
                <a:solidFill>
                  <a:srgbClr val="2C3E50"/>
                </a:solidFill>
                <a:latin typeface="Microsoft YaHei"/>
                <a:ea typeface="Microsoft YaHei"/>
              </a:rPr>
              <a:t>后支架血栓相关；理论上按检测调整治疗可降低缺血——这是推动功能监测的原始动力。</a:t>
            </a:r>
            <a:endParaRPr/>
          </a:p>
        </p:txBody>
      </p:sp>
      <p:sp>
        <p:nvSpPr>
          <p:cNvPr id="117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7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阴性试验的现实</a:t>
            </a:r>
            <a:endParaRPr/>
          </a:p>
        </p:txBody>
      </p:sp>
      <p:sp>
        <p:nvSpPr>
          <p:cNvPr id="1172"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GRAVITAS</a:t>
            </a:r>
            <a:r>
              <a:rPr lang="zh-CN" sz="1275">
                <a:solidFill>
                  <a:srgbClr val="2C3E50"/>
                </a:solidFill>
                <a:latin typeface="Microsoft YaHei"/>
                <a:ea typeface="Microsoft YaHei"/>
              </a:rPr>
              <a:t>：</a:t>
            </a:r>
            <a:r>
              <a:rPr lang="en-US" sz="1275">
                <a:solidFill>
                  <a:srgbClr val="2C3E50"/>
                </a:solidFill>
                <a:latin typeface="Microsoft YaHei"/>
                <a:ea typeface="Microsoft YaHei"/>
              </a:rPr>
              <a:t>HPR </a:t>
            </a:r>
            <a:r>
              <a:rPr lang="zh-CN" sz="1275">
                <a:solidFill>
                  <a:srgbClr val="2C3E50"/>
                </a:solidFill>
                <a:latin typeface="Microsoft YaHei"/>
                <a:ea typeface="Microsoft YaHei"/>
              </a:rPr>
              <a:t>者高剂量氯吡格雷未降低</a:t>
            </a:r>
            <a:r>
              <a:rPr lang="en-US" sz="1275">
                <a:solidFill>
                  <a:srgbClr val="2C3E50"/>
                </a:solidFill>
                <a:latin typeface="Microsoft YaHei"/>
                <a:ea typeface="Microsoft YaHei"/>
              </a:rPr>
              <a:t> 6 </a:t>
            </a:r>
            <a:r>
              <a:rPr lang="zh-CN" sz="1275">
                <a:solidFill>
                  <a:srgbClr val="2C3E50"/>
                </a:solidFill>
                <a:latin typeface="Microsoft YaHei"/>
                <a:ea typeface="Microsoft YaHei"/>
              </a:rPr>
              <a:t>个月缺血事件（</a:t>
            </a:r>
            <a:r>
              <a:rPr lang="en-US" sz="1275">
                <a:solidFill>
                  <a:srgbClr val="2C3E50"/>
                </a:solidFill>
                <a:latin typeface="Microsoft YaHei"/>
                <a:ea typeface="Microsoft YaHei"/>
              </a:rPr>
              <a:t>2.3% vs 2.3%</a:t>
            </a:r>
            <a:r>
              <a:rPr lang="zh-CN" sz="1275">
                <a:solidFill>
                  <a:srgbClr val="2C3E50"/>
                </a:solidFill>
                <a:latin typeface="Microsoft YaHei"/>
                <a:ea typeface="Microsoft YaHei"/>
              </a:rPr>
              <a:t>，</a:t>
            </a:r>
            <a:r>
              <a:rPr lang="en-US" sz="1275">
                <a:solidFill>
                  <a:srgbClr val="2C3E50"/>
                </a:solidFill>
                <a:latin typeface="Microsoft YaHei"/>
                <a:ea typeface="Microsoft YaHei"/>
              </a:rPr>
              <a:t>HR 1.01</a:t>
            </a:r>
            <a:r>
              <a:rPr lang="zh-CN" sz="1275">
                <a:solidFill>
                  <a:srgbClr val="2C3E50"/>
                </a:solidFill>
                <a:latin typeface="Microsoft YaHei"/>
                <a:ea typeface="Microsoft YaHei"/>
              </a:rPr>
              <a:t>）；</a:t>
            </a:r>
            <a:r>
              <a:rPr lang="en-US" sz="1275">
                <a:solidFill>
                  <a:srgbClr val="2C3E50"/>
                </a:solidFill>
                <a:latin typeface="Microsoft YaHei"/>
                <a:ea typeface="Microsoft YaHei"/>
              </a:rPr>
              <a:t>ANTARCTIC</a:t>
            </a:r>
            <a:r>
              <a:rPr lang="zh-CN" sz="1275">
                <a:solidFill>
                  <a:srgbClr val="2C3E50"/>
                </a:solidFill>
                <a:latin typeface="Microsoft YaHei"/>
                <a:ea typeface="Microsoft YaHei"/>
              </a:rPr>
              <a:t>：老年</a:t>
            </a:r>
            <a:r>
              <a:rPr lang="en-US" sz="1275">
                <a:solidFill>
                  <a:srgbClr val="2C3E50"/>
                </a:solidFill>
                <a:latin typeface="Microsoft YaHei"/>
                <a:ea typeface="Microsoft YaHei"/>
              </a:rPr>
              <a:t> ACS </a:t>
            </a:r>
            <a:r>
              <a:rPr lang="zh-CN" sz="1275">
                <a:solidFill>
                  <a:srgbClr val="2C3E50"/>
                </a:solidFill>
                <a:latin typeface="Microsoft YaHei"/>
                <a:ea typeface="Microsoft YaHei"/>
              </a:rPr>
              <a:t>按监测调药未改善</a:t>
            </a:r>
            <a:r>
              <a:rPr lang="en-US" sz="1275">
                <a:solidFill>
                  <a:srgbClr val="2C3E50"/>
                </a:solidFill>
                <a:latin typeface="Microsoft YaHei"/>
                <a:ea typeface="Microsoft YaHei"/>
              </a:rPr>
              <a:t> 12 </a:t>
            </a:r>
            <a:r>
              <a:rPr lang="zh-CN" sz="1275">
                <a:solidFill>
                  <a:srgbClr val="2C3E50"/>
                </a:solidFill>
                <a:latin typeface="Microsoft YaHei"/>
                <a:ea typeface="Microsoft YaHei"/>
              </a:rPr>
              <a:t>个月缺血</a:t>
            </a:r>
            <a:r>
              <a:rPr lang="en-US" sz="1275">
                <a:solidFill>
                  <a:srgbClr val="2C3E50"/>
                </a:solidFill>
                <a:latin typeface="Microsoft YaHei"/>
                <a:ea typeface="Microsoft YaHei"/>
              </a:rPr>
              <a:t>+</a:t>
            </a:r>
            <a:r>
              <a:rPr lang="zh-CN" sz="1275">
                <a:solidFill>
                  <a:srgbClr val="2C3E50"/>
                </a:solidFill>
                <a:latin typeface="Microsoft YaHei"/>
                <a:ea typeface="Microsoft YaHei"/>
              </a:rPr>
              <a:t>出血复合终点（</a:t>
            </a:r>
            <a:r>
              <a:rPr lang="en-US" sz="1275">
                <a:solidFill>
                  <a:srgbClr val="2C3E50"/>
                </a:solidFill>
                <a:latin typeface="Microsoft YaHei"/>
                <a:ea typeface="Microsoft YaHei"/>
              </a:rPr>
              <a:t>28% vs 28%</a:t>
            </a:r>
            <a:r>
              <a:rPr lang="zh-CN" sz="1275">
                <a:solidFill>
                  <a:srgbClr val="2C3E50"/>
                </a:solidFill>
                <a:latin typeface="Microsoft YaHei"/>
                <a:ea typeface="Microsoft YaHei"/>
              </a:rPr>
              <a:t>）。监测导向策略未能转化为临床获益。</a:t>
            </a:r>
            <a:endParaRPr/>
          </a:p>
        </p:txBody>
      </p:sp>
      <p:sp>
        <p:nvSpPr>
          <p:cNvPr id="117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7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今天的定位</a:t>
            </a:r>
            <a:endParaRPr/>
          </a:p>
        </p:txBody>
      </p:sp>
      <p:sp>
        <p:nvSpPr>
          <p:cNvPr id="1175"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指南不推荐</a:t>
            </a:r>
            <a:r>
              <a:rPr lang="en-US" sz="1275">
                <a:solidFill>
                  <a:srgbClr val="2C3E50"/>
                </a:solidFill>
                <a:latin typeface="Microsoft YaHei"/>
                <a:ea typeface="Microsoft YaHei"/>
              </a:rPr>
              <a:t> PCI </a:t>
            </a:r>
            <a:r>
              <a:rPr lang="zh-CN" sz="1275">
                <a:solidFill>
                  <a:srgbClr val="2C3E50"/>
                </a:solidFill>
                <a:latin typeface="Microsoft YaHei"/>
                <a:ea typeface="Microsoft YaHei"/>
              </a:rPr>
              <a:t>后常规血小板功能监测调药；仍建议用于特定高危</a:t>
            </a:r>
            <a:r>
              <a:rPr lang="en-US" sz="1275">
                <a:solidFill>
                  <a:srgbClr val="2C3E50"/>
                </a:solidFill>
                <a:latin typeface="Microsoft YaHei"/>
                <a:ea typeface="Microsoft YaHei"/>
              </a:rPr>
              <a:t>/</a:t>
            </a:r>
            <a:r>
              <a:rPr lang="zh-CN" sz="1275">
                <a:solidFill>
                  <a:srgbClr val="2C3E50"/>
                </a:solidFill>
                <a:latin typeface="Microsoft YaHei"/>
                <a:ea typeface="Microsoft YaHei"/>
              </a:rPr>
              <a:t>复杂场景（疑似抵抗、高出血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缺血矛盾、桥接评估）与出血体质评估；解读需结合药物暴露时机与临床。</a:t>
            </a:r>
            <a:endParaRPr/>
          </a:p>
        </p:txBody>
      </p:sp>
      <p:sp>
        <p:nvSpPr>
          <p:cNvPr id="117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7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178"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17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80"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“测得准”不等于“调得对”：抗血小板监测的价值在风险分层与研究场景，而非常规处方导航。</a:t>
            </a:r>
            <a:endParaRPr/>
          </a:p>
        </p:txBody>
      </p:sp>
      <p:sp>
        <p:nvSpPr>
          <p:cNvPr id="1181"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182"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JAMA 2011;305:1097-1105 (PMID 21406646)</a:t>
            </a:r>
            <a:endParaRPr/>
          </a:p>
        </p:txBody>
      </p:sp>
      <p:sp>
        <p:nvSpPr>
          <p:cNvPr id="1183" name=""/>
          <p:cNvSpPr/>
          <p:nvPr/>
        </p:nvSpPr>
        <p:spPr>
          <a:xfrm rot="0" flipH="0" flipV="0">
            <a:off x="0" y="6324600"/>
            <a:ext cx="12192000" cy="342900"/>
          </a:xfrm>
          <a:prstGeom prst="rect">
            <a:avLst/>
          </a:prstGeom>
          <a:solidFill>
            <a:srgbClr val="F7F9FC"/>
          </a:solidFill>
          <a:ln/>
        </p:spPr>
        <p:txBody>
          <a:bodyPr/>
          <a:p/>
        </p:txBody>
      </p:sp>
      <p:sp>
        <p:nvSpPr>
          <p:cNvPr id="1184"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185"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3.xml><?xml version="1.0" encoding="utf-8"?>
<p:sld xmlns:p="http://schemas.openxmlformats.org/presentationml/2006/main" xmlns:a="http://schemas.openxmlformats.org/drawingml/2006/main">
  <p:cSld>
    <p:spTree>
      <p:nvGrpSpPr>
        <p:cNvPr id="1186" name="" descr="&lt;Slide notes={`演讲者备注：【NURDEN-GT】Glanzmann 血小板无力症（αIIbβ3 缺陷）研究十年进展：出血管理、血小板输注与抗 αIIbβ3 抗体、rFVIIa 等策略不断演进。证据：Semin Thromb Hemost 2025;51:196-208，PMID 38499192。&#13;&#10;【NURDEN-INHERIT】遗传性血小板病涵盖受体（αIIbβ3、GPIb-IX-V）、颗粒、信号与细胞骨架缺陷，表型从轻度出血到重度黏膜皮肤出血谱系广泛，诊断需表型与功能/分子整合。证据：Haemophilia 2012;18 Suppl 4:154-160，PMID 22726100。&#13;&#10;【FLOW-ISTH】ISTH SSC 共识：流式细胞术可用于遗传性与获得性血小板数量/功能疾病评估，推荐作为先天性血小板病的补充诊断平台。证据：J Thromb Haemost 2021;19:3193-3202，PMID 34580997。&#13;&#10;讲解提示：展示鉴别表——BSS（巨血小板+减少+ristocetin 不聚集可被正常血浆纠正）vs GT（血小板数正常+各诱导剂不聚集）vs vWD（血浆因子问题）；强调家族史与幼年起病是“遗传线索”。`}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先天性血小板病：GT/BSS/颗粒病与分子时代&lt;/Text&gt;&#13;&#10;    &lt;/Box&gt;&#13;&#10;    &lt;Text style={{ position: 'absolute', right: 64, top: 24, fontSize: 15, color: '#9DB8E0' }}&gt;53 / 77&lt;/Text&gt;&#13;&#10;  &lt;/Box&gt;&#13;&#10;  &lt;Box style={{ position: 'absolute', left: 64, top: 96, width: 562, height: 128, background: '#F0F5FC', borderRadius: 12, border: '1px solid #E5E7EB', padding: 20 }}&gt;&#13;&#10;&lt;Text style={{ fontSize: 19, color: '#0E3F8C', fontWeight: 'bold', textAlign: 'left', lineHeight: 1.5 }}&gt;表型谱&lt;/Text&gt;&#13;&#10;&lt;Text style={{ fontSize: 17, color: '#2C3E50', textAlign: 'left', lineHeight: 1.62 }}&gt;遗传性血小板病按缺陷分类：黏附受体（BSS：GPIb-IX-V，巨血小板+减少）、聚集受体（Glanzmann 血小板无力症：αIIbβ3，聚集消失）、颗粒（δ/α-SPD）、信号与细胞骨架缺陷；共同特征为早发黏膜皮肤出血。&lt;/Text&gt;&#13;&#10;  &lt;/Box&gt;&#13;&#10;  &lt;Box style={{ position: 'absolute', left: 654, top: 96, width: 562, height: 128, background: '#F0F5FC', borderRadius: 12, border: '1px solid #E5E7EB', padding: 20 }}&gt;&#13;&#10;&lt;Text style={{ fontSize: 19, color: '#0E3F8C', fontWeight: 'bold', textAlign: 'left', lineHeight: 1.5 }}&gt;诊断路径&lt;/Text&gt;&#13;&#10;&lt;Text style={{ fontSize: 17, color: '#2C3E50', textAlign: 'left', lineHeight: 1.62 }}&gt;病史（出血问卷+家族史）→ CBC/涂片（巨血小板提示 BSS）→ 功能试验（LTA 各诱导剂“指纹”）→ 流式膜糖蛋白定量 → 基因 panel 确认；ISTH SSC 推荐流式与测序互补。&lt;/Text&gt;&#13;&#10;  &lt;/Box&gt;&#13;&#10;  &lt;Box style={{ position: 'absolute', left: 64, top: 252, width: 562, height: 128, background: '#F0F5FC', borderRadius: 12, border: '1px solid #E5E7EB', padding: 20 }}&gt;&#13;&#10;&lt;Text style={{ fontSize: 19, color: '#0E3F8C', fontWeight: 'bold', textAlign: 'left', lineHeight: 1.5 }}&gt;处理要点&lt;/Text&gt;&#13;&#10;&lt;Text style={{ fontSize: 17, color: '#2C3E50', textAlign: 'left', lineHeight: 1.62 }}&gt;止血优先于“升板”：抗纤溶、去氨加压素（部分有效）、局部处理；出血/手术时输注 HLA 配合血小板或 rFVIIa（尤其伴抗 αIIbβ3 抗体的 GT）；避免阿司匹林等抗血小板药。&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先天缺陷的诊断依赖“功能指纹+流式+基因”三件套，治疗核心是“不出血”，而非单纯计数。&lt;/Text&gt;&#13;&#10;  &lt;/Box&gt;&#13;&#10;&#13;&#10;  &lt;Box style={{ position: 'absolute', left: 64, top: 556, width: 1152, height: 92, background: '#F0F5FC', borderRadius: 12, border: '1px solid #E5E7EB', padding: 20 }}&gt;&#13;&#10;&lt;Text style={{ fontSize: 17, color: '#2C3E50', textAlign: 'left', lineHeight: 1.6 }}&gt;小结：Semin Thromb Hemost 2025;51:196-208 (PMID 3849919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187" name=""/>
          <p:cNvSpPr/>
          <p:nvPr/>
        </p:nvSpPr>
        <p:spPr>
          <a:xfrm rot="0" flipH="0" flipV="0">
            <a:off x="0" y="0"/>
            <a:ext cx="12192000" cy="6858000"/>
          </a:xfrm>
          <a:prstGeom prst="rect">
            <a:avLst/>
          </a:prstGeom>
          <a:solidFill>
            <a:srgbClr val="FFFFFF"/>
          </a:solidFill>
          <a:ln/>
        </p:spPr>
        <p:txBody>
          <a:bodyPr/>
          <a:p/>
        </p:txBody>
      </p:sp>
      <p:sp>
        <p:nvSpPr>
          <p:cNvPr id="1188" name=""/>
          <p:cNvSpPr/>
          <p:nvPr/>
        </p:nvSpPr>
        <p:spPr>
          <a:xfrm rot="0" flipH="0" flipV="0">
            <a:off x="0" y="0"/>
            <a:ext cx="12192000" cy="685800"/>
          </a:xfrm>
          <a:prstGeom prst="rect">
            <a:avLst/>
          </a:prstGeom>
          <a:solidFill>
            <a:srgbClr val="0E3F8C"/>
          </a:solidFill>
          <a:ln/>
        </p:spPr>
        <p:txBody>
          <a:bodyPr/>
          <a:p/>
        </p:txBody>
      </p:sp>
      <p:sp>
        <p:nvSpPr>
          <p:cNvPr id="1189"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190" name=""/>
          <p:cNvSpPr/>
          <p:nvPr/>
        </p:nvSpPr>
        <p:spPr>
          <a:xfrm rot="0" flipH="0" flipV="0">
            <a:off x="3048000" y="209550"/>
            <a:ext cx="9525" cy="228600"/>
          </a:xfrm>
          <a:prstGeom prst="rect">
            <a:avLst/>
          </a:prstGeom>
          <a:solidFill>
            <a:srgbClr val="3D7BD9"/>
          </a:solidFill>
          <a:ln/>
        </p:spPr>
        <p:txBody>
          <a:bodyPr/>
          <a:p/>
        </p:txBody>
      </p:sp>
      <p:sp>
        <p:nvSpPr>
          <p:cNvPr id="1191" name="" descr="{&quot;isTemplate&quot;:true,&quot;type&quot;:&quot;text&quot;}"/>
          <p:cNvSpPr txBox="1"/>
          <p:nvPr/>
        </p:nvSpPr>
        <p:spPr>
          <a:xfrm rot="0" flipH="0" flipV="0">
            <a:off x="3209925" y="228600"/>
            <a:ext cx="3038475" cy="190500"/>
          </a:xfrm>
          <a:prstGeom prst="rect"/>
        </p:spPr>
        <p:txBody>
          <a:bodyPr wrap="none" lIns="0" tIns="0" rIns="0" bIns="0"/>
          <a:p>
            <a:pPr>
              <a:lnSpc>
                <a:spcPct val="100000"/>
              </a:lnSpc>
            </a:pPr>
            <a:r>
              <a:rPr lang="zh-CN" sz="1200">
                <a:solidFill>
                  <a:srgbClr val="C7D6EC"/>
                </a:solidFill>
                <a:latin typeface="Microsoft YaHei"/>
                <a:ea typeface="Microsoft YaHei"/>
              </a:rPr>
              <a:t>先天性血小板病：</a:t>
            </a:r>
            <a:r>
              <a:rPr lang="en-US" sz="1200">
                <a:solidFill>
                  <a:srgbClr val="C7D6EC"/>
                </a:solidFill>
                <a:latin typeface="Microsoft YaHei"/>
                <a:ea typeface="Microsoft YaHei"/>
              </a:rPr>
              <a:t>GT/BSS/</a:t>
            </a:r>
            <a:r>
              <a:rPr lang="zh-CN" sz="1200">
                <a:solidFill>
                  <a:srgbClr val="C7D6EC"/>
                </a:solidFill>
                <a:latin typeface="Microsoft YaHei"/>
                <a:ea typeface="Microsoft YaHei"/>
              </a:rPr>
              <a:t>颗粒病与分子时代</a:t>
            </a:r>
            <a:endParaRPr/>
          </a:p>
        </p:txBody>
      </p:sp>
      <p:sp>
        <p:nvSpPr>
          <p:cNvPr id="119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53 / 77</a:t>
            </a:r>
            <a:endParaRPr/>
          </a:p>
        </p:txBody>
      </p:sp>
      <p:sp>
        <p:nvSpPr>
          <p:cNvPr id="1193"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94"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表型谱</a:t>
            </a:r>
            <a:endParaRPr/>
          </a:p>
        </p:txBody>
      </p:sp>
      <p:sp>
        <p:nvSpPr>
          <p:cNvPr id="1195" name="" descr="{&quot;isTemplate&quot;:true,&quot;type&quot;:&quot;text&quot;}"/>
          <p:cNvSpPr txBox="1"/>
          <p:nvPr/>
        </p:nvSpPr>
        <p:spPr>
          <a:xfrm rot="0" flipH="0" flipV="0">
            <a:off x="800100" y="14382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遗传性血小板病按缺陷分类：黏附受体（</a:t>
            </a:r>
            <a:r>
              <a:rPr lang="en-US" sz="1275">
                <a:solidFill>
                  <a:srgbClr val="2C3E50"/>
                </a:solidFill>
                <a:latin typeface="Microsoft YaHei"/>
                <a:ea typeface="Microsoft YaHei"/>
              </a:rPr>
              <a:t>BSS</a:t>
            </a:r>
            <a:r>
              <a:rPr lang="zh-CN" sz="1275">
                <a:solidFill>
                  <a:srgbClr val="2C3E50"/>
                </a:solidFill>
                <a:latin typeface="Microsoft YaHei"/>
                <a:ea typeface="Microsoft YaHei"/>
              </a:rPr>
              <a:t>：</a:t>
            </a:r>
            <a:r>
              <a:rPr lang="en-US" sz="1275">
                <a:solidFill>
                  <a:srgbClr val="2C3E50"/>
                </a:solidFill>
                <a:latin typeface="Microsoft YaHei"/>
                <a:ea typeface="Microsoft YaHei"/>
              </a:rPr>
              <a:t>GPIb-IX-V</a:t>
            </a:r>
            <a:r>
              <a:rPr lang="zh-CN" sz="1275">
                <a:solidFill>
                  <a:srgbClr val="2C3E50"/>
                </a:solidFill>
                <a:latin typeface="Microsoft YaHei"/>
                <a:ea typeface="Microsoft YaHei"/>
              </a:rPr>
              <a:t>，巨血小板</a:t>
            </a:r>
            <a:r>
              <a:rPr lang="en-US" sz="1275">
                <a:solidFill>
                  <a:srgbClr val="2C3E50"/>
                </a:solidFill>
                <a:latin typeface="Microsoft YaHei"/>
                <a:ea typeface="Microsoft YaHei"/>
              </a:rPr>
              <a:t>+</a:t>
            </a:r>
            <a:r>
              <a:rPr lang="zh-CN" sz="1275">
                <a:solidFill>
                  <a:srgbClr val="2C3E50"/>
                </a:solidFill>
                <a:latin typeface="Microsoft YaHei"/>
                <a:ea typeface="Microsoft YaHei"/>
              </a:rPr>
              <a:t>减少）、聚集受体（</a:t>
            </a:r>
            <a:r>
              <a:rPr lang="en-US" sz="1275">
                <a:solidFill>
                  <a:srgbClr val="2C3E50"/>
                </a:solidFill>
                <a:latin typeface="Microsoft YaHei"/>
                <a:ea typeface="Microsoft YaHei"/>
              </a:rPr>
              <a:t>Glanzmann </a:t>
            </a:r>
            <a:r>
              <a:rPr lang="zh-CN" sz="1275">
                <a:solidFill>
                  <a:srgbClr val="2C3E50"/>
                </a:solidFill>
                <a:latin typeface="Microsoft YaHei"/>
                <a:ea typeface="Microsoft YaHei"/>
              </a:rPr>
              <a:t>血小板无力症：α</a:t>
            </a:r>
            <a:r>
              <a:rPr lang="en-US" sz="1275">
                <a:solidFill>
                  <a:srgbClr val="2C3E50"/>
                </a:solidFill>
                <a:latin typeface="Microsoft YaHei"/>
                <a:ea typeface="Microsoft YaHei"/>
              </a:rPr>
              <a:t>IIbβ3</a:t>
            </a:r>
            <a:r>
              <a:rPr lang="zh-CN" sz="1275">
                <a:solidFill>
                  <a:srgbClr val="2C3E50"/>
                </a:solidFill>
                <a:latin typeface="Microsoft YaHei"/>
                <a:ea typeface="Microsoft YaHei"/>
              </a:rPr>
              <a:t>，聚集消失）、颗粒（δ</a:t>
            </a:r>
            <a:r>
              <a:rPr lang="en-US" sz="1275">
                <a:solidFill>
                  <a:srgbClr val="2C3E50"/>
                </a:solidFill>
                <a:latin typeface="Microsoft YaHei"/>
                <a:ea typeface="Microsoft YaHei"/>
              </a:rPr>
              <a:t>/α-SPD</a:t>
            </a:r>
            <a:r>
              <a:rPr lang="zh-CN" sz="1275">
                <a:solidFill>
                  <a:srgbClr val="2C3E50"/>
                </a:solidFill>
                <a:latin typeface="Microsoft YaHei"/>
                <a:ea typeface="Microsoft YaHei"/>
              </a:rPr>
              <a:t>）、信号与细胞骨架缺陷；共同特征为早发黏膜皮肤出血。</a:t>
            </a:r>
            <a:endParaRPr/>
          </a:p>
        </p:txBody>
      </p:sp>
      <p:sp>
        <p:nvSpPr>
          <p:cNvPr id="1196"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197"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诊断路径</a:t>
            </a:r>
            <a:endParaRPr/>
          </a:p>
        </p:txBody>
      </p:sp>
      <p:sp>
        <p:nvSpPr>
          <p:cNvPr id="1198"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病史（出血问卷</a:t>
            </a:r>
            <a:r>
              <a:rPr lang="en-US" sz="1275">
                <a:solidFill>
                  <a:srgbClr val="2C3E50"/>
                </a:solidFill>
                <a:latin typeface="Microsoft YaHei"/>
                <a:ea typeface="Microsoft YaHei"/>
              </a:rPr>
              <a:t>+</a:t>
            </a:r>
            <a:r>
              <a:rPr lang="zh-CN" sz="1275">
                <a:solidFill>
                  <a:srgbClr val="2C3E50"/>
                </a:solidFill>
                <a:latin typeface="Microsoft YaHei"/>
                <a:ea typeface="Microsoft YaHei"/>
              </a:rPr>
              <a:t>家族史）→</a:t>
            </a:r>
            <a:r>
              <a:rPr lang="en-US" sz="1275">
                <a:solidFill>
                  <a:srgbClr val="2C3E50"/>
                </a:solidFill>
                <a:latin typeface="Microsoft YaHei"/>
                <a:ea typeface="Microsoft YaHei"/>
              </a:rPr>
              <a:t> CBC/</a:t>
            </a:r>
            <a:r>
              <a:rPr lang="zh-CN" sz="1275">
                <a:solidFill>
                  <a:srgbClr val="2C3E50"/>
                </a:solidFill>
                <a:latin typeface="Microsoft YaHei"/>
                <a:ea typeface="Microsoft YaHei"/>
              </a:rPr>
              <a:t>涂片（巨血小板提示</a:t>
            </a:r>
            <a:r>
              <a:rPr lang="en-US" sz="1275">
                <a:solidFill>
                  <a:srgbClr val="2C3E50"/>
                </a:solidFill>
                <a:latin typeface="Microsoft YaHei"/>
                <a:ea typeface="Microsoft YaHei"/>
              </a:rPr>
              <a:t> BSS</a:t>
            </a:r>
            <a:r>
              <a:rPr lang="zh-CN" sz="1275">
                <a:solidFill>
                  <a:srgbClr val="2C3E50"/>
                </a:solidFill>
                <a:latin typeface="Microsoft YaHei"/>
                <a:ea typeface="Microsoft YaHei"/>
              </a:rPr>
              <a:t>）→</a:t>
            </a:r>
            <a:r>
              <a:rPr lang="en-US" sz="1275">
                <a:solidFill>
                  <a:srgbClr val="2C3E50"/>
                </a:solidFill>
                <a:latin typeface="Microsoft YaHei"/>
                <a:ea typeface="Microsoft YaHei"/>
              </a:rPr>
              <a:t> </a:t>
            </a:r>
            <a:r>
              <a:rPr lang="zh-CN" sz="1275">
                <a:solidFill>
                  <a:srgbClr val="2C3E50"/>
                </a:solidFill>
                <a:latin typeface="Microsoft YaHei"/>
                <a:ea typeface="Microsoft YaHei"/>
              </a:rPr>
              <a:t>功能试验（</a:t>
            </a:r>
            <a:r>
              <a:rPr lang="en-US" sz="1275">
                <a:solidFill>
                  <a:srgbClr val="2C3E50"/>
                </a:solidFill>
                <a:latin typeface="Microsoft YaHei"/>
                <a:ea typeface="Microsoft YaHei"/>
              </a:rPr>
              <a:t>LTA </a:t>
            </a:r>
            <a:r>
              <a:rPr lang="zh-CN" sz="1275">
                <a:solidFill>
                  <a:srgbClr val="2C3E50"/>
                </a:solidFill>
                <a:latin typeface="Microsoft YaHei"/>
                <a:ea typeface="Microsoft YaHei"/>
              </a:rPr>
              <a:t>各诱导剂“指纹”）→</a:t>
            </a:r>
            <a:r>
              <a:rPr lang="en-US" sz="1275">
                <a:solidFill>
                  <a:srgbClr val="2C3E50"/>
                </a:solidFill>
                <a:latin typeface="Microsoft YaHei"/>
                <a:ea typeface="Microsoft YaHei"/>
              </a:rPr>
              <a:t> </a:t>
            </a:r>
            <a:r>
              <a:rPr lang="zh-CN" sz="1275">
                <a:solidFill>
                  <a:srgbClr val="2C3E50"/>
                </a:solidFill>
                <a:latin typeface="Microsoft YaHei"/>
                <a:ea typeface="Microsoft YaHei"/>
              </a:rPr>
              <a:t>流式膜糖蛋白定量</a:t>
            </a:r>
            <a:r>
              <a:rPr lang="en-US" sz="1275">
                <a:solidFill>
                  <a:srgbClr val="2C3E50"/>
                </a:solidFill>
                <a:latin typeface="Microsoft YaHei"/>
                <a:ea typeface="Microsoft YaHei"/>
              </a:rPr>
              <a:t> → </a:t>
            </a:r>
            <a:r>
              <a:rPr lang="zh-CN" sz="1275">
                <a:solidFill>
                  <a:srgbClr val="2C3E50"/>
                </a:solidFill>
                <a:latin typeface="Microsoft YaHei"/>
                <a:ea typeface="Microsoft YaHei"/>
              </a:rPr>
              <a:t>基因</a:t>
            </a:r>
            <a:r>
              <a:rPr lang="en-US" sz="1275">
                <a:solidFill>
                  <a:srgbClr val="2C3E50"/>
                </a:solidFill>
                <a:latin typeface="Microsoft YaHei"/>
                <a:ea typeface="Microsoft YaHei"/>
              </a:rPr>
              <a:t> panel </a:t>
            </a:r>
            <a:r>
              <a:rPr lang="zh-CN" sz="1275">
                <a:solidFill>
                  <a:srgbClr val="2C3E50"/>
                </a:solidFill>
                <a:latin typeface="Microsoft YaHei"/>
                <a:ea typeface="Microsoft YaHei"/>
              </a:rPr>
              <a:t>确认；</a:t>
            </a:r>
            <a:r>
              <a:rPr lang="en-US" sz="1275">
                <a:solidFill>
                  <a:srgbClr val="2C3E50"/>
                </a:solidFill>
                <a:latin typeface="Microsoft YaHei"/>
                <a:ea typeface="Microsoft YaHei"/>
              </a:rPr>
              <a:t>ISTH SSC </a:t>
            </a:r>
            <a:r>
              <a:rPr lang="zh-CN" sz="1275">
                <a:solidFill>
                  <a:srgbClr val="2C3E50"/>
                </a:solidFill>
                <a:latin typeface="Microsoft YaHei"/>
                <a:ea typeface="Microsoft YaHei"/>
              </a:rPr>
              <a:t>推荐流式与测序互补。</a:t>
            </a:r>
            <a:endParaRPr/>
          </a:p>
        </p:txBody>
      </p:sp>
      <p:sp>
        <p:nvSpPr>
          <p:cNvPr id="1199"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00"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处理要点</a:t>
            </a:r>
            <a:endParaRPr/>
          </a:p>
        </p:txBody>
      </p:sp>
      <p:sp>
        <p:nvSpPr>
          <p:cNvPr id="1201"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止血优先于“升板”：抗纤溶、去氨加压素（部分有效）、局部处理；出血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手术时输注</a:t>
            </a:r>
            <a:r>
              <a:rPr lang="en-US" sz="1275">
                <a:solidFill>
                  <a:srgbClr val="2C3E50"/>
                </a:solidFill>
                <a:latin typeface="Microsoft YaHei"/>
                <a:ea typeface="Microsoft YaHei"/>
              </a:rPr>
              <a:t> HLA </a:t>
            </a:r>
            <a:r>
              <a:rPr lang="zh-CN" sz="1275">
                <a:solidFill>
                  <a:srgbClr val="2C3E50"/>
                </a:solidFill>
                <a:latin typeface="Microsoft YaHei"/>
                <a:ea typeface="Microsoft YaHei"/>
              </a:rPr>
              <a:t>配合血小板或</a:t>
            </a:r>
            <a:r>
              <a:rPr lang="en-US" sz="1275">
                <a:solidFill>
                  <a:srgbClr val="2C3E50"/>
                </a:solidFill>
                <a:latin typeface="Microsoft YaHei"/>
                <a:ea typeface="Microsoft YaHei"/>
              </a:rPr>
              <a:t> rFVIIa</a:t>
            </a:r>
            <a:r>
              <a:rPr lang="zh-CN" sz="1275">
                <a:solidFill>
                  <a:srgbClr val="2C3E50"/>
                </a:solidFill>
                <a:latin typeface="Microsoft YaHei"/>
                <a:ea typeface="Microsoft YaHei"/>
              </a:rPr>
              <a:t>（尤其伴抗</a:t>
            </a:r>
            <a:r>
              <a:rPr lang="en-US" sz="1275">
                <a:solidFill>
                  <a:srgbClr val="2C3E50"/>
                </a:solidFill>
                <a:latin typeface="Microsoft YaHei"/>
                <a:ea typeface="Microsoft YaHei"/>
              </a:rPr>
              <a:t> αIIbβ3 </a:t>
            </a:r>
            <a:r>
              <a:rPr lang="zh-CN" sz="1275">
                <a:solidFill>
                  <a:srgbClr val="2C3E50"/>
                </a:solidFill>
                <a:latin typeface="Microsoft YaHei"/>
                <a:ea typeface="Microsoft YaHei"/>
              </a:rPr>
              <a:t>抗体的</a:t>
            </a:r>
            <a:r>
              <a:rPr lang="en-US" sz="1275">
                <a:solidFill>
                  <a:srgbClr val="2C3E50"/>
                </a:solidFill>
                <a:latin typeface="Microsoft YaHei"/>
                <a:ea typeface="Microsoft YaHei"/>
              </a:rPr>
              <a:t> GT</a:t>
            </a:r>
            <a:r>
              <a:rPr lang="zh-CN" sz="1275">
                <a:solidFill>
                  <a:srgbClr val="2C3E50"/>
                </a:solidFill>
                <a:latin typeface="Microsoft YaHei"/>
                <a:ea typeface="Microsoft YaHei"/>
              </a:rPr>
              <a:t>）；避免阿司匹林等抗血小板药。</a:t>
            </a:r>
            <a:endParaRPr/>
          </a:p>
        </p:txBody>
      </p:sp>
      <p:sp>
        <p:nvSpPr>
          <p:cNvPr id="1202"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03"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204"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205"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06"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先天缺陷的诊断依赖“功能指纹</a:t>
            </a:r>
            <a:r>
              <a:rPr lang="en-US" sz="1275">
                <a:solidFill>
                  <a:srgbClr val="2C3E50"/>
                </a:solidFill>
                <a:latin typeface="Microsoft YaHei"/>
                <a:ea typeface="Microsoft YaHei"/>
              </a:rPr>
              <a:t>+</a:t>
            </a:r>
            <a:r>
              <a:rPr lang="zh-CN" sz="1275">
                <a:solidFill>
                  <a:srgbClr val="2C3E50"/>
                </a:solidFill>
                <a:latin typeface="Microsoft YaHei"/>
                <a:ea typeface="Microsoft YaHei"/>
              </a:rPr>
              <a:t>流式</a:t>
            </a:r>
            <a:r>
              <a:rPr lang="en-US" sz="1275">
                <a:solidFill>
                  <a:srgbClr val="2C3E50"/>
                </a:solidFill>
                <a:latin typeface="Microsoft YaHei"/>
                <a:ea typeface="Microsoft YaHei"/>
              </a:rPr>
              <a:t>+</a:t>
            </a:r>
            <a:r>
              <a:rPr lang="zh-CN" sz="1275">
                <a:solidFill>
                  <a:srgbClr val="2C3E50"/>
                </a:solidFill>
                <a:latin typeface="Microsoft YaHei"/>
                <a:ea typeface="Microsoft YaHei"/>
              </a:rPr>
              <a:t>基因”三件套，治疗核心是“不出血”，而非单纯计数。</a:t>
            </a:r>
            <a:endParaRPr/>
          </a:p>
        </p:txBody>
      </p:sp>
      <p:sp>
        <p:nvSpPr>
          <p:cNvPr id="120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20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2025;51:196-208 (PMID 38499192)</a:t>
            </a:r>
            <a:endParaRPr/>
          </a:p>
        </p:txBody>
      </p:sp>
      <p:sp>
        <p:nvSpPr>
          <p:cNvPr id="1209" name=""/>
          <p:cNvSpPr/>
          <p:nvPr/>
        </p:nvSpPr>
        <p:spPr>
          <a:xfrm rot="0" flipH="0" flipV="0">
            <a:off x="0" y="6324600"/>
            <a:ext cx="12192000" cy="342900"/>
          </a:xfrm>
          <a:prstGeom prst="rect">
            <a:avLst/>
          </a:prstGeom>
          <a:solidFill>
            <a:srgbClr val="F7F9FC"/>
          </a:solidFill>
          <a:ln/>
        </p:spPr>
        <p:txBody>
          <a:bodyPr/>
          <a:p/>
        </p:txBody>
      </p:sp>
      <p:sp>
        <p:nvSpPr>
          <p:cNvPr id="121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21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4.xml><?xml version="1.0" encoding="utf-8"?>
<p:sld xmlns:p="http://schemas.openxmlformats.org/presentationml/2006/main" xmlns:a="http://schemas.openxmlformats.org/drawingml/2006/main">
  <p:cSld>
    <p:spTree>
      <p:nvGrpSpPr>
        <p:cNvPr id="1212" name="" descr="&lt;Slide notes={`演讲者备注：【KAUFMAN-AABB】AABB 血小板输注指南：病情稳定成人（低增生性血小板减少）预防性输注阈值为 10×10^9/L；有创操作、活动出血等场景阈值分层升高。证据：Ann Intern Med 2015;162:205-213，PMID 25383671。&#13;&#10;【STANWORTH-TOPPS】TOPPS：血液系统肿瘤化疗后不预防性输注血小板未达非劣效（出血显著增多），支持重度低增生性血小板减少仍应预防性输注。证据：N Engl J Med 2013;368:1771-1780，PMID 23656642。&#13;&#10;讲解提示：给出 PTR 计算简式与判读：输注后 1h CCI &lt;7.5 或 24h &lt;4.5 提示无效；按“患者因素→免疫因素→血小板质量”三步归因；呼应第十一章案例中输注管理的细节。`}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八章 特殊人群与围术期场景&lt;/Text&gt;&#13;&#10;      &lt;Box style={{ width: 1, height: 24, background: '#3D7BD9' }} /&gt;&#13;&#10;      &lt;Text style={{ fontSize: 16, color: '#C7D6EC' }}&gt;血小板输注实践：阈值之外的有效性管理&lt;/Text&gt;&#13;&#10;    &lt;/Box&gt;&#13;&#10;    &lt;Text style={{ position: 'absolute', right: 64, top: 24, fontSize: 15, color: '#9DB8E0' }}&gt;54 / 77&lt;/Text&gt;&#13;&#10;  &lt;/Box&gt;&#13;&#10;  &lt;Box style={{ position: 'absolute', left: 64, top: 96, width: 562, height: 128, background: '#F0F5FC', borderRadius: 12, border: '1px solid #E5E7EB', padding: 20 }}&gt;&#13;&#10;&lt;Text style={{ fontSize: 19, color: '#0E3F8C', fontWeight: 'bold', textAlign: 'left', lineHeight: 1.5 }}&gt;输注无效（PTR）&lt;/Text&gt;&#13;&#10;&lt;Text style={{ fontSize: 17, color: '#2C3E50', textAlign: 'left', lineHeight: 1.62 }}&gt;输注后 1 小时 CCI/PTR 改善不佳提示免疫性无效（HLA/HPA 抗体、ITP、DIC、发热感染、脾大）；需评估“1h 与 24h”双时间点，区分消耗过快与免疫清除。&lt;/Text&gt;&#13;&#10;  &lt;/Box&gt;&#13;&#10;  &lt;Box style={{ position: 'absolute', left: 654, top: 96, width: 562, height: 128, background: '#F0F5FC', borderRadius: 12, border: '1px solid #E5E7EB', padding: 20 }}&gt;&#13;&#10;&lt;Text style={{ fontSize: 19, color: '#0E3F8C', fontWeight: 'bold', textAlign: 'left', lineHeight: 1.5 }}&gt;应对策略&lt;/Text&gt;&#13;&#10;&lt;Text style={{ fontSize: 17, color: '#2C3E50', textAlign: 'left', lineHeight: 1.62 }}&gt;免疫性无效：HLA 配合/交叉配型血小板、避免非必要输注以减少同种免疫；消耗性无效：处理 DIC/脓毒症/脾大等原发病；血小板输注前避免同时给两性霉素等破坏性药物。&lt;/Text&gt;&#13;&#10;  &lt;/Box&gt;&#13;&#10;  &lt;Box style={{ position: 'absolute', left: 64, top: 252, width: 562, height: 128, background: '#F0F5FC', borderRadius: 12, border: '1px solid #E5E7EB', padding: 20 }}&gt;&#13;&#10;&lt;Text style={{ fontSize: 19, color: '#0E3F8C', fontWeight: 'bold', textAlign: 'left', lineHeight: 1.5 }}&gt;质量与剂量&lt;/Text&gt;&#13;&#10;&lt;Text style={{ fontSize: 17, color: '#2C3E50', textAlign: 'left', lineHeight: 1.62 }}&gt;预防性输注以单采 1 单位为宜（更高剂量不增效、半量等效）；关注保存时间（储存损伤）与 ABO 相容性；对育龄女性应尽量 Rh 阴性/预防抗-D 以减少同种免疫负担。&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输注质量与“阈值”同等重要：无效输注的评估应从“输了没升”追到“为什么没升”。&lt;/Text&gt;&#13;&#10;  &lt;/Box&gt;&#13;&#10;&#13;&#10;  &lt;Box style={{ position: 'absolute', left: 64, top: 556, width: 1152, height: 92, background: '#F0F5FC', borderRadius: 12, border: '1px solid #E5E7EB', padding: 20 }}&gt;&#13;&#10;&lt;Text style={{ fontSize: 17, color: '#2C3E50', textAlign: 'left', lineHeight: 1.6 }}&gt;小结：Ann Intern Med 2015;162:205-213 (PMID 2538367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213" name=""/>
          <p:cNvSpPr/>
          <p:nvPr/>
        </p:nvSpPr>
        <p:spPr>
          <a:xfrm rot="0" flipH="0" flipV="0">
            <a:off x="0" y="0"/>
            <a:ext cx="12192000" cy="6858000"/>
          </a:xfrm>
          <a:prstGeom prst="rect">
            <a:avLst/>
          </a:prstGeom>
          <a:solidFill>
            <a:srgbClr val="FFFFFF"/>
          </a:solidFill>
          <a:ln/>
        </p:spPr>
        <p:txBody>
          <a:bodyPr/>
          <a:p/>
        </p:txBody>
      </p:sp>
      <p:sp>
        <p:nvSpPr>
          <p:cNvPr id="1214" name=""/>
          <p:cNvSpPr/>
          <p:nvPr/>
        </p:nvSpPr>
        <p:spPr>
          <a:xfrm rot="0" flipH="0" flipV="0">
            <a:off x="0" y="0"/>
            <a:ext cx="12192000" cy="685800"/>
          </a:xfrm>
          <a:prstGeom prst="rect">
            <a:avLst/>
          </a:prstGeom>
          <a:solidFill>
            <a:srgbClr val="0E3F8C"/>
          </a:solidFill>
          <a:ln/>
        </p:spPr>
        <p:txBody>
          <a:bodyPr/>
          <a:p/>
        </p:txBody>
      </p:sp>
      <p:sp>
        <p:nvSpPr>
          <p:cNvPr id="1215"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第八章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特殊人群与围术期场景</a:t>
            </a:r>
            <a:endParaRPr/>
          </a:p>
        </p:txBody>
      </p:sp>
      <p:sp>
        <p:nvSpPr>
          <p:cNvPr id="1216" name=""/>
          <p:cNvSpPr/>
          <p:nvPr/>
        </p:nvSpPr>
        <p:spPr>
          <a:xfrm rot="0" flipH="0" flipV="0">
            <a:off x="3048000" y="209550"/>
            <a:ext cx="9525" cy="228600"/>
          </a:xfrm>
          <a:prstGeom prst="rect">
            <a:avLst/>
          </a:prstGeom>
          <a:solidFill>
            <a:srgbClr val="3D7BD9"/>
          </a:solidFill>
          <a:ln/>
        </p:spPr>
        <p:txBody>
          <a:bodyPr/>
          <a:p/>
        </p:txBody>
      </p:sp>
      <p:sp>
        <p:nvSpPr>
          <p:cNvPr id="1217" name="" descr="{&quot;isTemplate&quot;:true,&quot;type&quot;:&quot;text&quot;}"/>
          <p:cNvSpPr txBox="1"/>
          <p:nvPr/>
        </p:nvSpPr>
        <p:spPr>
          <a:xfrm rot="0" flipH="0" flipV="0">
            <a:off x="3209925" y="228600"/>
            <a:ext cx="2743200" cy="190500"/>
          </a:xfrm>
          <a:prstGeom prst="rect"/>
        </p:spPr>
        <p:txBody>
          <a:bodyPr wrap="none" lIns="0" tIns="0" rIns="0" bIns="0"/>
          <a:p>
            <a:pPr>
              <a:lnSpc>
                <a:spcPct val="100000"/>
              </a:lnSpc>
            </a:pPr>
            <a:r>
              <a:rPr lang="zh-CN" sz="1200">
                <a:solidFill>
                  <a:srgbClr val="C7D6EC"/>
                </a:solidFill>
                <a:latin typeface="Microsoft YaHei"/>
                <a:ea typeface="Microsoft YaHei"/>
              </a:rPr>
              <a:t>血小板输注实践：阈值之外的有效性管理</a:t>
            </a:r>
            <a:endParaRPr/>
          </a:p>
        </p:txBody>
      </p:sp>
      <p:sp>
        <p:nvSpPr>
          <p:cNvPr id="121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54 / 77</a:t>
            </a:r>
            <a:endParaRPr/>
          </a:p>
        </p:txBody>
      </p:sp>
      <p:sp>
        <p:nvSpPr>
          <p:cNvPr id="121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2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输注无效（</a:t>
            </a:r>
            <a:r>
              <a:rPr lang="en-US" sz="1425" b="1">
                <a:solidFill>
                  <a:srgbClr val="0E3F8C"/>
                </a:solidFill>
                <a:latin typeface="Microsoft YaHei"/>
                <a:ea typeface="Microsoft YaHei"/>
              </a:rPr>
              <a:t>PTR</a:t>
            </a:r>
            <a:r>
              <a:rPr lang="zh-CN" sz="1425" b="1">
                <a:solidFill>
                  <a:srgbClr val="0E3F8C"/>
                </a:solidFill>
                <a:latin typeface="Microsoft YaHei"/>
                <a:ea typeface="Microsoft YaHei"/>
              </a:rPr>
              <a:t>）</a:t>
            </a:r>
            <a:endParaRPr/>
          </a:p>
        </p:txBody>
      </p:sp>
      <p:sp>
        <p:nvSpPr>
          <p:cNvPr id="1221"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输注后</a:t>
            </a:r>
            <a:r>
              <a:rPr lang="en-US" sz="1275">
                <a:solidFill>
                  <a:srgbClr val="2C3E50"/>
                </a:solidFill>
                <a:latin typeface="Microsoft YaHei"/>
                <a:ea typeface="Microsoft YaHei"/>
              </a:rPr>
              <a:t> 1 </a:t>
            </a:r>
            <a:r>
              <a:rPr lang="zh-CN" sz="1275">
                <a:solidFill>
                  <a:srgbClr val="2C3E50"/>
                </a:solidFill>
                <a:latin typeface="Microsoft YaHei"/>
                <a:ea typeface="Microsoft YaHei"/>
              </a:rPr>
              <a:t>小时</a:t>
            </a:r>
            <a:r>
              <a:rPr lang="en-US" sz="1275">
                <a:solidFill>
                  <a:srgbClr val="2C3E50"/>
                </a:solidFill>
                <a:latin typeface="Microsoft YaHei"/>
                <a:ea typeface="Microsoft YaHei"/>
              </a:rPr>
              <a:t> CCI/PTR </a:t>
            </a:r>
            <a:r>
              <a:rPr lang="zh-CN" sz="1275">
                <a:solidFill>
                  <a:srgbClr val="2C3E50"/>
                </a:solidFill>
                <a:latin typeface="Microsoft YaHei"/>
                <a:ea typeface="Microsoft YaHei"/>
              </a:rPr>
              <a:t>改善不佳提示免疫性无效（</a:t>
            </a:r>
            <a:r>
              <a:rPr lang="en-US" sz="1275">
                <a:solidFill>
                  <a:srgbClr val="2C3E50"/>
                </a:solidFill>
                <a:latin typeface="Microsoft YaHei"/>
                <a:ea typeface="Microsoft YaHei"/>
              </a:rPr>
              <a:t>HLA/HPA </a:t>
            </a:r>
            <a:r>
              <a:rPr lang="zh-CN" sz="1275">
                <a:solidFill>
                  <a:srgbClr val="2C3E50"/>
                </a:solidFill>
                <a:latin typeface="Microsoft YaHei"/>
                <a:ea typeface="Microsoft YaHei"/>
              </a:rPr>
              <a:t>抗体、</a:t>
            </a:r>
            <a:r>
              <a:rPr lang="en-US" sz="1275">
                <a:solidFill>
                  <a:srgbClr val="2C3E50"/>
                </a:solidFill>
                <a:latin typeface="Microsoft YaHei"/>
                <a:ea typeface="Microsoft YaHei"/>
              </a:rPr>
              <a:t>ITP</a:t>
            </a:r>
            <a:r>
              <a:rPr lang="zh-CN" sz="1275">
                <a:solidFill>
                  <a:srgbClr val="2C3E50"/>
                </a:solidFill>
                <a:latin typeface="Microsoft YaHei"/>
                <a:ea typeface="Microsoft YaHei"/>
              </a:rPr>
              <a:t>、</a:t>
            </a:r>
            <a:r>
              <a:rPr lang="en-US" sz="1275">
                <a:solidFill>
                  <a:srgbClr val="2C3E50"/>
                </a:solidFill>
                <a:latin typeface="Microsoft YaHei"/>
                <a:ea typeface="Microsoft YaHei"/>
              </a:rPr>
              <a:t>DIC</a:t>
            </a:r>
            <a:r>
              <a:rPr lang="zh-CN" sz="1275">
                <a:solidFill>
                  <a:srgbClr val="2C3E50"/>
                </a:solidFill>
                <a:latin typeface="Microsoft YaHei"/>
                <a:ea typeface="Microsoft YaHei"/>
              </a:rPr>
              <a:t>、发热感染、脾大）；需评估“</a:t>
            </a:r>
            <a:r>
              <a:rPr lang="en-US" sz="1275">
                <a:solidFill>
                  <a:srgbClr val="2C3E50"/>
                </a:solidFill>
                <a:latin typeface="Microsoft YaHei"/>
                <a:ea typeface="Microsoft YaHei"/>
              </a:rPr>
              <a:t>1h </a:t>
            </a:r>
            <a:r>
              <a:rPr lang="zh-CN" sz="1275">
                <a:solidFill>
                  <a:srgbClr val="2C3E50"/>
                </a:solidFill>
                <a:latin typeface="Microsoft YaHei"/>
                <a:ea typeface="Microsoft YaHei"/>
              </a:rPr>
              <a:t>与</a:t>
            </a:r>
            <a:r>
              <a:rPr lang="en-US" sz="1275">
                <a:solidFill>
                  <a:srgbClr val="2C3E50"/>
                </a:solidFill>
                <a:latin typeface="Microsoft YaHei"/>
                <a:ea typeface="Microsoft YaHei"/>
              </a:rPr>
              <a:t> 24h”</a:t>
            </a:r>
            <a:r>
              <a:rPr lang="zh-CN" sz="1275">
                <a:solidFill>
                  <a:srgbClr val="2C3E50"/>
                </a:solidFill>
                <a:latin typeface="Microsoft YaHei"/>
                <a:ea typeface="Microsoft YaHei"/>
              </a:rPr>
              <a:t>双时间点，区分消耗过快与免疫清除。</a:t>
            </a:r>
            <a:endParaRPr/>
          </a:p>
        </p:txBody>
      </p:sp>
      <p:sp>
        <p:nvSpPr>
          <p:cNvPr id="122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2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应对策略</a:t>
            </a:r>
            <a:endParaRPr/>
          </a:p>
        </p:txBody>
      </p:sp>
      <p:sp>
        <p:nvSpPr>
          <p:cNvPr id="1224"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免疫性无效：</a:t>
            </a:r>
            <a:r>
              <a:rPr lang="en-US" sz="1275">
                <a:solidFill>
                  <a:srgbClr val="2C3E50"/>
                </a:solidFill>
                <a:latin typeface="Microsoft YaHei"/>
                <a:ea typeface="Microsoft YaHei"/>
              </a:rPr>
              <a:t>HLA </a:t>
            </a:r>
            <a:r>
              <a:rPr lang="zh-CN" sz="1275">
                <a:solidFill>
                  <a:srgbClr val="2C3E50"/>
                </a:solidFill>
                <a:latin typeface="Microsoft YaHei"/>
                <a:ea typeface="Microsoft YaHei"/>
              </a:rPr>
              <a:t>配合</a:t>
            </a:r>
            <a:r>
              <a:rPr lang="en-US" sz="1275">
                <a:solidFill>
                  <a:srgbClr val="2C3E50"/>
                </a:solidFill>
                <a:latin typeface="Microsoft YaHei"/>
                <a:ea typeface="Microsoft YaHei"/>
              </a:rPr>
              <a:t>/</a:t>
            </a:r>
            <a:r>
              <a:rPr lang="zh-CN" sz="1275">
                <a:solidFill>
                  <a:srgbClr val="2C3E50"/>
                </a:solidFill>
                <a:latin typeface="Microsoft YaHei"/>
                <a:ea typeface="Microsoft YaHei"/>
              </a:rPr>
              <a:t>交叉配型血小板、避免非必要输注以减少同种免疫；消耗性无效：处理</a:t>
            </a:r>
            <a:r>
              <a:rPr lang="en-US" sz="1275">
                <a:solidFill>
                  <a:srgbClr val="2C3E50"/>
                </a:solidFill>
                <a:latin typeface="Microsoft YaHei"/>
                <a:ea typeface="Microsoft YaHei"/>
              </a:rPr>
              <a:t> DIC/</a:t>
            </a:r>
            <a:r>
              <a:rPr lang="zh-CN" sz="1275">
                <a:solidFill>
                  <a:srgbClr val="2C3E50"/>
                </a:solidFill>
                <a:latin typeface="Microsoft YaHei"/>
                <a:ea typeface="Microsoft YaHei"/>
              </a:rPr>
              <a:t>脓毒症</a:t>
            </a:r>
            <a:r>
              <a:rPr lang="en-US" sz="1275">
                <a:solidFill>
                  <a:srgbClr val="2C3E50"/>
                </a:solidFill>
                <a:latin typeface="Microsoft YaHei"/>
                <a:ea typeface="Microsoft YaHei"/>
              </a:rPr>
              <a:t>/</a:t>
            </a:r>
            <a:r>
              <a:rPr lang="zh-CN" sz="1275">
                <a:solidFill>
                  <a:srgbClr val="2C3E50"/>
                </a:solidFill>
                <a:latin typeface="Microsoft YaHei"/>
                <a:ea typeface="Microsoft YaHei"/>
              </a:rPr>
              <a:t>脾大等原发病；血小板输注前避免同时给两性霉素等破坏性药物。</a:t>
            </a:r>
            <a:endParaRPr/>
          </a:p>
        </p:txBody>
      </p:sp>
      <p:sp>
        <p:nvSpPr>
          <p:cNvPr id="122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2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质量与剂量</a:t>
            </a:r>
            <a:endParaRPr/>
          </a:p>
        </p:txBody>
      </p:sp>
      <p:sp>
        <p:nvSpPr>
          <p:cNvPr id="122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预防性输注以单采</a:t>
            </a:r>
            <a:r>
              <a:rPr lang="en-US" sz="1275">
                <a:solidFill>
                  <a:srgbClr val="2C3E50"/>
                </a:solidFill>
                <a:latin typeface="Microsoft YaHei"/>
                <a:ea typeface="Microsoft YaHei"/>
              </a:rPr>
              <a:t> 1 </a:t>
            </a:r>
            <a:r>
              <a:rPr lang="zh-CN" sz="1275">
                <a:solidFill>
                  <a:srgbClr val="2C3E50"/>
                </a:solidFill>
                <a:latin typeface="Microsoft YaHei"/>
                <a:ea typeface="Microsoft YaHei"/>
              </a:rPr>
              <a:t>单位为宜（更高剂量不增效、半量等效）；关注保存时间（储存损伤）与</a:t>
            </a:r>
            <a:r>
              <a:rPr lang="en-US" sz="1275">
                <a:solidFill>
                  <a:srgbClr val="2C3E50"/>
                </a:solidFill>
                <a:latin typeface="Microsoft YaHei"/>
                <a:ea typeface="Microsoft YaHei"/>
              </a:rPr>
              <a:t> ABO </a:t>
            </a:r>
            <a:r>
              <a:rPr lang="zh-CN" sz="1275">
                <a:solidFill>
                  <a:srgbClr val="2C3E50"/>
                </a:solidFill>
                <a:latin typeface="Microsoft YaHei"/>
                <a:ea typeface="Microsoft YaHei"/>
              </a:rPr>
              <a:t>相容性；对育龄女性应尽量</a:t>
            </a:r>
            <a:r>
              <a:rPr lang="en-US" sz="1275">
                <a:solidFill>
                  <a:srgbClr val="2C3E50"/>
                </a:solidFill>
                <a:latin typeface="Microsoft YaHei"/>
                <a:ea typeface="Microsoft YaHei"/>
              </a:rPr>
              <a:t> Rh </a:t>
            </a:r>
            <a:r>
              <a:rPr lang="zh-CN" sz="1275">
                <a:solidFill>
                  <a:srgbClr val="2C3E50"/>
                </a:solidFill>
                <a:latin typeface="Microsoft YaHei"/>
                <a:ea typeface="Microsoft YaHei"/>
              </a:rPr>
              <a:t>阴性</a:t>
            </a:r>
            <a:r>
              <a:rPr lang="en-US" sz="1275">
                <a:solidFill>
                  <a:srgbClr val="2C3E50"/>
                </a:solidFill>
                <a:latin typeface="Microsoft YaHei"/>
                <a:ea typeface="Microsoft YaHei"/>
              </a:rPr>
              <a:t>/</a:t>
            </a:r>
            <a:r>
              <a:rPr lang="zh-CN" sz="1275">
                <a:solidFill>
                  <a:srgbClr val="2C3E50"/>
                </a:solidFill>
                <a:latin typeface="Microsoft YaHei"/>
                <a:ea typeface="Microsoft YaHei"/>
              </a:rPr>
              <a:t>预防抗</a:t>
            </a:r>
            <a:r>
              <a:rPr lang="en-US" sz="1275">
                <a:solidFill>
                  <a:srgbClr val="2C3E50"/>
                </a:solidFill>
                <a:latin typeface="Microsoft YaHei"/>
                <a:ea typeface="Microsoft YaHei"/>
              </a:rPr>
              <a:t>-D </a:t>
            </a:r>
            <a:r>
              <a:rPr lang="zh-CN" sz="1275">
                <a:solidFill>
                  <a:srgbClr val="2C3E50"/>
                </a:solidFill>
                <a:latin typeface="Microsoft YaHei"/>
                <a:ea typeface="Microsoft YaHei"/>
              </a:rPr>
              <a:t>以减少同种免疫负担。</a:t>
            </a:r>
            <a:endParaRPr/>
          </a:p>
        </p:txBody>
      </p:sp>
      <p:sp>
        <p:nvSpPr>
          <p:cNvPr id="122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2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230"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23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32"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输注质量与“阈值”同等重要：无效输注的评估应从“输了没升”追到“为什么没升”。</a:t>
            </a:r>
            <a:endParaRPr/>
          </a:p>
        </p:txBody>
      </p:sp>
      <p:sp>
        <p:nvSpPr>
          <p:cNvPr id="123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23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Ann Intern Med 2015;162:205-213 (PMID 25383671)</a:t>
            </a:r>
            <a:endParaRPr/>
          </a:p>
        </p:txBody>
      </p:sp>
      <p:sp>
        <p:nvSpPr>
          <p:cNvPr id="1235" name=""/>
          <p:cNvSpPr/>
          <p:nvPr/>
        </p:nvSpPr>
        <p:spPr>
          <a:xfrm rot="0" flipH="0" flipV="0">
            <a:off x="0" y="6324600"/>
            <a:ext cx="12192000" cy="342900"/>
          </a:xfrm>
          <a:prstGeom prst="rect">
            <a:avLst/>
          </a:prstGeom>
          <a:solidFill>
            <a:srgbClr val="F7F9FC"/>
          </a:solidFill>
          <a:ln/>
        </p:spPr>
        <p:txBody>
          <a:bodyPr/>
          <a:p/>
        </p:txBody>
      </p:sp>
      <p:sp>
        <p:nvSpPr>
          <p:cNvPr id="123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23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5.xml><?xml version="1.0" encoding="utf-8"?>
<p:sld xmlns:p="http://schemas.openxmlformats.org/presentationml/2006/main" xmlns:a="http://schemas.openxmlformats.org/drawingml/2006/main">
  <p:cSld>
    <p:spTree>
      <p:nvGrpSpPr>
        <p:cNvPr id="1238" name="" descr="&lt;Slide notes={`演讲者备注：第九章回答“临床应用要不要流程化”与“动态监测意义何在”。答案是肯定的：血小板相关决策（尤其危急值响应、输注、DIC/HIT 随访）都应走标准化流程；同时大量疾病的第一线索来自“血小板变化速度”而非单点数值——本章给出可操作的判读树、Δ 规则与监测频率表。`} style={{ width: '1280px', height: '720px', background: '#0E3F8C', padding: 0 }}&gt;&#13;&#10;  &lt;Box style={{ position: 'absolute', left: 0, top: 0, width: 12, height: 720, background: '#3D7BD9' }} /&gt;&#13;&#10;  &lt;Text style={{ position: 'absolute', left: 64, top: 138, fontSize: 22, color: '#9DB8E0', letterSpacing: 4 }}&gt;第 9 章&lt;/Text&gt;&#13;&#10;  &lt;Text style={{ position: 'absolute', left: 56, top: 168, fontSize: 150, color: '#164A9E', fontWeight: 'bold' }}&gt;09&lt;/Text&gt;&#13;&#10;  &lt;Text style={{ position: 'absolute', left: 64, top: 332, fontSize: 50, color: '#FFFFFF', fontWeight: 'bold' }}&gt;流程化判读与动态监测&lt;/Text&gt;&#13;&#10;  &lt;Text style={{ position: 'absolute', left: 64, top: 400, fontSize: 22, color: '#9DB8E0', fontFamily: 'Times New Roman' }}&gt;Algorithmic Reading &amp; Dynamic Monitoring&lt;/Text&gt;&#13;&#10;  &lt;Box key={0} style={{ position: 'absolute', left: 64, top: 472, width: 360, height: 150, background: '#12448F', borderRadius: 12, border: '1px solid #2E5BA8', padding: 20 }}&gt;&#13;&#10;    &lt;Text style={{ fontSize: 18, color: '#9DB8E0', fontWeight: 'bold', marginBottom: 8 }}&gt;诊断树&lt;/Text&gt;&#13;&#10;    &lt;Text style={{ fontSize: 15, color: '#C7D6EC', lineHeight: 1.5 }}&gt;确认→机制→场景→行动的标准化路径&lt;/Text&gt;&#13;&#10;  &lt;/Box&gt;  &lt;Box key={1} style={{ position: 'absolute', left: 452, top: 472, width: 360, height: 150, background: '#12448F', borderRadius: 12, border: '1px solid #2E5BA8', padding: 20 }}&gt;&#13;&#10;    &lt;Text style={{ fontSize: 18, color: '#9DB8E0', fontWeight: 'bold', marginBottom: 8 }}&gt;危急值与 Δ 预警&lt;/Text&gt;&#13;&#10;    &lt;Text style={{ fontSize: 15, color: '#C7D6EC', lineHeight: 1.5 }}&gt;变化率比绝对值更早发出信号&lt;/Text&gt;&#13;&#10;  &lt;/Box&gt;  &lt;Box key={2} style={{ position: 'absolute', left: 840, top: 472, width: 360, height: 150, background: '#12448F', borderRadius: 12, border: '1px solid #2E5BA8', padding: 20 }}&gt;&#13;&#10;    &lt;Text style={{ fontSize: 18, color: '#9DB8E0', fontWeight: 'bold', marginBottom: 8 }}&gt;动态监测&lt;/Text&gt;&#13;&#10;    &lt;Text style={{ fontSize: 15, color: '#C7D6EC', lineHeight: 1.5 }}&gt;把“一次化验”变成“一个序列”&lt;/Text&gt;&#13;&#10;  &lt;/Box&gt;&#13;&#10;  &lt;Text style={{ position: 'absolute', right: 64, top: 660, fontSize: 15, color: '#9DB8E0' }}&gt;55 / 77&lt;/Text&gt;&#13;&#10;&lt;/Slide&gt;"/>
        <p:cNvGrpSpPr/>
        <p:nvPr/>
      </p:nvGrpSpPr>
      <p:grpSpPr>
        <a:xfrm>
          <a:off x="0" y="0"/>
          <a:ext cx="0" cy="0"/>
          <a:chOff x="0" y="0"/>
          <a:chExt cx="0" cy="0"/>
        </a:xfrm>
      </p:grpSpPr>
      <p:sp>
        <p:nvSpPr>
          <p:cNvPr id="1239" name=""/>
          <p:cNvSpPr/>
          <p:nvPr/>
        </p:nvSpPr>
        <p:spPr>
          <a:xfrm rot="0" flipH="0" flipV="0">
            <a:off x="0" y="0"/>
            <a:ext cx="12192000" cy="6858000"/>
          </a:xfrm>
          <a:prstGeom prst="rect">
            <a:avLst/>
          </a:prstGeom>
          <a:solidFill>
            <a:srgbClr val="0E3F8C"/>
          </a:solidFill>
          <a:ln/>
        </p:spPr>
        <p:txBody>
          <a:bodyPr/>
          <a:p/>
        </p:txBody>
      </p:sp>
      <p:sp>
        <p:nvSpPr>
          <p:cNvPr id="1240" name=""/>
          <p:cNvSpPr/>
          <p:nvPr/>
        </p:nvSpPr>
        <p:spPr>
          <a:xfrm rot="0" flipH="0" flipV="0">
            <a:off x="0" y="0"/>
            <a:ext cx="114300" cy="6858000"/>
          </a:xfrm>
          <a:prstGeom prst="rect">
            <a:avLst/>
          </a:prstGeom>
          <a:solidFill>
            <a:srgbClr val="3D7BD9"/>
          </a:solidFill>
          <a:ln/>
        </p:spPr>
        <p:txBody>
          <a:bodyPr/>
          <a:p/>
        </p:txBody>
      </p:sp>
      <p:sp>
        <p:nvSpPr>
          <p:cNvPr id="1241" name="" descr="{&quot;isTemplate&quot;:true,&quot;type&quot;:&quot;text&quot;}"/>
          <p:cNvSpPr txBox="1"/>
          <p:nvPr/>
        </p:nvSpPr>
        <p:spPr>
          <a:xfrm rot="0" flipH="0" flipV="0">
            <a:off x="609600" y="1314450"/>
            <a:ext cx="857250"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9 </a:t>
            </a:r>
            <a:r>
              <a:rPr lang="zh-CN" sz="1650" spc="300">
                <a:solidFill>
                  <a:srgbClr val="9DB8E0"/>
                </a:solidFill>
                <a:latin typeface="Microsoft YaHei"/>
                <a:ea typeface="Microsoft YaHei"/>
              </a:rPr>
              <a:t>章</a:t>
            </a:r>
            <a:endParaRPr/>
          </a:p>
        </p:txBody>
      </p:sp>
      <p:sp>
        <p:nvSpPr>
          <p:cNvPr id="1242"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09</a:t>
            </a:r>
            <a:endParaRPr/>
          </a:p>
        </p:txBody>
      </p:sp>
      <p:sp>
        <p:nvSpPr>
          <p:cNvPr id="1243" name="" descr="{&quot;isTemplate&quot;:true,&quot;type&quot;:&quot;text&quot;}"/>
          <p:cNvSpPr txBox="1"/>
          <p:nvPr/>
        </p:nvSpPr>
        <p:spPr>
          <a:xfrm rot="0" flipH="0" flipV="0">
            <a:off x="609600" y="3162300"/>
            <a:ext cx="4762500" cy="571500"/>
          </a:xfrm>
          <a:prstGeom prst="rect"/>
        </p:spPr>
        <p:txBody>
          <a:bodyPr wrap="none" lIns="0" tIns="0" rIns="0" bIns="0"/>
          <a:p>
            <a:pPr>
              <a:lnSpc>
                <a:spcPct val="100000"/>
              </a:lnSpc>
            </a:pPr>
            <a:r>
              <a:rPr lang="zh-CN" sz="3750" b="1">
                <a:solidFill>
                  <a:srgbClr val="FFFFFF"/>
                </a:solidFill>
                <a:latin typeface="Microsoft YaHei"/>
                <a:ea typeface="Microsoft YaHei"/>
              </a:rPr>
              <a:t>流程化判读与动态监测</a:t>
            </a:r>
            <a:endParaRPr/>
          </a:p>
        </p:txBody>
      </p:sp>
      <p:sp>
        <p:nvSpPr>
          <p:cNvPr id="1244" name="" descr="{&quot;isTemplate&quot;:true,&quot;type&quot;:&quot;text&quot;}"/>
          <p:cNvSpPr txBox="1"/>
          <p:nvPr/>
        </p:nvSpPr>
        <p:spPr>
          <a:xfrm rot="0" flipH="0" flipV="0">
            <a:off x="609600" y="3810000"/>
            <a:ext cx="3819525" cy="257175"/>
          </a:xfrm>
          <a:prstGeom prst="rect"/>
        </p:spPr>
        <p:txBody>
          <a:bodyPr wrap="none" lIns="0" tIns="0" rIns="0" bIns="0"/>
          <a:p>
            <a:pPr>
              <a:lnSpc>
                <a:spcPct val="100000"/>
              </a:lnSpc>
            </a:pPr>
            <a:r>
              <a:rPr lang="en-US" sz="1650">
                <a:solidFill>
                  <a:srgbClr val="9DB8E0"/>
                </a:solidFill>
                <a:latin typeface="Times New Roman"/>
                <a:ea typeface="Times New Roman"/>
              </a:rPr>
              <a:t>Algorithmic Reading &amp; Dynamic Monitoring</a:t>
            </a:r>
            <a:endParaRPr/>
          </a:p>
        </p:txBody>
      </p:sp>
      <p:sp>
        <p:nvSpPr>
          <p:cNvPr id="1245"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246"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诊断树</a:t>
            </a:r>
            <a:endParaRPr/>
          </a:p>
        </p:txBody>
      </p:sp>
      <p:sp>
        <p:nvSpPr>
          <p:cNvPr id="1247"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确认→机制→场景→行动的标准化路径</a:t>
            </a:r>
            <a:endParaRPr/>
          </a:p>
        </p:txBody>
      </p:sp>
      <p:sp>
        <p:nvSpPr>
          <p:cNvPr id="1248"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249"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危急值与</a:t>
            </a:r>
            <a:r>
              <a:rPr lang="en-US" sz="1350" b="1">
                <a:solidFill>
                  <a:srgbClr val="9DB8E0"/>
                </a:solidFill>
                <a:latin typeface="Microsoft YaHei"/>
                <a:ea typeface="Microsoft YaHei"/>
              </a:rPr>
              <a:t> Δ </a:t>
            </a:r>
            <a:r>
              <a:rPr lang="zh-CN" sz="1350" b="1">
                <a:solidFill>
                  <a:srgbClr val="9DB8E0"/>
                </a:solidFill>
                <a:latin typeface="Microsoft YaHei"/>
                <a:ea typeface="Microsoft YaHei"/>
              </a:rPr>
              <a:t>预警</a:t>
            </a:r>
            <a:endParaRPr/>
          </a:p>
        </p:txBody>
      </p:sp>
      <p:sp>
        <p:nvSpPr>
          <p:cNvPr id="1250"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变化率比绝对值更早发出信号</a:t>
            </a:r>
            <a:endParaRPr/>
          </a:p>
        </p:txBody>
      </p:sp>
      <p:sp>
        <p:nvSpPr>
          <p:cNvPr id="1251"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252"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动态监测</a:t>
            </a:r>
            <a:endParaRPr/>
          </a:p>
        </p:txBody>
      </p:sp>
      <p:sp>
        <p:nvSpPr>
          <p:cNvPr id="1253"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把“一次化验”变成“一个序列”</a:t>
            </a:r>
            <a:endParaRPr/>
          </a:p>
        </p:txBody>
      </p:sp>
      <p:sp>
        <p:nvSpPr>
          <p:cNvPr id="1254"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55 / 77</a:t>
            </a:r>
            <a:endParaRPr/>
          </a:p>
        </p:txBody>
      </p:sp>
    </p:spTree>
  </p:cSld>
</p:sld>
</file>

<file path=ppt/slides/slide56.xml><?xml version="1.0" encoding="utf-8"?>
<p:sld xmlns:p="http://schemas.openxmlformats.org/presentationml/2006/main" xmlns:a="http://schemas.openxmlformats.org/drawingml/2006/main">
  <p:cSld>
    <p:spTree>
      <p:nvGrpSpPr>
        <p:cNvPr id="1255" name="" descr="&lt;Slide notes={`演讲者备注：【GREINACHER-ICU】ICU 血小板减少评估与处理：发生率高且常为多因素（消耗、稀释、药物、免疫）；按 4Ts/涂片/骨髓等分步鉴别，避免对假性与轻度减少过度输注。证据：Blood 2016;128:3032-3042，PMID 28034871。&#13;&#10;讲解提示：把本页当作全篇“总纲”——确认（第 5 章）、机制（第 1/7 章）、场景阈值（第 4/7/8 章）、动态（第 9 章其余页）。临床可用作交班/会诊时的口头核对框架。`}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九章 流程化判读与动态监测&lt;/Text&gt;&#13;&#10;      &lt;Box style={{ width: 1, height: 24, background: '#3D7BD9' }} /&gt;&#13;&#10;      &lt;Text style={{ fontSize: 16, color: '#C7D6EC' }}&gt;血小板减少诊断树：确认→机制→场景→行动&lt;/Text&gt;&#13;&#10;    &lt;/Box&gt;&#13;&#10;    &lt;Text style={{ position: 'absolute', right: 64, top: 24, fontSize: 15, color: '#9DB8E0' }}&gt;56 / 77&lt;/Text&gt;&#13;&#10;  &lt;/Box&gt;&#13;&#10;  &lt;Box style={{ position: 'absolute', left: 64, top: 96, width: 562, height: 128, background: '#F0F5FC', borderRadius: 12, border: '1px solid #E5E7EB', padding: 20 }}&gt;&#13;&#10;&lt;Text style={{ fontSize: 19, color: '#0E3F8C', fontWeight: 'bold', textAlign: 'left', lineHeight: 1.5 }}&gt;第 1 步 确认&lt;/Text&gt;&#13;&#10;&lt;Text style={{ fontSize: 17, color: '#2C3E50', textAlign: 'left', lineHeight: 1.62 }}&gt;复检涂片+换管/换通道核实：先排除 EDTA 假性减少、凝块与仪器误差（第五章）——尤其“无出血的个位数”。&lt;/Text&gt;&#13;&#10;  &lt;/Box&gt;&#13;&#10;  &lt;Box style={{ position: 'absolute', left: 654, top: 96, width: 562, height: 128, background: '#F0F5FC', borderRadius: 12, border: '1px solid #E5E7EB', padding: 20 }}&gt;&#13;&#10;&lt;Text style={{ fontSize: 19, color: '#0E3F8C', fontWeight: 'bold', textAlign: 'left', lineHeight: 1.5 }}&gt;第 2 步 机制&lt;/Text&gt;&#13;&#10;&lt;Text style={{ fontSize: 17, color: '#2C3E50', textAlign: 'left', lineHeight: 1.62 }}&gt;按四轴定位：生成不足（化疗/再障/肝病，可查 IPF/骨髓）vs 破坏增加（ITP/HIT/DITP，免疫线索）vs 消耗（DIC/脓毒症）vs 分布（脾大）；动态与形态是分型钥匙。&lt;/Text&gt;&#13;&#10;  &lt;/Box&gt;&#13;&#10;  &lt;Box style={{ position: 'absolute', left: 64, top: 252, width: 562, height: 128, background: '#F0F5FC', borderRadius: 12, border: '1px solid #E5E7EB', padding: 20 }}&gt;&#13;&#10;&lt;Text style={{ fontSize: 19, color: '#0E3F8C', fontWeight: 'bold', textAlign: 'left', lineHeight: 1.5 }}&gt;第 3 步 场景&lt;/Text&gt;&#13;&#10;&lt;Text style={{ fontSize: 17, color: '#2C3E50', textAlign: 'left', lineHeight: 1.62 }}&gt;带入临床场景选阈值与路径：住院化疗（10 预防线）、术前（操作阈值）、ICU（多因）、妊娠/肝病（特殊线）——回到第四、七、八章各场景。&lt;/Text&gt;&#13;&#10;  &lt;/Box&gt;&#13;&#10;  &lt;Box style={{ position: 'absolute', left: 654, top: 252, width: 562, height: 128, background: '#F0F5FC', borderRadius: 12, border: '1px solid #E5E7EB', padding: 20 }}&gt;&#13;&#10;&lt;Text style={{ fontSize: 19, color: '#0E3F8C', fontWeight: 'bold', textAlign: 'left', lineHeight: 1.5 }}&gt;第 4 步 行动&lt;/Text&gt;&#13;&#10;&lt;Text style={{ fontSize: 17, color: '#2C3E50', textAlign: 'left', lineHeight: 1.62 }}&gt;需要干预时明确目标（止血 vs 升板 vs 抗凝），选工具（输注/TPO-RA/停肝素/处理原发病）并设复查节点，形成闭环。&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7, color: '#2C3E50', textAlign: 'left', lineHeight: 1.62 }}&gt;流程化的收益：把“直觉式处理”升级为“可复核、可教学、可质控”的决策。&lt;/Text&gt;&#13;&#10;  &lt;/Box&gt;&#13;&#10;&#13;&#10;  &lt;Box style={{ position: 'absolute', left: 64, top: 556, width: 1152, height: 92, background: '#F0F5FC', borderRadius: 12, border: '1px solid #E5E7EB', padding: 20 }}&gt;&#13;&#10;&lt;Text style={{ fontSize: 17, color: '#2C3E50', textAlign: 'left', lineHeight: 1.6 }}&gt;小结：Blood 2016;128:3032-3042 (PMID 2803487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256" name=""/>
          <p:cNvSpPr/>
          <p:nvPr/>
        </p:nvSpPr>
        <p:spPr>
          <a:xfrm rot="0" flipH="0" flipV="0">
            <a:off x="0" y="0"/>
            <a:ext cx="12192000" cy="6858000"/>
          </a:xfrm>
          <a:prstGeom prst="rect">
            <a:avLst/>
          </a:prstGeom>
          <a:solidFill>
            <a:srgbClr val="FFFFFF"/>
          </a:solidFill>
          <a:ln/>
        </p:spPr>
        <p:txBody>
          <a:bodyPr/>
          <a:p/>
        </p:txBody>
      </p:sp>
      <p:sp>
        <p:nvSpPr>
          <p:cNvPr id="1257" name=""/>
          <p:cNvSpPr/>
          <p:nvPr/>
        </p:nvSpPr>
        <p:spPr>
          <a:xfrm rot="0" flipH="0" flipV="0">
            <a:off x="0" y="0"/>
            <a:ext cx="12192000" cy="685800"/>
          </a:xfrm>
          <a:prstGeom prst="rect">
            <a:avLst/>
          </a:prstGeom>
          <a:solidFill>
            <a:srgbClr val="0E3F8C"/>
          </a:solidFill>
          <a:ln/>
        </p:spPr>
        <p:txBody>
          <a:bodyPr/>
          <a:p/>
        </p:txBody>
      </p:sp>
      <p:sp>
        <p:nvSpPr>
          <p:cNvPr id="1258"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第九章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流程化判读与动态监测</a:t>
            </a:r>
            <a:endParaRPr/>
          </a:p>
        </p:txBody>
      </p:sp>
      <p:sp>
        <p:nvSpPr>
          <p:cNvPr id="1259" name=""/>
          <p:cNvSpPr/>
          <p:nvPr/>
        </p:nvSpPr>
        <p:spPr>
          <a:xfrm rot="0" flipH="0" flipV="0">
            <a:off x="3048000" y="209550"/>
            <a:ext cx="9525" cy="228600"/>
          </a:xfrm>
          <a:prstGeom prst="rect">
            <a:avLst/>
          </a:prstGeom>
          <a:solidFill>
            <a:srgbClr val="3D7BD9"/>
          </a:solidFill>
          <a:ln/>
        </p:spPr>
        <p:txBody>
          <a:bodyPr/>
          <a:p/>
        </p:txBody>
      </p:sp>
      <p:sp>
        <p:nvSpPr>
          <p:cNvPr id="1260" name="" descr="{&quot;isTemplate&quot;:true,&quot;type&quot;:&quot;text&quot;}"/>
          <p:cNvSpPr txBox="1"/>
          <p:nvPr/>
        </p:nvSpPr>
        <p:spPr>
          <a:xfrm rot="0" flipH="0" flipV="0">
            <a:off x="3209925" y="228600"/>
            <a:ext cx="3048000" cy="190500"/>
          </a:xfrm>
          <a:prstGeom prst="rect"/>
        </p:spPr>
        <p:txBody>
          <a:bodyPr wrap="none" lIns="0" tIns="0" rIns="0" bIns="0"/>
          <a:p>
            <a:pPr>
              <a:lnSpc>
                <a:spcPct val="100000"/>
              </a:lnSpc>
            </a:pPr>
            <a:r>
              <a:rPr lang="zh-CN" sz="1200">
                <a:solidFill>
                  <a:srgbClr val="C7D6EC"/>
                </a:solidFill>
                <a:latin typeface="Microsoft YaHei"/>
                <a:ea typeface="Microsoft YaHei"/>
              </a:rPr>
              <a:t>血小板减少诊断树：确认→机制→场景→行动</a:t>
            </a:r>
            <a:endParaRPr/>
          </a:p>
        </p:txBody>
      </p:sp>
      <p:sp>
        <p:nvSpPr>
          <p:cNvPr id="126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56 / 77</a:t>
            </a:r>
            <a:endParaRPr/>
          </a:p>
        </p:txBody>
      </p:sp>
      <p:sp>
        <p:nvSpPr>
          <p:cNvPr id="1262"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6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第</a:t>
            </a:r>
            <a:r>
              <a:rPr lang="en-US" sz="1425" b="1">
                <a:solidFill>
                  <a:srgbClr val="0E3F8C"/>
                </a:solidFill>
                <a:latin typeface="Microsoft YaHei"/>
                <a:ea typeface="Microsoft YaHei"/>
              </a:rPr>
              <a:t> 1 </a:t>
            </a:r>
            <a:r>
              <a:rPr lang="zh-CN" sz="1425" b="1">
                <a:solidFill>
                  <a:srgbClr val="0E3F8C"/>
                </a:solidFill>
                <a:latin typeface="Microsoft YaHei"/>
                <a:ea typeface="Microsoft YaHei"/>
              </a:rPr>
              <a:t>步</a:t>
            </a:r>
            <a:r>
              <a:rPr lang="en-US" sz="1425" b="1">
                <a:solidFill>
                  <a:srgbClr val="0E3F8C"/>
                </a:solidFill>
                <a:latin typeface="Microsoft YaHei"/>
                <a:ea typeface="Microsoft YaHei"/>
              </a:rPr>
              <a:t> </a:t>
            </a:r>
            <a:r>
              <a:rPr lang="zh-CN" sz="1425" b="1">
                <a:solidFill>
                  <a:srgbClr val="0E3F8C"/>
                </a:solidFill>
                <a:latin typeface="Microsoft YaHei"/>
                <a:ea typeface="Microsoft YaHei"/>
              </a:rPr>
              <a:t>确认</a:t>
            </a:r>
            <a:endParaRPr/>
          </a:p>
        </p:txBody>
      </p:sp>
      <p:sp>
        <p:nvSpPr>
          <p:cNvPr id="1264"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复检涂片</a:t>
            </a:r>
            <a:r>
              <a:rPr lang="en-US" sz="1275">
                <a:solidFill>
                  <a:srgbClr val="2C3E50"/>
                </a:solidFill>
                <a:latin typeface="Microsoft YaHei"/>
                <a:ea typeface="Microsoft YaHei"/>
              </a:rPr>
              <a:t>+</a:t>
            </a:r>
            <a:r>
              <a:rPr lang="zh-CN" sz="1275">
                <a:solidFill>
                  <a:srgbClr val="2C3E50"/>
                </a:solidFill>
                <a:latin typeface="Microsoft YaHei"/>
                <a:ea typeface="Microsoft YaHei"/>
              </a:rPr>
              <a:t>换管</a:t>
            </a:r>
            <a:r>
              <a:rPr lang="en-US" sz="1275">
                <a:solidFill>
                  <a:srgbClr val="2C3E50"/>
                </a:solidFill>
                <a:latin typeface="Microsoft YaHei"/>
                <a:ea typeface="Microsoft YaHei"/>
              </a:rPr>
              <a:t>/</a:t>
            </a:r>
            <a:r>
              <a:rPr lang="zh-CN" sz="1275">
                <a:solidFill>
                  <a:srgbClr val="2C3E50"/>
                </a:solidFill>
                <a:latin typeface="Microsoft YaHei"/>
                <a:ea typeface="Microsoft YaHei"/>
              </a:rPr>
              <a:t>换通道核实：先排除</a:t>
            </a:r>
            <a:r>
              <a:rPr lang="en-US" sz="1275">
                <a:solidFill>
                  <a:srgbClr val="2C3E50"/>
                </a:solidFill>
                <a:latin typeface="Microsoft YaHei"/>
                <a:ea typeface="Microsoft YaHei"/>
              </a:rPr>
              <a:t> EDTA </a:t>
            </a:r>
            <a:r>
              <a:rPr lang="zh-CN" sz="1275">
                <a:solidFill>
                  <a:srgbClr val="2C3E50"/>
                </a:solidFill>
                <a:latin typeface="Microsoft YaHei"/>
                <a:ea typeface="Microsoft YaHei"/>
              </a:rPr>
              <a:t>假性减少、凝块与仪器误差（第五章）——尤其“无出血的个位数”。</a:t>
            </a:r>
            <a:endParaRPr/>
          </a:p>
        </p:txBody>
      </p:sp>
      <p:sp>
        <p:nvSpPr>
          <p:cNvPr id="1265"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6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第</a:t>
            </a:r>
            <a:r>
              <a:rPr lang="en-US" sz="1425" b="1">
                <a:solidFill>
                  <a:srgbClr val="0E3F8C"/>
                </a:solidFill>
                <a:latin typeface="Microsoft YaHei"/>
                <a:ea typeface="Microsoft YaHei"/>
              </a:rPr>
              <a:t> 2 </a:t>
            </a:r>
            <a:r>
              <a:rPr lang="zh-CN" sz="1425" b="1">
                <a:solidFill>
                  <a:srgbClr val="0E3F8C"/>
                </a:solidFill>
                <a:latin typeface="Microsoft YaHei"/>
                <a:ea typeface="Microsoft YaHei"/>
              </a:rPr>
              <a:t>步</a:t>
            </a:r>
            <a:r>
              <a:rPr lang="en-US" sz="1425" b="1">
                <a:solidFill>
                  <a:srgbClr val="0E3F8C"/>
                </a:solidFill>
                <a:latin typeface="Microsoft YaHei"/>
                <a:ea typeface="Microsoft YaHei"/>
              </a:rPr>
              <a:t> </a:t>
            </a:r>
            <a:r>
              <a:rPr lang="zh-CN" sz="1425" b="1">
                <a:solidFill>
                  <a:srgbClr val="0E3F8C"/>
                </a:solidFill>
                <a:latin typeface="Microsoft YaHei"/>
                <a:ea typeface="Microsoft YaHei"/>
              </a:rPr>
              <a:t>机制</a:t>
            </a:r>
            <a:endParaRPr/>
          </a:p>
        </p:txBody>
      </p:sp>
      <p:sp>
        <p:nvSpPr>
          <p:cNvPr id="1267"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按四轴定位：生成不足（化疗</a:t>
            </a:r>
            <a:r>
              <a:rPr lang="en-US" sz="1275">
                <a:solidFill>
                  <a:srgbClr val="2C3E50"/>
                </a:solidFill>
                <a:latin typeface="Microsoft YaHei"/>
                <a:ea typeface="Microsoft YaHei"/>
              </a:rPr>
              <a:t>/</a:t>
            </a:r>
            <a:r>
              <a:rPr lang="zh-CN" sz="1275">
                <a:solidFill>
                  <a:srgbClr val="2C3E50"/>
                </a:solidFill>
                <a:latin typeface="Microsoft YaHei"/>
                <a:ea typeface="Microsoft YaHei"/>
              </a:rPr>
              <a:t>再障</a:t>
            </a:r>
            <a:r>
              <a:rPr lang="en-US" sz="1275">
                <a:solidFill>
                  <a:srgbClr val="2C3E50"/>
                </a:solidFill>
                <a:latin typeface="Microsoft YaHei"/>
                <a:ea typeface="Microsoft YaHei"/>
              </a:rPr>
              <a:t>/</a:t>
            </a:r>
            <a:r>
              <a:rPr lang="zh-CN" sz="1275">
                <a:solidFill>
                  <a:srgbClr val="2C3E50"/>
                </a:solidFill>
                <a:latin typeface="Microsoft YaHei"/>
                <a:ea typeface="Microsoft YaHei"/>
              </a:rPr>
              <a:t>肝病，可查</a:t>
            </a:r>
            <a:r>
              <a:rPr lang="en-US" sz="1275">
                <a:solidFill>
                  <a:srgbClr val="2C3E50"/>
                </a:solidFill>
                <a:latin typeface="Microsoft YaHei"/>
                <a:ea typeface="Microsoft YaHei"/>
              </a:rPr>
              <a:t> IPF/</a:t>
            </a:r>
            <a:r>
              <a:rPr lang="zh-CN" sz="1275">
                <a:solidFill>
                  <a:srgbClr val="2C3E50"/>
                </a:solidFill>
                <a:latin typeface="Microsoft YaHei"/>
                <a:ea typeface="Microsoft YaHei"/>
              </a:rPr>
              <a:t>骨髓）</a:t>
            </a:r>
            <a:r>
              <a:rPr lang="en-US" sz="1275">
                <a:solidFill>
                  <a:srgbClr val="2C3E50"/>
                </a:solidFill>
                <a:latin typeface="Microsoft YaHei"/>
                <a:ea typeface="Microsoft YaHei"/>
              </a:rPr>
              <a:t>vs </a:t>
            </a:r>
            <a:r>
              <a:rPr lang="zh-CN" sz="1275">
                <a:solidFill>
                  <a:srgbClr val="2C3E50"/>
                </a:solidFill>
                <a:latin typeface="Microsoft YaHei"/>
                <a:ea typeface="Microsoft YaHei"/>
              </a:rPr>
              <a:t>破坏增加（</a:t>
            </a:r>
            <a:r>
              <a:rPr lang="en-US" sz="1275">
                <a:solidFill>
                  <a:srgbClr val="2C3E50"/>
                </a:solidFill>
                <a:latin typeface="Microsoft YaHei"/>
                <a:ea typeface="Microsoft YaHei"/>
              </a:rPr>
              <a:t>ITP/HIT/DITP</a:t>
            </a:r>
            <a:r>
              <a:rPr lang="zh-CN" sz="1275">
                <a:solidFill>
                  <a:srgbClr val="2C3E50"/>
                </a:solidFill>
                <a:latin typeface="Microsoft YaHei"/>
                <a:ea typeface="Microsoft YaHei"/>
              </a:rPr>
              <a:t>，免疫线索）</a:t>
            </a:r>
            <a:r>
              <a:rPr lang="en-US" sz="1275">
                <a:solidFill>
                  <a:srgbClr val="2C3E50"/>
                </a:solidFill>
                <a:latin typeface="Microsoft YaHei"/>
                <a:ea typeface="Microsoft YaHei"/>
              </a:rPr>
              <a:t>vs </a:t>
            </a:r>
            <a:r>
              <a:rPr lang="zh-CN" sz="1275">
                <a:solidFill>
                  <a:srgbClr val="2C3E50"/>
                </a:solidFill>
                <a:latin typeface="Microsoft YaHei"/>
                <a:ea typeface="Microsoft YaHei"/>
              </a:rPr>
              <a:t>消耗（</a:t>
            </a:r>
            <a:r>
              <a:rPr lang="en-US" sz="1275">
                <a:solidFill>
                  <a:srgbClr val="2C3E50"/>
                </a:solidFill>
                <a:latin typeface="Microsoft YaHei"/>
                <a:ea typeface="Microsoft YaHei"/>
              </a:rPr>
              <a:t>DIC/</a:t>
            </a:r>
            <a:r>
              <a:rPr lang="zh-CN" sz="1275">
                <a:solidFill>
                  <a:srgbClr val="2C3E50"/>
                </a:solidFill>
                <a:latin typeface="Microsoft YaHei"/>
                <a:ea typeface="Microsoft YaHei"/>
              </a:rPr>
              <a:t>脓毒症）</a:t>
            </a:r>
            <a:r>
              <a:rPr lang="en-US" sz="1275">
                <a:solidFill>
                  <a:srgbClr val="2C3E50"/>
                </a:solidFill>
                <a:latin typeface="Microsoft YaHei"/>
                <a:ea typeface="Microsoft YaHei"/>
              </a:rPr>
              <a:t>vs </a:t>
            </a:r>
            <a:r>
              <a:rPr lang="zh-CN" sz="1275">
                <a:solidFill>
                  <a:srgbClr val="2C3E50"/>
                </a:solidFill>
                <a:latin typeface="Microsoft YaHei"/>
                <a:ea typeface="Microsoft YaHei"/>
              </a:rPr>
              <a:t>分布（脾大）；动态与形态是分型钥匙。</a:t>
            </a:r>
            <a:endParaRPr/>
          </a:p>
        </p:txBody>
      </p:sp>
      <p:sp>
        <p:nvSpPr>
          <p:cNvPr id="1268"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69"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第</a:t>
            </a:r>
            <a:r>
              <a:rPr lang="en-US" sz="1425" b="1">
                <a:solidFill>
                  <a:srgbClr val="0E3F8C"/>
                </a:solidFill>
                <a:latin typeface="Microsoft YaHei"/>
                <a:ea typeface="Microsoft YaHei"/>
              </a:rPr>
              <a:t> 3 </a:t>
            </a:r>
            <a:r>
              <a:rPr lang="zh-CN" sz="1425" b="1">
                <a:solidFill>
                  <a:srgbClr val="0E3F8C"/>
                </a:solidFill>
                <a:latin typeface="Microsoft YaHei"/>
                <a:ea typeface="Microsoft YaHei"/>
              </a:rPr>
              <a:t>步</a:t>
            </a:r>
            <a:r>
              <a:rPr lang="en-US" sz="1425" b="1">
                <a:solidFill>
                  <a:srgbClr val="0E3F8C"/>
                </a:solidFill>
                <a:latin typeface="Microsoft YaHei"/>
                <a:ea typeface="Microsoft YaHei"/>
              </a:rPr>
              <a:t> </a:t>
            </a:r>
            <a:r>
              <a:rPr lang="zh-CN" sz="1425" b="1">
                <a:solidFill>
                  <a:srgbClr val="0E3F8C"/>
                </a:solidFill>
                <a:latin typeface="Microsoft YaHei"/>
                <a:ea typeface="Microsoft YaHei"/>
              </a:rPr>
              <a:t>场景</a:t>
            </a:r>
            <a:endParaRPr/>
          </a:p>
        </p:txBody>
      </p:sp>
      <p:sp>
        <p:nvSpPr>
          <p:cNvPr id="1270"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带入临床场景选阈值与路径：住院化疗（</a:t>
            </a:r>
            <a:r>
              <a:rPr lang="en-US" sz="1275">
                <a:solidFill>
                  <a:srgbClr val="2C3E50"/>
                </a:solidFill>
                <a:latin typeface="Microsoft YaHei"/>
                <a:ea typeface="Microsoft YaHei"/>
              </a:rPr>
              <a:t>10 </a:t>
            </a:r>
            <a:r>
              <a:rPr lang="zh-CN" sz="1275">
                <a:solidFill>
                  <a:srgbClr val="2C3E50"/>
                </a:solidFill>
                <a:latin typeface="Microsoft YaHei"/>
                <a:ea typeface="Microsoft YaHei"/>
              </a:rPr>
              <a:t>预防线）、术前（操作阈值）、</a:t>
            </a:r>
            <a:r>
              <a:rPr lang="en-US" sz="1275">
                <a:solidFill>
                  <a:srgbClr val="2C3E50"/>
                </a:solidFill>
                <a:latin typeface="Microsoft YaHei"/>
                <a:ea typeface="Microsoft YaHei"/>
              </a:rPr>
              <a:t>ICU</a:t>
            </a:r>
            <a:r>
              <a:rPr lang="zh-CN" sz="1275">
                <a:solidFill>
                  <a:srgbClr val="2C3E50"/>
                </a:solidFill>
                <a:latin typeface="Microsoft YaHei"/>
                <a:ea typeface="Microsoft YaHei"/>
              </a:rPr>
              <a:t>（多因）、妊娠</a:t>
            </a:r>
            <a:r>
              <a:rPr lang="en-US" sz="1275">
                <a:solidFill>
                  <a:srgbClr val="2C3E50"/>
                </a:solidFill>
                <a:latin typeface="Microsoft YaHei"/>
                <a:ea typeface="Microsoft YaHei"/>
              </a:rPr>
              <a:t>/</a:t>
            </a:r>
            <a:r>
              <a:rPr lang="zh-CN" sz="1275">
                <a:solidFill>
                  <a:srgbClr val="2C3E50"/>
                </a:solidFill>
                <a:latin typeface="Microsoft YaHei"/>
                <a:ea typeface="Microsoft YaHei"/>
              </a:rPr>
              <a:t>肝病（特殊线）——回到第四、七、八章各场景。</a:t>
            </a:r>
            <a:endParaRPr/>
          </a:p>
        </p:txBody>
      </p:sp>
      <p:sp>
        <p:nvSpPr>
          <p:cNvPr id="1271"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72"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第</a:t>
            </a:r>
            <a:r>
              <a:rPr lang="en-US" sz="1425" b="1">
                <a:solidFill>
                  <a:srgbClr val="0E3F8C"/>
                </a:solidFill>
                <a:latin typeface="Microsoft YaHei"/>
                <a:ea typeface="Microsoft YaHei"/>
              </a:rPr>
              <a:t> 4 </a:t>
            </a:r>
            <a:r>
              <a:rPr lang="zh-CN" sz="1425" b="1">
                <a:solidFill>
                  <a:srgbClr val="0E3F8C"/>
                </a:solidFill>
                <a:latin typeface="Microsoft YaHei"/>
                <a:ea typeface="Microsoft YaHei"/>
              </a:rPr>
              <a:t>步</a:t>
            </a:r>
            <a:r>
              <a:rPr lang="en-US" sz="1425" b="1">
                <a:solidFill>
                  <a:srgbClr val="0E3F8C"/>
                </a:solidFill>
                <a:latin typeface="Microsoft YaHei"/>
                <a:ea typeface="Microsoft YaHei"/>
              </a:rPr>
              <a:t> </a:t>
            </a:r>
            <a:r>
              <a:rPr lang="zh-CN" sz="1425" b="1">
                <a:solidFill>
                  <a:srgbClr val="0E3F8C"/>
                </a:solidFill>
                <a:latin typeface="Microsoft YaHei"/>
                <a:ea typeface="Microsoft YaHei"/>
              </a:rPr>
              <a:t>行动</a:t>
            </a:r>
            <a:endParaRPr/>
          </a:p>
        </p:txBody>
      </p:sp>
      <p:sp>
        <p:nvSpPr>
          <p:cNvPr id="1273" name="" descr="{&quot;isTemplate&quot;:true,&quot;type&quot;:&quot;text&quot;}"/>
          <p:cNvSpPr txBox="1"/>
          <p:nvPr/>
        </p:nvSpPr>
        <p:spPr>
          <a:xfrm rot="0" flipH="0" flipV="0">
            <a:off x="6419850" y="29241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需要干预时明确目标（止血</a:t>
            </a:r>
            <a:r>
              <a:rPr lang="en-US" sz="1275">
                <a:solidFill>
                  <a:srgbClr val="2C3E50"/>
                </a:solidFill>
                <a:latin typeface="Microsoft YaHei"/>
                <a:ea typeface="Microsoft YaHei"/>
              </a:rPr>
              <a:t> vs </a:t>
            </a:r>
            <a:r>
              <a:rPr lang="zh-CN" sz="1275">
                <a:solidFill>
                  <a:srgbClr val="2C3E50"/>
                </a:solidFill>
                <a:latin typeface="Microsoft YaHei"/>
                <a:ea typeface="Microsoft YaHei"/>
              </a:rPr>
              <a:t>升板</a:t>
            </a:r>
            <a:r>
              <a:rPr lang="en-US" sz="1275">
                <a:solidFill>
                  <a:srgbClr val="2C3E50"/>
                </a:solidFill>
                <a:latin typeface="Microsoft YaHei"/>
                <a:ea typeface="Microsoft YaHei"/>
              </a:rPr>
              <a:t> vs </a:t>
            </a:r>
            <a:r>
              <a:rPr lang="zh-CN" sz="1275">
                <a:solidFill>
                  <a:srgbClr val="2C3E50"/>
                </a:solidFill>
                <a:latin typeface="Microsoft YaHei"/>
                <a:ea typeface="Microsoft YaHei"/>
              </a:rPr>
              <a:t>抗凝），选工具（输注</a:t>
            </a:r>
            <a:r>
              <a:rPr lang="en-US" sz="1275">
                <a:solidFill>
                  <a:srgbClr val="2C3E50"/>
                </a:solidFill>
                <a:latin typeface="Microsoft YaHei"/>
                <a:ea typeface="Microsoft YaHei"/>
              </a:rPr>
              <a:t>/TPO-RA/</a:t>
            </a:r>
            <a:r>
              <a:rPr lang="zh-CN" sz="1275">
                <a:solidFill>
                  <a:srgbClr val="2C3E50"/>
                </a:solidFill>
                <a:latin typeface="Microsoft YaHei"/>
                <a:ea typeface="Microsoft YaHei"/>
              </a:rPr>
              <a:t>停肝素</a:t>
            </a:r>
            <a:r>
              <a:rPr lang="en-US" sz="1275">
                <a:solidFill>
                  <a:srgbClr val="2C3E50"/>
                </a:solidFill>
                <a:latin typeface="Microsoft YaHei"/>
                <a:ea typeface="Microsoft YaHei"/>
              </a:rPr>
              <a:t>/</a:t>
            </a:r>
            <a:r>
              <a:rPr lang="zh-CN" sz="1275">
                <a:solidFill>
                  <a:srgbClr val="2C3E50"/>
                </a:solidFill>
                <a:latin typeface="Microsoft YaHei"/>
                <a:ea typeface="Microsoft YaHei"/>
              </a:rPr>
              <a:t>处理原发病）并设复查节点，形成闭环。</a:t>
            </a:r>
            <a:endParaRPr/>
          </a:p>
        </p:txBody>
      </p:sp>
      <p:sp>
        <p:nvSpPr>
          <p:cNvPr id="1274"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75"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276"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277"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78" name="" descr="{&quot;isTemplate&quot;:true,&quot;type&quot;:&quot;text&quot;}"/>
          <p:cNvSpPr txBox="1"/>
          <p:nvPr/>
        </p:nvSpPr>
        <p:spPr>
          <a:xfrm rot="0" flipH="0" flipV="0">
            <a:off x="641985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流程化的收益：把“直觉式处理”升级为“可复核、可教学、可质控”的决策。</a:t>
            </a:r>
            <a:endParaRPr/>
          </a:p>
        </p:txBody>
      </p:sp>
      <p:sp>
        <p:nvSpPr>
          <p:cNvPr id="127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28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2016;128:3032-3042 (PMID 28034871)</a:t>
            </a:r>
            <a:endParaRPr/>
          </a:p>
        </p:txBody>
      </p:sp>
      <p:sp>
        <p:nvSpPr>
          <p:cNvPr id="1281" name=""/>
          <p:cNvSpPr/>
          <p:nvPr/>
        </p:nvSpPr>
        <p:spPr>
          <a:xfrm rot="0" flipH="0" flipV="0">
            <a:off x="0" y="6324600"/>
            <a:ext cx="12192000" cy="342900"/>
          </a:xfrm>
          <a:prstGeom prst="rect">
            <a:avLst/>
          </a:prstGeom>
          <a:solidFill>
            <a:srgbClr val="F7F9FC"/>
          </a:solidFill>
          <a:ln/>
        </p:spPr>
        <p:txBody>
          <a:bodyPr/>
          <a:p/>
        </p:txBody>
      </p:sp>
      <p:sp>
        <p:nvSpPr>
          <p:cNvPr id="128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28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7.xml><?xml version="1.0" encoding="utf-8"?>
<p:sld xmlns:p="http://schemas.openxmlformats.org/presentationml/2006/main" xmlns:a="http://schemas.openxmlformats.org/drawingml/2006/main">
  <p:cSld>
    <p:spTree>
      <p:nvGrpSpPr>
        <p:cNvPr id="1284" name="" descr="&lt;Slide notes={`演讲者备注：【GREINACHER-ICU】ICU 血小板减少评估与处理：发生率高且常为多因素（消耗、稀释、药物、免疫）；按 4Ts/涂片/骨髓等分步鉴别，避免对假性与轻度减少过度输注。证据：Blood 2016;128:3032-3042，PMID 28034871。&#13;&#10;【TAYLOR-ISTH-DIC】ISTH 显性 DIC 积分：血小板进行性下降为四项核心指标之一（动态变化较绝对值更关键），强调重复测定与趋势判读。证据：Thromb Haemost 2001;86:1327-1330，PMID 11816725。&#13;&#10;讲解提示：举例——同一患者周一 120、周三 60（-50%）比“长期 60”更紧急：前者提示消耗/免疫事件正在发生；Delta check 应写入 LIS 自动规则，异常自动触发复检与通知。`}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九章 流程化判读与动态监测&lt;/Text&gt;&#13;&#10;      &lt;Box style={{ width: 1, height: 24, background: '#3D7BD9' }} /&gt;&#13;&#10;      &lt;Text style={{ fontSize: 16, color: '#C7D6EC' }}&gt;危急值与 Δ 变化：让“下降速度”开口说话&lt;/Text&gt;&#13;&#10;    &lt;/Box&gt;&#13;&#10;    &lt;Text style={{ position: 'absolute', right: 64, top: 24, fontSize: 15, color: '#9DB8E0' }}&gt;57 / 77&lt;/Text&gt;&#13;&#10;  &lt;/Box&gt;&#13;&#10;  &lt;Box style={{ position: 'absolute', left: 64, top: 96, width: 562, height: 128, background: '#F0F5FC', borderRadius: 12, border: '1px solid #E5E7EB', padding: 20 }}&gt;&#13;&#10;&lt;Text style={{ fontSize: 19, color: '#0E3F8C', fontWeight: 'bold', textAlign: 'left', lineHeight: 1.5 }}&gt;Δ 规则&lt;/Text&gt;&#13;&#10;&lt;Text style={{ fontSize: 17, color: '#2C3E50', textAlign: 'left', lineHeight: 1.62 }}&gt;血小板急性下降比绝对值更早提示事件：如 24h 下降 &amp;gt;30%—50% 或较基线下降 &amp;gt;50%（HIT 定义即含此条）、DIC 积分中血小板下降 &amp;gt;50% 加分——连续两次结果即可定位“正在发生什么”。&lt;/Text&gt;&#13;&#10;  &lt;/Box&gt;&#13;&#10;  &lt;Box style={{ position: 'absolute', left: 654, top: 96, width: 562, height: 128, background: '#F0F5FC', borderRadius: 12, border: '1px solid #E5E7EB', padding: 20 }}&gt;&#13;&#10;&lt;Text style={{ fontSize: 19, color: '#0E3F8C', fontWeight: 'bold', textAlign: 'left', lineHeight: 1.5 }}&gt;危急值管理&lt;/Text&gt;&#13;&#10;&lt;Text style={{ fontSize: 17, color: '#2C3E50', textAlign: 'left', lineHeight: 1.62 }}&gt;血小板危急值（各中心多为 &amp;lt;20—30 或 &amp;lt;10）应即时复检确认、电话回报并记录：先排除假性，再评估出血风险与病因，24h 内完成原因分诊。&lt;/Text&gt;&#13;&#10;  &lt;/Box&gt;&#13;&#10;  &lt;Box style={{ position: 'absolute', left: 64, top: 252, width: 562, height: 128, background: '#F0F5FC', borderRadius: 12, border: '1px solid #E5E7EB', padding: 20 }}&gt;&#13;&#10;&lt;Text style={{ fontSize: 19, color: '#0E3F8C', fontWeight: 'bold', textAlign: 'left', lineHeight: 1.5 }}&gt;复测频率建议&lt;/Text&gt;&#13;&#10;&lt;Text style={{ fontSize: 17, color: '#2C3E50', textAlign: 'left', lineHeight: 1.62 }}&gt;急性 DIC/HIT：4—8h 至每日；围术期/大出血复苏：随复苏节点（每小时至每 4h）；ITP/TPO-RA：启动与调整后 3—7 天；化疗后：每周 2—3 次至恢复；稳定慢性：按随访方案。&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把“单点数字”升级为“时间序列”，血小板检验就获得了预后与预警价值。&lt;/Text&gt;&#13;&#10;  &lt;/Box&gt;&#13;&#10;&#13;&#10;  &lt;Box style={{ position: 'absolute', left: 64, top: 556, width: 1152, height: 92, background: '#F0F5FC', borderRadius: 12, border: '1px solid #E5E7EB', padding: 20 }}&gt;&#13;&#10;&lt;Text style={{ fontSize: 17, color: '#2C3E50', textAlign: 'left', lineHeight: 1.6 }}&gt;小结：Blood 2016;128:3032-3042 (PMID 2803487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285" name=""/>
          <p:cNvSpPr/>
          <p:nvPr/>
        </p:nvSpPr>
        <p:spPr>
          <a:xfrm rot="0" flipH="0" flipV="0">
            <a:off x="0" y="0"/>
            <a:ext cx="12192000" cy="6858000"/>
          </a:xfrm>
          <a:prstGeom prst="rect">
            <a:avLst/>
          </a:prstGeom>
          <a:solidFill>
            <a:srgbClr val="FFFFFF"/>
          </a:solidFill>
          <a:ln/>
        </p:spPr>
        <p:txBody>
          <a:bodyPr/>
          <a:p/>
        </p:txBody>
      </p:sp>
      <p:sp>
        <p:nvSpPr>
          <p:cNvPr id="1286" name=""/>
          <p:cNvSpPr/>
          <p:nvPr/>
        </p:nvSpPr>
        <p:spPr>
          <a:xfrm rot="0" flipH="0" flipV="0">
            <a:off x="0" y="0"/>
            <a:ext cx="12192000" cy="685800"/>
          </a:xfrm>
          <a:prstGeom prst="rect">
            <a:avLst/>
          </a:prstGeom>
          <a:solidFill>
            <a:srgbClr val="0E3F8C"/>
          </a:solidFill>
          <a:ln/>
        </p:spPr>
        <p:txBody>
          <a:bodyPr/>
          <a:p/>
        </p:txBody>
      </p:sp>
      <p:sp>
        <p:nvSpPr>
          <p:cNvPr id="1287"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第九章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流程化判读与动态监测</a:t>
            </a:r>
            <a:endParaRPr/>
          </a:p>
        </p:txBody>
      </p:sp>
      <p:sp>
        <p:nvSpPr>
          <p:cNvPr id="1288" name=""/>
          <p:cNvSpPr/>
          <p:nvPr/>
        </p:nvSpPr>
        <p:spPr>
          <a:xfrm rot="0" flipH="0" flipV="0">
            <a:off x="3048000" y="209550"/>
            <a:ext cx="9525" cy="228600"/>
          </a:xfrm>
          <a:prstGeom prst="rect">
            <a:avLst/>
          </a:prstGeom>
          <a:solidFill>
            <a:srgbClr val="3D7BD9"/>
          </a:solidFill>
          <a:ln/>
        </p:spPr>
        <p:txBody>
          <a:bodyPr/>
          <a:p/>
        </p:txBody>
      </p:sp>
      <p:sp>
        <p:nvSpPr>
          <p:cNvPr id="1289" name="" descr="{&quot;isTemplate&quot;:true,&quot;type&quot;:&quot;text&quot;}"/>
          <p:cNvSpPr txBox="1"/>
          <p:nvPr/>
        </p:nvSpPr>
        <p:spPr>
          <a:xfrm rot="0" flipH="0" flipV="0">
            <a:off x="3209925" y="228600"/>
            <a:ext cx="2943225" cy="190500"/>
          </a:xfrm>
          <a:prstGeom prst="rect"/>
        </p:spPr>
        <p:txBody>
          <a:bodyPr wrap="none" lIns="0" tIns="0" rIns="0" bIns="0"/>
          <a:p>
            <a:pPr>
              <a:lnSpc>
                <a:spcPct val="100000"/>
              </a:lnSpc>
            </a:pPr>
            <a:r>
              <a:rPr lang="zh-CN" sz="1200">
                <a:solidFill>
                  <a:srgbClr val="C7D6EC"/>
                </a:solidFill>
                <a:latin typeface="Microsoft YaHei"/>
                <a:ea typeface="Microsoft YaHei"/>
              </a:rPr>
              <a:t>危急值与</a:t>
            </a:r>
            <a:r>
              <a:rPr lang="en-US" sz="1200">
                <a:solidFill>
                  <a:srgbClr val="C7D6EC"/>
                </a:solidFill>
                <a:latin typeface="Microsoft YaHei"/>
                <a:ea typeface="Microsoft YaHei"/>
              </a:rPr>
              <a:t> Δ </a:t>
            </a:r>
            <a:r>
              <a:rPr lang="zh-CN" sz="1200">
                <a:solidFill>
                  <a:srgbClr val="C7D6EC"/>
                </a:solidFill>
                <a:latin typeface="Microsoft YaHei"/>
                <a:ea typeface="Microsoft YaHei"/>
              </a:rPr>
              <a:t>变化：让“下降速度”开口说话</a:t>
            </a:r>
            <a:endParaRPr/>
          </a:p>
        </p:txBody>
      </p:sp>
      <p:sp>
        <p:nvSpPr>
          <p:cNvPr id="129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57 / 77</a:t>
            </a:r>
            <a:endParaRPr/>
          </a:p>
        </p:txBody>
      </p:sp>
      <p:sp>
        <p:nvSpPr>
          <p:cNvPr id="129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9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Δ </a:t>
            </a:r>
            <a:r>
              <a:rPr lang="zh-CN" sz="1425" b="1">
                <a:solidFill>
                  <a:srgbClr val="0E3F8C"/>
                </a:solidFill>
                <a:latin typeface="Microsoft YaHei"/>
                <a:ea typeface="Microsoft YaHei"/>
              </a:rPr>
              <a:t>规则</a:t>
            </a:r>
            <a:endParaRPr/>
          </a:p>
        </p:txBody>
      </p:sp>
      <p:sp>
        <p:nvSpPr>
          <p:cNvPr id="129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血小板急性下降比绝对值更早提示事件：如</a:t>
            </a:r>
            <a:r>
              <a:rPr lang="en-US" sz="1275">
                <a:solidFill>
                  <a:srgbClr val="2C3E50"/>
                </a:solidFill>
                <a:latin typeface="Microsoft YaHei"/>
                <a:ea typeface="Microsoft YaHei"/>
              </a:rPr>
              <a:t> 24h </a:t>
            </a:r>
            <a:r>
              <a:rPr lang="zh-CN" sz="1275">
                <a:solidFill>
                  <a:srgbClr val="2C3E50"/>
                </a:solidFill>
                <a:latin typeface="Microsoft YaHei"/>
                <a:ea typeface="Microsoft YaHei"/>
              </a:rPr>
              <a:t>下降</a:t>
            </a:r>
            <a:r>
              <a:rPr lang="en-US" sz="1275">
                <a:solidFill>
                  <a:srgbClr val="2C3E50"/>
                </a:solidFill>
                <a:latin typeface="Microsoft YaHei"/>
                <a:ea typeface="Microsoft YaHei"/>
              </a:rPr>
              <a:t> &gt;30%—50% </a:t>
            </a:r>
            <a:r>
              <a:rPr lang="zh-CN" sz="1275">
                <a:solidFill>
                  <a:srgbClr val="2C3E50"/>
                </a:solidFill>
                <a:latin typeface="Microsoft YaHei"/>
                <a:ea typeface="Microsoft YaHei"/>
              </a:rPr>
              <a:t>或较基线下降</a:t>
            </a:r>
            <a:r>
              <a:rPr lang="en-US" sz="1275">
                <a:solidFill>
                  <a:srgbClr val="2C3E50"/>
                </a:solidFill>
                <a:latin typeface="Microsoft YaHei"/>
                <a:ea typeface="Microsoft YaHei"/>
              </a:rPr>
              <a:t> &gt;50%</a:t>
            </a:r>
            <a:r>
              <a:rPr lang="zh-CN" sz="1275">
                <a:solidFill>
                  <a:srgbClr val="2C3E50"/>
                </a:solidFill>
                <a:latin typeface="Microsoft YaHei"/>
                <a:ea typeface="Microsoft YaHei"/>
              </a:rPr>
              <a:t>（</a:t>
            </a:r>
            <a:r>
              <a:rPr lang="en-US" sz="1275">
                <a:solidFill>
                  <a:srgbClr val="2C3E50"/>
                </a:solidFill>
                <a:latin typeface="Microsoft YaHei"/>
                <a:ea typeface="Microsoft YaHei"/>
              </a:rPr>
              <a:t>HIT </a:t>
            </a:r>
            <a:r>
              <a:rPr lang="zh-CN" sz="1275">
                <a:solidFill>
                  <a:srgbClr val="2C3E50"/>
                </a:solidFill>
                <a:latin typeface="Microsoft YaHei"/>
                <a:ea typeface="Microsoft YaHei"/>
              </a:rPr>
              <a:t>定义即含此条）、</a:t>
            </a:r>
            <a:r>
              <a:rPr lang="en-US" sz="1275">
                <a:solidFill>
                  <a:srgbClr val="2C3E50"/>
                </a:solidFill>
                <a:latin typeface="Microsoft YaHei"/>
                <a:ea typeface="Microsoft YaHei"/>
              </a:rPr>
              <a:t>DIC </a:t>
            </a:r>
            <a:r>
              <a:rPr lang="zh-CN" sz="1275">
                <a:solidFill>
                  <a:srgbClr val="2C3E50"/>
                </a:solidFill>
                <a:latin typeface="Microsoft YaHei"/>
                <a:ea typeface="Microsoft YaHei"/>
              </a:rPr>
              <a:t>积分中血小板下降</a:t>
            </a:r>
            <a:r>
              <a:rPr lang="en-US" sz="1275">
                <a:solidFill>
                  <a:srgbClr val="2C3E50"/>
                </a:solidFill>
                <a:latin typeface="Microsoft YaHei"/>
                <a:ea typeface="Microsoft YaHei"/>
              </a:rPr>
              <a:t> &gt;50% </a:t>
            </a:r>
            <a:r>
              <a:rPr lang="zh-CN" sz="1275">
                <a:solidFill>
                  <a:srgbClr val="2C3E50"/>
                </a:solidFill>
                <a:latin typeface="Microsoft YaHei"/>
                <a:ea typeface="Microsoft YaHei"/>
              </a:rPr>
              <a:t>加分——连续两次结果即可定位“正在发生什么”。</a:t>
            </a:r>
            <a:endParaRPr/>
          </a:p>
        </p:txBody>
      </p:sp>
      <p:sp>
        <p:nvSpPr>
          <p:cNvPr id="129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9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危急值管理</a:t>
            </a:r>
            <a:endParaRPr/>
          </a:p>
        </p:txBody>
      </p:sp>
      <p:sp>
        <p:nvSpPr>
          <p:cNvPr id="1296"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血小板危急值（各中心多为</a:t>
            </a:r>
            <a:r>
              <a:rPr lang="en-US" sz="1275">
                <a:solidFill>
                  <a:srgbClr val="2C3E50"/>
                </a:solidFill>
                <a:latin typeface="Microsoft YaHei"/>
                <a:ea typeface="Microsoft YaHei"/>
              </a:rPr>
              <a:t> &lt;20—30 </a:t>
            </a:r>
            <a:r>
              <a:rPr lang="zh-CN" sz="1275">
                <a:solidFill>
                  <a:srgbClr val="2C3E50"/>
                </a:solidFill>
                <a:latin typeface="Microsoft YaHei"/>
                <a:ea typeface="Microsoft YaHei"/>
              </a:rPr>
              <a:t>或</a:t>
            </a:r>
            <a:r>
              <a:rPr lang="en-US" sz="1275">
                <a:solidFill>
                  <a:srgbClr val="2C3E50"/>
                </a:solidFill>
                <a:latin typeface="Microsoft YaHei"/>
                <a:ea typeface="Microsoft YaHei"/>
              </a:rPr>
              <a:t> &lt;10</a:t>
            </a:r>
            <a:r>
              <a:rPr lang="zh-CN" sz="1275">
                <a:solidFill>
                  <a:srgbClr val="2C3E50"/>
                </a:solidFill>
                <a:latin typeface="Microsoft YaHei"/>
                <a:ea typeface="Microsoft YaHei"/>
              </a:rPr>
              <a:t>）应即时复检确认、电话回报并记录：先排除假性，再评估出血风险与病因，</a:t>
            </a:r>
            <a:r>
              <a:rPr lang="en-US" sz="1275">
                <a:solidFill>
                  <a:srgbClr val="2C3E50"/>
                </a:solidFill>
                <a:latin typeface="Microsoft YaHei"/>
                <a:ea typeface="Microsoft YaHei"/>
              </a:rPr>
              <a:t>24h </a:t>
            </a:r>
            <a:r>
              <a:rPr lang="zh-CN" sz="1275">
                <a:solidFill>
                  <a:srgbClr val="2C3E50"/>
                </a:solidFill>
                <a:latin typeface="Microsoft YaHei"/>
                <a:ea typeface="Microsoft YaHei"/>
              </a:rPr>
              <a:t>内完成原因分诊。</a:t>
            </a:r>
            <a:endParaRPr/>
          </a:p>
        </p:txBody>
      </p:sp>
      <p:sp>
        <p:nvSpPr>
          <p:cNvPr id="129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29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复测频率建议</a:t>
            </a:r>
            <a:endParaRPr/>
          </a:p>
        </p:txBody>
      </p:sp>
      <p:sp>
        <p:nvSpPr>
          <p:cNvPr id="129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急性</a:t>
            </a:r>
            <a:r>
              <a:rPr lang="en-US" sz="1275">
                <a:solidFill>
                  <a:srgbClr val="2C3E50"/>
                </a:solidFill>
                <a:latin typeface="Microsoft YaHei"/>
                <a:ea typeface="Microsoft YaHei"/>
              </a:rPr>
              <a:t> DIC/HIT</a:t>
            </a:r>
            <a:r>
              <a:rPr lang="zh-CN" sz="1275">
                <a:solidFill>
                  <a:srgbClr val="2C3E50"/>
                </a:solidFill>
                <a:latin typeface="Microsoft YaHei"/>
                <a:ea typeface="Microsoft YaHei"/>
              </a:rPr>
              <a:t>：</a:t>
            </a:r>
            <a:r>
              <a:rPr lang="en-US" sz="1275">
                <a:solidFill>
                  <a:srgbClr val="2C3E50"/>
                </a:solidFill>
                <a:latin typeface="Microsoft YaHei"/>
                <a:ea typeface="Microsoft YaHei"/>
              </a:rPr>
              <a:t>4—8h </a:t>
            </a:r>
            <a:r>
              <a:rPr lang="zh-CN" sz="1275">
                <a:solidFill>
                  <a:srgbClr val="2C3E50"/>
                </a:solidFill>
                <a:latin typeface="Microsoft YaHei"/>
                <a:ea typeface="Microsoft YaHei"/>
              </a:rPr>
              <a:t>至每日；围术期</a:t>
            </a:r>
            <a:r>
              <a:rPr lang="en-US" sz="1275">
                <a:solidFill>
                  <a:srgbClr val="2C3E50"/>
                </a:solidFill>
                <a:latin typeface="Microsoft YaHei"/>
                <a:ea typeface="Microsoft YaHei"/>
              </a:rPr>
              <a:t>/</a:t>
            </a:r>
            <a:r>
              <a:rPr lang="zh-CN" sz="1275">
                <a:solidFill>
                  <a:srgbClr val="2C3E50"/>
                </a:solidFill>
                <a:latin typeface="Microsoft YaHei"/>
                <a:ea typeface="Microsoft YaHei"/>
              </a:rPr>
              <a:t>大出血复苏：随复苏节点（每小时至每</a:t>
            </a:r>
            <a:r>
              <a:rPr lang="en-US" sz="1275">
                <a:solidFill>
                  <a:srgbClr val="2C3E50"/>
                </a:solidFill>
                <a:latin typeface="Microsoft YaHei"/>
                <a:ea typeface="Microsoft YaHei"/>
              </a:rPr>
              <a:t> 4h</a:t>
            </a:r>
            <a:r>
              <a:rPr lang="zh-CN" sz="1275">
                <a:solidFill>
                  <a:srgbClr val="2C3E50"/>
                </a:solidFill>
                <a:latin typeface="Microsoft YaHei"/>
                <a:ea typeface="Microsoft YaHei"/>
              </a:rPr>
              <a:t>）；</a:t>
            </a:r>
            <a:r>
              <a:rPr lang="en-US" sz="1275">
                <a:solidFill>
                  <a:srgbClr val="2C3E50"/>
                </a:solidFill>
                <a:latin typeface="Microsoft YaHei"/>
                <a:ea typeface="Microsoft YaHei"/>
              </a:rPr>
              <a:t>ITP/TPO-RA</a:t>
            </a:r>
            <a:r>
              <a:rPr lang="zh-CN" sz="1275">
                <a:solidFill>
                  <a:srgbClr val="2C3E50"/>
                </a:solidFill>
                <a:latin typeface="Microsoft YaHei"/>
                <a:ea typeface="Microsoft YaHei"/>
              </a:rPr>
              <a:t>：启动与调整后</a:t>
            </a:r>
            <a:r>
              <a:rPr lang="en-US" sz="1275">
                <a:solidFill>
                  <a:srgbClr val="2C3E50"/>
                </a:solidFill>
                <a:latin typeface="Microsoft YaHei"/>
                <a:ea typeface="Microsoft YaHei"/>
              </a:rPr>
              <a:t> 3—7 </a:t>
            </a:r>
            <a:r>
              <a:rPr lang="zh-CN" sz="1275">
                <a:solidFill>
                  <a:srgbClr val="2C3E50"/>
                </a:solidFill>
                <a:latin typeface="Microsoft YaHei"/>
                <a:ea typeface="Microsoft YaHei"/>
              </a:rPr>
              <a:t>天；化疗后：每周</a:t>
            </a:r>
            <a:r>
              <a:rPr lang="en-US" sz="1275">
                <a:solidFill>
                  <a:srgbClr val="2C3E50"/>
                </a:solidFill>
                <a:latin typeface="Microsoft YaHei"/>
                <a:ea typeface="Microsoft YaHei"/>
              </a:rPr>
              <a:t> 2—3 </a:t>
            </a:r>
            <a:r>
              <a:rPr lang="zh-CN" sz="1275">
                <a:solidFill>
                  <a:srgbClr val="2C3E50"/>
                </a:solidFill>
                <a:latin typeface="Microsoft YaHei"/>
                <a:ea typeface="Microsoft YaHei"/>
              </a:rPr>
              <a:t>次至恢复；稳定慢性：按随访方案。</a:t>
            </a:r>
            <a:endParaRPr/>
          </a:p>
        </p:txBody>
      </p:sp>
      <p:sp>
        <p:nvSpPr>
          <p:cNvPr id="130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0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302"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30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04"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把“单点数字”升级为“时间序列”，血小板检验就获得了预后与预警价值。</a:t>
            </a:r>
            <a:endParaRPr/>
          </a:p>
        </p:txBody>
      </p:sp>
      <p:sp>
        <p:nvSpPr>
          <p:cNvPr id="1305"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306"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Blood 2016;128:3032-3042 (PMID 28034871)</a:t>
            </a:r>
            <a:endParaRPr/>
          </a:p>
        </p:txBody>
      </p:sp>
      <p:sp>
        <p:nvSpPr>
          <p:cNvPr id="1307" name=""/>
          <p:cNvSpPr/>
          <p:nvPr/>
        </p:nvSpPr>
        <p:spPr>
          <a:xfrm rot="0" flipH="0" flipV="0">
            <a:off x="0" y="6324600"/>
            <a:ext cx="12192000" cy="342900"/>
          </a:xfrm>
          <a:prstGeom prst="rect">
            <a:avLst/>
          </a:prstGeom>
          <a:solidFill>
            <a:srgbClr val="F7F9FC"/>
          </a:solidFill>
          <a:ln/>
        </p:spPr>
        <p:txBody>
          <a:bodyPr/>
          <a:p/>
        </p:txBody>
      </p:sp>
      <p:sp>
        <p:nvSpPr>
          <p:cNvPr id="1308"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309"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8.xml><?xml version="1.0" encoding="utf-8"?>
<p:sld xmlns:p="http://schemas.openxmlformats.org/presentationml/2006/main" xmlns:a="http://schemas.openxmlformats.org/drawingml/2006/main">
  <p:cSld>
    <p:spTree>
      <p:nvGrpSpPr>
        <p:cNvPr id="1310" name="" descr="&lt;Slide notes={`演讲者备注：【TAYLOR-ISTH-DIC】ISTH 显性 DIC 积分：血小板进行性下降为四项核心指标之一（动态变化较绝对值更关键），强调重复测定与趋势判读。证据：Thromb Haemost 2001;86:1327-1330，PMID 11816725。&#13;&#10;【HOFFMANN-IPF】网织血小板/IPF 反映血小板生成活性：在化疗/移植后恢复预测、ITP 与再生障碍性血小板减少鉴别中具有临床价值，但方法间可比性仍受限。证据：Clin Chem Lab Med 2014;52:1107-1117，PMID 24807169。&#13;&#10;讲解提示：四个场景共用一张“时间-血小板/IPF”曲线图讲解；强调不同场景的监测频率差异很大，应写进科室 SOP 与随访计划。`}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九章 流程化判读与动态监测&lt;/Text&gt;&#13;&#10;      &lt;Box style={{ width: 1, height: 24, background: '#3D7BD9' }} /&gt;&#13;&#10;      &lt;Text style={{ fontSize: 16, color: '#C7D6EC' }}&gt;动态监测的意义：四个真实受益场景&lt;/Text&gt;&#13;&#10;    &lt;/Box&gt;&#13;&#10;    &lt;Text style={{ position: 'absolute', right: 64, top: 24, fontSize: 15, color: '#9DB8E0' }}&gt;58 / 77&lt;/Text&gt;&#13;&#10;  &lt;/Box&gt;&#13;&#10;  &lt;Box style={{ position: 'absolute', left: 64, top: 96, width: 562, height: 128, background: '#F0F5FC', borderRadius: 12, border: '1px solid #E5E7EB', padding: 20 }}&gt;&#13;&#10;&lt;Text style={{ fontSize: 19, color: '#0E3F8C', fontWeight: 'bold', textAlign: 'left', lineHeight: 1.5 }}&gt;DIC&lt;/Text&gt;&#13;&#10;&lt;Text style={{ fontSize: 17, color: '#2C3E50', textAlign: 'left', lineHeight: 1.62 }}&gt;血小板+PT+FIB+D-D 四联按 4—8h 动态积分：判断分期、评估原发病治疗是否“刹住”消耗，指导是否调整抗凝/替代。&lt;/Text&gt;&#13;&#10;  &lt;/Box&gt;&#13;&#10;  &lt;Box style={{ position: 'absolute', left: 654, top: 96, width: 562, height: 128, background: '#F0F5FC', borderRadius: 12, border: '1px solid #E5E7EB', padding: 20 }}&gt;&#13;&#10;&lt;Text style={{ fontSize: 19, color: '#0E3F8C', fontWeight: 'bold', textAlign: 'left', lineHeight: 1.5 }}&gt;HIT&lt;/Text&gt;&#13;&#10;&lt;Text style={{ fontSize: 17, color: '#2C3E50', textAlign: 'left', lineHeight: 1.62 }}&gt;停药换抗凝后血小板回升曲线（一般 3—7 天开始上升）是疗效与安全的核心证据；不升反降需复查诊断与排查新血栓/感染。&lt;/Text&gt;&#13;&#10;  &lt;/Box&gt;&#13;&#10;  &lt;Box style={{ position: 'absolute', left: 64, top: 252, width: 562, height: 128, background: '#F0F5FC', borderRadius: 12, border: '1px solid #E5E7EB', padding: 20 }}&gt;&#13;&#10;&lt;Text style={{ fontSize: 19, color: '#0E3F8C', fontWeight: 'bold', textAlign: 'left', lineHeight: 1.5 }}&gt;ITP/TPO-RA&lt;/Text&gt;&#13;&#10;&lt;Text style={{ fontSize: 17, color: '#2C3E50', textAlign: 'left', lineHeight: 1.62 }}&gt;治疗反应以血小板序列定义（应答≥50 并维持）；动态监测同时捕捉“过冲”（&amp;gt;400 减量）与复发（下降趋势提前干预）。&lt;/Text&gt;&#13;&#10;  &lt;/Box&gt;&#13;&#10;  &lt;Box style={{ position: 'absolute', left: 654, top: 252, width: 562, height: 128, background: '#F0F5FC', borderRadius: 12, border: '1px solid #E5E7EB', padding: 20 }}&gt;&#13;&#10;&lt;Text style={{ fontSize: 19, color: '#0E3F8C', fontWeight: 'bold', textAlign: 'left', lineHeight: 1.5 }}&gt;化疗/移植后恢复&lt;/Text&gt;&#13;&#10;&lt;Text style={{ fontSize: 17, color: '#2C3E50', textAlign: 'left', lineHeight: 1.62 }}&gt;IPF 先升、计数随后回升：动态 IPF 可预测回升时机、优化预防性输注的“停输点”，减少无效输注与暴露。&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7, color: '#2C3E50', textAlign: 'left', lineHeight: 1.62 }}&gt;动态监测把检验从“事后解释”变为“实时导航”：频率由病情急缓决定，由 Δ 规则驱动。&lt;/Text&gt;&#13;&#10;  &lt;/Box&gt;&#13;&#10;&#13;&#10;  &lt;Box style={{ position: 'absolute', left: 64, top: 556, width: 1152, height: 92, background: '#F0F5FC', borderRadius: 12, border: '1px solid #E5E7EB', padding: 20 }}&gt;&#13;&#10;&lt;Text style={{ fontSize: 17, color: '#2C3E50', textAlign: 'left', lineHeight: 1.6 }}&gt;小结：Thromb Haemost 2001;86:1327-1330 (PMID 11816725)&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311" name=""/>
          <p:cNvSpPr/>
          <p:nvPr/>
        </p:nvSpPr>
        <p:spPr>
          <a:xfrm rot="0" flipH="0" flipV="0">
            <a:off x="0" y="0"/>
            <a:ext cx="12192000" cy="6858000"/>
          </a:xfrm>
          <a:prstGeom prst="rect">
            <a:avLst/>
          </a:prstGeom>
          <a:solidFill>
            <a:srgbClr val="FFFFFF"/>
          </a:solidFill>
          <a:ln/>
        </p:spPr>
        <p:txBody>
          <a:bodyPr/>
          <a:p/>
        </p:txBody>
      </p:sp>
      <p:sp>
        <p:nvSpPr>
          <p:cNvPr id="1312" name=""/>
          <p:cNvSpPr/>
          <p:nvPr/>
        </p:nvSpPr>
        <p:spPr>
          <a:xfrm rot="0" flipH="0" flipV="0">
            <a:off x="0" y="0"/>
            <a:ext cx="12192000" cy="685800"/>
          </a:xfrm>
          <a:prstGeom prst="rect">
            <a:avLst/>
          </a:prstGeom>
          <a:solidFill>
            <a:srgbClr val="0E3F8C"/>
          </a:solidFill>
          <a:ln/>
        </p:spPr>
        <p:txBody>
          <a:bodyPr/>
          <a:p/>
        </p:txBody>
      </p:sp>
      <p:sp>
        <p:nvSpPr>
          <p:cNvPr id="1313"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第九章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流程化判读与动态监测</a:t>
            </a:r>
            <a:endParaRPr/>
          </a:p>
        </p:txBody>
      </p:sp>
      <p:sp>
        <p:nvSpPr>
          <p:cNvPr id="1314" name=""/>
          <p:cNvSpPr/>
          <p:nvPr/>
        </p:nvSpPr>
        <p:spPr>
          <a:xfrm rot="0" flipH="0" flipV="0">
            <a:off x="3048000" y="209550"/>
            <a:ext cx="9525" cy="228600"/>
          </a:xfrm>
          <a:prstGeom prst="rect">
            <a:avLst/>
          </a:prstGeom>
          <a:solidFill>
            <a:srgbClr val="3D7BD9"/>
          </a:solidFill>
          <a:ln/>
        </p:spPr>
        <p:txBody>
          <a:bodyPr/>
          <a:p/>
        </p:txBody>
      </p:sp>
      <p:sp>
        <p:nvSpPr>
          <p:cNvPr id="1315" name="" descr="{&quot;isTemplate&quot;:true,&quot;type&quot;:&quot;text&quot;}"/>
          <p:cNvSpPr txBox="1"/>
          <p:nvPr/>
        </p:nvSpPr>
        <p:spPr>
          <a:xfrm rot="0" flipH="0" flipV="0">
            <a:off x="3209925" y="228600"/>
            <a:ext cx="2438400" cy="190500"/>
          </a:xfrm>
          <a:prstGeom prst="rect"/>
        </p:spPr>
        <p:txBody>
          <a:bodyPr wrap="none" lIns="0" tIns="0" rIns="0" bIns="0"/>
          <a:p>
            <a:pPr>
              <a:lnSpc>
                <a:spcPct val="100000"/>
              </a:lnSpc>
            </a:pPr>
            <a:r>
              <a:rPr lang="zh-CN" sz="1200">
                <a:solidFill>
                  <a:srgbClr val="C7D6EC"/>
                </a:solidFill>
                <a:latin typeface="Microsoft YaHei"/>
                <a:ea typeface="Microsoft YaHei"/>
              </a:rPr>
              <a:t>动态监测的意义：四个真实受益场景</a:t>
            </a:r>
            <a:endParaRPr/>
          </a:p>
        </p:txBody>
      </p:sp>
      <p:sp>
        <p:nvSpPr>
          <p:cNvPr id="1316"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58 / 77</a:t>
            </a:r>
            <a:endParaRPr/>
          </a:p>
        </p:txBody>
      </p:sp>
      <p:sp>
        <p:nvSpPr>
          <p:cNvPr id="1317"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18"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DIC</a:t>
            </a:r>
            <a:endParaRPr/>
          </a:p>
        </p:txBody>
      </p:sp>
      <p:sp>
        <p:nvSpPr>
          <p:cNvPr id="1319"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a:t>
            </a:r>
            <a:r>
              <a:rPr lang="en-US" sz="1275">
                <a:solidFill>
                  <a:srgbClr val="2C3E50"/>
                </a:solidFill>
                <a:latin typeface="Microsoft YaHei"/>
                <a:ea typeface="Microsoft YaHei"/>
              </a:rPr>
              <a:t>+PT+FIB+D-D </a:t>
            </a:r>
            <a:r>
              <a:rPr lang="zh-CN" sz="1275">
                <a:solidFill>
                  <a:srgbClr val="2C3E50"/>
                </a:solidFill>
                <a:latin typeface="Microsoft YaHei"/>
                <a:ea typeface="Microsoft YaHei"/>
              </a:rPr>
              <a:t>四联按</a:t>
            </a:r>
            <a:r>
              <a:rPr lang="en-US" sz="1275">
                <a:solidFill>
                  <a:srgbClr val="2C3E50"/>
                </a:solidFill>
                <a:latin typeface="Microsoft YaHei"/>
                <a:ea typeface="Microsoft YaHei"/>
              </a:rPr>
              <a:t> 4—8h </a:t>
            </a:r>
            <a:r>
              <a:rPr lang="zh-CN" sz="1275">
                <a:solidFill>
                  <a:srgbClr val="2C3E50"/>
                </a:solidFill>
                <a:latin typeface="Microsoft YaHei"/>
                <a:ea typeface="Microsoft YaHei"/>
              </a:rPr>
              <a:t>动态积分：判断分期、评估原发病治疗是否“刹住”消耗，指导是否调整抗凝</a:t>
            </a:r>
            <a:r>
              <a:rPr lang="en-US" sz="1275">
                <a:solidFill>
                  <a:srgbClr val="2C3E50"/>
                </a:solidFill>
                <a:latin typeface="Microsoft YaHei"/>
                <a:ea typeface="Microsoft YaHei"/>
              </a:rPr>
              <a:t>/</a:t>
            </a:r>
            <a:r>
              <a:rPr lang="zh-CN" sz="1275">
                <a:solidFill>
                  <a:srgbClr val="2C3E50"/>
                </a:solidFill>
                <a:latin typeface="Microsoft YaHei"/>
                <a:ea typeface="Microsoft YaHei"/>
              </a:rPr>
              <a:t>替代。</a:t>
            </a:r>
            <a:endParaRPr/>
          </a:p>
        </p:txBody>
      </p:sp>
      <p:sp>
        <p:nvSpPr>
          <p:cNvPr id="1320"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21"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HIT</a:t>
            </a:r>
            <a:endParaRPr/>
          </a:p>
        </p:txBody>
      </p:sp>
      <p:sp>
        <p:nvSpPr>
          <p:cNvPr id="1322" name="" descr="{&quot;isTemplate&quot;:true,&quot;type&quot;:&quot;text&quot;}"/>
          <p:cNvSpPr txBox="1"/>
          <p:nvPr/>
        </p:nvSpPr>
        <p:spPr>
          <a:xfrm rot="0" flipH="0" flipV="0">
            <a:off x="641985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停药换抗凝后血小板回升曲线（一般</a:t>
            </a:r>
            <a:r>
              <a:rPr lang="en-US" sz="1275">
                <a:solidFill>
                  <a:srgbClr val="2C3E50"/>
                </a:solidFill>
                <a:latin typeface="Microsoft YaHei"/>
                <a:ea typeface="Microsoft YaHei"/>
              </a:rPr>
              <a:t> 3—7 </a:t>
            </a:r>
            <a:r>
              <a:rPr lang="zh-CN" sz="1275">
                <a:solidFill>
                  <a:srgbClr val="2C3E50"/>
                </a:solidFill>
                <a:latin typeface="Microsoft YaHei"/>
                <a:ea typeface="Microsoft YaHei"/>
              </a:rPr>
              <a:t>天开始上升）是疗效与安全的核心证据；不升反降需复查诊断与排查新血栓</a:t>
            </a:r>
            <a:r>
              <a:rPr lang="en-US" sz="1275">
                <a:solidFill>
                  <a:srgbClr val="2C3E50"/>
                </a:solidFill>
                <a:latin typeface="Microsoft YaHei"/>
                <a:ea typeface="Microsoft YaHei"/>
              </a:rPr>
              <a:t>/</a:t>
            </a:r>
            <a:r>
              <a:rPr lang="zh-CN" sz="1275">
                <a:solidFill>
                  <a:srgbClr val="2C3E50"/>
                </a:solidFill>
                <a:latin typeface="Microsoft YaHei"/>
                <a:ea typeface="Microsoft YaHei"/>
              </a:rPr>
              <a:t>感染。</a:t>
            </a:r>
            <a:endParaRPr/>
          </a:p>
        </p:txBody>
      </p:sp>
      <p:sp>
        <p:nvSpPr>
          <p:cNvPr id="1323"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24"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ITP/TPO-RA</a:t>
            </a:r>
            <a:endParaRPr/>
          </a:p>
        </p:txBody>
      </p:sp>
      <p:sp>
        <p:nvSpPr>
          <p:cNvPr id="1325" name="" descr="{&quot;isTemplate&quot;:true,&quot;type&quot;:&quot;text&quot;}"/>
          <p:cNvSpPr txBox="1"/>
          <p:nvPr/>
        </p:nvSpPr>
        <p:spPr>
          <a:xfrm rot="0" flipH="0" flipV="0">
            <a:off x="800100" y="29241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治疗反应以血小板序列定义（应答≥</a:t>
            </a:r>
            <a:r>
              <a:rPr lang="en-US" sz="1275">
                <a:solidFill>
                  <a:srgbClr val="2C3E50"/>
                </a:solidFill>
                <a:latin typeface="Microsoft YaHei"/>
                <a:ea typeface="Microsoft YaHei"/>
              </a:rPr>
              <a:t>50 </a:t>
            </a:r>
            <a:r>
              <a:rPr lang="zh-CN" sz="1275">
                <a:solidFill>
                  <a:srgbClr val="2C3E50"/>
                </a:solidFill>
                <a:latin typeface="Microsoft YaHei"/>
                <a:ea typeface="Microsoft YaHei"/>
              </a:rPr>
              <a:t>并维持）；动态监测同时捕捉“过冲”（</a:t>
            </a:r>
            <a:r>
              <a:rPr lang="en-US" sz="1275">
                <a:solidFill>
                  <a:srgbClr val="2C3E50"/>
                </a:solidFill>
                <a:latin typeface="Microsoft YaHei"/>
                <a:ea typeface="Microsoft YaHei"/>
              </a:rPr>
              <a:t>&gt;400 </a:t>
            </a:r>
            <a:r>
              <a:rPr lang="zh-CN" sz="1275">
                <a:solidFill>
                  <a:srgbClr val="2C3E50"/>
                </a:solidFill>
                <a:latin typeface="Microsoft YaHei"/>
                <a:ea typeface="Microsoft YaHei"/>
              </a:rPr>
              <a:t>减量）与复发（下降趋势提前干预）。</a:t>
            </a:r>
            <a:endParaRPr/>
          </a:p>
        </p:txBody>
      </p:sp>
      <p:sp>
        <p:nvSpPr>
          <p:cNvPr id="1326"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27"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化疗</a:t>
            </a:r>
            <a:r>
              <a:rPr lang="en-US" sz="1425" b="1">
                <a:solidFill>
                  <a:srgbClr val="0E3F8C"/>
                </a:solidFill>
                <a:latin typeface="Microsoft YaHei"/>
                <a:ea typeface="Microsoft YaHei"/>
              </a:rPr>
              <a:t>/</a:t>
            </a:r>
            <a:r>
              <a:rPr lang="zh-CN" sz="1425" b="1">
                <a:solidFill>
                  <a:srgbClr val="0E3F8C"/>
                </a:solidFill>
                <a:latin typeface="Microsoft YaHei"/>
                <a:ea typeface="Microsoft YaHei"/>
              </a:rPr>
              <a:t>移植后恢复</a:t>
            </a:r>
            <a:endParaRPr/>
          </a:p>
        </p:txBody>
      </p:sp>
      <p:sp>
        <p:nvSpPr>
          <p:cNvPr id="1328" name="" descr="{&quot;isTemplate&quot;:true,&quot;type&quot;:&quot;text&quot;}"/>
          <p:cNvSpPr txBox="1"/>
          <p:nvPr/>
        </p:nvSpPr>
        <p:spPr>
          <a:xfrm rot="0" flipH="0" flipV="0">
            <a:off x="6419850" y="29241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IPF </a:t>
            </a:r>
            <a:r>
              <a:rPr lang="zh-CN" sz="1275">
                <a:solidFill>
                  <a:srgbClr val="2C3E50"/>
                </a:solidFill>
                <a:latin typeface="Microsoft YaHei"/>
                <a:ea typeface="Microsoft YaHei"/>
              </a:rPr>
              <a:t>先升、计数随后回升：动态</a:t>
            </a:r>
            <a:r>
              <a:rPr lang="en-US" sz="1275">
                <a:solidFill>
                  <a:srgbClr val="2C3E50"/>
                </a:solidFill>
                <a:latin typeface="Microsoft YaHei"/>
                <a:ea typeface="Microsoft YaHei"/>
              </a:rPr>
              <a:t> IPF </a:t>
            </a:r>
            <a:r>
              <a:rPr lang="zh-CN" sz="1275">
                <a:solidFill>
                  <a:srgbClr val="2C3E50"/>
                </a:solidFill>
                <a:latin typeface="Microsoft YaHei"/>
                <a:ea typeface="Microsoft YaHei"/>
              </a:rPr>
              <a:t>可预测回升时机、优化预防性输注的“停输点”，减少无效输注与暴露。</a:t>
            </a:r>
            <a:endParaRPr/>
          </a:p>
        </p:txBody>
      </p:sp>
      <p:sp>
        <p:nvSpPr>
          <p:cNvPr id="1329"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30"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331"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332"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33" name="" descr="{&quot;isTemplate&quot;:true,&quot;type&quot;:&quot;text&quot;}"/>
          <p:cNvSpPr txBox="1"/>
          <p:nvPr/>
        </p:nvSpPr>
        <p:spPr>
          <a:xfrm rot="0" flipH="0" flipV="0">
            <a:off x="641985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动态监测把检验从“事后解释”变为“实时导航”：频率由病情急缓决定，由</a:t>
            </a:r>
            <a:r>
              <a:rPr lang="en-US" sz="1275">
                <a:solidFill>
                  <a:srgbClr val="2C3E50"/>
                </a:solidFill>
                <a:latin typeface="Microsoft YaHei"/>
                <a:ea typeface="Microsoft YaHei"/>
              </a:rPr>
              <a:t> Δ </a:t>
            </a:r>
            <a:r>
              <a:rPr lang="zh-CN" sz="1275">
                <a:solidFill>
                  <a:srgbClr val="2C3E50"/>
                </a:solidFill>
                <a:latin typeface="Microsoft YaHei"/>
                <a:ea typeface="Microsoft YaHei"/>
              </a:rPr>
              <a:t>规则驱动。</a:t>
            </a:r>
            <a:endParaRPr/>
          </a:p>
        </p:txBody>
      </p:sp>
      <p:sp>
        <p:nvSpPr>
          <p:cNvPr id="1334"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335"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Thromb Haemost 2001;86:1327-1330 (PMID 11816725)</a:t>
            </a:r>
            <a:endParaRPr/>
          </a:p>
        </p:txBody>
      </p:sp>
      <p:sp>
        <p:nvSpPr>
          <p:cNvPr id="1336" name=""/>
          <p:cNvSpPr/>
          <p:nvPr/>
        </p:nvSpPr>
        <p:spPr>
          <a:xfrm rot="0" flipH="0" flipV="0">
            <a:off x="0" y="6324600"/>
            <a:ext cx="12192000" cy="342900"/>
          </a:xfrm>
          <a:prstGeom prst="rect">
            <a:avLst/>
          </a:prstGeom>
          <a:solidFill>
            <a:srgbClr val="F7F9FC"/>
          </a:solidFill>
          <a:ln/>
        </p:spPr>
        <p:txBody>
          <a:bodyPr/>
          <a:p/>
        </p:txBody>
      </p:sp>
      <p:sp>
        <p:nvSpPr>
          <p:cNvPr id="1337"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33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59.xml><?xml version="1.0" encoding="utf-8"?>
<p:sld xmlns:p="http://schemas.openxmlformats.org/presentationml/2006/main" xmlns:a="http://schemas.openxmlformats.org/drawingml/2006/main">
  <p:cSld>
    <p:spTree>
      <p:nvGrpSpPr>
        <p:cNvPr id="1339" name="" descr="&lt;Slide notes={`演讲者备注：【RODGERS-BT】出血时间（BT）的批判性再评价：操作标准化差、敏感性与预测价值有限，已不作为常规术前出血风险筛查。证据：Semin Thromb Hemost 2024;50:499-516，PMID 38086409。&#13;&#10;【FNX-OVERVIEW】血小板功能检测在冠脉介入中的角色演变综述：从 LTA 到床旁设备的可及性提高，但其对缺血/出血结局预测的增量价值仍存争议。证据：Vasc Health Risk Manag 2012;8:65-75，PMID 22371653。&#13;&#10;讲解提示：把“合理申请”上升为质量改进主题——与检验科共建申请单模板与拒收/降级规则，是减少无效检测与提高解读质量的最快路径。`}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九章 流程化判读与动态监测&lt;/Text&gt;&#13;&#10;      &lt;Box style={{ width: 1, height: 24, background: '#3D7BD9' }} /&gt;&#13;&#10;      &lt;Text style={{ fontSize: 16, color: '#C7D6EC' }}&gt;功能检测的合理申请：避免过度与不足&lt;/Text&gt;&#13;&#10;    &lt;/Box&gt;&#13;&#10;    &lt;Text style={{ position: 'absolute', right: 64, top: 24, fontSize: 15, color: '#9DB8E0' }}&gt;59 / 77&lt;/Text&gt;&#13;&#10;  &lt;/Box&gt;&#13;&#10;  &lt;Box style={{ position: 'absolute', left: 64, top: 96, width: 562, height: 128, background: '#F0F5FC', borderRadius: 12, border: '1px solid #E5E7EB', padding: 20 }}&gt;&#13;&#10;&lt;Text style={{ fontSize: 19, color: '#0E3F8C', fontWeight: 'bold', textAlign: 'left', lineHeight: 1.5 }}&gt;什么时候不做&lt;/Text&gt;&#13;&#10;&lt;Text style={{ fontSize: 17, color: '#2C3E50', textAlign: 'left', lineHeight: 1.62 }}&gt;常规术前出血筛查（无出血史者）、无症状人群体检、阿司匹林“常规疗效监测”、以及“测着安心”式申请——证据不支持这些场景（出血时间的历史教训）。&lt;/Text&gt;&#13;&#10;  &lt;/Box&gt;&#13;&#10;  &lt;Box style={{ position: 'absolute', left: 654, top: 96, width: 562, height: 128, background: '#F0F5FC', borderRadius: 12, border: '1px solid #E5E7EB', padding: 20 }}&gt;&#13;&#10;&lt;Text style={{ fontSize: 19, color: '#0E3F8C', fontWeight: 'bold', textAlign: 'left', lineHeight: 1.5 }}&gt;什么时候做&lt;/Text&gt;&#13;&#10;&lt;Text style={{ fontSize: 17, color: '#2C3E50', textAlign: 'left', lineHeight: 1.62 }}&gt;①不明原因出血体质评估（黏膜皮肤出血、拔牙/手术后出血史）；②特定抗血小板管理（疑似抵抗、桥接、高风险手术）；③先天性血小板病分型；④CPB/创伤等 VET 场景的组分定位。&lt;/Text&gt;&#13;&#10;  &lt;/Box&gt;&#13;&#10;  &lt;Box style={{ position: 'absolute', left: 64, top: 252, width: 562, height: 128, background: '#F0F5FC', borderRadius: 12, border: '1px solid #E5E7EB', padding: 20 }}&gt;&#13;&#10;&lt;Text style={{ fontSize: 19, color: '#0E3F8C', fontWeight: 'bold', textAlign: 'left', lineHeight: 1.5 }}&gt;申请单必填要素&lt;/Text&gt;&#13;&#10;&lt;Text style={{ fontSize: 17, color: '#2C3E50', textAlign: 'left', lineHeight: 1.62 }}&gt;采血时间点、最近一次抗血小板/抗凝药与停药时间、血小板计数、出血史摘要、检测目的——缺少这些，检验科无法选择方法与解读结果。&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功能检测的“适应证”由临床问题定义：问“测了会改变什么决定”，答不出就别测。&lt;/Text&gt;&#13;&#10;  &lt;/Box&gt;&#13;&#10;&#13;&#10;  &lt;Box style={{ position: 'absolute', left: 64, top: 556, width: 1152, height: 92, background: '#F0F5FC', borderRadius: 12, border: '1px solid #E5E7EB', padding: 20 }}&gt;&#13;&#10;&lt;Text style={{ fontSize: 17, color: '#2C3E50', textAlign: 'left', lineHeight: 1.6 }}&gt;小结：Semin Thromb Hemost 2024;50:499-516 (PMID 38086409)&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340" name=""/>
          <p:cNvSpPr/>
          <p:nvPr/>
        </p:nvSpPr>
        <p:spPr>
          <a:xfrm rot="0" flipH="0" flipV="0">
            <a:off x="0" y="0"/>
            <a:ext cx="12192000" cy="6858000"/>
          </a:xfrm>
          <a:prstGeom prst="rect">
            <a:avLst/>
          </a:prstGeom>
          <a:solidFill>
            <a:srgbClr val="FFFFFF"/>
          </a:solidFill>
          <a:ln/>
        </p:spPr>
        <p:txBody>
          <a:bodyPr/>
          <a:p/>
        </p:txBody>
      </p:sp>
      <p:sp>
        <p:nvSpPr>
          <p:cNvPr id="1341" name=""/>
          <p:cNvSpPr/>
          <p:nvPr/>
        </p:nvSpPr>
        <p:spPr>
          <a:xfrm rot="0" flipH="0" flipV="0">
            <a:off x="0" y="0"/>
            <a:ext cx="12192000" cy="685800"/>
          </a:xfrm>
          <a:prstGeom prst="rect">
            <a:avLst/>
          </a:prstGeom>
          <a:solidFill>
            <a:srgbClr val="0E3F8C"/>
          </a:solidFill>
          <a:ln/>
        </p:spPr>
        <p:txBody>
          <a:bodyPr/>
          <a:p/>
        </p:txBody>
      </p:sp>
      <p:sp>
        <p:nvSpPr>
          <p:cNvPr id="1342"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第九章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流程化判读与动态监测</a:t>
            </a:r>
            <a:endParaRPr/>
          </a:p>
        </p:txBody>
      </p:sp>
      <p:sp>
        <p:nvSpPr>
          <p:cNvPr id="1343" name=""/>
          <p:cNvSpPr/>
          <p:nvPr/>
        </p:nvSpPr>
        <p:spPr>
          <a:xfrm rot="0" flipH="0" flipV="0">
            <a:off x="3048000" y="209550"/>
            <a:ext cx="9525" cy="228600"/>
          </a:xfrm>
          <a:prstGeom prst="rect">
            <a:avLst/>
          </a:prstGeom>
          <a:solidFill>
            <a:srgbClr val="3D7BD9"/>
          </a:solidFill>
          <a:ln/>
        </p:spPr>
        <p:txBody>
          <a:bodyPr/>
          <a:p/>
        </p:txBody>
      </p:sp>
      <p:sp>
        <p:nvSpPr>
          <p:cNvPr id="1344" name="" descr="{&quot;isTemplate&quot;:true,&quot;type&quot;:&quot;text&quot;}"/>
          <p:cNvSpPr txBox="1"/>
          <p:nvPr/>
        </p:nvSpPr>
        <p:spPr>
          <a:xfrm rot="0" flipH="0" flipV="0">
            <a:off x="3209925" y="228600"/>
            <a:ext cx="2590800" cy="190500"/>
          </a:xfrm>
          <a:prstGeom prst="rect"/>
        </p:spPr>
        <p:txBody>
          <a:bodyPr wrap="none" lIns="0" tIns="0" rIns="0" bIns="0"/>
          <a:p>
            <a:pPr>
              <a:lnSpc>
                <a:spcPct val="100000"/>
              </a:lnSpc>
            </a:pPr>
            <a:r>
              <a:rPr lang="zh-CN" sz="1200">
                <a:solidFill>
                  <a:srgbClr val="C7D6EC"/>
                </a:solidFill>
                <a:latin typeface="Microsoft YaHei"/>
                <a:ea typeface="Microsoft YaHei"/>
              </a:rPr>
              <a:t>功能检测的合理申请：避免过度与不足</a:t>
            </a:r>
            <a:endParaRPr/>
          </a:p>
        </p:txBody>
      </p:sp>
      <p:sp>
        <p:nvSpPr>
          <p:cNvPr id="1345"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59 / 77</a:t>
            </a:r>
            <a:endParaRPr/>
          </a:p>
        </p:txBody>
      </p:sp>
      <p:sp>
        <p:nvSpPr>
          <p:cNvPr id="1346"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47"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什么时候不做</a:t>
            </a:r>
            <a:endParaRPr/>
          </a:p>
        </p:txBody>
      </p:sp>
      <p:sp>
        <p:nvSpPr>
          <p:cNvPr id="1348"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常规术前出血筛查（无出血史者）、无症状人群体检、阿司匹林“常规疗效监测”、以及“测着安心”式申请——证据不支持这些场景（出血时间的历史教训）。</a:t>
            </a:r>
            <a:endParaRPr/>
          </a:p>
        </p:txBody>
      </p:sp>
      <p:sp>
        <p:nvSpPr>
          <p:cNvPr id="1349"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50"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什么时候做</a:t>
            </a:r>
            <a:endParaRPr/>
          </a:p>
        </p:txBody>
      </p:sp>
      <p:sp>
        <p:nvSpPr>
          <p:cNvPr id="1351"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①不明原因出血体质评估（黏膜皮肤出血、拔牙</a:t>
            </a:r>
            <a:r>
              <a:rPr lang="en-US" sz="1275">
                <a:solidFill>
                  <a:srgbClr val="2C3E50"/>
                </a:solidFill>
                <a:latin typeface="Microsoft YaHei"/>
                <a:ea typeface="Microsoft YaHei"/>
              </a:rPr>
              <a:t>/</a:t>
            </a:r>
            <a:r>
              <a:rPr lang="zh-CN" sz="1275">
                <a:solidFill>
                  <a:srgbClr val="2C3E50"/>
                </a:solidFill>
                <a:latin typeface="Microsoft YaHei"/>
                <a:ea typeface="Microsoft YaHei"/>
              </a:rPr>
              <a:t>手术后出血史）；②特定抗血小板管理（疑似抵抗、桥接、高风险手术）；③先天性血小板病分型；④</a:t>
            </a:r>
            <a:r>
              <a:rPr lang="en-US" sz="1275">
                <a:solidFill>
                  <a:srgbClr val="2C3E50"/>
                </a:solidFill>
                <a:latin typeface="Microsoft YaHei"/>
                <a:ea typeface="Microsoft YaHei"/>
              </a:rPr>
              <a:t>CPB/</a:t>
            </a:r>
            <a:r>
              <a:rPr lang="zh-CN" sz="1275">
                <a:solidFill>
                  <a:srgbClr val="2C3E50"/>
                </a:solidFill>
                <a:latin typeface="Microsoft YaHei"/>
                <a:ea typeface="Microsoft YaHei"/>
              </a:rPr>
              <a:t>创伤等</a:t>
            </a:r>
            <a:r>
              <a:rPr lang="en-US" sz="1275">
                <a:solidFill>
                  <a:srgbClr val="2C3E50"/>
                </a:solidFill>
                <a:latin typeface="Microsoft YaHei"/>
                <a:ea typeface="Microsoft YaHei"/>
              </a:rPr>
              <a:t> VET </a:t>
            </a:r>
            <a:r>
              <a:rPr lang="zh-CN" sz="1275">
                <a:solidFill>
                  <a:srgbClr val="2C3E50"/>
                </a:solidFill>
                <a:latin typeface="Microsoft YaHei"/>
                <a:ea typeface="Microsoft YaHei"/>
              </a:rPr>
              <a:t>场景的组分定位。</a:t>
            </a:r>
            <a:endParaRPr/>
          </a:p>
        </p:txBody>
      </p:sp>
      <p:sp>
        <p:nvSpPr>
          <p:cNvPr id="1352"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53"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申请单必填要素</a:t>
            </a:r>
            <a:endParaRPr/>
          </a:p>
        </p:txBody>
      </p:sp>
      <p:sp>
        <p:nvSpPr>
          <p:cNvPr id="1354"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采血时间点、最近一次抗血小板</a:t>
            </a:r>
            <a:r>
              <a:rPr lang="en-US" sz="1275">
                <a:solidFill>
                  <a:srgbClr val="2C3E50"/>
                </a:solidFill>
                <a:latin typeface="Microsoft YaHei"/>
                <a:ea typeface="Microsoft YaHei"/>
              </a:rPr>
              <a:t>/</a:t>
            </a:r>
            <a:r>
              <a:rPr lang="zh-CN" sz="1275">
                <a:solidFill>
                  <a:srgbClr val="2C3E50"/>
                </a:solidFill>
                <a:latin typeface="Microsoft YaHei"/>
                <a:ea typeface="Microsoft YaHei"/>
              </a:rPr>
              <a:t>抗凝药与停药时间、血小板计数、出血史摘要、检测目的——缺少这些，检验科无法选择方法与解读结果。</a:t>
            </a:r>
            <a:endParaRPr/>
          </a:p>
        </p:txBody>
      </p:sp>
      <p:sp>
        <p:nvSpPr>
          <p:cNvPr id="1355"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56"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357"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358"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359"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功能检测的“适应证”由临床问题定义：问“测了会改变什么决定”，答不出就别测。</a:t>
            </a:r>
            <a:endParaRPr/>
          </a:p>
        </p:txBody>
      </p:sp>
      <p:sp>
        <p:nvSpPr>
          <p:cNvPr id="1360"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361"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Semin Thromb Hemost 2024;50:499-516 (PMID 38086409)</a:t>
            </a:r>
            <a:endParaRPr/>
          </a:p>
        </p:txBody>
      </p:sp>
      <p:sp>
        <p:nvSpPr>
          <p:cNvPr id="1362" name=""/>
          <p:cNvSpPr/>
          <p:nvPr/>
        </p:nvSpPr>
        <p:spPr>
          <a:xfrm rot="0" flipH="0" flipV="0">
            <a:off x="0" y="6324600"/>
            <a:ext cx="12192000" cy="342900"/>
          </a:xfrm>
          <a:prstGeom prst="rect">
            <a:avLst/>
          </a:prstGeom>
          <a:solidFill>
            <a:srgbClr val="F7F9FC"/>
          </a:solidFill>
          <a:ln/>
        </p:spPr>
        <p:txBody>
          <a:bodyPr/>
          <a:p/>
        </p:txBody>
      </p:sp>
      <p:sp>
        <p:nvSpPr>
          <p:cNvPr id="1363"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364"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0.xml><?xml version="1.0" encoding="utf-8"?>
<p:sld xmlns:p="http://schemas.openxmlformats.org/presentationml/2006/main" xmlns:a="http://schemas.openxmlformats.org/drawingml/2006/main">
  <p:cSld>
    <p:spTree>
      <p:nvGrpSpPr>
        <p:cNvPr id="1389" name="" descr="&lt;Slide notes={`演讲者备注：第十章把前文散落的证据集中成“可查表”：两份指南矩阵（含中国指南）与一张关键 RCT 数据表，逐条标注 PMID。用途有二：一是汇报/授课时快速引用；二是作为科室制定 SOP 时的文献底稿。`} style={{ width: '1280px', height: '720px', background: '#0E3F8C', padding: 0 }}&gt;&#13;&#10;  &lt;Box style={{ position: 'absolute', left: 0, top: 0, width: 12, height: 720, background: '#3D7BD9' }} /&gt;&#13;&#10;  &lt;Text style={{ position: 'absolute', left: 64, top: 138, fontSize: 22, color: '#9DB8E0', letterSpacing: 4 }}&gt;第 10 章&lt;/Text&gt;&#13;&#10;  &lt;Text style={{ position: 'absolute', left: 56, top: 168, fontSize: 150, color: '#164A9E', fontWeight: 'bold' }}&gt;10&lt;/Text&gt;&#13;&#10;  &lt;Text style={{ position: 'absolute', left: 64, top: 332, fontSize: 50, color: '#FFFFFF', fontWeight: 'bold' }}&gt;关键研究、指南与共识&lt;/Text&gt;&#13;&#10;  &lt;Text style={{ position: 'absolute', left: 64, top: 400, fontSize: 22, color: '#9DB8E0', fontFamily: 'Times New Roman' }}&gt;Key Trials, Guidelines &amp; Consensus&lt;/Text&gt;&#13;&#10;  &lt;Box key={0} style={{ position: 'absolute', left: 64, top: 472, width: 360, height: 150, background: '#12448F', borderRadius: 12, border: '1px solid #2E5BA8', padding: 20 }}&gt;&#13;&#10;    &lt;Text style={{ fontSize: 18, color: '#9DB8E0', fontWeight: 'bold', marginBottom: 8 }}&gt;指南矩阵&lt;/Text&gt;&#13;&#10;    &lt;Text style={{ fontSize: 15, color: '#C7D6EC', lineHeight: 1.5 }}&gt;ITP/HIT/输血/围术期/创伤/DIC 的分层推荐&lt;/Text&gt;&#13;&#10;  &lt;/Box&gt;  &lt;Box key={1} style={{ position: 'absolute', left: 452, top: 472, width: 360, height: 150, background: '#12448F', borderRadius: 12, border: '1px solid #2E5BA8', padding: 20 }}&gt;&#13;&#10;    &lt;Text style={{ fontSize: 18, color: '#9DB8E0', fontWeight: 'bold', marginBottom: 8 }}&gt;RCT 一览&lt;/Text&gt;&#13;&#10;    &lt;Text style={{ fontSize: 15, color: '#C7D6EC', lineHeight: 1.5 }}&gt;TPO-RA、TOPPS、PROPPR、监测策略的关键数据&lt;/Text&gt;&#13;&#10;  &lt;/Box&gt;  &lt;Box key={2} style={{ position: 'absolute', left: 840, top: 472, width: 360, height: 150, background: '#12448F', borderRadius: 12, border: '1px solid #2E5BA8', padding: 20 }}&gt;&#13;&#10;    &lt;Text style={{ fontSize: 18, color: '#9DB8E0', fontWeight: 'bold', marginBottom: 8 }}&gt;开放问题&lt;/Text&gt;&#13;&#10;    &lt;Text style={{ fontSize: 15, color: '#C7D6EC', lineHeight: 1.5 }}&gt;阈值个体化、监测获益、输注质量等争议&lt;/Text&gt;&#13;&#10;  &lt;/Box&gt;&#13;&#10;  &lt;Text style={{ position: 'absolute', right: 64, top: 660, fontSize: 15, color: '#9DB8E0' }}&gt;60 / 77&lt;/Text&gt;&#13;&#10;&lt;/Slide&gt;"/>
        <p:cNvGrpSpPr/>
        <p:nvPr/>
      </p:nvGrpSpPr>
      <p:grpSpPr>
        <a:xfrm>
          <a:off x="0" y="0"/>
          <a:ext cx="0" cy="0"/>
          <a:chOff x="0" y="0"/>
          <a:chExt cx="0" cy="0"/>
        </a:xfrm>
      </p:grpSpPr>
      <p:sp>
        <p:nvSpPr>
          <p:cNvPr id="1390" name=""/>
          <p:cNvSpPr/>
          <p:nvPr/>
        </p:nvSpPr>
        <p:spPr>
          <a:xfrm rot="0" flipH="0" flipV="0">
            <a:off x="0" y="0"/>
            <a:ext cx="12192000" cy="6858000"/>
          </a:xfrm>
          <a:prstGeom prst="rect">
            <a:avLst/>
          </a:prstGeom>
          <a:solidFill>
            <a:srgbClr val="0E3F8C"/>
          </a:solidFill>
          <a:ln/>
        </p:spPr>
        <p:txBody>
          <a:bodyPr/>
          <a:p/>
        </p:txBody>
      </p:sp>
      <p:sp>
        <p:nvSpPr>
          <p:cNvPr id="1391" name=""/>
          <p:cNvSpPr/>
          <p:nvPr/>
        </p:nvSpPr>
        <p:spPr>
          <a:xfrm rot="0" flipH="0" flipV="0">
            <a:off x="0" y="0"/>
            <a:ext cx="114300" cy="6858000"/>
          </a:xfrm>
          <a:prstGeom prst="rect">
            <a:avLst/>
          </a:prstGeom>
          <a:solidFill>
            <a:srgbClr val="3D7BD9"/>
          </a:solidFill>
          <a:ln/>
        </p:spPr>
        <p:txBody>
          <a:bodyPr/>
          <a:p/>
        </p:txBody>
      </p:sp>
      <p:sp>
        <p:nvSpPr>
          <p:cNvPr id="1392" name="" descr="{&quot;isTemplate&quot;:true,&quot;type&quot;:&quot;text&quot;}"/>
          <p:cNvSpPr txBox="1"/>
          <p:nvPr/>
        </p:nvSpPr>
        <p:spPr>
          <a:xfrm rot="0" flipH="0" flipV="0">
            <a:off x="609600" y="1314450"/>
            <a:ext cx="1019175"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10 </a:t>
            </a:r>
            <a:r>
              <a:rPr lang="zh-CN" sz="1650" spc="300">
                <a:solidFill>
                  <a:srgbClr val="9DB8E0"/>
                </a:solidFill>
                <a:latin typeface="Microsoft YaHei"/>
                <a:ea typeface="Microsoft YaHei"/>
              </a:rPr>
              <a:t>章</a:t>
            </a:r>
            <a:endParaRPr/>
          </a:p>
        </p:txBody>
      </p:sp>
      <p:sp>
        <p:nvSpPr>
          <p:cNvPr id="1393"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10</a:t>
            </a:r>
            <a:endParaRPr/>
          </a:p>
        </p:txBody>
      </p:sp>
      <p:sp>
        <p:nvSpPr>
          <p:cNvPr id="1394" name="" descr="{&quot;isTemplate&quot;:true,&quot;type&quot;:&quot;text&quot;}"/>
          <p:cNvSpPr txBox="1"/>
          <p:nvPr/>
        </p:nvSpPr>
        <p:spPr>
          <a:xfrm rot="0" flipH="0" flipV="0">
            <a:off x="609600" y="3162300"/>
            <a:ext cx="4762500" cy="571500"/>
          </a:xfrm>
          <a:prstGeom prst="rect"/>
        </p:spPr>
        <p:txBody>
          <a:bodyPr wrap="none" lIns="0" tIns="0" rIns="0" bIns="0"/>
          <a:p>
            <a:pPr>
              <a:lnSpc>
                <a:spcPct val="100000"/>
              </a:lnSpc>
            </a:pPr>
            <a:r>
              <a:rPr lang="zh-CN" sz="3750" b="1">
                <a:solidFill>
                  <a:srgbClr val="FFFFFF"/>
                </a:solidFill>
                <a:latin typeface="Microsoft YaHei"/>
                <a:ea typeface="Microsoft YaHei"/>
              </a:rPr>
              <a:t>关键研究、指南与共识</a:t>
            </a:r>
            <a:endParaRPr/>
          </a:p>
        </p:txBody>
      </p:sp>
      <p:sp>
        <p:nvSpPr>
          <p:cNvPr id="1395" name="" descr="{&quot;isTemplate&quot;:true,&quot;type&quot;:&quot;text&quot;}"/>
          <p:cNvSpPr txBox="1"/>
          <p:nvPr/>
        </p:nvSpPr>
        <p:spPr>
          <a:xfrm rot="0" flipH="0" flipV="0">
            <a:off x="609600" y="3810000"/>
            <a:ext cx="3067050" cy="257175"/>
          </a:xfrm>
          <a:prstGeom prst="rect"/>
        </p:spPr>
        <p:txBody>
          <a:bodyPr wrap="none" lIns="0" tIns="0" rIns="0" bIns="0"/>
          <a:p>
            <a:pPr>
              <a:lnSpc>
                <a:spcPct val="100000"/>
              </a:lnSpc>
            </a:pPr>
            <a:r>
              <a:rPr lang="en-US" sz="1650">
                <a:solidFill>
                  <a:srgbClr val="9DB8E0"/>
                </a:solidFill>
                <a:latin typeface="Times New Roman"/>
                <a:ea typeface="Times New Roman"/>
              </a:rPr>
              <a:t>Key Trials, Guidelines &amp; Consensus</a:t>
            </a:r>
            <a:endParaRPr/>
          </a:p>
        </p:txBody>
      </p:sp>
      <p:sp>
        <p:nvSpPr>
          <p:cNvPr id="1396"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397"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指南矩阵</a:t>
            </a:r>
            <a:endParaRPr/>
          </a:p>
        </p:txBody>
      </p:sp>
      <p:sp>
        <p:nvSpPr>
          <p:cNvPr id="1398"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ITP/HIT/</a:t>
            </a:r>
            <a:r>
              <a:rPr lang="zh-CN" sz="1125">
                <a:solidFill>
                  <a:srgbClr val="C7D6EC"/>
                </a:solidFill>
                <a:latin typeface="Microsoft YaHei"/>
                <a:ea typeface="Microsoft YaHei"/>
              </a:rPr>
              <a:t>输血</a:t>
            </a:r>
            <a:r>
              <a:rPr lang="en-US" sz="1125">
                <a:solidFill>
                  <a:srgbClr val="C7D6EC"/>
                </a:solidFill>
                <a:latin typeface="Microsoft YaHei"/>
                <a:ea typeface="Microsoft YaHei"/>
              </a:rPr>
              <a:t>/</a:t>
            </a:r>
            <a:r>
              <a:rPr lang="zh-CN" sz="1125">
                <a:solidFill>
                  <a:srgbClr val="C7D6EC"/>
                </a:solidFill>
                <a:latin typeface="Microsoft YaHei"/>
                <a:ea typeface="Microsoft YaHei"/>
              </a:rPr>
              <a:t>围术期</a:t>
            </a:r>
            <a:r>
              <a:rPr lang="en-US" sz="1125">
                <a:solidFill>
                  <a:srgbClr val="C7D6EC"/>
                </a:solidFill>
                <a:latin typeface="Microsoft YaHei"/>
                <a:ea typeface="Microsoft YaHei"/>
              </a:rPr>
              <a:t>/</a:t>
            </a:r>
            <a:r>
              <a:rPr lang="zh-CN" sz="1125">
                <a:solidFill>
                  <a:srgbClr val="C7D6EC"/>
                </a:solidFill>
                <a:latin typeface="Microsoft YaHei"/>
                <a:ea typeface="Microsoft YaHei"/>
              </a:rPr>
              <a:t>创伤</a:t>
            </a:r>
            <a:r>
              <a:rPr lang="en-US" sz="1125">
                <a:solidFill>
                  <a:srgbClr val="C7D6EC"/>
                </a:solidFill>
                <a:latin typeface="Microsoft YaHei"/>
                <a:ea typeface="Microsoft YaHei"/>
              </a:rPr>
              <a:t>/DIC </a:t>
            </a:r>
            <a:r>
              <a:rPr lang="zh-CN" sz="1125">
                <a:solidFill>
                  <a:srgbClr val="C7D6EC"/>
                </a:solidFill>
                <a:latin typeface="Microsoft YaHei"/>
                <a:ea typeface="Microsoft YaHei"/>
              </a:rPr>
              <a:t>的分层推荐</a:t>
            </a:r>
            <a:endParaRPr/>
          </a:p>
        </p:txBody>
      </p:sp>
      <p:sp>
        <p:nvSpPr>
          <p:cNvPr id="1399"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400"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en-US" sz="1350" b="1">
                <a:solidFill>
                  <a:srgbClr val="9DB8E0"/>
                </a:solidFill>
                <a:latin typeface="Microsoft YaHei"/>
                <a:ea typeface="Microsoft YaHei"/>
              </a:rPr>
              <a:t>RCT </a:t>
            </a:r>
            <a:r>
              <a:rPr lang="zh-CN" sz="1350" b="1">
                <a:solidFill>
                  <a:srgbClr val="9DB8E0"/>
                </a:solidFill>
                <a:latin typeface="Microsoft YaHei"/>
                <a:ea typeface="Microsoft YaHei"/>
              </a:rPr>
              <a:t>一览</a:t>
            </a:r>
            <a:endParaRPr/>
          </a:p>
        </p:txBody>
      </p:sp>
      <p:sp>
        <p:nvSpPr>
          <p:cNvPr id="1401" name="" descr="{&quot;isTemplate&quot;:true,&quot;type&quot;:&quot;text&quot;}"/>
          <p:cNvSpPr txBox="1"/>
          <p:nvPr/>
        </p:nvSpPr>
        <p:spPr>
          <a:xfrm rot="0" flipH="0" flipV="0">
            <a:off x="4495800" y="4972050"/>
            <a:ext cx="3048000" cy="514350"/>
          </a:xfrm>
          <a:prstGeom prst="rect"/>
        </p:spPr>
        <p:txBody>
          <a:bodyPr wrap="square" lIns="0" tIns="0" rIns="0" bIns="0">
            <a:normAutofit/>
          </a:bodyPr>
          <a:p>
            <a:pPr>
              <a:lnSpc>
                <a:spcPct val="150000"/>
              </a:lnSpc>
            </a:pPr>
            <a:r>
              <a:rPr lang="en-US" sz="1125">
                <a:solidFill>
                  <a:srgbClr val="C7D6EC"/>
                </a:solidFill>
                <a:latin typeface="Microsoft YaHei"/>
                <a:ea typeface="Microsoft YaHei"/>
              </a:rPr>
              <a:t>TPO-RA</a:t>
            </a:r>
            <a:r>
              <a:rPr lang="zh-CN" sz="1125">
                <a:solidFill>
                  <a:srgbClr val="C7D6EC"/>
                </a:solidFill>
                <a:latin typeface="Microsoft YaHei"/>
                <a:ea typeface="Microsoft YaHei"/>
              </a:rPr>
              <a:t>、</a:t>
            </a:r>
            <a:r>
              <a:rPr lang="en-US" sz="1125">
                <a:solidFill>
                  <a:srgbClr val="C7D6EC"/>
                </a:solidFill>
                <a:latin typeface="Microsoft YaHei"/>
                <a:ea typeface="Microsoft YaHei"/>
              </a:rPr>
              <a:t>TOPPS</a:t>
            </a:r>
            <a:r>
              <a:rPr lang="zh-CN" sz="1125">
                <a:solidFill>
                  <a:srgbClr val="C7D6EC"/>
                </a:solidFill>
                <a:latin typeface="Microsoft YaHei"/>
                <a:ea typeface="Microsoft YaHei"/>
              </a:rPr>
              <a:t>、</a:t>
            </a:r>
            <a:r>
              <a:rPr lang="en-US" sz="1125">
                <a:solidFill>
                  <a:srgbClr val="C7D6EC"/>
                </a:solidFill>
                <a:latin typeface="Microsoft YaHei"/>
                <a:ea typeface="Microsoft YaHei"/>
              </a:rPr>
              <a:t>PROPPR</a:t>
            </a:r>
            <a:r>
              <a:rPr lang="zh-CN" sz="1125">
                <a:solidFill>
                  <a:srgbClr val="C7D6EC"/>
                </a:solidFill>
                <a:latin typeface="Microsoft YaHei"/>
                <a:ea typeface="Microsoft YaHei"/>
              </a:rPr>
              <a:t>、监测策略的关键数据</a:t>
            </a:r>
            <a:endParaRPr/>
          </a:p>
        </p:txBody>
      </p:sp>
      <p:sp>
        <p:nvSpPr>
          <p:cNvPr id="1402"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403"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开放问题</a:t>
            </a:r>
            <a:endParaRPr/>
          </a:p>
        </p:txBody>
      </p:sp>
      <p:sp>
        <p:nvSpPr>
          <p:cNvPr id="1404"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阈值个体化、监测获益、输注质量等争议</a:t>
            </a:r>
            <a:endParaRPr/>
          </a:p>
        </p:txBody>
      </p:sp>
      <p:sp>
        <p:nvSpPr>
          <p:cNvPr id="1405"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60 / 77</a:t>
            </a:r>
            <a:endParaRPr/>
          </a:p>
        </p:txBody>
      </p:sp>
    </p:spTree>
  </p:cSld>
</p:sld>
</file>

<file path=ppt/slides/slide61.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1406" name="" descr="&lt;Slide notes={`演讲者备注：【NEUNERT-ASH】ASH 2019 ITP 指南：糖皮质激素一线；对激素依赖/无效者推荐 TPO-RA、利妥昔单抗或脾切除；以出血而非单纯血小板数为主要治疗决策依据。证据：Blood Adv 2019;3:3829-3866，PMID 31794604。&#13;&#10;【PROVAN-ICR】国际共识报告（ICR）2019：ITP 诊断排除性流程与一线/二线治疗推荐；强调个体化与生活质量的评估。证据：Blood Adv 2019;3:3780-3817，PMID 31770441。&#13;&#10;【CN-ITP-GUIDE】《成人原发免疫性血小板减少症诊断与治疗中国指南（2020）》：诊断标准、出血评分与分层治疗（一线糖皮质激素/IVIG，二线 TPO-RA/利妥昔单抗等）。证据：中华血液学杂志 2020;41:617-623，PMID 32942813。&#13;&#10;【CUKER-ASH-HIT】ASH 2018 VTE-HIT 指南：4Ts 中低危可不检测抗体；HIT 确诊/高度怀疑者停肝素并改用非肝素抗凝（阿加曲班/比伐芦定/磺达肝癸钠/DOAC），避免华法林单用。证据：Blood Adv 2018;2:3360-3392，PMID 30482768。&#13;&#10;【KAUFMAN-AABB】AABB 血小板输注指南：病情稳定成人（低增生性血小板减少）预防性输注阈值为 10×10^9/L；有创操作、活动出血等场景阈值分层升高。证据：Ann Intern Med 2015;162:205-213，PMID 25383671。&#13;&#10;参考文献：PMID 31794604；31770441；32942813；30482768；25383671`}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章 关键研究、指南与共识&lt;/Text&gt;&#13;&#10;      &lt;Box style={{ width: 1, height: 24, background: '#3D7BD9' }} /&gt;&#13;&#10;      &lt;Text style={{ fontSize: 16, color: '#C7D6EC' }}&gt;指南矩阵（一）：ITP / HIT / 输血&lt;/Text&gt;&#13;&#10;    &lt;/Box&gt;&#13;&#10;    &lt;Text style={{ position: 'absolute', right: 64, top: 24, fontSize: 15, color: '#9DB8E0' }}&gt;61 / 77&lt;/Text&gt;&#13;&#10;  &lt;/Box&gt;&#13;&#10;  &lt;Table style={{ position: 'absolute', left: 64, top: 100, width: 1152, height: 540 }}&#13;&#10;    defaultTextStyle={{ fontSize: 16, textAlign: 'center', color: '#222' }}&#13;&#10;    defaultCellStyle={{ border: { left: { width: 1, color: '#E5E7EB' }, right: { width: 1, color: '#E5E7EB' }, top: { width: 1, color: '#E5E7EB' }, bottom: { width: 1, color: '#E5E7EB' } } }}&#13;&#10;    cells={[&#13;&#10;[{ text: '指南', textStyle: { bold: true, color: '#FFFFFF' }, cellStyle: { background: { color: '#0E3F8C' } } }, { text: '机构·年份', textStyle: { bold: true, color: '#FFFFFF' }, cellStyle: { background: { color: '#0E3F8C' } } }, { text: '血小板相关核心推荐', textStyle: { bold: true, color: '#FFFFFF' }, cellStyle: { background: { color: '#0E3F8C' } } }, { text: 'PMID', textStyle: { bold: true, color: '#FFFFFF' }, cellStyle: { background: { color: '#0E3F8C' } } }],&#13;&#10;[{ text: '成人原发 ITP 指南', textStyle: { bold: false, color: '#2C3E50' }, cellStyle: { background: { color: '#FFFFFF' } } }, { text: 'ASH 2019', textStyle: { bold: false, color: '#2C3E50' }, cellStyle: { background: { color: '#FFFFFF' } } }, { text: '激素一线；TPO-RA/利妥昔/切脾为二线；以出血驱动治疗', textStyle: { bold: false, color: '#2C3E50' }, cellStyle: { background: { color: '#FFFFFF' } } }, { text: '31794604', textStyle: { bold: false, color: '#2C3E50' }, cellStyle: { background: { color: '#FFFFFF' } } }],&#13;&#10;[{ text: 'ITP 国际共识 ICR', textStyle: { bold: false, color: '#2C3E50' }, cellStyle: { background: { color: '#F0F5FC' } } }, { text: 'ICR 2019', textStyle: { bold: false, color: '#2C3E50' }, cellStyle: { background: { color: '#F0F5FC' } } }, { text: '诊断排除法+分层治疗；强调个体化与生活质量', textStyle: { bold: false, color: '#2C3E50' }, cellStyle: { background: { color: '#F0F5FC' } } }, { text: '31770441', textStyle: { bold: false, color: '#2C3E50' }, cellStyle: { background: { color: '#F0F5FC' } } }],&#13;&#10;[{ text: '成人 ITP 中国指南', textStyle: { bold: false, color: '#2C3E50' }, cellStyle: { background: { color: '#FFFFFF' } } }, { text: '中华医学会 2020', textStyle: { bold: false, color: '#2C3E50' }, cellStyle: { background: { color: '#FFFFFF' } } }, { text: '诊断标准+出血评分分层；一线激素/IVIG，二线 TPO-RA 等', textStyle: { bold: false, color: '#2C3E50' }, cellStyle: { background: { color: '#FFFFFF' } } }, { text: '32942813', textStyle: { bold: false, color: '#2C3E50' }, cellStyle: { background: { color: '#FFFFFF' } } }],&#13;&#10;[{ text: 'VTE-HIT 指南', textStyle: { bold: false, color: '#2C3E50' }, cellStyle: { background: { color: '#F0F5FC' } } }, { text: 'ASH 2018', textStyle: { bold: false, color: '#2C3E50' }, cellStyle: { background: { color: '#F0F5FC' } } }, { text: '4Ts 分险；低危不测不治；急性 HIT 换非肝素抗凝', textStyle: { bold: false, color: '#2C3E50' }, cellStyle: { background: { color: '#F0F5FC' } } }, { text: '30482768', textStyle: { bold: false, color: '#2C3E50' }, cellStyle: { background: { color: '#F0F5FC' } } }],&#13;&#10;[{ text: '血小板输注指南', textStyle: { bold: false, color: '#2C3E50' }, cellStyle: { background: { color: '#FFFFFF' } } }, { text: 'AABB 2015', textStyle: { bold: false, color: '#2C3E50' }, cellStyle: { background: { color: '#FFFFFF' } } }, { text: '低增生预防阈值≤10；CVC&lt;20；腰穿/大手术&lt;50', textStyle: { bold: false, color: '#2C3E50' }, cellStyle: { background: { color: '#FFFFFF' } } }, { text: '25383671', textStyle: { bold: false, color: '#2C3E50' }, cellStyle: { background: { color: '#FFFFFF' } } }]&#13;&#10;]}&#13;&#10;  /&gt;&#13;&#10;  &lt;Box style={{ position: 'absolute', left: 0, top: 664, width: 1280, height: 36, background: '#F7F9FC' }}&gt;&#13;&#10;    &lt;Text style={{ position: 'absolute', left: 64, top: 8, fontSize: 12, lineHeight: 1.3, color: '#6B7B8C', width: 1000 }}&gt;本章矩阵：详见各页备注 PMID；中文指南条目为中华血液学杂志 2020;41:617-623（PMID 32942813）。&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407" name=""/>
          <p:cNvSpPr/>
          <p:nvPr/>
        </p:nvSpPr>
        <p:spPr>
          <a:xfrm rot="0" flipH="0" flipV="0">
            <a:off x="0" y="0"/>
            <a:ext cx="12192000" cy="6858000"/>
          </a:xfrm>
          <a:prstGeom prst="rect">
            <a:avLst/>
          </a:prstGeom>
          <a:solidFill>
            <a:srgbClr val="FFFFFF"/>
          </a:solidFill>
          <a:ln/>
        </p:spPr>
        <p:txBody>
          <a:bodyPr/>
          <a:p/>
        </p:txBody>
      </p:sp>
      <p:sp>
        <p:nvSpPr>
          <p:cNvPr id="1408" name=""/>
          <p:cNvSpPr/>
          <p:nvPr/>
        </p:nvSpPr>
        <p:spPr>
          <a:xfrm rot="0" flipH="0" flipV="0">
            <a:off x="0" y="0"/>
            <a:ext cx="12192000" cy="685800"/>
          </a:xfrm>
          <a:prstGeom prst="rect">
            <a:avLst/>
          </a:prstGeom>
          <a:solidFill>
            <a:srgbClr val="0E3F8C"/>
          </a:solidFill>
          <a:ln/>
        </p:spPr>
        <p:txBody>
          <a:bodyPr/>
          <a:p/>
        </p:txBody>
      </p:sp>
      <p:sp>
        <p:nvSpPr>
          <p:cNvPr id="1409"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第十章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关键研究、指南与共识</a:t>
            </a:r>
            <a:endParaRPr/>
          </a:p>
        </p:txBody>
      </p:sp>
      <p:sp>
        <p:nvSpPr>
          <p:cNvPr id="1410" name=""/>
          <p:cNvSpPr/>
          <p:nvPr/>
        </p:nvSpPr>
        <p:spPr>
          <a:xfrm rot="0" flipH="0" flipV="0">
            <a:off x="3048000" y="209550"/>
            <a:ext cx="9525" cy="228600"/>
          </a:xfrm>
          <a:prstGeom prst="rect">
            <a:avLst/>
          </a:prstGeom>
          <a:solidFill>
            <a:srgbClr val="3D7BD9"/>
          </a:solidFill>
          <a:ln/>
        </p:spPr>
        <p:txBody>
          <a:bodyPr/>
          <a:p/>
        </p:txBody>
      </p:sp>
      <p:sp>
        <p:nvSpPr>
          <p:cNvPr id="1411" name="" descr="{&quot;isTemplate&quot;:true,&quot;type&quot;:&quot;text&quot;}"/>
          <p:cNvSpPr txBox="1"/>
          <p:nvPr/>
        </p:nvSpPr>
        <p:spPr>
          <a:xfrm rot="0" flipH="0" flipV="0">
            <a:off x="3209925" y="228600"/>
            <a:ext cx="2314575" cy="190500"/>
          </a:xfrm>
          <a:prstGeom prst="rect"/>
        </p:spPr>
        <p:txBody>
          <a:bodyPr wrap="none" lIns="0" tIns="0" rIns="0" bIns="0"/>
          <a:p>
            <a:pPr>
              <a:lnSpc>
                <a:spcPct val="100000"/>
              </a:lnSpc>
            </a:pPr>
            <a:r>
              <a:rPr lang="zh-CN" sz="1200">
                <a:solidFill>
                  <a:srgbClr val="C7D6EC"/>
                </a:solidFill>
                <a:latin typeface="Microsoft YaHei"/>
                <a:ea typeface="Microsoft YaHei"/>
              </a:rPr>
              <a:t>指南矩阵（一）：</a:t>
            </a:r>
            <a:r>
              <a:rPr lang="en-US" sz="1200">
                <a:solidFill>
                  <a:srgbClr val="C7D6EC"/>
                </a:solidFill>
                <a:latin typeface="Microsoft YaHei"/>
                <a:ea typeface="Microsoft YaHei"/>
              </a:rPr>
              <a:t>ITP / HIT / </a:t>
            </a:r>
            <a:r>
              <a:rPr lang="zh-CN" sz="1200">
                <a:solidFill>
                  <a:srgbClr val="C7D6EC"/>
                </a:solidFill>
                <a:latin typeface="Microsoft YaHei"/>
                <a:ea typeface="Microsoft YaHei"/>
              </a:rPr>
              <a:t>输血</a:t>
            </a:r>
            <a:endParaRPr/>
          </a:p>
        </p:txBody>
      </p:sp>
      <p:sp>
        <p:nvSpPr>
          <p:cNvPr id="1412"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61 / 77</a:t>
            </a:r>
            <a:endParaRPr/>
          </a:p>
        </p:txBody>
      </p:sp>
      <p:graphicFrame>
        <p:nvGraphicFramePr>
          <p:cNvPr id="1413" name=""/>
          <p:cNvGraphicFramePr/>
          <p:nvPr/>
        </p:nvGraphicFramePr>
        <p:xfrm rot="0" flipH="0" flipV="0">
          <a:off x="609600" y="952500"/>
          <a:ext cx="10972800" cy="5143500"/>
        </p:xfrm>
        <a:graphic>
          <a:graphicData uri="http://schemas.openxmlformats.org/drawingml/2006/table">
            <a:tbl>
              <a:tblGrid>
                <a:gridCol w="1933118">
                  <a:extLst>
                    <a:ext uri="{9D8B030D-6E8A-4147-A177-3AD203B41FA5}">
                      <a16:colId val="1"/>
                    </a:ext>
                  </a:extLst>
                </a:gridCol>
                <a:gridCol w="1836185">
                  <a:extLst>
                    <a:ext uri="{9D8B030D-6E8A-4147-A177-3AD203B41FA5}">
                      <a16:colId val="2"/>
                    </a:ext>
                  </a:extLst>
                </a:gridCol>
                <a:gridCol w="6018146">
                  <a:extLst>
                    <a:ext uri="{9D8B030D-6E8A-4147-A177-3AD203B41FA5}">
                      <a16:colId val="3"/>
                    </a:ext>
                  </a:extLst>
                </a:gridCol>
                <a:gridCol w="1185350">
                  <a:extLst>
                    <a:ext uri="{9D8B030D-6E8A-4147-A177-3AD203B41FA5}">
                      <a16:colId val="4"/>
                    </a:ext>
                  </a:extLst>
                </a:gridCol>
              </a:tblGrid>
              <a:tr h="85725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指南</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机构·年份</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血小板相关核心推荐</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PMID</a:t>
                      </a:r>
                      <a:endParaRPr/>
                    </a:p>
                  </a:txBody>
                  <a:tcPr marL="45720" marR="45720" marT="45720" marB="45720" anchor="ctr">
                    <a:lnL>
                      <a:noFill/>
                    </a:lnL>
                    <a:lnR>
                      <a:noFill/>
                    </a:lnR>
                    <a:lnT>
                      <a:noFill/>
                    </a:lnT>
                    <a:lnB>
                      <a:noFill/>
                    </a:lnB>
                    <a:solidFill>
                      <a:srgbClr val="0E3F8C"/>
                    </a:solidFill>
                  </a:tcPr>
                </a:tc>
                <a:extLst>
                  <a:ext uri="{0D108BD9-81ED-4DB2-BD59-A6C34878D82A}">
                    <a16:rowId val="1"/>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成人原发 ITP 指南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ASH 2019</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激素一线；TPO-RA/利妥昔/切脾为二线；以出血驱动治疗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31794604</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ITP 国际共识 ICR</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ICR 2019</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诊断排除法+分层治疗；强调个体化与生活质量</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31770441</a:t>
                      </a:r>
                      <a:endParaRPr/>
                    </a:p>
                  </a:txBody>
                  <a:tcPr marL="45720" marR="45720" marT="45720" marB="45720" anchor="ctr">
                    <a:lnL>
                      <a:noFill/>
                    </a:lnL>
                    <a:lnR>
                      <a:noFill/>
                    </a:lnR>
                    <a:lnT>
                      <a:noFill/>
                    </a:lnT>
                    <a:lnB>
                      <a:noFill/>
                    </a:lnB>
                    <a:solidFill>
                      <a:srgbClr val="F0F5FC"/>
                    </a:solidFill>
                  </a:tcPr>
                </a:tc>
                <a:extLst>
                  <a:ext uri="{0D108BD9-81ED-4DB2-BD59-A6C34878D82A}">
                    <a16:rowId val="3"/>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成人 ITP 中国指南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中华医学会 2020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诊断标准+出血评分分层；一线激素/IVIG，二线 TPO-RA 等</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32942813</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VTE-HIT 指南</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ASH 2018</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4Ts 分险；低危不测不治；急性 HIT 换非肝素抗凝</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30482768</a:t>
                      </a:r>
                      <a:endParaRPr/>
                    </a:p>
                  </a:txBody>
                  <a:tcPr marL="45720" marR="45720" marT="45720" marB="45720" anchor="ctr">
                    <a:lnL>
                      <a:noFill/>
                    </a:lnL>
                    <a:lnR>
                      <a:noFill/>
                    </a:lnR>
                    <a:lnT>
                      <a:noFill/>
                    </a:lnT>
                    <a:lnB>
                      <a:noFill/>
                    </a:lnB>
                    <a:solidFill>
                      <a:srgbClr val="F0F5FC"/>
                    </a:solidFill>
                  </a:tcPr>
                </a:tc>
                <a:extLst>
                  <a:ext uri="{0D108BD9-81ED-4DB2-BD59-A6C34878D82A}">
                    <a16:rowId val="5"/>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血小板输注指南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AABB 2015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低增生预防阈值≤10；CVC&lt;20；腰穿/大手术&lt;50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25383671</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bl>
          </a:graphicData>
        </a:graphic>
      </p:graphicFrame>
      <p:sp>
        <p:nvSpPr>
          <p:cNvPr id="1414" name=""/>
          <p:cNvSpPr/>
          <p:nvPr/>
        </p:nvSpPr>
        <p:spPr>
          <a:xfrm rot="0" flipH="0" flipV="0">
            <a:off x="0" y="6324600"/>
            <a:ext cx="12192000" cy="342900"/>
          </a:xfrm>
          <a:prstGeom prst="rect">
            <a:avLst/>
          </a:prstGeom>
          <a:solidFill>
            <a:srgbClr val="F7F9FC"/>
          </a:solidFill>
          <a:ln/>
        </p:spPr>
        <p:txBody>
          <a:bodyPr/>
          <a:p/>
        </p:txBody>
      </p:sp>
      <p:sp>
        <p:nvSpPr>
          <p:cNvPr id="1415" name="" descr="{&quot;isTemplate&quot;:true,&quot;type&quot;:&quot;text&quot;}"/>
          <p:cNvSpPr txBox="1"/>
          <p:nvPr/>
        </p:nvSpPr>
        <p:spPr>
          <a:xfrm rot="0" flipH="0" flipV="0">
            <a:off x="609600" y="6400800"/>
            <a:ext cx="9525000" cy="180975"/>
          </a:xfrm>
          <a:prstGeom prst="rect"/>
        </p:spPr>
        <p:txBody>
          <a:bodyPr wrap="none" lIns="0" tIns="0" rIns="0" bIns="0"/>
          <a:p>
            <a:pPr>
              <a:lnSpc>
                <a:spcPct val="130000"/>
              </a:lnSpc>
            </a:pPr>
            <a:r>
              <a:rPr lang="zh-CN" sz="900">
                <a:solidFill>
                  <a:srgbClr val="6B7B8C"/>
                </a:solidFill>
                <a:latin typeface="Microsoft YaHei"/>
                <a:ea typeface="Microsoft YaHei"/>
              </a:rPr>
              <a:t>本章矩阵：详见各页备注</a:t>
            </a:r>
            <a:r>
              <a:rPr lang="en-US" sz="900">
                <a:solidFill>
                  <a:srgbClr val="6B7B8C"/>
                </a:solidFill>
                <a:latin typeface="Microsoft YaHei"/>
                <a:ea typeface="Microsoft YaHei"/>
              </a:rPr>
              <a:t> PMID</a:t>
            </a:r>
            <a:r>
              <a:rPr lang="zh-CN" sz="900">
                <a:solidFill>
                  <a:srgbClr val="6B7B8C"/>
                </a:solidFill>
                <a:latin typeface="Microsoft YaHei"/>
                <a:ea typeface="Microsoft YaHei"/>
              </a:rPr>
              <a:t>；中文指南条目为中华血液学杂志</a:t>
            </a:r>
            <a:r>
              <a:rPr lang="en-US" sz="900">
                <a:solidFill>
                  <a:srgbClr val="6B7B8C"/>
                </a:solidFill>
                <a:latin typeface="Microsoft YaHei"/>
                <a:ea typeface="Microsoft YaHei"/>
              </a:rPr>
              <a:t> 2020;41:617-623</a:t>
            </a:r>
            <a:r>
              <a:rPr lang="zh-CN" sz="900">
                <a:solidFill>
                  <a:srgbClr val="6B7B8C"/>
                </a:solidFill>
                <a:latin typeface="Microsoft YaHei"/>
                <a:ea typeface="Microsoft YaHei"/>
              </a:rPr>
              <a:t>（</a:t>
            </a:r>
            <a:r>
              <a:rPr lang="en-US" sz="900">
                <a:solidFill>
                  <a:srgbClr val="6B7B8C"/>
                </a:solidFill>
                <a:latin typeface="Microsoft YaHei"/>
                <a:ea typeface="Microsoft YaHei"/>
              </a:rPr>
              <a:t>PMID 32942813</a:t>
            </a:r>
            <a:r>
              <a:rPr lang="zh-CN" sz="900">
                <a:solidFill>
                  <a:srgbClr val="6B7B8C"/>
                </a:solidFill>
                <a:latin typeface="Microsoft YaHei"/>
                <a:ea typeface="Microsoft YaHei"/>
              </a:rPr>
              <a:t>）。</a:t>
            </a:r>
            <a:endParaRPr/>
          </a:p>
        </p:txBody>
      </p:sp>
      <p:sp>
        <p:nvSpPr>
          <p:cNvPr id="1416"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2.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1417" name="" descr="&lt;Slide notes={`演讲者备注：【EU-TRAUMA-6】欧洲创伤大出血与凝血病管理第 6 版指南（2023）：创伤出血期建议维持血小板计数&gt;50×10^9/L，多发性创伤/活动性出血或 TBI 患者目标更高（TBI≥100×10^9/L），推荐 VET 导向管理。证据：Crit Care 2023;27:80，PMID 36859355。&#13;&#10;【EACTS-PBM】EACTS/EACTA 心脏手术患者血液管理指南（2017 版）：CPB 相关血小板功能障碍是出血重要因素，推荐围术期血小板功能与 VET 监测导向个体化止血治疗。证据：J Cardiothorac Vasc Anesth 2018;32:88-120，PMID 29029100。&#13;&#10;【TAYLOR-ISTH-DIC】ISTH 显性 DIC 积分：血小板进行性下降为四项核心指标之一（动态变化较绝对值更关键），强调重复测定与趋势判读。证据：Thromb Haemost 2001;86:1327-1330，PMID 11816725。&#13;&#10;【CN-DIC-2023】中国 DIC 诊治专家共识（2023）：动态监测、分层干预；血小板进行性下降是 DIC 诊断与分期的重要参数。证据：中华血液学杂志 2023;44:624-631，PMID 37803834。&#13;&#10;【LISMAN-REBAL】肝病再平衡止血概念（ISTH SSC）：促凝与抗凝成分同步下降，常规血小板/PT 异常不一定预示出血；操作与出血决策需整体评估。证据：J Thromb Haemost 2021;19:1116-1122，PMID 33792172。&#13;&#10;【GERNSHEIMER-PREG】妊娠期血小板减少处理：妊娠期血小板减少症最常见（良性），其次子痫前期/HELLP 与 ITP；分娩与麻醉决策按血小板数与出血风险分层。证据：Blood 2013;121:38-47，PMID 23149846。&#13;&#10;参考文献：PMID 36859355；29029100；11816725；37803834；33792172；23149846`}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章 关键研究、指南与共识&lt;/Text&gt;&#13;&#10;      &lt;Box style={{ width: 1, height: 24, background: '#3D7BD9' }} /&gt;&#13;&#10;      &lt;Text style={{ fontSize: 16, color: '#C7D6EC' }}&gt;指南矩阵（二）：创伤 / 肝病 / DIC / 产科 / 心脏手术&lt;/Text&gt;&#13;&#10;    &lt;/Box&gt;&#13;&#10;    &lt;Text style={{ position: 'absolute', right: 64, top: 24, fontSize: 15, color: '#9DB8E0' }}&gt;62 / 77&lt;/Text&gt;&#13;&#10;  &lt;/Box&gt;&#13;&#10;  &lt;Table style={{ position: 'absolute', left: 64, top: 100, width: 1152, height: 540 }}&#13;&#10;    defaultTextStyle={{ fontSize: 16, textAlign: 'center', color: '#222' }}&#13;&#10;    defaultCellStyle={{ border: { left: { width: 1, color: '#E5E7EB' }, right: { width: 1, color: '#E5E7EB' }, top: { width: 1, color: '#E5E7EB' }, bottom: { width: 1, color: '#E5E7EB' } } }}&#13;&#10;    cells={[&#13;&#10;[{ text: '指南', textStyle: { bold: true, color: '#FFFFFF' }, cellStyle: { background: { color: '#0E3F8C' } } }, { text: '机构·年份', textStyle: { bold: true, color: '#FFFFFF' }, cellStyle: { background: { color: '#0E3F8C' } } }, { text: '血小板相关核心推荐', textStyle: { bold: true, color: '#FFFFFF' }, cellStyle: { background: { color: '#0E3F8C' } } }, { text: 'PMID', textStyle: { bold: true, color: '#FFFFFF' }, cellStyle: { background: { color: '#0E3F8C' } } }],&#13;&#10;[{ text: '创伤大出血指南', textStyle: { bold: false, color: '#2C3E50' }, cellStyle: { background: { color: '#FFFFFF' } } }, { text: '欧洲 2023(6版)', textStyle: { bold: false, color: '#2C3E50' }, cellStyle: { background: { color: '#FFFFFF' } } }, { text: '维持血小板&gt;50；TBI/多发伤目标更高（≥100）；VET 导向', textStyle: { bold: false, color: '#2C3E50' }, cellStyle: { background: { color: '#FFFFFF' } } }, { text: '36859355', textStyle: { bold: false, color: '#2C3E50' }, cellStyle: { background: { color: '#FFFFFF' } } }],&#13;&#10;[{ text: '心脏手术血液管理', textStyle: { bold: false, color: '#2C3E50' }, cellStyle: { background: { color: '#F0F5FC' } } }, { text: 'EACTS/EACTA 2017', textStyle: { bold: false, color: '#2C3E50' }, cellStyle: { background: { color: '#F0F5FC' } } }, { text: 'VET 导向止血；血小板减少/功能障碍出血时输血小板', textStyle: { bold: false, color: '#2C3E50' }, cellStyle: { background: { color: '#F0F5FC' } } }, { text: '29029100', textStyle: { bold: false, color: '#2C3E50' }, cellStyle: { background: { color: '#F0F5FC' } } }],&#13;&#10;[{ text: 'DIC 诊治共识', textStyle: { bold: false, color: '#2C3E50' }, cellStyle: { background: { color: '#FFFFFF' } } }, { text: 'ISTH 2001 / 中国 2023', textStyle: { bold: false, color: '#2C3E50' }, cellStyle: { background: { color: '#FFFFFF' } } }, { text: '血小板进行性下降为积分核心；动态复测', textStyle: { bold: false, color: '#2C3E50' }, cellStyle: { background: { color: '#FFFFFF' } } }, { text: '11816725 / 37803834', textStyle: { bold: false, color: '#2C3E50' }, cellStyle: { background: { color: '#FFFFFF' } } }],&#13;&#10;[{ text: '肝病凝血病', textStyle: { bold: false, color: '#2C3E50' }, cellStyle: { background: { color: '#F0F5FC' } } }, { text: 'ISTH SSC 2021', textStyle: { bold: false, color: '#2C3E50' }, cellStyle: { background: { color: '#F0F5FC' } } }, { text: '再平衡止血：血小板/PT 异常≠出血风险，勿常规纠正', textStyle: { bold: false, color: '#2C3E50' }, cellStyle: { background: { color: '#F0F5FC' } } }, { text: '33792172', textStyle: { bold: false, color: '#2C3E50' }, cellStyle: { background: { color: '#F0F5FC' } } }],&#13;&#10;[{ text: '妊娠血小板减少', textStyle: { bold: false, color: '#2C3E50' }, cellStyle: { background: { color: '#FFFFFF' } } }, { text: '专家综述 Blood 2013', textStyle: { bold: false, color: '#2C3E50' }, cellStyle: { background: { color: '#FFFFFF' } } }, { text: '最常见良性；子痫/HELLP/ITP 分层；分娩麻醉个体化', textStyle: { bold: false, color: '#2C3E50' }, cellStyle: { background: { color: '#FFFFFF' } } }, { text: '23149846', textStyle: { bold: false, color: '#2C3E50' }, cellStyle: { background: { color: '#FFFFFF' } } }]&#13;&#10;]}&#13;&#10;  /&gt;&#13;&#10;  &lt;Box style={{ position: 'absolute', left: 0, top: 664, width: 1280, height: 36, background: '#F7F9FC' }}&gt;&#13;&#10;    &lt;Text style={{ position: 'absolute', left: 64, top: 8, fontSize: 12, lineHeight: 1.3, color: '#6B7B8C', width: 1000 }}&gt;创伤第 6 版与 EACTS 血液管理均强调“以 VET/功能为导向、动态调整”，与本书主线一致。&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418" name=""/>
          <p:cNvSpPr/>
          <p:nvPr/>
        </p:nvSpPr>
        <p:spPr>
          <a:xfrm rot="0" flipH="0" flipV="0">
            <a:off x="0" y="0"/>
            <a:ext cx="12192000" cy="6858000"/>
          </a:xfrm>
          <a:prstGeom prst="rect">
            <a:avLst/>
          </a:prstGeom>
          <a:solidFill>
            <a:srgbClr val="FFFFFF"/>
          </a:solidFill>
          <a:ln/>
        </p:spPr>
        <p:txBody>
          <a:bodyPr/>
          <a:p/>
        </p:txBody>
      </p:sp>
      <p:sp>
        <p:nvSpPr>
          <p:cNvPr id="1419" name=""/>
          <p:cNvSpPr/>
          <p:nvPr/>
        </p:nvSpPr>
        <p:spPr>
          <a:xfrm rot="0" flipH="0" flipV="0">
            <a:off x="0" y="0"/>
            <a:ext cx="12192000" cy="685800"/>
          </a:xfrm>
          <a:prstGeom prst="rect">
            <a:avLst/>
          </a:prstGeom>
          <a:solidFill>
            <a:srgbClr val="0E3F8C"/>
          </a:solidFill>
          <a:ln/>
        </p:spPr>
        <p:txBody>
          <a:bodyPr/>
          <a:p/>
        </p:txBody>
      </p:sp>
      <p:sp>
        <p:nvSpPr>
          <p:cNvPr id="1420"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第十章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关键研究、指南与共识</a:t>
            </a:r>
            <a:endParaRPr/>
          </a:p>
        </p:txBody>
      </p:sp>
      <p:sp>
        <p:nvSpPr>
          <p:cNvPr id="1421" name=""/>
          <p:cNvSpPr/>
          <p:nvPr/>
        </p:nvSpPr>
        <p:spPr>
          <a:xfrm rot="0" flipH="0" flipV="0">
            <a:off x="3048000" y="209550"/>
            <a:ext cx="9525" cy="228600"/>
          </a:xfrm>
          <a:prstGeom prst="rect">
            <a:avLst/>
          </a:prstGeom>
          <a:solidFill>
            <a:srgbClr val="3D7BD9"/>
          </a:solidFill>
          <a:ln/>
        </p:spPr>
        <p:txBody>
          <a:bodyPr/>
          <a:p/>
        </p:txBody>
      </p:sp>
      <p:sp>
        <p:nvSpPr>
          <p:cNvPr id="1422" name="" descr="{&quot;isTemplate&quot;:true,&quot;type&quot;:&quot;text&quot;}"/>
          <p:cNvSpPr txBox="1"/>
          <p:nvPr/>
        </p:nvSpPr>
        <p:spPr>
          <a:xfrm rot="0" flipH="0" flipV="0">
            <a:off x="3209925" y="228600"/>
            <a:ext cx="3629025" cy="190500"/>
          </a:xfrm>
          <a:prstGeom prst="rect"/>
        </p:spPr>
        <p:txBody>
          <a:bodyPr wrap="none" lIns="0" tIns="0" rIns="0" bIns="0"/>
          <a:p>
            <a:pPr>
              <a:lnSpc>
                <a:spcPct val="100000"/>
              </a:lnSpc>
            </a:pPr>
            <a:r>
              <a:rPr lang="zh-CN" sz="1200">
                <a:solidFill>
                  <a:srgbClr val="C7D6EC"/>
                </a:solidFill>
                <a:latin typeface="Microsoft YaHei"/>
                <a:ea typeface="Microsoft YaHei"/>
              </a:rPr>
              <a:t>指南矩阵（二）：创伤</a:t>
            </a:r>
            <a:r>
              <a:rPr lang="en-US" sz="1200">
                <a:solidFill>
                  <a:srgbClr val="C7D6EC"/>
                </a:solidFill>
                <a:latin typeface="Microsoft YaHei"/>
                <a:ea typeface="Microsoft YaHei"/>
              </a:rPr>
              <a:t> / </a:t>
            </a:r>
            <a:r>
              <a:rPr lang="zh-CN" sz="1200">
                <a:solidFill>
                  <a:srgbClr val="C7D6EC"/>
                </a:solidFill>
                <a:latin typeface="Microsoft YaHei"/>
                <a:ea typeface="Microsoft YaHei"/>
              </a:rPr>
              <a:t>肝病</a:t>
            </a:r>
            <a:r>
              <a:rPr lang="en-US" sz="1200">
                <a:solidFill>
                  <a:srgbClr val="C7D6EC"/>
                </a:solidFill>
                <a:latin typeface="Microsoft YaHei"/>
                <a:ea typeface="Microsoft YaHei"/>
              </a:rPr>
              <a:t> / DIC / </a:t>
            </a:r>
            <a:r>
              <a:rPr lang="zh-CN" sz="1200">
                <a:solidFill>
                  <a:srgbClr val="C7D6EC"/>
                </a:solidFill>
                <a:latin typeface="Microsoft YaHei"/>
                <a:ea typeface="Microsoft YaHei"/>
              </a:rPr>
              <a:t>产科</a:t>
            </a:r>
            <a:r>
              <a:rPr lang="en-US" sz="1200">
                <a:solidFill>
                  <a:srgbClr val="C7D6EC"/>
                </a:solidFill>
                <a:latin typeface="Microsoft YaHei"/>
                <a:ea typeface="Microsoft YaHei"/>
              </a:rPr>
              <a:t> / </a:t>
            </a:r>
            <a:r>
              <a:rPr lang="zh-CN" sz="1200">
                <a:solidFill>
                  <a:srgbClr val="C7D6EC"/>
                </a:solidFill>
                <a:latin typeface="Microsoft YaHei"/>
                <a:ea typeface="Microsoft YaHei"/>
              </a:rPr>
              <a:t>心脏手术</a:t>
            </a:r>
            <a:endParaRPr/>
          </a:p>
        </p:txBody>
      </p:sp>
      <p:sp>
        <p:nvSpPr>
          <p:cNvPr id="1423"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62 / 77</a:t>
            </a:r>
            <a:endParaRPr/>
          </a:p>
        </p:txBody>
      </p:sp>
      <p:graphicFrame>
        <p:nvGraphicFramePr>
          <p:cNvPr id="1424" name=""/>
          <p:cNvGraphicFramePr/>
          <p:nvPr/>
        </p:nvGraphicFramePr>
        <p:xfrm rot="0" flipH="0" flipV="0">
          <a:off x="609600" y="952500"/>
          <a:ext cx="10972800" cy="5143500"/>
        </p:xfrm>
        <a:graphic>
          <a:graphicData uri="http://schemas.openxmlformats.org/drawingml/2006/table">
            <a:tbl>
              <a:tblGrid>
                <a:gridCol w="1631573">
                  <a:extLst>
                    <a:ext uri="{9D8B030D-6E8A-4147-A177-3AD203B41FA5}">
                      <a16:colId val="1"/>
                    </a:ext>
                  </a:extLst>
                </a:gridCol>
                <a:gridCol w="2117724">
                  <a:extLst>
                    <a:ext uri="{9D8B030D-6E8A-4147-A177-3AD203B41FA5}">
                      <a16:colId val="2"/>
                    </a:ext>
                  </a:extLst>
                </a:gridCol>
                <a:gridCol w="5129493">
                  <a:extLst>
                    <a:ext uri="{9D8B030D-6E8A-4147-A177-3AD203B41FA5}">
                      <a16:colId val="3"/>
                    </a:ext>
                  </a:extLst>
                </a:gridCol>
                <a:gridCol w="2094010">
                  <a:extLst>
                    <a:ext uri="{9D8B030D-6E8A-4147-A177-3AD203B41FA5}">
                      <a16:colId val="4"/>
                    </a:ext>
                  </a:extLst>
                </a:gridCol>
              </a:tblGrid>
              <a:tr h="857250">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指南</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机构·年份</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血小板相关核心推荐</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PMID</a:t>
                      </a:r>
                      <a:endParaRPr/>
                    </a:p>
                  </a:txBody>
                  <a:tcPr marL="45720" marR="45720" marT="45720" marB="45720" anchor="ctr">
                    <a:lnL>
                      <a:noFill/>
                    </a:lnL>
                    <a:lnR>
                      <a:noFill/>
                    </a:lnR>
                    <a:lnT>
                      <a:noFill/>
                    </a:lnT>
                    <a:lnB>
                      <a:noFill/>
                    </a:lnB>
                    <a:solidFill>
                      <a:srgbClr val="0E3F8C"/>
                    </a:solidFill>
                  </a:tcPr>
                </a:tc>
                <a:extLst>
                  <a:ext uri="{0D108BD9-81ED-4DB2-BD59-A6C34878D82A}">
                    <a16:rowId val="1"/>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创伤大出血指南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欧洲 2023(6版)</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维持血小板&gt;50；TBI/多发伤目标更高（≥100）；VET 导向</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36859355</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心脏手术血液管理</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EACTS/EACTA 2017</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VET 导向止血；血小板减少/功能障碍出血时输血小板</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29029100</a:t>
                      </a:r>
                      <a:endParaRPr/>
                    </a:p>
                  </a:txBody>
                  <a:tcPr marL="45720" marR="45720" marT="45720" marB="45720" anchor="ctr">
                    <a:lnL>
                      <a:noFill/>
                    </a:lnL>
                    <a:lnR>
                      <a:noFill/>
                    </a:lnR>
                    <a:lnT>
                      <a:noFill/>
                    </a:lnT>
                    <a:lnB>
                      <a:noFill/>
                    </a:lnB>
                    <a:solidFill>
                      <a:srgbClr val="F0F5FC"/>
                    </a:solidFill>
                  </a:tcPr>
                </a:tc>
                <a:extLst>
                  <a:ext uri="{0D108BD9-81ED-4DB2-BD59-A6C34878D82A}">
                    <a16:rowId val="3"/>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DIC 诊治共识</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ISTH 2001 / 中国 2023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血小板进行性下降为积分核心；动态复测</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11816725 / 37803834</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肝病凝血病</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ISTH SSC 2021</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再平衡止血：血小板/PT 异常≠出血风险，勿常规纠正</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33792172</a:t>
                      </a:r>
                      <a:endParaRPr/>
                    </a:p>
                  </a:txBody>
                  <a:tcPr marL="45720" marR="45720" marT="45720" marB="45720" anchor="ctr">
                    <a:lnL>
                      <a:noFill/>
                    </a:lnL>
                    <a:lnR>
                      <a:noFill/>
                    </a:lnR>
                    <a:lnT>
                      <a:noFill/>
                    </a:lnT>
                    <a:lnB>
                      <a:noFill/>
                    </a:lnB>
                    <a:solidFill>
                      <a:srgbClr val="F0F5FC"/>
                    </a:solidFill>
                  </a:tcPr>
                </a:tc>
                <a:extLst>
                  <a:ext uri="{0D108BD9-81ED-4DB2-BD59-A6C34878D82A}">
                    <a16:rowId val="5"/>
                  </a:ext>
                </a:extLst>
              </a:tr>
              <a:tr h="857250">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妊娠血小板减少</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专家综述 Blood 2013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最常见良性；子痫/HELLP/ITP 分层；分娩麻醉个体化</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23149846</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bl>
          </a:graphicData>
        </a:graphic>
      </p:graphicFrame>
      <p:sp>
        <p:nvSpPr>
          <p:cNvPr id="1425" name=""/>
          <p:cNvSpPr/>
          <p:nvPr/>
        </p:nvSpPr>
        <p:spPr>
          <a:xfrm rot="0" flipH="0" flipV="0">
            <a:off x="0" y="6324600"/>
            <a:ext cx="12192000" cy="342900"/>
          </a:xfrm>
          <a:prstGeom prst="rect">
            <a:avLst/>
          </a:prstGeom>
          <a:solidFill>
            <a:srgbClr val="F7F9FC"/>
          </a:solidFill>
          <a:ln/>
        </p:spPr>
        <p:txBody>
          <a:bodyPr/>
          <a:p/>
        </p:txBody>
      </p:sp>
      <p:sp>
        <p:nvSpPr>
          <p:cNvPr id="1426" name="" descr="{&quot;isTemplate&quot;:true,&quot;type&quot;:&quot;text&quot;}"/>
          <p:cNvSpPr txBox="1"/>
          <p:nvPr/>
        </p:nvSpPr>
        <p:spPr>
          <a:xfrm rot="0" flipH="0" flipV="0">
            <a:off x="609600" y="6400800"/>
            <a:ext cx="9525000" cy="180975"/>
          </a:xfrm>
          <a:prstGeom prst="rect"/>
        </p:spPr>
        <p:txBody>
          <a:bodyPr wrap="none" lIns="0" tIns="0" rIns="0" bIns="0"/>
          <a:p>
            <a:pPr>
              <a:lnSpc>
                <a:spcPct val="130000"/>
              </a:lnSpc>
            </a:pPr>
            <a:r>
              <a:rPr lang="zh-CN" sz="900">
                <a:solidFill>
                  <a:srgbClr val="6B7B8C"/>
                </a:solidFill>
                <a:latin typeface="Microsoft YaHei"/>
                <a:ea typeface="Microsoft YaHei"/>
              </a:rPr>
              <a:t>创伤第</a:t>
            </a:r>
            <a:r>
              <a:rPr lang="en-US" sz="900">
                <a:solidFill>
                  <a:srgbClr val="6B7B8C"/>
                </a:solidFill>
                <a:latin typeface="Microsoft YaHei"/>
                <a:ea typeface="Microsoft YaHei"/>
              </a:rPr>
              <a:t> 6 </a:t>
            </a:r>
            <a:r>
              <a:rPr lang="zh-CN" sz="900">
                <a:solidFill>
                  <a:srgbClr val="6B7B8C"/>
                </a:solidFill>
                <a:latin typeface="Microsoft YaHei"/>
                <a:ea typeface="Microsoft YaHei"/>
              </a:rPr>
              <a:t>版与</a:t>
            </a:r>
            <a:r>
              <a:rPr lang="en-US" sz="900">
                <a:solidFill>
                  <a:srgbClr val="6B7B8C"/>
                </a:solidFill>
                <a:latin typeface="Microsoft YaHei"/>
                <a:ea typeface="Microsoft YaHei"/>
              </a:rPr>
              <a:t> EACTS </a:t>
            </a:r>
            <a:r>
              <a:rPr lang="zh-CN" sz="900">
                <a:solidFill>
                  <a:srgbClr val="6B7B8C"/>
                </a:solidFill>
                <a:latin typeface="Microsoft YaHei"/>
                <a:ea typeface="Microsoft YaHei"/>
              </a:rPr>
              <a:t>血液管理均强调“以</a:t>
            </a:r>
            <a:r>
              <a:rPr lang="en-US" sz="900">
                <a:solidFill>
                  <a:srgbClr val="6B7B8C"/>
                </a:solidFill>
                <a:latin typeface="Microsoft YaHei"/>
                <a:ea typeface="Microsoft YaHei"/>
              </a:rPr>
              <a:t> VET/</a:t>
            </a:r>
            <a:r>
              <a:rPr lang="zh-CN" sz="900">
                <a:solidFill>
                  <a:srgbClr val="6B7B8C"/>
                </a:solidFill>
                <a:latin typeface="Microsoft YaHei"/>
                <a:ea typeface="Microsoft YaHei"/>
              </a:rPr>
              <a:t>功能为导向、动态调整”，与本书主线一致。</a:t>
            </a:r>
            <a:endParaRPr/>
          </a:p>
        </p:txBody>
      </p:sp>
      <p:sp>
        <p:nvSpPr>
          <p:cNvPr id="142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3.xml><?xml version="1.0" encoding="utf-8"?>
<p:sld xmlns:p="http://schemas.openxmlformats.org/presentationml/2006/main" xmlns:a="http://schemas.openxmlformats.org/drawingml/2006/main" xmlns:a16="http://schemas.microsoft.com/office/drawing/2014/main" xmlns:mc="http://schemas.openxmlformats.org/markup-compatibility/2006" mc:Ignorable="a16">
  <p:cSld>
    <p:spTree>
      <p:nvGrpSpPr>
        <p:cNvPr id="1428" name="" descr="&lt;Slide notes={`演讲者备注：【KUTER-ROMI】罗米司亭 III 期 RCT：慢性 ITP 患者血小板应答率显著高于安慰剂，减少挽救治疗与出血事件，确立 TPO-RA 疗效与安全性。证据：Lancet 2008;371:395-403，PMID 18242413。&#13;&#10;【CHENG-RAISE】RAISE：艾曲泊帕 6 个月随机双盲 RCT 显著提高慢性 ITP 血小板计数（中位峰值 50×10^9/L 以上达 59%）并降低出血，支持 TPO-RA 用于二线。证据：Lancet 2011;377:393-402，PMID 20739054。&#13;&#10;【STANWORTH-TOPPS】TOPPS：血液系统肿瘤化疗后不预防性输注血小板未达非劣效（出血显著增多），支持重度低增生性血小板减少仍应预防性输注。证据：N Engl J Med 2013;368:1771-1780，PMID 23656642。&#13;&#10;【HOLCOMB-PROPPR】PROPPR：严重创伤大出血 1:1:1 与 1:1:2 输注相比，24h/30d 总死亡率无统计学差异，但 1:1:1 组止血更快、24h 内失血性死亡更低。证据：JAMA 2015;313:471-482，PMID 25647203。&#13;&#10;【PRICE-GRAVITAS】GRAVITAS：PCI 后高残留血小板反应者给予高剂量氯吡格雷未降低 6 个月缺血事件，显示常规床旁血小板功能监测导向调药的获益有限。证据：JAMA 2011;305:1097-1105，PMID 21406646。&#13;&#10;【ANTARCTIC】ANTARCTIC：老年 ACS 支架患者基于床旁血小板功能监测调整抗血小板治疗未能减少心血管事件与出血，再次提示监测导向策略未改善临床结局。证据：Lancet 2016;388:2015-2022，PMID 27581531。&#13;&#10;参考文献：PMID 18242413；20739054；23656642；25647203；21406646；27581531`}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章 关键研究、指南与共识&lt;/Text&gt;&#13;&#10;      &lt;Box style={{ width: 1, height: 24, background: '#3D7BD9' }} /&gt;&#13;&#10;      &lt;Text style={{ fontSize: 16, color: '#C7D6EC' }}&gt;关键 RCT 一览：数据说话&lt;/Text&gt;&#13;&#10;    &lt;/Box&gt;&#13;&#10;    &lt;Text style={{ position: 'absolute', right: 64, top: 24, fontSize: 15, color: '#9DB8E0' }}&gt;63 / 77&lt;/Text&gt;&#13;&#10;  &lt;/Box&gt;&#13;&#10;  &lt;Table style={{ position: 'absolute', left: 64, top: 100, width: 1152, height: 540 }}&#13;&#10;    defaultTextStyle={{ fontSize: 16, textAlign: 'center', color: '#222' }}&#13;&#10;    defaultCellStyle={{ border: { left: { width: 1, color: '#E5E7EB' }, right: { width: 1, color: '#E5E7EB' }, top: { width: 1, color: '#E5E7EB' }, bottom: { width: 1, color: '#E5E7EB' } } }}&#13;&#10;    cells={[&#13;&#10;[{ text: '研究（年）', textStyle: { bold: true, color: '#FFFFFF' }, cellStyle: { background: { color: '#0E3F8C' } } }, { text: '设计/人群', textStyle: { bold: true, color: '#FFFFFF' }, cellStyle: { background: { color: '#0E3F8C' } } }, { text: '主要结果（血小板相关）', textStyle: { bold: true, color: '#FFFFFF' }, cellStyle: { background: { color: '#0E3F8C' } } }, { text: 'PMID', textStyle: { bold: true, color: '#FFFFFF' }, cellStyle: { background: { color: '#0E3F8C' } } }],&#13;&#10;[{ text: '罗米司亭 III 期（2008）', textStyle: { bold: false, color: '#2C3E50' }, cellStyle: { background: { color: '#FFFFFF' } } }, { text: '慢性 ITP 双盲 RCT', textStyle: { bold: false, color: '#2C3E50' }, cellStyle: { background: { color: '#FFFFFF' } } }, { text: '总应答 79—88% vs 安慰剂 0—14%；显著减少挽救治疗', textStyle: { bold: false, color: '#2C3E50' }, cellStyle: { background: { color: '#FFFFFF' } } }, { text: '18242413', textStyle: { bold: false, color: '#2C3E50' }, cellStyle: { background: { color: '#FFFFFF' } } }],&#13;&#10;[{ text: 'RAISE（2011）', textStyle: { bold: false, color: '#2C3E50' }, cellStyle: { background: { color: '#F0F5FC' } } }, { text: '慢性 ITP 6 月 RCT', textStyle: { bold: false, color: '#2C3E50' }, cellStyle: { background: { color: '#F0F5FC' } } }, { text: '应答≥79% vs 28%（OR 8.2）；降低出血与挽救治疗', textStyle: { bold: false, color: '#2C3E50' }, cellStyle: { background: { color: '#F0F5FC' } } }, { text: '20739054', textStyle: { bold: false, color: '#2C3E50' }, cellStyle: { background: { color: '#F0F5FC' } } }],&#13;&#10;[{ text: 'TOPPS（2013）', textStyle: { bold: false, color: '#2C3E50' }, cellStyle: { background: { color: '#FFFFFF' } } }, { text: '血液肿瘤不预防 vs 预防', textStyle: { bold: false, color: '#2C3E50' }, cellStyle: { background: { color: '#FFFFFF' } } }, { text: '2—4 级出血 50% vs 43%，未达非劣效→支持预防性输注', textStyle: { bold: false, color: '#2C3E50' }, cellStyle: { background: { color: '#FFFFFF' } } }, { text: '23656642', textStyle: { bold: false, color: '#2C3E50' }, cellStyle: { background: { color: '#FFFFFF' } } }],&#13;&#10;[{ text: 'PROPPR（2015）', textStyle: { bold: false, color: '#2C3E50' }, cellStyle: { background: { color: '#F0F5FC' } } }, { text: '创伤大出血 1:1:1 vs 1:1:2', textStyle: { bold: false, color: '#2C3E50' }, cellStyle: { background: { color: '#F0F5FC' } } }, { text: '24h/30d 死亡率无显著差；止血更快、失血死亡更低', textStyle: { bold: false, color: '#2C3E50' }, cellStyle: { background: { color: '#F0F5FC' } } }, { text: '25647203', textStyle: { bold: false, color: '#2C3E50' }, cellStyle: { background: { color: '#F0F5FC' } } }],&#13;&#10;[{ text: 'GRAVITAS（2011）', textStyle: { bold: false, color: '#2C3E50' }, cellStyle: { background: { color: '#FFFFFF' } } }, { text: 'PCI 后 HPR 高/标准剂量', textStyle: { bold: false, color: '#2C3E50' }, cellStyle: { background: { color: '#FFFFFF' } } }, { text: '6 月缺血事件均 2.3%（HR 1.01）——调药未获益', textStyle: { bold: false, color: '#2C3E50' }, cellStyle: { background: { color: '#FFFFFF' } } }, { text: '21406646', textStyle: { bold: false, color: '#2C3E50' }, cellStyle: { background: { color: '#FFFFFF' } } }],&#13;&#10;[{ text: 'ANTARCTIC（2016）', textStyle: { bold: false, color: '#2C3E50' }, cellStyle: { background: { color: '#F0F5FC' } } }, { text: '老年 ACS 监测 vs 常规', textStyle: { bold: false, color: '#2C3E50' }, cellStyle: { background: { color: '#F0F5FC' } } }, { text: '复合终点均 28%（HR 1.003）——监测未改善结局', textStyle: { bold: false, color: '#2C3E50' }, cellStyle: { background: { color: '#F0F5FC' } } }, { text: '27581531', textStyle: { bold: false, color: '#2C3E50' }, cellStyle: { background: { color: '#F0F5FC' } } }]&#13;&#10;]}&#13;&#10;  /&gt;&#13;&#10;  &lt;Box style={{ position: 'absolute', left: 0, top: 664, width: 1280, height: 36, background: '#F7F9FC' }}&gt;&#13;&#10;    &lt;Text style={{ position: 'absolute', left: 64, top: 8, fontSize: 12, lineHeight: 1.3, color: '#6B7B8C', width: 1000 }}&gt;数据均取自各研究摘要/正文（本课件交付前经 PubMed 摘要核对）。&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429" name=""/>
          <p:cNvSpPr/>
          <p:nvPr/>
        </p:nvSpPr>
        <p:spPr>
          <a:xfrm rot="0" flipH="0" flipV="0">
            <a:off x="0" y="0"/>
            <a:ext cx="12192000" cy="6858000"/>
          </a:xfrm>
          <a:prstGeom prst="rect">
            <a:avLst/>
          </a:prstGeom>
          <a:solidFill>
            <a:srgbClr val="FFFFFF"/>
          </a:solidFill>
          <a:ln/>
        </p:spPr>
        <p:txBody>
          <a:bodyPr/>
          <a:p/>
        </p:txBody>
      </p:sp>
      <p:sp>
        <p:nvSpPr>
          <p:cNvPr id="1430" name=""/>
          <p:cNvSpPr/>
          <p:nvPr/>
        </p:nvSpPr>
        <p:spPr>
          <a:xfrm rot="0" flipH="0" flipV="0">
            <a:off x="0" y="0"/>
            <a:ext cx="12192000" cy="685800"/>
          </a:xfrm>
          <a:prstGeom prst="rect">
            <a:avLst/>
          </a:prstGeom>
          <a:solidFill>
            <a:srgbClr val="0E3F8C"/>
          </a:solidFill>
          <a:ln/>
        </p:spPr>
        <p:txBody>
          <a:bodyPr/>
          <a:p/>
        </p:txBody>
      </p:sp>
      <p:sp>
        <p:nvSpPr>
          <p:cNvPr id="1431"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第十章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关键研究、指南与共识</a:t>
            </a:r>
            <a:endParaRPr/>
          </a:p>
        </p:txBody>
      </p:sp>
      <p:sp>
        <p:nvSpPr>
          <p:cNvPr id="1432" name=""/>
          <p:cNvSpPr/>
          <p:nvPr/>
        </p:nvSpPr>
        <p:spPr>
          <a:xfrm rot="0" flipH="0" flipV="0">
            <a:off x="3048000" y="209550"/>
            <a:ext cx="9525" cy="228600"/>
          </a:xfrm>
          <a:prstGeom prst="rect">
            <a:avLst/>
          </a:prstGeom>
          <a:solidFill>
            <a:srgbClr val="3D7BD9"/>
          </a:solidFill>
          <a:ln/>
        </p:spPr>
        <p:txBody>
          <a:bodyPr/>
          <a:p/>
        </p:txBody>
      </p:sp>
      <p:sp>
        <p:nvSpPr>
          <p:cNvPr id="1433" name="" descr="{&quot;isTemplate&quot;:true,&quot;type&quot;:&quot;text&quot;}"/>
          <p:cNvSpPr txBox="1"/>
          <p:nvPr/>
        </p:nvSpPr>
        <p:spPr>
          <a:xfrm rot="0" flipH="0" flipV="0">
            <a:off x="3209925" y="228600"/>
            <a:ext cx="1752600" cy="190500"/>
          </a:xfrm>
          <a:prstGeom prst="rect"/>
        </p:spPr>
        <p:txBody>
          <a:bodyPr wrap="none" lIns="0" tIns="0" rIns="0" bIns="0"/>
          <a:p>
            <a:pPr>
              <a:lnSpc>
                <a:spcPct val="100000"/>
              </a:lnSpc>
            </a:pPr>
            <a:r>
              <a:rPr lang="zh-CN" sz="1200">
                <a:solidFill>
                  <a:srgbClr val="C7D6EC"/>
                </a:solidFill>
                <a:latin typeface="Microsoft YaHei"/>
                <a:ea typeface="Microsoft YaHei"/>
              </a:rPr>
              <a:t>关键</a:t>
            </a:r>
            <a:r>
              <a:rPr lang="en-US" sz="1200">
                <a:solidFill>
                  <a:srgbClr val="C7D6EC"/>
                </a:solidFill>
                <a:latin typeface="Microsoft YaHei"/>
                <a:ea typeface="Microsoft YaHei"/>
              </a:rPr>
              <a:t> RCT </a:t>
            </a:r>
            <a:r>
              <a:rPr lang="zh-CN" sz="1200">
                <a:solidFill>
                  <a:srgbClr val="C7D6EC"/>
                </a:solidFill>
                <a:latin typeface="Microsoft YaHei"/>
                <a:ea typeface="Microsoft YaHei"/>
              </a:rPr>
              <a:t>一览：数据说话</a:t>
            </a:r>
            <a:endParaRPr/>
          </a:p>
        </p:txBody>
      </p:sp>
      <p:sp>
        <p:nvSpPr>
          <p:cNvPr id="1434"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63 / 77</a:t>
            </a:r>
            <a:endParaRPr/>
          </a:p>
        </p:txBody>
      </p:sp>
      <p:graphicFrame>
        <p:nvGraphicFramePr>
          <p:cNvPr id="1435" name=""/>
          <p:cNvGraphicFramePr/>
          <p:nvPr/>
        </p:nvGraphicFramePr>
        <p:xfrm rot="0" flipH="0" flipV="0">
          <a:off x="609600" y="952500"/>
          <a:ext cx="10972800" cy="5143500"/>
        </p:xfrm>
        <a:graphic>
          <a:graphicData uri="http://schemas.openxmlformats.org/drawingml/2006/table">
            <a:tbl>
              <a:tblGrid>
                <a:gridCol w="2290887">
                  <a:extLst>
                    <a:ext uri="{9D8B030D-6E8A-4147-A177-3AD203B41FA5}">
                      <a16:colId val="1"/>
                    </a:ext>
                  </a:extLst>
                </a:gridCol>
                <a:gridCol w="2390708">
                  <a:extLst>
                    <a:ext uri="{9D8B030D-6E8A-4147-A177-3AD203B41FA5}">
                      <a16:colId val="2"/>
                    </a:ext>
                  </a:extLst>
                </a:gridCol>
                <a:gridCol w="5223123">
                  <a:extLst>
                    <a:ext uri="{9D8B030D-6E8A-4147-A177-3AD203B41FA5}">
                      <a16:colId val="3"/>
                    </a:ext>
                  </a:extLst>
                </a:gridCol>
                <a:gridCol w="1068082">
                  <a:extLst>
                    <a:ext uri="{9D8B030D-6E8A-4147-A177-3AD203B41FA5}">
                      <a16:colId val="4"/>
                    </a:ext>
                  </a:extLst>
                </a:gridCol>
              </a:tblGrid>
              <a:tr h="734786">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研究（年）</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设计/人群</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主要结果（血小板相关）</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PMID</a:t>
                      </a:r>
                      <a:endParaRPr/>
                    </a:p>
                  </a:txBody>
                  <a:tcPr marL="45720" marR="45720" marT="45720" marB="45720" anchor="ctr">
                    <a:lnL>
                      <a:noFill/>
                    </a:lnL>
                    <a:lnR>
                      <a:noFill/>
                    </a:lnR>
                    <a:lnT>
                      <a:noFill/>
                    </a:lnT>
                    <a:lnB>
                      <a:noFill/>
                    </a:lnB>
                    <a:solidFill>
                      <a:srgbClr val="0E3F8C"/>
                    </a:solidFill>
                  </a:tcPr>
                </a:tc>
                <a:extLst>
                  <a:ext uri="{0D108BD9-81ED-4DB2-BD59-A6C34878D82A}">
                    <a16:rowId val="1"/>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罗米司亭 III 期（2008）</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慢性 ITP 双盲 RCT</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总应答 79—88% vs 安慰剂 0—14%；显著减少挽救治疗</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18242413</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RAISE（2011）</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慢性 ITP 6 月 RCT</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应答≥79% vs 28%（OR 8.2）；降低出血与挽救治疗</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20739054</a:t>
                      </a:r>
                      <a:endParaRPr/>
                    </a:p>
                  </a:txBody>
                  <a:tcPr marL="45720" marR="45720" marT="45720" marB="45720" anchor="ctr">
                    <a:lnL>
                      <a:noFill/>
                    </a:lnL>
                    <a:lnR>
                      <a:noFill/>
                    </a:lnR>
                    <a:lnT>
                      <a:noFill/>
                    </a:lnT>
                    <a:lnB>
                      <a:noFill/>
                    </a:lnB>
                    <a:solidFill>
                      <a:srgbClr val="F0F5FC"/>
                    </a:solidFill>
                  </a:tcPr>
                </a:tc>
                <a:extLst>
                  <a:ext uri="{0D108BD9-81ED-4DB2-BD59-A6C34878D82A}">
                    <a16:rowId val="3"/>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TOPPS（2013）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血液肿瘤不预防 vs 预防</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2—4 级出血 50% vs 43%，未达非劣效→支持预防性输注</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23656642</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PROPPR（2015）</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创伤大出血 1:1:1 vs 1:1:2</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24h/30d 死亡率无显著差；止血更快、失血死亡更低</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25647203</a:t>
                      </a:r>
                      <a:endParaRPr/>
                    </a:p>
                  </a:txBody>
                  <a:tcPr marL="45720" marR="45720" marT="45720" marB="45720" anchor="ctr">
                    <a:lnL>
                      <a:noFill/>
                    </a:lnL>
                    <a:lnR>
                      <a:noFill/>
                    </a:lnR>
                    <a:lnT>
                      <a:noFill/>
                    </a:lnT>
                    <a:lnB>
                      <a:noFill/>
                    </a:lnB>
                    <a:solidFill>
                      <a:srgbClr val="F0F5FC"/>
                    </a:solidFill>
                  </a:tcPr>
                </a:tc>
                <a:extLst>
                  <a:ext uri="{0D108BD9-81ED-4DB2-BD59-A6C34878D82A}">
                    <a16:rowId val="5"/>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GRAVITAS（2011）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PCI 后 HPR 高/标准剂量</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6 月缺血事件均 2.3%（HR 1.01）——调药未获益</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21406646</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734786">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ANTARCTIC（2016）</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老年 ACS 监测 vs 常规</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复合终点均 28%（HR 1.003）——监测未改善结局</a:t>
                      </a:r>
                      <a:endParaRPr/>
                    </a:p>
                  </a:txBody>
                  <a:tcPr marL="45720" marR="45720" marT="45720" marB="45720" anchor="ctr">
                    <a:lnL>
                      <a:noFill/>
                    </a:lnL>
                    <a:lnR>
                      <a:noFill/>
                    </a:lnR>
                    <a:lnT>
                      <a:noFill/>
                    </a:lnT>
                    <a:lnB>
                      <a:noFill/>
                    </a:lnB>
                    <a:solidFill>
                      <a:srgbClr val="F0F5FC"/>
                    </a:solidFill>
                  </a:tcPr>
                </a:tc>
                <a:tc>
                  <a:txBody>
                    <a:bodyPr wrap="square" lIns="0" tIns="0" rIns="0" bIns="0" anchor="ctr">
                      <a:normAutofit/>
                    </a:bodyPr>
                    <a:p>
                      <a:pPr marL="114300" marR="114300" algn="l">
                        <a:lnSpc>
                          <a:spcPct val="120000"/>
                        </a:lnSpc>
                      </a:pPr>
                      <a:r>
                        <a:rPr sz="1200">
                          <a:solidFill>
                            <a:srgbClr val="2C3E50"/>
                          </a:solidFill>
                          <a:latin typeface="Microsoft YaHei"/>
                          <a:ea typeface="Microsoft YaHei"/>
                        </a:rPr>
                        <a:t>27581531</a:t>
                      </a:r>
                      <a:endParaRPr/>
                    </a:p>
                  </a:txBody>
                  <a:tcPr marL="45720" marR="45720" marT="45720" marB="45720" anchor="ctr">
                    <a:lnL>
                      <a:noFill/>
                    </a:lnL>
                    <a:lnR>
                      <a:noFill/>
                    </a:lnR>
                    <a:lnT>
                      <a:noFill/>
                    </a:lnT>
                    <a:lnB>
                      <a:noFill/>
                    </a:lnB>
                    <a:solidFill>
                      <a:srgbClr val="F0F5FC"/>
                    </a:solidFill>
                  </a:tcPr>
                </a:tc>
                <a:extLst>
                  <a:ext uri="{0D108BD9-81ED-4DB2-BD59-A6C34878D82A}">
                    <a16:rowId val="7"/>
                  </a:ext>
                </a:extLst>
              </a:tr>
            </a:tbl>
          </a:graphicData>
        </a:graphic>
      </p:graphicFrame>
      <p:sp>
        <p:nvSpPr>
          <p:cNvPr id="1436" name=""/>
          <p:cNvSpPr/>
          <p:nvPr/>
        </p:nvSpPr>
        <p:spPr>
          <a:xfrm rot="0" flipH="0" flipV="0">
            <a:off x="0" y="6324600"/>
            <a:ext cx="12192000" cy="342900"/>
          </a:xfrm>
          <a:prstGeom prst="rect">
            <a:avLst/>
          </a:prstGeom>
          <a:solidFill>
            <a:srgbClr val="F7F9FC"/>
          </a:solidFill>
          <a:ln/>
        </p:spPr>
        <p:txBody>
          <a:bodyPr/>
          <a:p/>
        </p:txBody>
      </p:sp>
      <p:sp>
        <p:nvSpPr>
          <p:cNvPr id="1437" name="" descr="{&quot;isTemplate&quot;:true,&quot;type&quot;:&quot;text&quot;}"/>
          <p:cNvSpPr txBox="1"/>
          <p:nvPr/>
        </p:nvSpPr>
        <p:spPr>
          <a:xfrm rot="0" flipH="0" flipV="0">
            <a:off x="609600" y="6400800"/>
            <a:ext cx="9525000" cy="180975"/>
          </a:xfrm>
          <a:prstGeom prst="rect"/>
        </p:spPr>
        <p:txBody>
          <a:bodyPr wrap="none" lIns="0" tIns="0" rIns="0" bIns="0"/>
          <a:p>
            <a:pPr>
              <a:lnSpc>
                <a:spcPct val="130000"/>
              </a:lnSpc>
            </a:pPr>
            <a:r>
              <a:rPr lang="zh-CN" sz="900">
                <a:solidFill>
                  <a:srgbClr val="6B7B8C"/>
                </a:solidFill>
                <a:latin typeface="Microsoft YaHei"/>
                <a:ea typeface="Microsoft YaHei"/>
              </a:rPr>
              <a:t>数据均取自各研究摘要</a:t>
            </a:r>
            <a:r>
              <a:rPr lang="en-US" sz="900">
                <a:solidFill>
                  <a:srgbClr val="6B7B8C"/>
                </a:solidFill>
                <a:latin typeface="Microsoft YaHei"/>
                <a:ea typeface="Microsoft YaHei"/>
              </a:rPr>
              <a:t>/</a:t>
            </a:r>
            <a:r>
              <a:rPr lang="zh-CN" sz="900">
                <a:solidFill>
                  <a:srgbClr val="6B7B8C"/>
                </a:solidFill>
                <a:latin typeface="Microsoft YaHei"/>
                <a:ea typeface="Microsoft YaHei"/>
              </a:rPr>
              <a:t>正文（本课件交付前经</a:t>
            </a:r>
            <a:r>
              <a:rPr lang="en-US" sz="900">
                <a:solidFill>
                  <a:srgbClr val="6B7B8C"/>
                </a:solidFill>
                <a:latin typeface="Microsoft YaHei"/>
                <a:ea typeface="Microsoft YaHei"/>
              </a:rPr>
              <a:t> PubMed </a:t>
            </a:r>
            <a:r>
              <a:rPr lang="zh-CN" sz="900">
                <a:solidFill>
                  <a:srgbClr val="6B7B8C"/>
                </a:solidFill>
                <a:latin typeface="Microsoft YaHei"/>
                <a:ea typeface="Microsoft YaHei"/>
              </a:rPr>
              <a:t>摘要核对）。</a:t>
            </a:r>
            <a:endParaRPr/>
          </a:p>
        </p:txBody>
      </p:sp>
      <p:sp>
        <p:nvSpPr>
          <p:cNvPr id="143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4.xml><?xml version="1.0" encoding="utf-8"?>
<p:sld xmlns:p="http://schemas.openxmlformats.org/presentationml/2006/main" xmlns:a="http://schemas.openxmlformats.org/drawingml/2006/main">
  <p:cSld>
    <p:spTree>
      <p:nvGrpSpPr>
        <p:cNvPr id="1439" name="" descr="&lt;Slide notes={`演讲者备注：【STANWORTH-TOPPS】TOPPS：血液系统肿瘤化疗后不预防性输注血小板未达非劣效（出血显著增多），支持重度低增生性血小板减少仍应预防性输注。证据：N Engl J Med 2013;368:1771-1780，PMID 23656642。&#13;&#10;【PRICE-GRAVITAS】GRAVITAS：PCI 后高残留血小板反应者给予高剂量氯吡格雷未降低 6 个月缺血事件，显示常规床旁血小板功能监测导向调药的获益有限。证据：JAMA 2011;305:1097-1105，PMID 21406646。&#13;&#10;讲解提示：用四个“争议”把前文证据串联成未来研究清单——适合研究生/科室质量改进立项（PDCA 主题：假性减少识别率、输注合格率、危急值闭环率）。`}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章 关键研究、指南与共识&lt;/Text&gt;&#13;&#10;      &lt;Box style={{ width: 1, height: 24, background: '#3D7BD9' }} /&gt;&#13;&#10;      &lt;Text style={{ fontSize: 16, color: '#C7D6EC' }}&gt;从证据到实践：争议与尚未回答的问题&lt;/Text&gt;&#13;&#10;    &lt;/Box&gt;&#13;&#10;    &lt;Text style={{ position: 'absolute', right: 64, top: 24, fontSize: 15, color: '#9DB8E0' }}&gt;64 / 77&lt;/Text&gt;&#13;&#10;  &lt;/Box&gt;&#13;&#10;  &lt;Box style={{ position: 'absolute', left: 64, top: 96, width: 562, height: 128, background: '#F0F5FC', borderRadius: 12, border: '1px solid #E5E7EB', padding: 20 }}&gt;&#13;&#10;&lt;Text style={{ fontSize: 19, color: '#0E3F8C', fontWeight: 'bold', textAlign: 'left', lineHeight: 1.5 }}&gt;争议一：阈值个体化&lt;/Text&gt;&#13;&#10;&lt;Text style={{ fontSize: 17, color: '#2C3E50', textAlign: 'left', lineHeight: 1.62 }}&gt;预防性输注“10”主要来自低增生模型；破坏型/ICU/发热感染患者的“最佳阈值”仍缺高质量 RCT——指南以弱推荐+专家意见覆盖，实践差异大。&lt;/Text&gt;&#13;&#10;  &lt;/Box&gt;&#13;&#10;  &lt;Box style={{ position: 'absolute', left: 654, top: 96, width: 562, height: 128, background: '#F0F5FC', borderRadius: 12, border: '1px solid #E5E7EB', padding: 20 }}&gt;&#13;&#10;&lt;Text style={{ fontSize: 19, color: '#0E3F8C', fontWeight: 'bold', textAlign: 'left', lineHeight: 1.5 }}&gt;争议二：功能监测价值&lt;/Text&gt;&#13;&#10;&lt;Text style={{ fontSize: 17, color: '#2C3E50', textAlign: 'left', lineHeight: 1.62 }}&gt;GRAVITAS/ANTARCTIC 后，抗血小板监测常规化被否定；但“高风险个体（复杂 PCI、桥接期）”是否受益仍待新试验与更稳检测方法回答。&lt;/Text&gt;&#13;&#10;  &lt;/Box&gt;&#13;&#10;  &lt;Box style={{ position: 'absolute', left: 64, top: 252, width: 562, height: 128, background: '#F0F5FC', borderRadius: 12, border: '1px solid #E5E7EB', padding: 20 }}&gt;&#13;&#10;&lt;Text style={{ fontSize: 19, color: '#0E3F8C', fontWeight: 'bold', textAlign: 'left', lineHeight: 1.5 }}&gt;争议三：输注“有效性”&lt;/Text&gt;&#13;&#10;&lt;Text style={{ fontSize: 17, color: '#2C3E50', textAlign: 'left', lineHeight: 1.62 }}&gt;预防性输注减少了出血却仍有约四成 2 级以上出血（TOPPS），且免疫无效、储存损伤缺乏床旁预测工具；IPF/生物标志导向的“按需输注”是探索方向。&lt;/Text&gt;&#13;&#10;  &lt;/Box&gt;&#13;&#10;  &lt;Box style={{ position: 'absolute', left: 654, top: 252, width: 562, height: 128, background: '#F0F5FC', borderRadius: 12, border: '1px solid #E5E7EB', padding: 20 }}&gt;&#13;&#10;&lt;Text style={{ fontSize: 19, color: '#0E3F8C', fontWeight: 'bold', textAlign: 'left', lineHeight: 1.5 }}&gt;争议四：假性减少的代价&lt;/Text&gt;&#13;&#10;&lt;Text style={{ fontSize: 17, color: '#2C3E50', textAlign: 'left', lineHeight: 1.62 }}&gt;EDTA 假性减少导致的错误输注/检查仍普遍；自动复检规则覆盖率与临床沟通质量（LIS 备注、危急值解释）是低成本高回报的改进点。&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7, color: '#2C3E50', textAlign: 'left', lineHeight: 1.62 }}&gt;指南给出“最低共识线”，真实世界需要在患者层面把阈值、目标与监测频率做二次翻译。&lt;/Text&gt;&#13;&#10;  &lt;/Box&gt;&#13;&#10;&#13;&#10;  &lt;Box style={{ position: 'absolute', left: 64, top: 556, width: 1152, height: 92, background: '#F0F5FC', borderRadius: 12, border: '1px solid #E5E7EB', padding: 20 }}&gt;&#13;&#10;&lt;Text style={{ fontSize: 17, color: '#2C3E50', textAlign: 'left', lineHeight: 1.6 }}&gt;小结：N Engl J Med 2013;368:1771-1780 (PMID 2365664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440" name=""/>
          <p:cNvSpPr/>
          <p:nvPr/>
        </p:nvSpPr>
        <p:spPr>
          <a:xfrm rot="0" flipH="0" flipV="0">
            <a:off x="0" y="0"/>
            <a:ext cx="12192000" cy="6858000"/>
          </a:xfrm>
          <a:prstGeom prst="rect">
            <a:avLst/>
          </a:prstGeom>
          <a:solidFill>
            <a:srgbClr val="FFFFFF"/>
          </a:solidFill>
          <a:ln/>
        </p:spPr>
        <p:txBody>
          <a:bodyPr/>
          <a:p/>
        </p:txBody>
      </p:sp>
      <p:sp>
        <p:nvSpPr>
          <p:cNvPr id="1441" name=""/>
          <p:cNvSpPr/>
          <p:nvPr/>
        </p:nvSpPr>
        <p:spPr>
          <a:xfrm rot="0" flipH="0" flipV="0">
            <a:off x="0" y="0"/>
            <a:ext cx="12192000" cy="685800"/>
          </a:xfrm>
          <a:prstGeom prst="rect">
            <a:avLst/>
          </a:prstGeom>
          <a:solidFill>
            <a:srgbClr val="0E3F8C"/>
          </a:solidFill>
          <a:ln/>
        </p:spPr>
        <p:txBody>
          <a:bodyPr/>
          <a:p/>
        </p:txBody>
      </p:sp>
      <p:sp>
        <p:nvSpPr>
          <p:cNvPr id="1442" name="" descr="{&quot;isTemplate&quot;:true,&quot;type&quot;:&quot;text&quot;}"/>
          <p:cNvSpPr txBox="1"/>
          <p:nvPr/>
        </p:nvSpPr>
        <p:spPr>
          <a:xfrm rot="0" flipH="0" flipV="0">
            <a:off x="609600" y="219075"/>
            <a:ext cx="2286000" cy="209550"/>
          </a:xfrm>
          <a:prstGeom prst="rect"/>
        </p:spPr>
        <p:txBody>
          <a:bodyPr wrap="none" lIns="0" tIns="0" rIns="0" bIns="0"/>
          <a:p>
            <a:pPr>
              <a:lnSpc>
                <a:spcPct val="100000"/>
              </a:lnSpc>
            </a:pPr>
            <a:r>
              <a:rPr lang="zh-CN" sz="1350" b="1">
                <a:solidFill>
                  <a:srgbClr val="FFFFFF"/>
                </a:solidFill>
                <a:latin typeface="Microsoft YaHei"/>
                <a:ea typeface="Microsoft YaHei"/>
              </a:rPr>
              <a:t>第十章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关键研究、指南与共识</a:t>
            </a:r>
            <a:endParaRPr/>
          </a:p>
        </p:txBody>
      </p:sp>
      <p:sp>
        <p:nvSpPr>
          <p:cNvPr id="1443" name=""/>
          <p:cNvSpPr/>
          <p:nvPr/>
        </p:nvSpPr>
        <p:spPr>
          <a:xfrm rot="0" flipH="0" flipV="0">
            <a:off x="3048000" y="209550"/>
            <a:ext cx="9525" cy="228600"/>
          </a:xfrm>
          <a:prstGeom prst="rect">
            <a:avLst/>
          </a:prstGeom>
          <a:solidFill>
            <a:srgbClr val="3D7BD9"/>
          </a:solidFill>
          <a:ln/>
        </p:spPr>
        <p:txBody>
          <a:bodyPr/>
          <a:p/>
        </p:txBody>
      </p:sp>
      <p:sp>
        <p:nvSpPr>
          <p:cNvPr id="1444" name="" descr="{&quot;isTemplate&quot;:true,&quot;type&quot;:&quot;text&quot;}"/>
          <p:cNvSpPr txBox="1"/>
          <p:nvPr/>
        </p:nvSpPr>
        <p:spPr>
          <a:xfrm rot="0" flipH="0" flipV="0">
            <a:off x="3209925" y="228600"/>
            <a:ext cx="2590800" cy="190500"/>
          </a:xfrm>
          <a:prstGeom prst="rect"/>
        </p:spPr>
        <p:txBody>
          <a:bodyPr wrap="none" lIns="0" tIns="0" rIns="0" bIns="0"/>
          <a:p>
            <a:pPr>
              <a:lnSpc>
                <a:spcPct val="100000"/>
              </a:lnSpc>
            </a:pPr>
            <a:r>
              <a:rPr lang="zh-CN" sz="1200">
                <a:solidFill>
                  <a:srgbClr val="C7D6EC"/>
                </a:solidFill>
                <a:latin typeface="Microsoft YaHei"/>
                <a:ea typeface="Microsoft YaHei"/>
              </a:rPr>
              <a:t>从证据到实践：争议与尚未回答的问题</a:t>
            </a:r>
            <a:endParaRPr/>
          </a:p>
        </p:txBody>
      </p:sp>
      <p:sp>
        <p:nvSpPr>
          <p:cNvPr id="1445"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64 / 77</a:t>
            </a:r>
            <a:endParaRPr/>
          </a:p>
        </p:txBody>
      </p:sp>
      <p:sp>
        <p:nvSpPr>
          <p:cNvPr id="1446"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47"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争议一：阈值个体化</a:t>
            </a:r>
            <a:endParaRPr/>
          </a:p>
        </p:txBody>
      </p:sp>
      <p:sp>
        <p:nvSpPr>
          <p:cNvPr id="1448"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预防性输注“</a:t>
            </a:r>
            <a:r>
              <a:rPr lang="en-US" sz="1275">
                <a:solidFill>
                  <a:srgbClr val="2C3E50"/>
                </a:solidFill>
                <a:latin typeface="Microsoft YaHei"/>
                <a:ea typeface="Microsoft YaHei"/>
              </a:rPr>
              <a:t>10”</a:t>
            </a:r>
            <a:r>
              <a:rPr lang="zh-CN" sz="1275">
                <a:solidFill>
                  <a:srgbClr val="2C3E50"/>
                </a:solidFill>
                <a:latin typeface="Microsoft YaHei"/>
                <a:ea typeface="Microsoft YaHei"/>
              </a:rPr>
              <a:t>主要来自低增生模型；破坏型</a:t>
            </a:r>
            <a:r>
              <a:rPr lang="en-US" sz="1275">
                <a:solidFill>
                  <a:srgbClr val="2C3E50"/>
                </a:solidFill>
                <a:latin typeface="Microsoft YaHei"/>
                <a:ea typeface="Microsoft YaHei"/>
              </a:rPr>
              <a:t>/ICU/</a:t>
            </a:r>
            <a:r>
              <a:rPr lang="zh-CN" sz="1275">
                <a:solidFill>
                  <a:srgbClr val="2C3E50"/>
                </a:solidFill>
                <a:latin typeface="Microsoft YaHei"/>
                <a:ea typeface="Microsoft YaHei"/>
              </a:rPr>
              <a:t>发热感染患者的“最佳阈值”仍缺高质量</a:t>
            </a:r>
            <a:r>
              <a:rPr lang="en-US" sz="1275">
                <a:solidFill>
                  <a:srgbClr val="2C3E50"/>
                </a:solidFill>
                <a:latin typeface="Microsoft YaHei"/>
                <a:ea typeface="Microsoft YaHei"/>
              </a:rPr>
              <a:t> RCT——</a:t>
            </a:r>
            <a:r>
              <a:rPr lang="zh-CN" sz="1275">
                <a:solidFill>
                  <a:srgbClr val="2C3E50"/>
                </a:solidFill>
                <a:latin typeface="Microsoft YaHei"/>
                <a:ea typeface="Microsoft YaHei"/>
              </a:rPr>
              <a:t>指南以弱推荐</a:t>
            </a:r>
            <a:r>
              <a:rPr lang="en-US" sz="1275">
                <a:solidFill>
                  <a:srgbClr val="2C3E50"/>
                </a:solidFill>
                <a:latin typeface="Microsoft YaHei"/>
                <a:ea typeface="Microsoft YaHei"/>
              </a:rPr>
              <a:t>+</a:t>
            </a:r>
            <a:r>
              <a:rPr lang="zh-CN" sz="1275">
                <a:solidFill>
                  <a:srgbClr val="2C3E50"/>
                </a:solidFill>
                <a:latin typeface="Microsoft YaHei"/>
                <a:ea typeface="Microsoft YaHei"/>
              </a:rPr>
              <a:t>专家意见覆盖，实践差异大。</a:t>
            </a:r>
            <a:endParaRPr/>
          </a:p>
        </p:txBody>
      </p:sp>
      <p:sp>
        <p:nvSpPr>
          <p:cNvPr id="1449"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50"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争议二：功能监测价值</a:t>
            </a:r>
            <a:endParaRPr/>
          </a:p>
        </p:txBody>
      </p:sp>
      <p:sp>
        <p:nvSpPr>
          <p:cNvPr id="1451"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GRAVITAS/ANTARCTIC </a:t>
            </a:r>
            <a:r>
              <a:rPr lang="zh-CN" sz="1275">
                <a:solidFill>
                  <a:srgbClr val="2C3E50"/>
                </a:solidFill>
                <a:latin typeface="Microsoft YaHei"/>
                <a:ea typeface="Microsoft YaHei"/>
              </a:rPr>
              <a:t>后，抗血小板监测常规化被否定；但“高风险个体（复杂</a:t>
            </a:r>
            <a:r>
              <a:rPr lang="en-US" sz="1275">
                <a:solidFill>
                  <a:srgbClr val="2C3E50"/>
                </a:solidFill>
                <a:latin typeface="Microsoft YaHei"/>
                <a:ea typeface="Microsoft YaHei"/>
              </a:rPr>
              <a:t> PCI</a:t>
            </a:r>
            <a:r>
              <a:rPr lang="zh-CN" sz="1275">
                <a:solidFill>
                  <a:srgbClr val="2C3E50"/>
                </a:solidFill>
                <a:latin typeface="Microsoft YaHei"/>
                <a:ea typeface="Microsoft YaHei"/>
              </a:rPr>
              <a:t>、桥接期）”是否受益仍待新试验与更稳检测方法回答。</a:t>
            </a:r>
            <a:endParaRPr/>
          </a:p>
        </p:txBody>
      </p:sp>
      <p:sp>
        <p:nvSpPr>
          <p:cNvPr id="1452"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53"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争议三：输注“有效性”</a:t>
            </a:r>
            <a:endParaRPr/>
          </a:p>
        </p:txBody>
      </p:sp>
      <p:sp>
        <p:nvSpPr>
          <p:cNvPr id="1454"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预防性输注减少了出血却仍有约四成</a:t>
            </a:r>
            <a:r>
              <a:rPr lang="en-US" sz="1275">
                <a:solidFill>
                  <a:srgbClr val="2C3E50"/>
                </a:solidFill>
                <a:latin typeface="Microsoft YaHei"/>
                <a:ea typeface="Microsoft YaHei"/>
              </a:rPr>
              <a:t> 2 </a:t>
            </a:r>
            <a:r>
              <a:rPr lang="zh-CN" sz="1275">
                <a:solidFill>
                  <a:srgbClr val="2C3E50"/>
                </a:solidFill>
                <a:latin typeface="Microsoft YaHei"/>
                <a:ea typeface="Microsoft YaHei"/>
              </a:rPr>
              <a:t>级以上出血（</a:t>
            </a:r>
            <a:r>
              <a:rPr lang="en-US" sz="1275">
                <a:solidFill>
                  <a:srgbClr val="2C3E50"/>
                </a:solidFill>
                <a:latin typeface="Microsoft YaHei"/>
                <a:ea typeface="Microsoft YaHei"/>
              </a:rPr>
              <a:t>TOPPS</a:t>
            </a:r>
            <a:r>
              <a:rPr lang="zh-CN" sz="1275">
                <a:solidFill>
                  <a:srgbClr val="2C3E50"/>
                </a:solidFill>
                <a:latin typeface="Microsoft YaHei"/>
                <a:ea typeface="Microsoft YaHei"/>
              </a:rPr>
              <a:t>），且免疫无效、储存损伤缺乏床旁预测工具；</a:t>
            </a:r>
            <a:r>
              <a:rPr lang="en-US" sz="1275">
                <a:solidFill>
                  <a:srgbClr val="2C3E50"/>
                </a:solidFill>
                <a:latin typeface="Microsoft YaHei"/>
                <a:ea typeface="Microsoft YaHei"/>
              </a:rPr>
              <a:t>IPF/</a:t>
            </a:r>
            <a:r>
              <a:rPr lang="zh-CN" sz="1275">
                <a:solidFill>
                  <a:srgbClr val="2C3E50"/>
                </a:solidFill>
                <a:latin typeface="Microsoft YaHei"/>
                <a:ea typeface="Microsoft YaHei"/>
              </a:rPr>
              <a:t>生物标志导向的“按需输注”是探索方向。</a:t>
            </a:r>
            <a:endParaRPr/>
          </a:p>
        </p:txBody>
      </p:sp>
      <p:sp>
        <p:nvSpPr>
          <p:cNvPr id="1455"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56"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争议四：假性减少的代价</a:t>
            </a:r>
            <a:endParaRPr/>
          </a:p>
        </p:txBody>
      </p:sp>
      <p:sp>
        <p:nvSpPr>
          <p:cNvPr id="1457" name="" descr="{&quot;isTemplate&quot;:true,&quot;type&quot;:&quot;text&quot;}"/>
          <p:cNvSpPr txBox="1"/>
          <p:nvPr/>
        </p:nvSpPr>
        <p:spPr>
          <a:xfrm rot="0" flipH="0" flipV="0">
            <a:off x="6419850" y="29241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EDTA </a:t>
            </a:r>
            <a:r>
              <a:rPr lang="zh-CN" sz="1275">
                <a:solidFill>
                  <a:srgbClr val="2C3E50"/>
                </a:solidFill>
                <a:latin typeface="Microsoft YaHei"/>
                <a:ea typeface="Microsoft YaHei"/>
              </a:rPr>
              <a:t>假性减少导致的错误输注</a:t>
            </a:r>
            <a:r>
              <a:rPr lang="en-US" sz="1275">
                <a:solidFill>
                  <a:srgbClr val="2C3E50"/>
                </a:solidFill>
                <a:latin typeface="Microsoft YaHei"/>
                <a:ea typeface="Microsoft YaHei"/>
              </a:rPr>
              <a:t>/</a:t>
            </a:r>
            <a:r>
              <a:rPr lang="zh-CN" sz="1275">
                <a:solidFill>
                  <a:srgbClr val="2C3E50"/>
                </a:solidFill>
                <a:latin typeface="Microsoft YaHei"/>
                <a:ea typeface="Microsoft YaHei"/>
              </a:rPr>
              <a:t>检查仍普遍；自动复检规则覆盖率与临床沟通质量（</a:t>
            </a:r>
            <a:r>
              <a:rPr lang="en-US" sz="1275">
                <a:solidFill>
                  <a:srgbClr val="2C3E50"/>
                </a:solidFill>
                <a:latin typeface="Microsoft YaHei"/>
                <a:ea typeface="Microsoft YaHei"/>
              </a:rPr>
              <a:t>LIS </a:t>
            </a:r>
            <a:r>
              <a:rPr lang="zh-CN" sz="1275">
                <a:solidFill>
                  <a:srgbClr val="2C3E50"/>
                </a:solidFill>
                <a:latin typeface="Microsoft YaHei"/>
                <a:ea typeface="Microsoft YaHei"/>
              </a:rPr>
              <a:t>备注、危急值解释）是低成本高回报的改进点。</a:t>
            </a:r>
            <a:endParaRPr/>
          </a:p>
        </p:txBody>
      </p:sp>
      <p:sp>
        <p:nvSpPr>
          <p:cNvPr id="1458"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59"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460"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461"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62" name="" descr="{&quot;isTemplate&quot;:true,&quot;type&quot;:&quot;text&quot;}"/>
          <p:cNvSpPr txBox="1"/>
          <p:nvPr/>
        </p:nvSpPr>
        <p:spPr>
          <a:xfrm rot="0" flipH="0" flipV="0">
            <a:off x="641985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指南给出“最低共识线”，真实世界需要在患者层面把阈值、目标与监测频率做二次翻译。</a:t>
            </a:r>
            <a:endParaRPr/>
          </a:p>
        </p:txBody>
      </p:sp>
      <p:sp>
        <p:nvSpPr>
          <p:cNvPr id="146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46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N Engl J Med 2013;368:1771-1780 (PMID 23656642)</a:t>
            </a:r>
            <a:endParaRPr/>
          </a:p>
        </p:txBody>
      </p:sp>
      <p:sp>
        <p:nvSpPr>
          <p:cNvPr id="1465" name=""/>
          <p:cNvSpPr/>
          <p:nvPr/>
        </p:nvSpPr>
        <p:spPr>
          <a:xfrm rot="0" flipH="0" flipV="0">
            <a:off x="0" y="6324600"/>
            <a:ext cx="12192000" cy="342900"/>
          </a:xfrm>
          <a:prstGeom prst="rect">
            <a:avLst/>
          </a:prstGeom>
          <a:solidFill>
            <a:srgbClr val="F7F9FC"/>
          </a:solidFill>
          <a:ln/>
        </p:spPr>
        <p:txBody>
          <a:bodyPr/>
          <a:p/>
        </p:txBody>
      </p:sp>
      <p:sp>
        <p:nvSpPr>
          <p:cNvPr id="146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46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5.xml><?xml version="1.0" encoding="utf-8"?>
<p:sld xmlns:p="http://schemas.openxmlformats.org/presentationml/2006/main" xmlns:a="http://schemas.openxmlformats.org/drawingml/2006/main">
  <p:cSld>
    <p:spTree>
      <p:nvGrpSpPr>
        <p:cNvPr id="1468" name="" descr="&lt;Slide notes={`演讲者备注：第十一章用五个贴近临床的案例演示“细节如何改变结局”：假性血小板减少的识别、ICU 血小板骤降的 HIT 鉴别、ITP 二线的启用与监测、CPB 后“计数正常≠功能正常”、创伤复苏中的血小板目标管理。每个案例后附可迁移的清单式要点；涉及数据均与正文引用的研究/指南一致（PMID 见备注）。`} style={{ width: '1280px', height: '720px', background: '#0E3F8C', padding: 0 }}&gt;&#13;&#10;  &lt;Box style={{ position: 'absolute', left: 0, top: 0, width: 12, height: 720, background: '#3D7BD9' }} /&gt;&#13;&#10;  &lt;Text style={{ position: 'absolute', left: 64, top: 138, fontSize: 22, color: '#9DB8E0', letterSpacing: 4 }}&gt;第 11 章&lt;/Text&gt;&#13;&#10;  &lt;Text style={{ position: 'absolute', left: 56, top: 168, fontSize: 150, color: '#164A9E', fontWeight: 'bold' }}&gt;11&lt;/Text&gt;&#13;&#10;  &lt;Text style={{ position: 'absolute', left: 64, top: 332, fontSize: 50, color: '#FFFFFF', fontWeight: 'bold' }}&gt;案例分享&lt;/Text&gt;&#13;&#10;  &lt;Text style={{ position: 'absolute', left: 64, top: 400, fontSize: 22, color: '#9DB8E0', fontFamily: 'Times New Roman' }}&gt;Case Sharing&lt;/Text&gt;&#13;&#10;  &lt;Box key={0} style={{ position: 'absolute', left: 64, top: 472, width: 360, height: 150, background: '#12448F', borderRadius: 12, border: '1px solid #2E5BA8', padding: 20 }}&gt;&#13;&#10;    &lt;Text style={{ fontSize: 18, color: '#9DB8E0', fontWeight: 'bold', marginBottom: 8 }}&gt;关注细节&lt;/Text&gt;&#13;&#10;    &lt;Text style={{ fontSize: 15, color: '#C7D6EC', lineHeight: 1.5 }}&gt;每个案例都藏着一个“本可避免的弯路”&lt;/Text&gt;&#13;&#10;  &lt;/Box&gt;  &lt;Box key={1} style={{ position: 'absolute', left: 452, top: 472, width: 360, height: 150, background: '#12448F', borderRadius: 12, border: '1px solid #2E5BA8', padding: 20 }}&gt;&#13;&#10;    &lt;Text style={{ fontSize: 18, color: '#9DB8E0', fontWeight: 'bold', marginBottom: 8 }}&gt;全流程复盘&lt;/Text&gt;&#13;&#10;    &lt;Text style={{ fontSize: 15, color: '#C7D6EC', lineHeight: 1.5 }}&gt;从化验单异常到处理决策的完整推演&lt;/Text&gt;&#13;&#10;  &lt;/Box&gt;  &lt;Box key={2} style={{ position: 'absolute', left: 840, top: 472, width: 360, height: 150, background: '#12448F', borderRadius: 12, border: '1px solid #2E5BA8', padding: 20 }}&gt;&#13;&#10;    &lt;Text style={{ fontSize: 18, color: '#9DB8E0', fontWeight: 'bold', marginBottom: 8 }}&gt;可迁移要点&lt;/Text&gt;&#13;&#10;    &lt;Text style={{ fontSize: 15, color: '#C7D6EC', lineHeight: 1.5 }}&gt;把个案教训抽象为可复用的核对清单&lt;/Text&gt;&#13;&#10;  &lt;/Box&gt;&#13;&#10;  &lt;Text style={{ position: 'absolute', right: 64, top: 660, fontSize: 15, color: '#9DB8E0' }}&gt;65 / 77&lt;/Text&gt;&#13;&#10;&lt;/Slide&gt;"/>
        <p:cNvGrpSpPr/>
        <p:nvPr/>
      </p:nvGrpSpPr>
      <p:grpSpPr>
        <a:xfrm>
          <a:off x="0" y="0"/>
          <a:ext cx="0" cy="0"/>
          <a:chOff x="0" y="0"/>
          <a:chExt cx="0" cy="0"/>
        </a:xfrm>
      </p:grpSpPr>
      <p:sp>
        <p:nvSpPr>
          <p:cNvPr id="1469" name=""/>
          <p:cNvSpPr/>
          <p:nvPr/>
        </p:nvSpPr>
        <p:spPr>
          <a:xfrm rot="0" flipH="0" flipV="0">
            <a:off x="0" y="0"/>
            <a:ext cx="12192000" cy="6858000"/>
          </a:xfrm>
          <a:prstGeom prst="rect">
            <a:avLst/>
          </a:prstGeom>
          <a:solidFill>
            <a:srgbClr val="0E3F8C"/>
          </a:solidFill>
          <a:ln/>
        </p:spPr>
        <p:txBody>
          <a:bodyPr/>
          <a:p/>
        </p:txBody>
      </p:sp>
      <p:sp>
        <p:nvSpPr>
          <p:cNvPr id="1470" name=""/>
          <p:cNvSpPr/>
          <p:nvPr/>
        </p:nvSpPr>
        <p:spPr>
          <a:xfrm rot="0" flipH="0" flipV="0">
            <a:off x="0" y="0"/>
            <a:ext cx="114300" cy="6858000"/>
          </a:xfrm>
          <a:prstGeom prst="rect">
            <a:avLst/>
          </a:prstGeom>
          <a:solidFill>
            <a:srgbClr val="3D7BD9"/>
          </a:solidFill>
          <a:ln/>
        </p:spPr>
        <p:txBody>
          <a:bodyPr/>
          <a:p/>
        </p:txBody>
      </p:sp>
      <p:sp>
        <p:nvSpPr>
          <p:cNvPr id="1471" name="" descr="{&quot;isTemplate&quot;:true,&quot;type&quot;:&quot;text&quot;}"/>
          <p:cNvSpPr txBox="1"/>
          <p:nvPr/>
        </p:nvSpPr>
        <p:spPr>
          <a:xfrm rot="0" flipH="0" flipV="0">
            <a:off x="609600" y="1314450"/>
            <a:ext cx="1019175"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11 </a:t>
            </a:r>
            <a:r>
              <a:rPr lang="zh-CN" sz="1650" spc="300">
                <a:solidFill>
                  <a:srgbClr val="9DB8E0"/>
                </a:solidFill>
                <a:latin typeface="Microsoft YaHei"/>
                <a:ea typeface="Microsoft YaHei"/>
              </a:rPr>
              <a:t>章</a:t>
            </a:r>
            <a:endParaRPr/>
          </a:p>
        </p:txBody>
      </p:sp>
      <p:sp>
        <p:nvSpPr>
          <p:cNvPr id="1472"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11</a:t>
            </a:r>
            <a:endParaRPr/>
          </a:p>
        </p:txBody>
      </p:sp>
      <p:sp>
        <p:nvSpPr>
          <p:cNvPr id="1473" name="" descr="{&quot;isTemplate&quot;:true,&quot;type&quot;:&quot;text&quot;}"/>
          <p:cNvSpPr txBox="1"/>
          <p:nvPr/>
        </p:nvSpPr>
        <p:spPr>
          <a:xfrm rot="0" flipH="0" flipV="0">
            <a:off x="609600" y="3162300"/>
            <a:ext cx="1905000" cy="571500"/>
          </a:xfrm>
          <a:prstGeom prst="rect"/>
        </p:spPr>
        <p:txBody>
          <a:bodyPr wrap="none" lIns="0" tIns="0" rIns="0" bIns="0"/>
          <a:p>
            <a:pPr>
              <a:lnSpc>
                <a:spcPct val="100000"/>
              </a:lnSpc>
            </a:pPr>
            <a:r>
              <a:rPr lang="zh-CN" sz="3750" b="1">
                <a:solidFill>
                  <a:srgbClr val="FFFFFF"/>
                </a:solidFill>
                <a:latin typeface="Microsoft YaHei"/>
                <a:ea typeface="Microsoft YaHei"/>
              </a:rPr>
              <a:t>案例分享</a:t>
            </a:r>
            <a:endParaRPr/>
          </a:p>
        </p:txBody>
      </p:sp>
      <p:sp>
        <p:nvSpPr>
          <p:cNvPr id="1474" name="" descr="{&quot;isTemplate&quot;:true,&quot;type&quot;:&quot;text&quot;}"/>
          <p:cNvSpPr txBox="1"/>
          <p:nvPr/>
        </p:nvSpPr>
        <p:spPr>
          <a:xfrm rot="0" flipH="0" flipV="0">
            <a:off x="609600" y="3810000"/>
            <a:ext cx="1114425" cy="257175"/>
          </a:xfrm>
          <a:prstGeom prst="rect"/>
        </p:spPr>
        <p:txBody>
          <a:bodyPr wrap="none" lIns="0" tIns="0" rIns="0" bIns="0"/>
          <a:p>
            <a:pPr>
              <a:lnSpc>
                <a:spcPct val="100000"/>
              </a:lnSpc>
            </a:pPr>
            <a:r>
              <a:rPr lang="en-US" sz="1650">
                <a:solidFill>
                  <a:srgbClr val="9DB8E0"/>
                </a:solidFill>
                <a:latin typeface="Times New Roman"/>
                <a:ea typeface="Times New Roman"/>
              </a:rPr>
              <a:t>Case Sharing</a:t>
            </a:r>
            <a:endParaRPr/>
          </a:p>
        </p:txBody>
      </p:sp>
      <p:sp>
        <p:nvSpPr>
          <p:cNvPr id="1475"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476"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关注细节</a:t>
            </a:r>
            <a:endParaRPr/>
          </a:p>
        </p:txBody>
      </p:sp>
      <p:sp>
        <p:nvSpPr>
          <p:cNvPr id="1477"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每个案例都藏着一个“本可避免的弯路”</a:t>
            </a:r>
            <a:endParaRPr/>
          </a:p>
        </p:txBody>
      </p:sp>
      <p:sp>
        <p:nvSpPr>
          <p:cNvPr id="1478"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479"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全流程复盘</a:t>
            </a:r>
            <a:endParaRPr/>
          </a:p>
        </p:txBody>
      </p:sp>
      <p:sp>
        <p:nvSpPr>
          <p:cNvPr id="1480"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从化验单异常到处理决策的完整推演</a:t>
            </a:r>
            <a:endParaRPr/>
          </a:p>
        </p:txBody>
      </p:sp>
      <p:sp>
        <p:nvSpPr>
          <p:cNvPr id="1481"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482"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可迁移要点</a:t>
            </a:r>
            <a:endParaRPr/>
          </a:p>
        </p:txBody>
      </p:sp>
      <p:sp>
        <p:nvSpPr>
          <p:cNvPr id="1483"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把个案教训抽象为可复用的核对清单</a:t>
            </a:r>
            <a:endParaRPr/>
          </a:p>
        </p:txBody>
      </p:sp>
      <p:sp>
        <p:nvSpPr>
          <p:cNvPr id="1484"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65 / 77</a:t>
            </a:r>
            <a:endParaRPr/>
          </a:p>
        </p:txBody>
      </p:sp>
    </p:spTree>
  </p:cSld>
</p:sld>
</file>

<file path=ppt/slides/slide66.xml><?xml version="1.0" encoding="utf-8"?>
<p:sld xmlns:p="http://schemas.openxmlformats.org/presentationml/2006/main" xmlns:a="http://schemas.openxmlformats.org/drawingml/2006/main">
  <p:cSld>
    <p:spTree>
      <p:nvGrpSpPr>
        <p:cNvPr id="1485" name="" descr="&lt;Slide notes={`演讲者备注：【ZANDECKI-SPUR】自动化血细胞分析仪血小板部分系统性综述：EDTA 依赖聚集、血小板卫星现象、大血小板漏计等假性结果常见，需直方图/散点图与涂片复检甄别。证据：Int J Lab Hematol 2007;29:4-20，PMID 17224004。&#13;&#10;讲解提示：可用于科室演练——把同一份“血小板 30”的化验单分别按“直接报危急值”与“先复检”两条路径推演结局，突出流程的价值（呼应第 5、9 章）。`}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一章 案例分享&lt;/Text&gt;&#13;&#10;      &lt;Box style={{ width: 1, height: 24, background: '#3D7BD9' }} /&gt;&#13;&#10;      &lt;Text style={{ fontSize: 16, color: '#C7D6EC' }}&gt;案例 1：血小板 30×10^9/L 的“健康”门诊患者&lt;/Text&gt;&#13;&#10;    &lt;/Box&gt;&#13;&#10;    &lt;Text style={{ position: 'absolute', right: 64, top: 24, fontSize: 15, color: '#9DB8E0' }}&gt;66 / 77&lt;/Text&gt;&#13;&#10;  &lt;/Box&gt;&#13;&#10;  &lt;Box style={{ position: 'absolute', left: 64, top: 96, width: 562, height: 128, background: '#F0F5FC', borderRadius: 12, border: '1px solid #E5E7EB', padding: 20 }}&gt;&#13;&#10;&lt;Text style={{ fontSize: 19, color: '#0E3F8C', fontWeight: 'bold', textAlign: 'left', lineHeight: 1.5 }}&gt;病情概要&lt;/Text&gt;&#13;&#10;&lt;Text style={{ fontSize: 17, color: '#2C3E50', textAlign: 'left', lineHeight: 1.62 }}&gt;40 岁女性，体检发现血小板 30×10^9/L，无任何出血/瘀斑，无药物史；门诊拟诊 ITP 并准备激素治疗。&lt;/Text&gt;&#13;&#10;  &lt;/Box&gt;&#13;&#10;  &lt;Box style={{ position: 'absolute', left: 654, top: 96, width: 562, height: 128, background: '#F0F5FC', borderRadius: 12, border: '1px solid #E5E7EB', padding: 20 }}&gt;&#13;&#10;&lt;Text style={{ fontSize: 19, color: '#0E3F8C', fontWeight: 'bold', textAlign: 'left', lineHeight: 1.5 }}&gt;细节转折&lt;/Text&gt;&#13;&#10;&lt;Text style={{ fontSize: 17, color: '#2C3E50', textAlign: 'left', lineHeight: 1.62 }}&gt;检验科危急值复核：直方图尾部锯齿+仪器“血小板聚集”报警；涂片见大片血小板成簇→高度提示 EDTA 依赖假性血小板减少。改用枸橼酸钠管复查血小板 198×10^9/L，撤回 ITP 诊断与激素计划。&lt;/Text&gt;&#13;&#10;  &lt;/Box&gt;&#13;&#10;  &lt;Box style={{ position: 'absolute', left: 64, top: 252, width: 562, height: 128, background: '#F0F5FC', borderRadius: 12, border: '1px solid #E5E7EB', padding: 20 }}&gt;&#13;&#10;&lt;Text style={{ fontSize: 19, color: '#0E3F8C', fontWeight: 'bold', textAlign: 'left', lineHeight: 1.5 }}&gt;经验要点&lt;/Text&gt;&#13;&#10;&lt;Text style={{ fontSize: 17, color: '#2C3E50', textAlign: 'left', lineHeight: 1.62 }}&gt;①无出血表型却“重度减少”先怀疑假性；②危急值必须“复检+涂片”双确认后再电话回报与启动治疗；③换管（枸橼酸/肝素）与末梢血是标准解法；④报告注明“以枸橼酸管结果为准”防再误读。&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一条复检 SOP 拦住了一次不必要的激素暴露与心理负担。&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Int J Lab Hematol 2007;29:4-20 (PMID 1722400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486" name=""/>
          <p:cNvSpPr/>
          <p:nvPr/>
        </p:nvSpPr>
        <p:spPr>
          <a:xfrm rot="0" flipH="0" flipV="0">
            <a:off x="0" y="0"/>
            <a:ext cx="12192000" cy="6858000"/>
          </a:xfrm>
          <a:prstGeom prst="rect">
            <a:avLst/>
          </a:prstGeom>
          <a:solidFill>
            <a:srgbClr val="FFFFFF"/>
          </a:solidFill>
          <a:ln/>
        </p:spPr>
        <p:txBody>
          <a:bodyPr/>
          <a:p/>
        </p:txBody>
      </p:sp>
      <p:sp>
        <p:nvSpPr>
          <p:cNvPr id="1487" name=""/>
          <p:cNvSpPr/>
          <p:nvPr/>
        </p:nvSpPr>
        <p:spPr>
          <a:xfrm rot="0" flipH="0" flipV="0">
            <a:off x="0" y="0"/>
            <a:ext cx="12192000" cy="685800"/>
          </a:xfrm>
          <a:prstGeom prst="rect">
            <a:avLst/>
          </a:prstGeom>
          <a:solidFill>
            <a:srgbClr val="0E3F8C"/>
          </a:solidFill>
          <a:ln/>
        </p:spPr>
        <p:txBody>
          <a:bodyPr/>
          <a:p/>
        </p:txBody>
      </p:sp>
      <p:sp>
        <p:nvSpPr>
          <p:cNvPr id="1488" name="" descr="{&quot;isTemplate&quot;:true,&quot;type&quot;:&quot;text&quot;}"/>
          <p:cNvSpPr txBox="1"/>
          <p:nvPr/>
        </p:nvSpPr>
        <p:spPr>
          <a:xfrm rot="0" flipH="0" flipV="0">
            <a:off x="609600" y="219075"/>
            <a:ext cx="1428750" cy="209550"/>
          </a:xfrm>
          <a:prstGeom prst="rect"/>
        </p:spPr>
        <p:txBody>
          <a:bodyPr wrap="none" lIns="0" tIns="0" rIns="0" bIns="0"/>
          <a:p>
            <a:pPr>
              <a:lnSpc>
                <a:spcPct val="100000"/>
              </a:lnSpc>
            </a:pPr>
            <a:r>
              <a:rPr lang="zh-CN" sz="1350" b="1">
                <a:solidFill>
                  <a:srgbClr val="FFFFFF"/>
                </a:solidFill>
                <a:latin typeface="Microsoft YaHei"/>
                <a:ea typeface="Microsoft YaHei"/>
              </a:rPr>
              <a:t>第十一章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案例分享</a:t>
            </a:r>
            <a:endParaRPr/>
          </a:p>
        </p:txBody>
      </p:sp>
      <p:sp>
        <p:nvSpPr>
          <p:cNvPr id="1489" name=""/>
          <p:cNvSpPr/>
          <p:nvPr/>
        </p:nvSpPr>
        <p:spPr>
          <a:xfrm rot="0" flipH="0" flipV="0">
            <a:off x="2190750" y="209550"/>
            <a:ext cx="9525" cy="228600"/>
          </a:xfrm>
          <a:prstGeom prst="rect">
            <a:avLst/>
          </a:prstGeom>
          <a:solidFill>
            <a:srgbClr val="3D7BD9"/>
          </a:solidFill>
          <a:ln/>
        </p:spPr>
        <p:txBody>
          <a:bodyPr/>
          <a:p/>
        </p:txBody>
      </p:sp>
      <p:sp>
        <p:nvSpPr>
          <p:cNvPr id="1490" name="" descr="{&quot;isTemplate&quot;:true,&quot;type&quot;:&quot;text&quot;}"/>
          <p:cNvSpPr txBox="1"/>
          <p:nvPr/>
        </p:nvSpPr>
        <p:spPr>
          <a:xfrm rot="0" flipH="0" flipV="0">
            <a:off x="2352675" y="228600"/>
            <a:ext cx="3333750" cy="190500"/>
          </a:xfrm>
          <a:prstGeom prst="rect"/>
        </p:spPr>
        <p:txBody>
          <a:bodyPr wrap="none" lIns="0" tIns="0" rIns="0" bIns="0"/>
          <a:p>
            <a:pPr>
              <a:lnSpc>
                <a:spcPct val="100000"/>
              </a:lnSpc>
            </a:pPr>
            <a:r>
              <a:rPr lang="zh-CN" sz="1200">
                <a:solidFill>
                  <a:srgbClr val="C7D6EC"/>
                </a:solidFill>
                <a:latin typeface="Microsoft YaHei"/>
                <a:ea typeface="Microsoft YaHei"/>
              </a:rPr>
              <a:t>案例</a:t>
            </a:r>
            <a:r>
              <a:rPr lang="en-US" sz="1200">
                <a:solidFill>
                  <a:srgbClr val="C7D6EC"/>
                </a:solidFill>
                <a:latin typeface="Microsoft YaHei"/>
                <a:ea typeface="Microsoft YaHei"/>
              </a:rPr>
              <a:t> 1</a:t>
            </a:r>
            <a:r>
              <a:rPr lang="zh-CN" sz="1200">
                <a:solidFill>
                  <a:srgbClr val="C7D6EC"/>
                </a:solidFill>
                <a:latin typeface="Microsoft YaHei"/>
                <a:ea typeface="Microsoft YaHei"/>
              </a:rPr>
              <a:t>：血小板</a:t>
            </a:r>
            <a:r>
              <a:rPr lang="en-US" sz="1200">
                <a:solidFill>
                  <a:srgbClr val="C7D6EC"/>
                </a:solidFill>
                <a:latin typeface="Microsoft YaHei"/>
                <a:ea typeface="Microsoft YaHei"/>
              </a:rPr>
              <a:t> 30×10^9/L </a:t>
            </a:r>
            <a:r>
              <a:rPr lang="zh-CN" sz="1200">
                <a:solidFill>
                  <a:srgbClr val="C7D6EC"/>
                </a:solidFill>
                <a:latin typeface="Microsoft YaHei"/>
                <a:ea typeface="Microsoft YaHei"/>
              </a:rPr>
              <a:t>的“健康”门诊患者</a:t>
            </a:r>
            <a:endParaRPr/>
          </a:p>
        </p:txBody>
      </p:sp>
      <p:sp>
        <p:nvSpPr>
          <p:cNvPr id="149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66 / 77</a:t>
            </a:r>
            <a:endParaRPr/>
          </a:p>
        </p:txBody>
      </p:sp>
      <p:sp>
        <p:nvSpPr>
          <p:cNvPr id="1492"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9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病情概要</a:t>
            </a:r>
            <a:endParaRPr/>
          </a:p>
        </p:txBody>
      </p:sp>
      <p:sp>
        <p:nvSpPr>
          <p:cNvPr id="1494"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40 </a:t>
            </a:r>
            <a:r>
              <a:rPr lang="zh-CN" sz="1275">
                <a:solidFill>
                  <a:srgbClr val="2C3E50"/>
                </a:solidFill>
                <a:latin typeface="Microsoft YaHei"/>
                <a:ea typeface="Microsoft YaHei"/>
              </a:rPr>
              <a:t>岁女性，体检发现血小板</a:t>
            </a:r>
            <a:r>
              <a:rPr lang="en-US" sz="1275">
                <a:solidFill>
                  <a:srgbClr val="2C3E50"/>
                </a:solidFill>
                <a:latin typeface="Microsoft YaHei"/>
                <a:ea typeface="Microsoft YaHei"/>
              </a:rPr>
              <a:t> 30×10^9/L</a:t>
            </a:r>
            <a:r>
              <a:rPr lang="zh-CN" sz="1275">
                <a:solidFill>
                  <a:srgbClr val="2C3E50"/>
                </a:solidFill>
                <a:latin typeface="Microsoft YaHei"/>
                <a:ea typeface="Microsoft YaHei"/>
              </a:rPr>
              <a:t>，无任何出血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瘀斑，无药物史；门诊拟诊</a:t>
            </a:r>
            <a:r>
              <a:rPr lang="en-US" sz="1275">
                <a:solidFill>
                  <a:srgbClr val="2C3E50"/>
                </a:solidFill>
                <a:latin typeface="Microsoft YaHei"/>
                <a:ea typeface="Microsoft YaHei"/>
              </a:rPr>
              <a:t> ITP </a:t>
            </a:r>
            <a:r>
              <a:rPr lang="zh-CN" sz="1275">
                <a:solidFill>
                  <a:srgbClr val="2C3E50"/>
                </a:solidFill>
                <a:latin typeface="Microsoft YaHei"/>
                <a:ea typeface="Microsoft YaHei"/>
              </a:rPr>
              <a:t>并准备激素治疗。</a:t>
            </a:r>
            <a:endParaRPr/>
          </a:p>
        </p:txBody>
      </p:sp>
      <p:sp>
        <p:nvSpPr>
          <p:cNvPr id="1495"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9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细节转折</a:t>
            </a:r>
            <a:endParaRPr/>
          </a:p>
        </p:txBody>
      </p:sp>
      <p:sp>
        <p:nvSpPr>
          <p:cNvPr id="1497"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检验科危急值复核：直方图尾部锯齿</a:t>
            </a:r>
            <a:r>
              <a:rPr lang="en-US" sz="1275">
                <a:solidFill>
                  <a:srgbClr val="2C3E50"/>
                </a:solidFill>
                <a:latin typeface="Microsoft YaHei"/>
                <a:ea typeface="Microsoft YaHei"/>
              </a:rPr>
              <a:t>+</a:t>
            </a:r>
            <a:r>
              <a:rPr lang="zh-CN" sz="1275">
                <a:solidFill>
                  <a:srgbClr val="2C3E50"/>
                </a:solidFill>
                <a:latin typeface="Microsoft YaHei"/>
                <a:ea typeface="Microsoft YaHei"/>
              </a:rPr>
              <a:t>仪器“血小板聚集”报警；涂片见大片血小板成簇→高度提示</a:t>
            </a:r>
            <a:r>
              <a:rPr lang="en-US" sz="1275">
                <a:solidFill>
                  <a:srgbClr val="2C3E50"/>
                </a:solidFill>
                <a:latin typeface="Microsoft YaHei"/>
                <a:ea typeface="Microsoft YaHei"/>
              </a:rPr>
              <a:t> EDTA </a:t>
            </a:r>
            <a:r>
              <a:rPr lang="zh-CN" sz="1275">
                <a:solidFill>
                  <a:srgbClr val="2C3E50"/>
                </a:solidFill>
                <a:latin typeface="Microsoft YaHei"/>
                <a:ea typeface="Microsoft YaHei"/>
              </a:rPr>
              <a:t>依赖假性血小板减少。改用枸橼酸钠管复查血小板</a:t>
            </a:r>
            <a:r>
              <a:rPr lang="en-US" sz="1275">
                <a:solidFill>
                  <a:srgbClr val="2C3E50"/>
                </a:solidFill>
                <a:latin typeface="Microsoft YaHei"/>
                <a:ea typeface="Microsoft YaHei"/>
              </a:rPr>
              <a:t> 198×10^9/L</a:t>
            </a:r>
            <a:r>
              <a:rPr lang="zh-CN" sz="1275">
                <a:solidFill>
                  <a:srgbClr val="2C3E50"/>
                </a:solidFill>
                <a:latin typeface="Microsoft YaHei"/>
                <a:ea typeface="Microsoft YaHei"/>
              </a:rPr>
              <a:t>，撤回</a:t>
            </a:r>
            <a:r>
              <a:rPr lang="en-US" sz="1275">
                <a:solidFill>
                  <a:srgbClr val="2C3E50"/>
                </a:solidFill>
                <a:latin typeface="Microsoft YaHei"/>
                <a:ea typeface="Microsoft YaHei"/>
              </a:rPr>
              <a:t> ITP </a:t>
            </a:r>
            <a:r>
              <a:rPr lang="zh-CN" sz="1275">
                <a:solidFill>
                  <a:srgbClr val="2C3E50"/>
                </a:solidFill>
                <a:latin typeface="Microsoft YaHei"/>
                <a:ea typeface="Microsoft YaHei"/>
              </a:rPr>
              <a:t>诊断与激素计划。</a:t>
            </a:r>
            <a:endParaRPr/>
          </a:p>
        </p:txBody>
      </p:sp>
      <p:sp>
        <p:nvSpPr>
          <p:cNvPr id="1498"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499"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经验要点</a:t>
            </a:r>
            <a:endParaRPr/>
          </a:p>
        </p:txBody>
      </p:sp>
      <p:sp>
        <p:nvSpPr>
          <p:cNvPr id="1500"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①无出血表型却“重度减少”先怀疑假性；②危急值必须“复检</a:t>
            </a:r>
            <a:r>
              <a:rPr lang="en-US" sz="1275">
                <a:solidFill>
                  <a:srgbClr val="2C3E50"/>
                </a:solidFill>
                <a:latin typeface="Microsoft YaHei"/>
                <a:ea typeface="Microsoft YaHei"/>
              </a:rPr>
              <a:t>+</a:t>
            </a:r>
            <a:r>
              <a:rPr lang="zh-CN" sz="1275">
                <a:solidFill>
                  <a:srgbClr val="2C3E50"/>
                </a:solidFill>
                <a:latin typeface="Microsoft YaHei"/>
                <a:ea typeface="Microsoft YaHei"/>
              </a:rPr>
              <a:t>涂片”双确认后再电话回报与启动治疗；③换管（枸橼酸</a:t>
            </a:r>
            <a:r>
              <a:rPr lang="en-US" sz="1275">
                <a:solidFill>
                  <a:srgbClr val="2C3E50"/>
                </a:solidFill>
                <a:latin typeface="Microsoft YaHei"/>
                <a:ea typeface="Microsoft YaHei"/>
              </a:rPr>
              <a:t>/</a:t>
            </a:r>
            <a:r>
              <a:rPr lang="zh-CN" sz="1275">
                <a:solidFill>
                  <a:srgbClr val="2C3E50"/>
                </a:solidFill>
                <a:latin typeface="Microsoft YaHei"/>
                <a:ea typeface="Microsoft YaHei"/>
              </a:rPr>
              <a:t>肝素）与末梢血是标准解法；④报告注明“以枸橼酸管结果为准”防再误读。</a:t>
            </a:r>
            <a:endParaRPr/>
          </a:p>
        </p:txBody>
      </p:sp>
      <p:sp>
        <p:nvSpPr>
          <p:cNvPr id="1501"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02"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503"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504"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05"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一条复检</a:t>
            </a:r>
            <a:r>
              <a:rPr lang="en-US" sz="1425" b="1">
                <a:solidFill>
                  <a:srgbClr val="0E3F8C"/>
                </a:solidFill>
                <a:latin typeface="Microsoft YaHei"/>
                <a:ea typeface="Microsoft YaHei"/>
              </a:rPr>
              <a:t> SOP </a:t>
            </a:r>
            <a:r>
              <a:rPr lang="zh-CN" sz="1425" b="1">
                <a:solidFill>
                  <a:srgbClr val="0E3F8C"/>
                </a:solidFill>
                <a:latin typeface="Microsoft YaHei"/>
                <a:ea typeface="Microsoft YaHei"/>
              </a:rPr>
              <a:t>拦住了一次不必要的激素暴露与心理负担。</a:t>
            </a:r>
            <a:endParaRPr/>
          </a:p>
        </p:txBody>
      </p:sp>
      <p:sp>
        <p:nvSpPr>
          <p:cNvPr id="1506"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50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50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Int J Lab Hematol 2007;29:4-20 (PMID 17224004)</a:t>
            </a:r>
            <a:endParaRPr/>
          </a:p>
        </p:txBody>
      </p:sp>
      <p:sp>
        <p:nvSpPr>
          <p:cNvPr id="1509" name=""/>
          <p:cNvSpPr/>
          <p:nvPr/>
        </p:nvSpPr>
        <p:spPr>
          <a:xfrm rot="0" flipH="0" flipV="0">
            <a:off x="0" y="6324600"/>
            <a:ext cx="12192000" cy="342900"/>
          </a:xfrm>
          <a:prstGeom prst="rect">
            <a:avLst/>
          </a:prstGeom>
          <a:solidFill>
            <a:srgbClr val="F7F9FC"/>
          </a:solidFill>
          <a:ln/>
        </p:spPr>
        <p:txBody>
          <a:bodyPr/>
          <a:p/>
        </p:txBody>
      </p:sp>
      <p:sp>
        <p:nvSpPr>
          <p:cNvPr id="151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51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7.xml><?xml version="1.0" encoding="utf-8"?>
<p:sld xmlns:p="http://schemas.openxmlformats.org/presentationml/2006/main" xmlns:a="http://schemas.openxmlformats.org/drawingml/2006/main">
  <p:cSld>
    <p:spTree>
      <p:nvGrpSpPr>
        <p:cNvPr id="1512" name="" descr="&lt;Slide notes={`演讲者备注：【LO-4TS】4Ts 评分验证研究：低危（≤3）阴性预测值高可基本排除 HIT；中/高危需行 PF4/肝素抗体与功能学确认。证据：J Thromb Haemost 2006;4:759-765，PMID 16634744。&#13;&#10;【CUKER-ASH-HIT】ASH 2018 VTE-HIT 指南：4Ts 中低危可不检测抗体；HIT 确诊/高度怀疑者停肝素并改用非肝素抗凝（阿加曲班/比伐芦定/磺达肝癸钠/DOAC），避免华法林单用。证据：Blood Adv 2018;2:3360-3392，PMID 30482768。&#13;&#10;讲解提示：强调“中危即启动管理”而不是等确诊；ELISA 高 OD 值在临床高度符合时可支持治疗性抗凝决策（HIT_LAB 的整合诊断思想）。`}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一章 案例分享&lt;/Text&gt;&#13;&#10;      &lt;Box style={{ width: 1, height: 24, background: '#3D7BD9' }} /&gt;&#13;&#10;      &lt;Text style={{ fontSize: 16, color: '#C7D6EC' }}&gt;案例 2：ICU 血小板骤降——是 HIT 还是脓毒症？&lt;/Text&gt;&#13;&#10;    &lt;/Box&gt;&#13;&#10;    &lt;Text style={{ position: 'absolute', right: 64, top: 24, fontSize: 15, color: '#9DB8E0' }}&gt;67 / 77&lt;/Text&gt;&#13;&#10;  &lt;/Box&gt;&#13;&#10;  &lt;Box style={{ position: 'absolute', left: 64, top: 96, width: 562, height: 128, background: '#F0F5FC', borderRadius: 12, border: '1px solid #E5E7EB', padding: 20 }}&gt;&#13;&#10;&lt;Text style={{ fontSize: 19, color: '#0E3F8C', fontWeight: 'bold', textAlign: 'left', lineHeight: 1.5 }}&gt;病情概要&lt;/Text&gt;&#13;&#10;&lt;Text style={{ fontSize: 17, color: '#2C3E50', textAlign: 'left', lineHeight: 1.62 }}&gt;65 岁男性，脓毒症+房颤，予低分子肝素抗凝第 6 天起血小板 3 天内从 180 降至 52（降幅 &amp;gt;70%），无新出血，右下肢肿胀。&lt;/Text&gt;&#13;&#10;  &lt;/Box&gt;&#13;&#10;  &lt;Box style={{ position: 'absolute', left: 654, top: 96, width: 562, height: 128, background: '#F0F5FC', borderRadius: 12, border: '1px solid #E5E7EB', padding: 20 }}&gt;&#13;&#10;&lt;Text style={{ fontSize: 19, color: '#0E3F8C', fontWeight: 'bold', textAlign: 'left', lineHeight: 1.5 }}&gt;细节推演&lt;/Text&gt;&#13;&#10;&lt;Text style={{ fontSize: 17, color: '#2C3E50', textAlign: 'left', lineHeight: 1.62 }}&gt;4Ts：下降幅度与时间(2)+血栓(1)+无其他解释(1)=4 分（中危）→ 查 PF4/肝素抗体（ELISA 阳性、OD 高值）+ SRA 阳性确认 HIT；同时超声证实右侧股静脉 DVT。立即停用 LMWH（含冲管），启动阿加曲班滴定抗凝。&lt;/Text&gt;&#13;&#10;  &lt;/Box&gt;&#13;&#10;  &lt;Box style={{ position: 'absolute', left: 64, top: 252, width: 562, height: 128, background: '#F0F5FC', borderRadius: 12, border: '1px solid #E5E7EB', padding: 20 }}&gt;&#13;&#10;&lt;Text style={{ fontSize: 19, color: '#0E3F8C', fontWeight: 'bold', textAlign: 'left', lineHeight: 1.5 }}&gt;处理与转归&lt;/Text&gt;&#13;&#10;&lt;Text style={{ fontSize: 17, color: '#2C3E50', textAlign: 'left', lineHeight: 1.62 }}&gt;阿加曲班按 APTT 目标调整，血小板第 4 天开始回升，第 10 天 &amp;gt;150；桥接华法林至 INR 达标后停阿加曲班；未发生新血栓/大出血，顺利转出 ICU。&lt;/Text&gt;&#13;&#10;  &lt;/Box&gt;&#13;&#10;  &lt;Box style={{ position: 'absolute', left: 654, top: 252, width: 562, height: 128, background: '#F0F5FC', borderRadius: 12, border: '1px solid #E5E7EB', padding: 20 }}&gt;&#13;&#10;&lt;Text style={{ fontSize: 19, color: '#0E3F8C', fontWeight: 'bold', textAlign: 'left', lineHeight: 1.5 }}&gt;经验要点&lt;/Text&gt;&#13;&#10;&lt;Text style={{ fontSize: 17, color: '#2C3E50', textAlign: 'left', lineHeight: 1.62 }}&gt;①ICU 血小板下降必须每日做一次“4Ts 快速筛查”；②“降幅&amp;gt;50%+时间窗（5—10 天）”比绝对值更提示 HIT；③确诊前“宁可先停肝素”原则；④肝素冲洗液也算暴露。&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9, color: '#0E3F8C', fontWeight: 'bold', textAlign: 'left', lineHeight: 1.5 }}&gt;动态趋势+评分工具让 HIT 在脓毒症大海里被精准捞起。&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J Thromb Haemost 2006;4:759-765 (PMID 1663474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513" name=""/>
          <p:cNvSpPr/>
          <p:nvPr/>
        </p:nvSpPr>
        <p:spPr>
          <a:xfrm rot="0" flipH="0" flipV="0">
            <a:off x="0" y="0"/>
            <a:ext cx="12192000" cy="6858000"/>
          </a:xfrm>
          <a:prstGeom prst="rect">
            <a:avLst/>
          </a:prstGeom>
          <a:solidFill>
            <a:srgbClr val="FFFFFF"/>
          </a:solidFill>
          <a:ln/>
        </p:spPr>
        <p:txBody>
          <a:bodyPr/>
          <a:p/>
        </p:txBody>
      </p:sp>
      <p:sp>
        <p:nvSpPr>
          <p:cNvPr id="1514" name=""/>
          <p:cNvSpPr/>
          <p:nvPr/>
        </p:nvSpPr>
        <p:spPr>
          <a:xfrm rot="0" flipH="0" flipV="0">
            <a:off x="0" y="0"/>
            <a:ext cx="12192000" cy="685800"/>
          </a:xfrm>
          <a:prstGeom prst="rect">
            <a:avLst/>
          </a:prstGeom>
          <a:solidFill>
            <a:srgbClr val="0E3F8C"/>
          </a:solidFill>
          <a:ln/>
        </p:spPr>
        <p:txBody>
          <a:bodyPr/>
          <a:p/>
        </p:txBody>
      </p:sp>
      <p:sp>
        <p:nvSpPr>
          <p:cNvPr id="1515" name="" descr="{&quot;isTemplate&quot;:true,&quot;type&quot;:&quot;text&quot;}"/>
          <p:cNvSpPr txBox="1"/>
          <p:nvPr/>
        </p:nvSpPr>
        <p:spPr>
          <a:xfrm rot="0" flipH="0" flipV="0">
            <a:off x="609600" y="219075"/>
            <a:ext cx="1428750" cy="209550"/>
          </a:xfrm>
          <a:prstGeom prst="rect"/>
        </p:spPr>
        <p:txBody>
          <a:bodyPr wrap="none" lIns="0" tIns="0" rIns="0" bIns="0"/>
          <a:p>
            <a:pPr>
              <a:lnSpc>
                <a:spcPct val="100000"/>
              </a:lnSpc>
            </a:pPr>
            <a:r>
              <a:rPr lang="zh-CN" sz="1350" b="1">
                <a:solidFill>
                  <a:srgbClr val="FFFFFF"/>
                </a:solidFill>
                <a:latin typeface="Microsoft YaHei"/>
                <a:ea typeface="Microsoft YaHei"/>
              </a:rPr>
              <a:t>第十一章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案例分享</a:t>
            </a:r>
            <a:endParaRPr/>
          </a:p>
        </p:txBody>
      </p:sp>
      <p:sp>
        <p:nvSpPr>
          <p:cNvPr id="1516" name=""/>
          <p:cNvSpPr/>
          <p:nvPr/>
        </p:nvSpPr>
        <p:spPr>
          <a:xfrm rot="0" flipH="0" flipV="0">
            <a:off x="2190750" y="209550"/>
            <a:ext cx="9525" cy="228600"/>
          </a:xfrm>
          <a:prstGeom prst="rect">
            <a:avLst/>
          </a:prstGeom>
          <a:solidFill>
            <a:srgbClr val="3D7BD9"/>
          </a:solidFill>
          <a:ln/>
        </p:spPr>
        <p:txBody>
          <a:bodyPr/>
          <a:p/>
        </p:txBody>
      </p:sp>
      <p:sp>
        <p:nvSpPr>
          <p:cNvPr id="1517" name="" descr="{&quot;isTemplate&quot;:true,&quot;type&quot;:&quot;text&quot;}"/>
          <p:cNvSpPr txBox="1"/>
          <p:nvPr/>
        </p:nvSpPr>
        <p:spPr>
          <a:xfrm rot="0" flipH="0" flipV="0">
            <a:off x="2352675" y="228600"/>
            <a:ext cx="3400425" cy="190500"/>
          </a:xfrm>
          <a:prstGeom prst="rect"/>
        </p:spPr>
        <p:txBody>
          <a:bodyPr wrap="none" lIns="0" tIns="0" rIns="0" bIns="0"/>
          <a:p>
            <a:pPr>
              <a:lnSpc>
                <a:spcPct val="100000"/>
              </a:lnSpc>
            </a:pPr>
            <a:r>
              <a:rPr lang="zh-CN" sz="1200">
                <a:solidFill>
                  <a:srgbClr val="C7D6EC"/>
                </a:solidFill>
                <a:latin typeface="Microsoft YaHei"/>
                <a:ea typeface="Microsoft YaHei"/>
              </a:rPr>
              <a:t>案例</a:t>
            </a:r>
            <a:r>
              <a:rPr lang="en-US" sz="1200">
                <a:solidFill>
                  <a:srgbClr val="C7D6EC"/>
                </a:solidFill>
                <a:latin typeface="Microsoft YaHei"/>
                <a:ea typeface="Microsoft YaHei"/>
              </a:rPr>
              <a:t> 2</a:t>
            </a:r>
            <a:r>
              <a:rPr lang="zh-CN" sz="1200">
                <a:solidFill>
                  <a:srgbClr val="C7D6EC"/>
                </a:solidFill>
                <a:latin typeface="Microsoft YaHei"/>
                <a:ea typeface="Microsoft YaHei"/>
              </a:rPr>
              <a:t>：</a:t>
            </a:r>
            <a:r>
              <a:rPr lang="en-US" sz="1200">
                <a:solidFill>
                  <a:srgbClr val="C7D6EC"/>
                </a:solidFill>
                <a:latin typeface="Microsoft YaHei"/>
                <a:ea typeface="Microsoft YaHei"/>
              </a:rPr>
              <a:t>ICU </a:t>
            </a:r>
            <a:r>
              <a:rPr lang="zh-CN" sz="1200">
                <a:solidFill>
                  <a:srgbClr val="C7D6EC"/>
                </a:solidFill>
                <a:latin typeface="Microsoft YaHei"/>
                <a:ea typeface="Microsoft YaHei"/>
              </a:rPr>
              <a:t>血小板骤降——是</a:t>
            </a:r>
            <a:r>
              <a:rPr lang="en-US" sz="1200">
                <a:solidFill>
                  <a:srgbClr val="C7D6EC"/>
                </a:solidFill>
                <a:latin typeface="Microsoft YaHei"/>
                <a:ea typeface="Microsoft YaHei"/>
              </a:rPr>
              <a:t> HIT </a:t>
            </a:r>
            <a:r>
              <a:rPr lang="zh-CN" sz="1200">
                <a:solidFill>
                  <a:srgbClr val="C7D6EC"/>
                </a:solidFill>
                <a:latin typeface="Microsoft YaHei"/>
                <a:ea typeface="Microsoft YaHei"/>
              </a:rPr>
              <a:t>还是脓毒症？</a:t>
            </a:r>
            <a:endParaRPr/>
          </a:p>
        </p:txBody>
      </p:sp>
      <p:sp>
        <p:nvSpPr>
          <p:cNvPr id="151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67 / 77</a:t>
            </a:r>
            <a:endParaRPr/>
          </a:p>
        </p:txBody>
      </p:sp>
      <p:sp>
        <p:nvSpPr>
          <p:cNvPr id="151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2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病情概要</a:t>
            </a:r>
            <a:endParaRPr/>
          </a:p>
        </p:txBody>
      </p:sp>
      <p:sp>
        <p:nvSpPr>
          <p:cNvPr id="1521"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65 </a:t>
            </a:r>
            <a:r>
              <a:rPr lang="zh-CN" sz="1275">
                <a:solidFill>
                  <a:srgbClr val="2C3E50"/>
                </a:solidFill>
                <a:latin typeface="Microsoft YaHei"/>
                <a:ea typeface="Microsoft YaHei"/>
              </a:rPr>
              <a:t>岁男性，脓毒症</a:t>
            </a:r>
            <a:r>
              <a:rPr lang="en-US" sz="1275">
                <a:solidFill>
                  <a:srgbClr val="2C3E50"/>
                </a:solidFill>
                <a:latin typeface="Microsoft YaHei"/>
                <a:ea typeface="Microsoft YaHei"/>
              </a:rPr>
              <a:t>+</a:t>
            </a:r>
            <a:r>
              <a:rPr lang="zh-CN" sz="1275">
                <a:solidFill>
                  <a:srgbClr val="2C3E50"/>
                </a:solidFill>
                <a:latin typeface="Microsoft YaHei"/>
                <a:ea typeface="Microsoft YaHei"/>
              </a:rPr>
              <a:t>房颤，予低分子肝素抗凝第</a:t>
            </a:r>
            <a:r>
              <a:rPr lang="en-US" sz="1275">
                <a:solidFill>
                  <a:srgbClr val="2C3E50"/>
                </a:solidFill>
                <a:latin typeface="Microsoft YaHei"/>
                <a:ea typeface="Microsoft YaHei"/>
              </a:rPr>
              <a:t> 6 </a:t>
            </a:r>
            <a:r>
              <a:rPr lang="zh-CN" sz="1275">
                <a:solidFill>
                  <a:srgbClr val="2C3E50"/>
                </a:solidFill>
                <a:latin typeface="Microsoft YaHei"/>
                <a:ea typeface="Microsoft YaHei"/>
              </a:rPr>
              <a:t>天起血小板</a:t>
            </a:r>
            <a:r>
              <a:rPr lang="en-US" sz="1275">
                <a:solidFill>
                  <a:srgbClr val="2C3E50"/>
                </a:solidFill>
                <a:latin typeface="Microsoft YaHei"/>
                <a:ea typeface="Microsoft YaHei"/>
              </a:rPr>
              <a:t> 3 </a:t>
            </a:r>
            <a:r>
              <a:rPr lang="zh-CN" sz="1275">
                <a:solidFill>
                  <a:srgbClr val="2C3E50"/>
                </a:solidFill>
                <a:latin typeface="Microsoft YaHei"/>
                <a:ea typeface="Microsoft YaHei"/>
              </a:rPr>
              <a:t>天内从</a:t>
            </a:r>
            <a:r>
              <a:rPr lang="en-US" sz="1275">
                <a:solidFill>
                  <a:srgbClr val="2C3E50"/>
                </a:solidFill>
                <a:latin typeface="Microsoft YaHei"/>
                <a:ea typeface="Microsoft YaHei"/>
              </a:rPr>
              <a:t> 180 </a:t>
            </a:r>
            <a:r>
              <a:rPr lang="zh-CN" sz="1275">
                <a:solidFill>
                  <a:srgbClr val="2C3E50"/>
                </a:solidFill>
                <a:latin typeface="Microsoft YaHei"/>
                <a:ea typeface="Microsoft YaHei"/>
              </a:rPr>
              <a:t>降至</a:t>
            </a:r>
            <a:r>
              <a:rPr lang="en-US" sz="1275">
                <a:solidFill>
                  <a:srgbClr val="2C3E50"/>
                </a:solidFill>
                <a:latin typeface="Microsoft YaHei"/>
                <a:ea typeface="Microsoft YaHei"/>
              </a:rPr>
              <a:t> 52</a:t>
            </a:r>
            <a:r>
              <a:rPr lang="zh-CN" sz="1275">
                <a:solidFill>
                  <a:srgbClr val="2C3E50"/>
                </a:solidFill>
                <a:latin typeface="Microsoft YaHei"/>
                <a:ea typeface="Microsoft YaHei"/>
              </a:rPr>
              <a:t>（降幅</a:t>
            </a:r>
            <a:r>
              <a:rPr lang="en-US" sz="1275">
                <a:solidFill>
                  <a:srgbClr val="2C3E50"/>
                </a:solidFill>
                <a:latin typeface="Microsoft YaHei"/>
                <a:ea typeface="Microsoft YaHei"/>
              </a:rPr>
              <a:t> &gt;70%</a:t>
            </a:r>
            <a:r>
              <a:rPr lang="zh-CN" sz="1275">
                <a:solidFill>
                  <a:srgbClr val="2C3E50"/>
                </a:solidFill>
                <a:latin typeface="Microsoft YaHei"/>
                <a:ea typeface="Microsoft YaHei"/>
              </a:rPr>
              <a:t>），无新出血，右下肢肿胀。</a:t>
            </a:r>
            <a:endParaRPr/>
          </a:p>
        </p:txBody>
      </p:sp>
      <p:sp>
        <p:nvSpPr>
          <p:cNvPr id="152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2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细节推演</a:t>
            </a:r>
            <a:endParaRPr/>
          </a:p>
        </p:txBody>
      </p:sp>
      <p:sp>
        <p:nvSpPr>
          <p:cNvPr id="1524"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4Ts</a:t>
            </a:r>
            <a:r>
              <a:rPr lang="zh-CN" sz="1275">
                <a:solidFill>
                  <a:srgbClr val="2C3E50"/>
                </a:solidFill>
                <a:latin typeface="Microsoft YaHei"/>
                <a:ea typeface="Microsoft YaHei"/>
              </a:rPr>
              <a:t>：下降幅度与时间</a:t>
            </a:r>
            <a:r>
              <a:rPr lang="en-US" sz="1275">
                <a:solidFill>
                  <a:srgbClr val="2C3E50"/>
                </a:solidFill>
                <a:latin typeface="Microsoft YaHei"/>
                <a:ea typeface="Microsoft YaHei"/>
              </a:rPr>
              <a:t>(2)+</a:t>
            </a:r>
            <a:r>
              <a:rPr lang="zh-CN" sz="1275">
                <a:solidFill>
                  <a:srgbClr val="2C3E50"/>
                </a:solidFill>
                <a:latin typeface="Microsoft YaHei"/>
                <a:ea typeface="Microsoft YaHei"/>
              </a:rPr>
              <a:t>血栓</a:t>
            </a:r>
            <a:r>
              <a:rPr lang="en-US" sz="1275">
                <a:solidFill>
                  <a:srgbClr val="2C3E50"/>
                </a:solidFill>
                <a:latin typeface="Microsoft YaHei"/>
                <a:ea typeface="Microsoft YaHei"/>
              </a:rPr>
              <a:t>(1)+</a:t>
            </a:r>
            <a:r>
              <a:rPr lang="zh-CN" sz="1275">
                <a:solidFill>
                  <a:srgbClr val="2C3E50"/>
                </a:solidFill>
                <a:latin typeface="Microsoft YaHei"/>
                <a:ea typeface="Microsoft YaHei"/>
              </a:rPr>
              <a:t>无其他解释</a:t>
            </a:r>
            <a:r>
              <a:rPr lang="en-US" sz="1275">
                <a:solidFill>
                  <a:srgbClr val="2C3E50"/>
                </a:solidFill>
                <a:latin typeface="Microsoft YaHei"/>
                <a:ea typeface="Microsoft YaHei"/>
              </a:rPr>
              <a:t>(1)=4 </a:t>
            </a:r>
            <a:r>
              <a:rPr lang="zh-CN" sz="1275">
                <a:solidFill>
                  <a:srgbClr val="2C3E50"/>
                </a:solidFill>
                <a:latin typeface="Microsoft YaHei"/>
                <a:ea typeface="Microsoft YaHei"/>
              </a:rPr>
              <a:t>分（中危）→</a:t>
            </a:r>
            <a:r>
              <a:rPr lang="en-US" sz="1275">
                <a:solidFill>
                  <a:srgbClr val="2C3E50"/>
                </a:solidFill>
                <a:latin typeface="Microsoft YaHei"/>
                <a:ea typeface="Microsoft YaHei"/>
              </a:rPr>
              <a:t> </a:t>
            </a:r>
            <a:r>
              <a:rPr lang="zh-CN" sz="1275">
                <a:solidFill>
                  <a:srgbClr val="2C3E50"/>
                </a:solidFill>
                <a:latin typeface="Microsoft YaHei"/>
                <a:ea typeface="Microsoft YaHei"/>
              </a:rPr>
              <a:t>查</a:t>
            </a:r>
            <a:r>
              <a:rPr lang="en-US" sz="1275">
                <a:solidFill>
                  <a:srgbClr val="2C3E50"/>
                </a:solidFill>
                <a:latin typeface="Microsoft YaHei"/>
                <a:ea typeface="Microsoft YaHei"/>
              </a:rPr>
              <a:t> PF4/</a:t>
            </a:r>
            <a:r>
              <a:rPr lang="zh-CN" sz="1275">
                <a:solidFill>
                  <a:srgbClr val="2C3E50"/>
                </a:solidFill>
                <a:latin typeface="Microsoft YaHei"/>
                <a:ea typeface="Microsoft YaHei"/>
              </a:rPr>
              <a:t>肝素抗体（</a:t>
            </a:r>
            <a:r>
              <a:rPr lang="en-US" sz="1275">
                <a:solidFill>
                  <a:srgbClr val="2C3E50"/>
                </a:solidFill>
                <a:latin typeface="Microsoft YaHei"/>
                <a:ea typeface="Microsoft YaHei"/>
              </a:rPr>
              <a:t>ELISA </a:t>
            </a:r>
            <a:r>
              <a:rPr lang="zh-CN" sz="1275">
                <a:solidFill>
                  <a:srgbClr val="2C3E50"/>
                </a:solidFill>
                <a:latin typeface="Microsoft YaHei"/>
                <a:ea typeface="Microsoft YaHei"/>
              </a:rPr>
              <a:t>阳性、</a:t>
            </a:r>
            <a:r>
              <a:rPr lang="en-US" sz="1275">
                <a:solidFill>
                  <a:srgbClr val="2C3E50"/>
                </a:solidFill>
                <a:latin typeface="Microsoft YaHei"/>
                <a:ea typeface="Microsoft YaHei"/>
              </a:rPr>
              <a:t>OD </a:t>
            </a:r>
            <a:r>
              <a:rPr lang="zh-CN" sz="1275">
                <a:solidFill>
                  <a:srgbClr val="2C3E50"/>
                </a:solidFill>
                <a:latin typeface="Microsoft YaHei"/>
                <a:ea typeface="Microsoft YaHei"/>
              </a:rPr>
              <a:t>高值）</a:t>
            </a:r>
            <a:r>
              <a:rPr lang="en-US" sz="1275">
                <a:solidFill>
                  <a:srgbClr val="2C3E50"/>
                </a:solidFill>
                <a:latin typeface="Microsoft YaHei"/>
                <a:ea typeface="Microsoft YaHei"/>
              </a:rPr>
              <a:t>+ SRA </a:t>
            </a:r>
            <a:r>
              <a:rPr lang="zh-CN" sz="1275">
                <a:solidFill>
                  <a:srgbClr val="2C3E50"/>
                </a:solidFill>
                <a:latin typeface="Microsoft YaHei"/>
                <a:ea typeface="Microsoft YaHei"/>
              </a:rPr>
              <a:t>阳性确认</a:t>
            </a:r>
            <a:r>
              <a:rPr lang="en-US" sz="1275">
                <a:solidFill>
                  <a:srgbClr val="2C3E50"/>
                </a:solidFill>
                <a:latin typeface="Microsoft YaHei"/>
                <a:ea typeface="Microsoft YaHei"/>
              </a:rPr>
              <a:t> HIT</a:t>
            </a:r>
            <a:r>
              <a:rPr lang="zh-CN" sz="1275">
                <a:solidFill>
                  <a:srgbClr val="2C3E50"/>
                </a:solidFill>
                <a:latin typeface="Microsoft YaHei"/>
                <a:ea typeface="Microsoft YaHei"/>
              </a:rPr>
              <a:t>；同时超声证实右侧股静脉</a:t>
            </a:r>
            <a:r>
              <a:rPr lang="en-US" sz="1275">
                <a:solidFill>
                  <a:srgbClr val="2C3E50"/>
                </a:solidFill>
                <a:latin typeface="Microsoft YaHei"/>
                <a:ea typeface="Microsoft YaHei"/>
              </a:rPr>
              <a:t> DVT</a:t>
            </a:r>
            <a:r>
              <a:rPr lang="zh-CN" sz="1275">
                <a:solidFill>
                  <a:srgbClr val="2C3E50"/>
                </a:solidFill>
                <a:latin typeface="Microsoft YaHei"/>
                <a:ea typeface="Microsoft YaHei"/>
              </a:rPr>
              <a:t>。立即停用</a:t>
            </a:r>
            <a:r>
              <a:rPr lang="en-US" sz="1275">
                <a:solidFill>
                  <a:srgbClr val="2C3E50"/>
                </a:solidFill>
                <a:latin typeface="Microsoft YaHei"/>
                <a:ea typeface="Microsoft YaHei"/>
              </a:rPr>
              <a:t> LMWH</a:t>
            </a:r>
            <a:r>
              <a:rPr lang="zh-CN" sz="1275">
                <a:solidFill>
                  <a:srgbClr val="2C3E50"/>
                </a:solidFill>
                <a:latin typeface="Microsoft YaHei"/>
                <a:ea typeface="Microsoft YaHei"/>
              </a:rPr>
              <a:t>（含冲管），启动阿加曲班滴定抗凝。</a:t>
            </a:r>
            <a:endParaRPr/>
          </a:p>
        </p:txBody>
      </p:sp>
      <p:sp>
        <p:nvSpPr>
          <p:cNvPr id="152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2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处理与转归</a:t>
            </a:r>
            <a:endParaRPr/>
          </a:p>
        </p:txBody>
      </p:sp>
      <p:sp>
        <p:nvSpPr>
          <p:cNvPr id="152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阿加曲班按</a:t>
            </a:r>
            <a:r>
              <a:rPr lang="en-US" sz="1275">
                <a:solidFill>
                  <a:srgbClr val="2C3E50"/>
                </a:solidFill>
                <a:latin typeface="Microsoft YaHei"/>
                <a:ea typeface="Microsoft YaHei"/>
              </a:rPr>
              <a:t> APTT </a:t>
            </a:r>
            <a:r>
              <a:rPr lang="zh-CN" sz="1275">
                <a:solidFill>
                  <a:srgbClr val="2C3E50"/>
                </a:solidFill>
                <a:latin typeface="Microsoft YaHei"/>
                <a:ea typeface="Microsoft YaHei"/>
              </a:rPr>
              <a:t>目标调整，血小板第</a:t>
            </a:r>
            <a:r>
              <a:rPr lang="en-US" sz="1275">
                <a:solidFill>
                  <a:srgbClr val="2C3E50"/>
                </a:solidFill>
                <a:latin typeface="Microsoft YaHei"/>
                <a:ea typeface="Microsoft YaHei"/>
              </a:rPr>
              <a:t> 4 </a:t>
            </a:r>
            <a:r>
              <a:rPr lang="zh-CN" sz="1275">
                <a:solidFill>
                  <a:srgbClr val="2C3E50"/>
                </a:solidFill>
                <a:latin typeface="Microsoft YaHei"/>
                <a:ea typeface="Microsoft YaHei"/>
              </a:rPr>
              <a:t>天开始回升，第</a:t>
            </a:r>
            <a:r>
              <a:rPr lang="en-US" sz="1275">
                <a:solidFill>
                  <a:srgbClr val="2C3E50"/>
                </a:solidFill>
                <a:latin typeface="Microsoft YaHei"/>
                <a:ea typeface="Microsoft YaHei"/>
              </a:rPr>
              <a:t> 10 </a:t>
            </a:r>
            <a:r>
              <a:rPr lang="zh-CN" sz="1275">
                <a:solidFill>
                  <a:srgbClr val="2C3E50"/>
                </a:solidFill>
                <a:latin typeface="Microsoft YaHei"/>
                <a:ea typeface="Microsoft YaHei"/>
              </a:rPr>
              <a:t>天</a:t>
            </a:r>
            <a:r>
              <a:rPr lang="en-US" sz="1275">
                <a:solidFill>
                  <a:srgbClr val="2C3E50"/>
                </a:solidFill>
                <a:latin typeface="Microsoft YaHei"/>
                <a:ea typeface="Microsoft YaHei"/>
              </a:rPr>
              <a:t> &gt;150</a:t>
            </a:r>
            <a:r>
              <a:rPr lang="zh-CN" sz="1275">
                <a:solidFill>
                  <a:srgbClr val="2C3E50"/>
                </a:solidFill>
                <a:latin typeface="Microsoft YaHei"/>
                <a:ea typeface="Microsoft YaHei"/>
              </a:rPr>
              <a:t>；桥接华法林至</a:t>
            </a:r>
            <a:r>
              <a:rPr lang="en-US" sz="1275">
                <a:solidFill>
                  <a:srgbClr val="2C3E50"/>
                </a:solidFill>
                <a:latin typeface="Microsoft YaHei"/>
                <a:ea typeface="Microsoft YaHei"/>
              </a:rPr>
              <a:t> INR </a:t>
            </a:r>
            <a:r>
              <a:rPr lang="zh-CN" sz="1275">
                <a:solidFill>
                  <a:srgbClr val="2C3E50"/>
                </a:solidFill>
                <a:latin typeface="Microsoft YaHei"/>
                <a:ea typeface="Microsoft YaHei"/>
              </a:rPr>
              <a:t>达标后停阿加曲班；未发生新血栓</a:t>
            </a:r>
            <a:r>
              <a:rPr lang="en-US" sz="1275">
                <a:solidFill>
                  <a:srgbClr val="2C3E50"/>
                </a:solidFill>
                <a:latin typeface="Microsoft YaHei"/>
                <a:ea typeface="Microsoft YaHei"/>
              </a:rPr>
              <a:t>/</a:t>
            </a:r>
            <a:r>
              <a:rPr lang="zh-CN" sz="1275">
                <a:solidFill>
                  <a:srgbClr val="2C3E50"/>
                </a:solidFill>
                <a:latin typeface="Microsoft YaHei"/>
                <a:ea typeface="Microsoft YaHei"/>
              </a:rPr>
              <a:t>大出血，顺利转出</a:t>
            </a:r>
            <a:r>
              <a:rPr lang="en-US" sz="1275">
                <a:solidFill>
                  <a:srgbClr val="2C3E50"/>
                </a:solidFill>
                <a:latin typeface="Microsoft YaHei"/>
                <a:ea typeface="Microsoft YaHei"/>
              </a:rPr>
              <a:t> ICU</a:t>
            </a:r>
            <a:r>
              <a:rPr lang="zh-CN" sz="1275">
                <a:solidFill>
                  <a:srgbClr val="2C3E50"/>
                </a:solidFill>
                <a:latin typeface="Microsoft YaHei"/>
                <a:ea typeface="Microsoft YaHei"/>
              </a:rPr>
              <a:t>。</a:t>
            </a:r>
            <a:endParaRPr/>
          </a:p>
        </p:txBody>
      </p:sp>
      <p:sp>
        <p:nvSpPr>
          <p:cNvPr id="152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2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经验要点</a:t>
            </a:r>
            <a:endParaRPr/>
          </a:p>
        </p:txBody>
      </p:sp>
      <p:sp>
        <p:nvSpPr>
          <p:cNvPr id="1530" name="" descr="{&quot;isTemplate&quot;:true,&quot;type&quot;:&quot;text&quot;}"/>
          <p:cNvSpPr txBox="1"/>
          <p:nvPr/>
        </p:nvSpPr>
        <p:spPr>
          <a:xfrm rot="0" flipH="0" flipV="0">
            <a:off x="6419850" y="29241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①ICU </a:t>
            </a:r>
            <a:r>
              <a:rPr lang="zh-CN" sz="1275">
                <a:solidFill>
                  <a:srgbClr val="2C3E50"/>
                </a:solidFill>
                <a:latin typeface="Microsoft YaHei"/>
                <a:ea typeface="Microsoft YaHei"/>
              </a:rPr>
              <a:t>血小板下降必须每日做一次“</a:t>
            </a:r>
            <a:r>
              <a:rPr lang="en-US" sz="1275">
                <a:solidFill>
                  <a:srgbClr val="2C3E50"/>
                </a:solidFill>
                <a:latin typeface="Microsoft YaHei"/>
                <a:ea typeface="Microsoft YaHei"/>
              </a:rPr>
              <a:t>4Ts </a:t>
            </a:r>
            <a:r>
              <a:rPr lang="zh-CN" sz="1275">
                <a:solidFill>
                  <a:srgbClr val="2C3E50"/>
                </a:solidFill>
                <a:latin typeface="Microsoft YaHei"/>
                <a:ea typeface="Microsoft YaHei"/>
              </a:rPr>
              <a:t>快速筛查”；②“降幅</a:t>
            </a:r>
            <a:r>
              <a:rPr lang="en-US" sz="1275">
                <a:solidFill>
                  <a:srgbClr val="2C3E50"/>
                </a:solidFill>
                <a:latin typeface="Microsoft YaHei"/>
                <a:ea typeface="Microsoft YaHei"/>
              </a:rPr>
              <a:t>&gt;50%+</a:t>
            </a:r>
            <a:r>
              <a:rPr lang="zh-CN" sz="1275">
                <a:solidFill>
                  <a:srgbClr val="2C3E50"/>
                </a:solidFill>
                <a:latin typeface="Microsoft YaHei"/>
                <a:ea typeface="Microsoft YaHei"/>
              </a:rPr>
              <a:t>时间窗（</a:t>
            </a:r>
            <a:r>
              <a:rPr lang="en-US" sz="1275">
                <a:solidFill>
                  <a:srgbClr val="2C3E50"/>
                </a:solidFill>
                <a:latin typeface="Microsoft YaHei"/>
                <a:ea typeface="Microsoft YaHei"/>
              </a:rPr>
              <a:t>5—10 </a:t>
            </a:r>
            <a:r>
              <a:rPr lang="zh-CN" sz="1275">
                <a:solidFill>
                  <a:srgbClr val="2C3E50"/>
                </a:solidFill>
                <a:latin typeface="Microsoft YaHei"/>
                <a:ea typeface="Microsoft YaHei"/>
              </a:rPr>
              <a:t>天）”比绝对值更提示</a:t>
            </a:r>
            <a:r>
              <a:rPr lang="en-US" sz="1275">
                <a:solidFill>
                  <a:srgbClr val="2C3E50"/>
                </a:solidFill>
                <a:latin typeface="Microsoft YaHei"/>
                <a:ea typeface="Microsoft YaHei"/>
              </a:rPr>
              <a:t> HIT</a:t>
            </a:r>
            <a:r>
              <a:rPr lang="zh-CN" sz="1275">
                <a:solidFill>
                  <a:srgbClr val="2C3E50"/>
                </a:solidFill>
                <a:latin typeface="Microsoft YaHei"/>
                <a:ea typeface="Microsoft YaHei"/>
              </a:rPr>
              <a:t>；③确诊前“宁可先停肝素”原则；④肝素冲洗液也算暴露。</a:t>
            </a:r>
            <a:endParaRPr/>
          </a:p>
        </p:txBody>
      </p:sp>
      <p:sp>
        <p:nvSpPr>
          <p:cNvPr id="153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32"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533"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534"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35" name="" descr="{&quot;isTemplate&quot;:true,&quot;type&quot;:&quot;text&quot;}"/>
          <p:cNvSpPr txBox="1"/>
          <p:nvPr/>
        </p:nvSpPr>
        <p:spPr>
          <a:xfrm rot="0" flipH="0" flipV="0">
            <a:off x="641985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动态趋势</a:t>
            </a:r>
            <a:r>
              <a:rPr lang="en-US" sz="1425" b="1">
                <a:solidFill>
                  <a:srgbClr val="0E3F8C"/>
                </a:solidFill>
                <a:latin typeface="Microsoft YaHei"/>
                <a:ea typeface="Microsoft YaHei"/>
              </a:rPr>
              <a:t>+</a:t>
            </a:r>
            <a:r>
              <a:rPr lang="zh-CN" sz="1425" b="1">
                <a:solidFill>
                  <a:srgbClr val="0E3F8C"/>
                </a:solidFill>
                <a:latin typeface="Microsoft YaHei"/>
                <a:ea typeface="Microsoft YaHei"/>
              </a:rPr>
              <a:t>评分工具让</a:t>
            </a:r>
            <a:r>
              <a:rPr lang="en-US" sz="1425" b="1">
                <a:solidFill>
                  <a:srgbClr val="0E3F8C"/>
                </a:solidFill>
                <a:latin typeface="Microsoft YaHei"/>
                <a:ea typeface="Microsoft YaHei"/>
              </a:rPr>
              <a:t> HIT </a:t>
            </a:r>
            <a:r>
              <a:rPr lang="zh-CN" sz="1425" b="1">
                <a:solidFill>
                  <a:srgbClr val="0E3F8C"/>
                </a:solidFill>
                <a:latin typeface="Microsoft YaHei"/>
                <a:ea typeface="Microsoft YaHei"/>
              </a:rPr>
              <a:t>在脓毒症大海里被精准捞起。</a:t>
            </a:r>
            <a:endParaRPr/>
          </a:p>
        </p:txBody>
      </p:sp>
      <p:sp>
        <p:nvSpPr>
          <p:cNvPr id="1536" name="" descr="{&quot;isTemplate&quot;:true,&quot;type&quot;:&quot;text&quot;}"/>
          <p:cNvSpPr txBox="1"/>
          <p:nvPr/>
        </p:nvSpPr>
        <p:spPr>
          <a:xfrm rot="0" flipH="0" flipV="0">
            <a:off x="6419850" y="4410075"/>
            <a:ext cx="4972050" cy="0"/>
          </a:xfrm>
          <a:prstGeom prst="rect"/>
        </p:spPr>
        <p:txBody>
          <a:bodyPr wrap="none" lIns="0" tIns="0" rIns="0" bIns="0"/>
          <a:p>
            <a:pPr/>
            <a:endParaRPr/>
          </a:p>
        </p:txBody>
      </p:sp>
      <p:sp>
        <p:nvSpPr>
          <p:cNvPr id="1537"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538"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2006;4:759-765 (PMID 16634744)</a:t>
            </a:r>
            <a:endParaRPr/>
          </a:p>
        </p:txBody>
      </p:sp>
      <p:sp>
        <p:nvSpPr>
          <p:cNvPr id="1539" name=""/>
          <p:cNvSpPr/>
          <p:nvPr/>
        </p:nvSpPr>
        <p:spPr>
          <a:xfrm rot="0" flipH="0" flipV="0">
            <a:off x="0" y="6324600"/>
            <a:ext cx="12192000" cy="342900"/>
          </a:xfrm>
          <a:prstGeom prst="rect">
            <a:avLst/>
          </a:prstGeom>
          <a:solidFill>
            <a:srgbClr val="F7F9FC"/>
          </a:solidFill>
          <a:ln/>
        </p:spPr>
        <p:txBody>
          <a:bodyPr/>
          <a:p/>
        </p:txBody>
      </p:sp>
      <p:sp>
        <p:nvSpPr>
          <p:cNvPr id="1540"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541"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8.xml><?xml version="1.0" encoding="utf-8"?>
<p:sld xmlns:p="http://schemas.openxmlformats.org/presentationml/2006/main" xmlns:a="http://schemas.openxmlformats.org/drawingml/2006/main">
  <p:cSld>
    <p:spTree>
      <p:nvGrpSpPr>
        <p:cNvPr id="1542" name="" descr="&lt;Slide notes={`演讲者备注：【CHENG-RAISE】RAISE：艾曲泊帕 6 个月随机双盲 RCT 显著提高慢性 ITP 血小板计数（中位峰值 50×10^9/L 以上达 59%）并降低出血，支持 TPO-RA 用于二线。证据：Lancet 2011;377:393-402，PMID 20739054。&#13;&#10;【KUTER-ROMI】罗米司亭 III 期 RCT：慢性 ITP 患者血小板应答率显著高于安慰剂，减少挽救治疗与出血事件，确立 TPO-RA 疗效与安全性。证据：Lancet 2008;371:395-403，PMID 18242413。&#13;&#10;【NEUNERT-ASH】ASH 2019 ITP 指南：糖皮质激素一线；对激素依赖/无效者推荐 TPO-RA、利妥昔单抗或脾切除；以出血而非单纯血小板数为主要治疗决策依据。证据：Blood Adv 2019;3:3829-3866，PMID 31794604。&#13;&#10;讲解提示：本例刻意省略“血小板必须正常”的执念——用目标区间（如 50—200 或按出血风险 ≥30）管理，呼应第四章“以出血为轴”。`}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一章 案例分享&lt;/Text&gt;&#13;&#10;      &lt;Box style={{ width: 1, height: 24, background: '#3D7BD9' }} /&gt;&#13;&#10;      &lt;Text style={{ fontSize: 16, color: '#C7D6EC' }}&gt;案例 3：ITP 激素依赖者的 TPO-RA 之路&lt;/Text&gt;&#13;&#10;    &lt;/Box&gt;&#13;&#10;    &lt;Text style={{ position: 'absolute', right: 64, top: 24, fontSize: 15, color: '#9DB8E0' }}&gt;68 / 77&lt;/Text&gt;&#13;&#10;  &lt;/Box&gt;&#13;&#10;  &lt;Box style={{ position: 'absolute', left: 64, top: 96, width: 562, height: 128, background: '#F0F5FC', borderRadius: 12, border: '1px solid #E5E7EB', padding: 20 }}&gt;&#13;&#10;&lt;Text style={{ fontSize: 19, color: '#0E3F8C', fontWeight: 'bold', textAlign: 'left', lineHeight: 1.5 }}&gt;病情概要&lt;/Text&gt;&#13;&#10;&lt;Text style={{ fontSize: 17, color: '#2C3E50', textAlign: 'left', lineHeight: 1.62 }}&gt;52 岁女性，ITP 3 年，泼尼松减至 10mg 以下血小板即回落 &amp;lt;20，反复口腔血疱；曾拒绝切脾；无血栓史/无妊娠计划。&lt;/Text&gt;&#13;&#10;  &lt;/Box&gt;&#13;&#10;  &lt;Box style={{ position: 'absolute', left: 654, top: 96, width: 562, height: 128, background: '#F0F5FC', borderRadius: 12, border: '1px solid #E5E7EB', padding: 20 }}&gt;&#13;&#10;&lt;Text style={{ fontSize: 19, color: '#0E3F8C', fontWeight: 'bold', textAlign: 'left', lineHeight: 1.5 }}&gt;细节推演&lt;/Text&gt;&#13;&#10;&lt;Text style={{ fontSize: 17, color: '#2C3E50', textAlign: 'left', lineHeight: 1.62 }}&gt;与患者讨论二线选择（TPO-RA vs 利妥昔单抗 vs 切脾），倾向 TPO-RA：启用艾曲泊帕 25mg/日，每周监测血小板；2 周升至 68，4 周 132（目标区 50—200）；激素 4 周内安全减停。&lt;/Text&gt;&#13;&#10;  &lt;/Box&gt;&#13;&#10;  &lt;Box style={{ position: 'absolute', left: 64, top: 252, width: 562, height: 128, background: '#F0F5FC', borderRadius: 12, border: '1px solid #E5E7EB', padding: 20 }}&gt;&#13;&#10;&lt;Text style={{ fontSize: 19, color: '#0E3F8C', fontWeight: 'bold', textAlign: 'left', lineHeight: 1.5 }}&gt;随访与调整&lt;/Text&gt;&#13;&#10;&lt;Text style={{ fontSize: 17, color: '#2C3E50', textAlign: 'left', lineHeight: 1.62 }}&gt;维持 50mg/日，血小板稳定 90—150；期间监测肝功能正常；未发生血栓；若血小板 &amp;gt;400 将减量/暂停——个体化“目标区间管理”而非追求正常计数。&lt;/Text&gt;&#13;&#10;  &lt;/Box&gt;&#13;&#10;  &lt;Box style={{ position: 'absolute', left: 654, top: 252, width: 562, height: 128, background: '#F0F5FC', borderRadius: 12, border: '1px solid #E5E7EB', padding: 20 }}&gt;&#13;&#10;&lt;Text style={{ fontSize: 19, color: '#0E3F8C', fontWeight: 'bold', textAlign: 'left', lineHeight: 1.5 }}&gt;经验要点&lt;/Text&gt;&#13;&#10;&lt;Text style={{ fontSize: 17, color: '#2C3E50', textAlign: 'left', lineHeight: 1.62 }}&gt;①二线选择是“共同决策”，需交代三方案利弊（ICR/ASH/中国指南一致）；②TPO-RA 起效与超调的动态监测频率（启动后 1—2 周复查）；③“以出血与生活质量为轴”，计数目标 ≥30—50 即可防严重出血。&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7, color: '#2C3E50', textAlign: 'left', lineHeight: 1.62 }}&gt;把 RCT 的“应答终点”翻译成患者的“出血-生活质量”收益，是二线治疗的核心功课。&lt;/Text&gt;&#13;&#10;  &lt;/Box&gt;&#13;&#10;&#13;&#10;  &lt;Box style={{ position: 'absolute', left: 64, top: 556, width: 1152, height: 92, background: '#F0F5FC', borderRadius: 12, border: '1px solid #E5E7EB', padding: 20 }}&gt;&#13;&#10;&lt;Text style={{ fontSize: 17, color: '#2C3E50', textAlign: 'left', lineHeight: 1.6 }}&gt;小结：Lancet 2011;377:393-402 (PMID 20739054)&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543" name=""/>
          <p:cNvSpPr/>
          <p:nvPr/>
        </p:nvSpPr>
        <p:spPr>
          <a:xfrm rot="0" flipH="0" flipV="0">
            <a:off x="0" y="0"/>
            <a:ext cx="12192000" cy="6858000"/>
          </a:xfrm>
          <a:prstGeom prst="rect">
            <a:avLst/>
          </a:prstGeom>
          <a:solidFill>
            <a:srgbClr val="FFFFFF"/>
          </a:solidFill>
          <a:ln/>
        </p:spPr>
        <p:txBody>
          <a:bodyPr/>
          <a:p/>
        </p:txBody>
      </p:sp>
      <p:sp>
        <p:nvSpPr>
          <p:cNvPr id="1544" name=""/>
          <p:cNvSpPr/>
          <p:nvPr/>
        </p:nvSpPr>
        <p:spPr>
          <a:xfrm rot="0" flipH="0" flipV="0">
            <a:off x="0" y="0"/>
            <a:ext cx="12192000" cy="685800"/>
          </a:xfrm>
          <a:prstGeom prst="rect">
            <a:avLst/>
          </a:prstGeom>
          <a:solidFill>
            <a:srgbClr val="0E3F8C"/>
          </a:solidFill>
          <a:ln/>
        </p:spPr>
        <p:txBody>
          <a:bodyPr/>
          <a:p/>
        </p:txBody>
      </p:sp>
      <p:sp>
        <p:nvSpPr>
          <p:cNvPr id="1545" name="" descr="{&quot;isTemplate&quot;:true,&quot;type&quot;:&quot;text&quot;}"/>
          <p:cNvSpPr txBox="1"/>
          <p:nvPr/>
        </p:nvSpPr>
        <p:spPr>
          <a:xfrm rot="0" flipH="0" flipV="0">
            <a:off x="609600" y="219075"/>
            <a:ext cx="1428750" cy="209550"/>
          </a:xfrm>
          <a:prstGeom prst="rect"/>
        </p:spPr>
        <p:txBody>
          <a:bodyPr wrap="none" lIns="0" tIns="0" rIns="0" bIns="0"/>
          <a:p>
            <a:pPr>
              <a:lnSpc>
                <a:spcPct val="100000"/>
              </a:lnSpc>
            </a:pPr>
            <a:r>
              <a:rPr lang="zh-CN" sz="1350" b="1">
                <a:solidFill>
                  <a:srgbClr val="FFFFFF"/>
                </a:solidFill>
                <a:latin typeface="Microsoft YaHei"/>
                <a:ea typeface="Microsoft YaHei"/>
              </a:rPr>
              <a:t>第十一章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案例分享</a:t>
            </a:r>
            <a:endParaRPr/>
          </a:p>
        </p:txBody>
      </p:sp>
      <p:sp>
        <p:nvSpPr>
          <p:cNvPr id="1546" name=""/>
          <p:cNvSpPr/>
          <p:nvPr/>
        </p:nvSpPr>
        <p:spPr>
          <a:xfrm rot="0" flipH="0" flipV="0">
            <a:off x="2190750" y="209550"/>
            <a:ext cx="9525" cy="228600"/>
          </a:xfrm>
          <a:prstGeom prst="rect">
            <a:avLst/>
          </a:prstGeom>
          <a:solidFill>
            <a:srgbClr val="3D7BD9"/>
          </a:solidFill>
          <a:ln/>
        </p:spPr>
        <p:txBody>
          <a:bodyPr/>
          <a:p/>
        </p:txBody>
      </p:sp>
      <p:sp>
        <p:nvSpPr>
          <p:cNvPr id="1547" name="" descr="{&quot;isTemplate&quot;:true,&quot;type&quot;:&quot;text&quot;}"/>
          <p:cNvSpPr txBox="1"/>
          <p:nvPr/>
        </p:nvSpPr>
        <p:spPr>
          <a:xfrm rot="0" flipH="0" flipV="0">
            <a:off x="2352675" y="228600"/>
            <a:ext cx="2752725" cy="190500"/>
          </a:xfrm>
          <a:prstGeom prst="rect"/>
        </p:spPr>
        <p:txBody>
          <a:bodyPr wrap="none" lIns="0" tIns="0" rIns="0" bIns="0"/>
          <a:p>
            <a:pPr>
              <a:lnSpc>
                <a:spcPct val="100000"/>
              </a:lnSpc>
            </a:pPr>
            <a:r>
              <a:rPr lang="zh-CN" sz="1200">
                <a:solidFill>
                  <a:srgbClr val="C7D6EC"/>
                </a:solidFill>
                <a:latin typeface="Microsoft YaHei"/>
                <a:ea typeface="Microsoft YaHei"/>
              </a:rPr>
              <a:t>案例</a:t>
            </a:r>
            <a:r>
              <a:rPr lang="en-US" sz="1200">
                <a:solidFill>
                  <a:srgbClr val="C7D6EC"/>
                </a:solidFill>
                <a:latin typeface="Microsoft YaHei"/>
                <a:ea typeface="Microsoft YaHei"/>
              </a:rPr>
              <a:t> 3</a:t>
            </a:r>
            <a:r>
              <a:rPr lang="zh-CN" sz="1200">
                <a:solidFill>
                  <a:srgbClr val="C7D6EC"/>
                </a:solidFill>
                <a:latin typeface="Microsoft YaHei"/>
                <a:ea typeface="Microsoft YaHei"/>
              </a:rPr>
              <a:t>：</a:t>
            </a:r>
            <a:r>
              <a:rPr lang="en-US" sz="1200">
                <a:solidFill>
                  <a:srgbClr val="C7D6EC"/>
                </a:solidFill>
                <a:latin typeface="Microsoft YaHei"/>
                <a:ea typeface="Microsoft YaHei"/>
              </a:rPr>
              <a:t>ITP </a:t>
            </a:r>
            <a:r>
              <a:rPr lang="zh-CN" sz="1200">
                <a:solidFill>
                  <a:srgbClr val="C7D6EC"/>
                </a:solidFill>
                <a:latin typeface="Microsoft YaHei"/>
                <a:ea typeface="Microsoft YaHei"/>
              </a:rPr>
              <a:t>激素依赖者的</a:t>
            </a:r>
            <a:r>
              <a:rPr lang="en-US" sz="1200">
                <a:solidFill>
                  <a:srgbClr val="C7D6EC"/>
                </a:solidFill>
                <a:latin typeface="Microsoft YaHei"/>
                <a:ea typeface="Microsoft YaHei"/>
              </a:rPr>
              <a:t> TPO-RA </a:t>
            </a:r>
            <a:r>
              <a:rPr lang="zh-CN" sz="1200">
                <a:solidFill>
                  <a:srgbClr val="C7D6EC"/>
                </a:solidFill>
                <a:latin typeface="Microsoft YaHei"/>
                <a:ea typeface="Microsoft YaHei"/>
              </a:rPr>
              <a:t>之路</a:t>
            </a:r>
            <a:endParaRPr/>
          </a:p>
        </p:txBody>
      </p:sp>
      <p:sp>
        <p:nvSpPr>
          <p:cNvPr id="1548"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68 / 77</a:t>
            </a:r>
            <a:endParaRPr/>
          </a:p>
        </p:txBody>
      </p:sp>
      <p:sp>
        <p:nvSpPr>
          <p:cNvPr id="1549"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50"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病情概要</a:t>
            </a:r>
            <a:endParaRPr/>
          </a:p>
        </p:txBody>
      </p:sp>
      <p:sp>
        <p:nvSpPr>
          <p:cNvPr id="1551"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52 </a:t>
            </a:r>
            <a:r>
              <a:rPr lang="zh-CN" sz="1275">
                <a:solidFill>
                  <a:srgbClr val="2C3E50"/>
                </a:solidFill>
                <a:latin typeface="Microsoft YaHei"/>
                <a:ea typeface="Microsoft YaHei"/>
              </a:rPr>
              <a:t>岁女性，</a:t>
            </a:r>
            <a:r>
              <a:rPr lang="en-US" sz="1275">
                <a:solidFill>
                  <a:srgbClr val="2C3E50"/>
                </a:solidFill>
                <a:latin typeface="Microsoft YaHei"/>
                <a:ea typeface="Microsoft YaHei"/>
              </a:rPr>
              <a:t>ITP 3 </a:t>
            </a:r>
            <a:r>
              <a:rPr lang="zh-CN" sz="1275">
                <a:solidFill>
                  <a:srgbClr val="2C3E50"/>
                </a:solidFill>
                <a:latin typeface="Microsoft YaHei"/>
                <a:ea typeface="Microsoft YaHei"/>
              </a:rPr>
              <a:t>年，泼尼松减至</a:t>
            </a:r>
            <a:r>
              <a:rPr lang="en-US" sz="1275">
                <a:solidFill>
                  <a:srgbClr val="2C3E50"/>
                </a:solidFill>
                <a:latin typeface="Microsoft YaHei"/>
                <a:ea typeface="Microsoft YaHei"/>
              </a:rPr>
              <a:t> 10mg </a:t>
            </a:r>
            <a:r>
              <a:rPr lang="zh-CN" sz="1275">
                <a:solidFill>
                  <a:srgbClr val="2C3E50"/>
                </a:solidFill>
                <a:latin typeface="Microsoft YaHei"/>
                <a:ea typeface="Microsoft YaHei"/>
              </a:rPr>
              <a:t>以下血小板即回落</a:t>
            </a:r>
            <a:r>
              <a:rPr lang="en-US" sz="1275">
                <a:solidFill>
                  <a:srgbClr val="2C3E50"/>
                </a:solidFill>
                <a:latin typeface="Microsoft YaHei"/>
                <a:ea typeface="Microsoft YaHei"/>
              </a:rPr>
              <a:t> &lt;20</a:t>
            </a:r>
            <a:r>
              <a:rPr lang="zh-CN" sz="1275">
                <a:solidFill>
                  <a:srgbClr val="2C3E50"/>
                </a:solidFill>
                <a:latin typeface="Microsoft YaHei"/>
                <a:ea typeface="Microsoft YaHei"/>
              </a:rPr>
              <a:t>，反复口腔血疱；曾拒绝切脾；无血栓史</a:t>
            </a:r>
            <a:r>
              <a:rPr lang="en-US" sz="1275">
                <a:solidFill>
                  <a:srgbClr val="2C3E50"/>
                </a:solidFill>
                <a:latin typeface="Microsoft YaHei"/>
                <a:ea typeface="Microsoft YaHei"/>
              </a:rPr>
              <a:t>/</a:t>
            </a:r>
            <a:r>
              <a:rPr lang="zh-CN" sz="1275">
                <a:solidFill>
                  <a:srgbClr val="2C3E50"/>
                </a:solidFill>
                <a:latin typeface="Microsoft YaHei"/>
                <a:ea typeface="Microsoft YaHei"/>
              </a:rPr>
              <a:t>无妊娠计划。</a:t>
            </a:r>
            <a:endParaRPr/>
          </a:p>
        </p:txBody>
      </p:sp>
      <p:sp>
        <p:nvSpPr>
          <p:cNvPr id="1552"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53"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细节推演</a:t>
            </a:r>
            <a:endParaRPr/>
          </a:p>
        </p:txBody>
      </p:sp>
      <p:sp>
        <p:nvSpPr>
          <p:cNvPr id="1554"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与患者讨论二线选择（</a:t>
            </a:r>
            <a:r>
              <a:rPr lang="en-US" sz="1275">
                <a:solidFill>
                  <a:srgbClr val="2C3E50"/>
                </a:solidFill>
                <a:latin typeface="Microsoft YaHei"/>
                <a:ea typeface="Microsoft YaHei"/>
              </a:rPr>
              <a:t>TPO-RA vs </a:t>
            </a:r>
            <a:r>
              <a:rPr lang="zh-CN" sz="1275">
                <a:solidFill>
                  <a:srgbClr val="2C3E50"/>
                </a:solidFill>
                <a:latin typeface="Microsoft YaHei"/>
                <a:ea typeface="Microsoft YaHei"/>
              </a:rPr>
              <a:t>利妥昔单抗</a:t>
            </a:r>
            <a:r>
              <a:rPr lang="en-US" sz="1275">
                <a:solidFill>
                  <a:srgbClr val="2C3E50"/>
                </a:solidFill>
                <a:latin typeface="Microsoft YaHei"/>
                <a:ea typeface="Microsoft YaHei"/>
              </a:rPr>
              <a:t> vs </a:t>
            </a:r>
            <a:r>
              <a:rPr lang="zh-CN" sz="1275">
                <a:solidFill>
                  <a:srgbClr val="2C3E50"/>
                </a:solidFill>
                <a:latin typeface="Microsoft YaHei"/>
                <a:ea typeface="Microsoft YaHei"/>
              </a:rPr>
              <a:t>切脾），倾向</a:t>
            </a:r>
            <a:r>
              <a:rPr lang="en-US" sz="1275">
                <a:solidFill>
                  <a:srgbClr val="2C3E50"/>
                </a:solidFill>
                <a:latin typeface="Microsoft YaHei"/>
                <a:ea typeface="Microsoft YaHei"/>
              </a:rPr>
              <a:t> TPO-RA</a:t>
            </a:r>
            <a:r>
              <a:rPr lang="zh-CN" sz="1275">
                <a:solidFill>
                  <a:srgbClr val="2C3E50"/>
                </a:solidFill>
                <a:latin typeface="Microsoft YaHei"/>
                <a:ea typeface="Microsoft YaHei"/>
              </a:rPr>
              <a:t>：启用艾曲泊帕</a:t>
            </a:r>
            <a:r>
              <a:rPr lang="en-US" sz="1275">
                <a:solidFill>
                  <a:srgbClr val="2C3E50"/>
                </a:solidFill>
                <a:latin typeface="Microsoft YaHei"/>
                <a:ea typeface="Microsoft YaHei"/>
              </a:rPr>
              <a:t> 25mg/</a:t>
            </a:r>
            <a:r>
              <a:rPr lang="zh-CN" sz="1275">
                <a:solidFill>
                  <a:srgbClr val="2C3E50"/>
                </a:solidFill>
                <a:latin typeface="Microsoft YaHei"/>
                <a:ea typeface="Microsoft YaHei"/>
              </a:rPr>
              <a:t>日，每周监测血小板；</a:t>
            </a:r>
            <a:r>
              <a:rPr lang="en-US" sz="1275">
                <a:solidFill>
                  <a:srgbClr val="2C3E50"/>
                </a:solidFill>
                <a:latin typeface="Microsoft YaHei"/>
                <a:ea typeface="Microsoft YaHei"/>
              </a:rPr>
              <a:t>2 </a:t>
            </a:r>
            <a:r>
              <a:rPr lang="zh-CN" sz="1275">
                <a:solidFill>
                  <a:srgbClr val="2C3E50"/>
                </a:solidFill>
                <a:latin typeface="Microsoft YaHei"/>
                <a:ea typeface="Microsoft YaHei"/>
              </a:rPr>
              <a:t>周升至</a:t>
            </a:r>
            <a:r>
              <a:rPr lang="en-US" sz="1275">
                <a:solidFill>
                  <a:srgbClr val="2C3E50"/>
                </a:solidFill>
                <a:latin typeface="Microsoft YaHei"/>
                <a:ea typeface="Microsoft YaHei"/>
              </a:rPr>
              <a:t> 68</a:t>
            </a:r>
            <a:r>
              <a:rPr lang="zh-CN" sz="1275">
                <a:solidFill>
                  <a:srgbClr val="2C3E50"/>
                </a:solidFill>
                <a:latin typeface="Microsoft YaHei"/>
                <a:ea typeface="Microsoft YaHei"/>
              </a:rPr>
              <a:t>，</a:t>
            </a:r>
            <a:r>
              <a:rPr lang="en-US" sz="1275">
                <a:solidFill>
                  <a:srgbClr val="2C3E50"/>
                </a:solidFill>
                <a:latin typeface="Microsoft YaHei"/>
                <a:ea typeface="Microsoft YaHei"/>
              </a:rPr>
              <a:t>4 </a:t>
            </a:r>
            <a:r>
              <a:rPr lang="zh-CN" sz="1275">
                <a:solidFill>
                  <a:srgbClr val="2C3E50"/>
                </a:solidFill>
                <a:latin typeface="Microsoft YaHei"/>
                <a:ea typeface="Microsoft YaHei"/>
              </a:rPr>
              <a:t>周</a:t>
            </a:r>
            <a:r>
              <a:rPr lang="en-US" sz="1275">
                <a:solidFill>
                  <a:srgbClr val="2C3E50"/>
                </a:solidFill>
                <a:latin typeface="Microsoft YaHei"/>
                <a:ea typeface="Microsoft YaHei"/>
              </a:rPr>
              <a:t> 132</a:t>
            </a:r>
            <a:r>
              <a:rPr lang="zh-CN" sz="1275">
                <a:solidFill>
                  <a:srgbClr val="2C3E50"/>
                </a:solidFill>
                <a:latin typeface="Microsoft YaHei"/>
                <a:ea typeface="Microsoft YaHei"/>
              </a:rPr>
              <a:t>（目标区</a:t>
            </a:r>
            <a:r>
              <a:rPr lang="en-US" sz="1275">
                <a:solidFill>
                  <a:srgbClr val="2C3E50"/>
                </a:solidFill>
                <a:latin typeface="Microsoft YaHei"/>
                <a:ea typeface="Microsoft YaHei"/>
              </a:rPr>
              <a:t> 50—200</a:t>
            </a:r>
            <a:r>
              <a:rPr lang="zh-CN" sz="1275">
                <a:solidFill>
                  <a:srgbClr val="2C3E50"/>
                </a:solidFill>
                <a:latin typeface="Microsoft YaHei"/>
                <a:ea typeface="Microsoft YaHei"/>
              </a:rPr>
              <a:t>）；激素</a:t>
            </a:r>
            <a:r>
              <a:rPr lang="en-US" sz="1275">
                <a:solidFill>
                  <a:srgbClr val="2C3E50"/>
                </a:solidFill>
                <a:latin typeface="Microsoft YaHei"/>
                <a:ea typeface="Microsoft YaHei"/>
              </a:rPr>
              <a:t> 4 </a:t>
            </a:r>
            <a:r>
              <a:rPr lang="zh-CN" sz="1275">
                <a:solidFill>
                  <a:srgbClr val="2C3E50"/>
                </a:solidFill>
                <a:latin typeface="Microsoft YaHei"/>
                <a:ea typeface="Microsoft YaHei"/>
              </a:rPr>
              <a:t>周内安全减停。</a:t>
            </a:r>
            <a:endParaRPr/>
          </a:p>
        </p:txBody>
      </p:sp>
      <p:sp>
        <p:nvSpPr>
          <p:cNvPr id="1555"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56"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随访与调整</a:t>
            </a:r>
            <a:endParaRPr/>
          </a:p>
        </p:txBody>
      </p:sp>
      <p:sp>
        <p:nvSpPr>
          <p:cNvPr id="1557"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维持</a:t>
            </a:r>
            <a:r>
              <a:rPr lang="en-US" sz="1275">
                <a:solidFill>
                  <a:srgbClr val="2C3E50"/>
                </a:solidFill>
                <a:latin typeface="Microsoft YaHei"/>
                <a:ea typeface="Microsoft YaHei"/>
              </a:rPr>
              <a:t> 50mg/</a:t>
            </a:r>
            <a:r>
              <a:rPr lang="zh-CN" sz="1275">
                <a:solidFill>
                  <a:srgbClr val="2C3E50"/>
                </a:solidFill>
                <a:latin typeface="Microsoft YaHei"/>
                <a:ea typeface="Microsoft YaHei"/>
              </a:rPr>
              <a:t>日，血小板稳定</a:t>
            </a:r>
            <a:r>
              <a:rPr lang="en-US" sz="1275">
                <a:solidFill>
                  <a:srgbClr val="2C3E50"/>
                </a:solidFill>
                <a:latin typeface="Microsoft YaHei"/>
                <a:ea typeface="Microsoft YaHei"/>
              </a:rPr>
              <a:t> 90—150</a:t>
            </a:r>
            <a:r>
              <a:rPr lang="zh-CN" sz="1275">
                <a:solidFill>
                  <a:srgbClr val="2C3E50"/>
                </a:solidFill>
                <a:latin typeface="Microsoft YaHei"/>
                <a:ea typeface="Microsoft YaHei"/>
              </a:rPr>
              <a:t>；期间监测肝功能正常；未发生血栓；若血小板</a:t>
            </a:r>
            <a:r>
              <a:rPr lang="en-US" sz="1275">
                <a:solidFill>
                  <a:srgbClr val="2C3E50"/>
                </a:solidFill>
                <a:latin typeface="Microsoft YaHei"/>
                <a:ea typeface="Microsoft YaHei"/>
              </a:rPr>
              <a:t> &gt;400 </a:t>
            </a:r>
            <a:r>
              <a:rPr lang="zh-CN" sz="1275">
                <a:solidFill>
                  <a:srgbClr val="2C3E50"/>
                </a:solidFill>
                <a:latin typeface="Microsoft YaHei"/>
                <a:ea typeface="Microsoft YaHei"/>
              </a:rPr>
              <a:t>将减量</a:t>
            </a:r>
            <a:r>
              <a:rPr lang="en-US" sz="1275">
                <a:solidFill>
                  <a:srgbClr val="2C3E50"/>
                </a:solidFill>
                <a:latin typeface="Microsoft YaHei"/>
                <a:ea typeface="Microsoft YaHei"/>
              </a:rPr>
              <a:t>/</a:t>
            </a:r>
            <a:r>
              <a:rPr lang="zh-CN" sz="1275">
                <a:solidFill>
                  <a:srgbClr val="2C3E50"/>
                </a:solidFill>
                <a:latin typeface="Microsoft YaHei"/>
                <a:ea typeface="Microsoft YaHei"/>
              </a:rPr>
              <a:t>暂停——个体化“目标区间管理”而非追求正常计数。</a:t>
            </a:r>
            <a:endParaRPr/>
          </a:p>
        </p:txBody>
      </p:sp>
      <p:sp>
        <p:nvSpPr>
          <p:cNvPr id="1558"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59"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经验要点</a:t>
            </a:r>
            <a:endParaRPr/>
          </a:p>
        </p:txBody>
      </p:sp>
      <p:sp>
        <p:nvSpPr>
          <p:cNvPr id="1560" name="" descr="{&quot;isTemplate&quot;:true,&quot;type&quot;:&quot;text&quot;}"/>
          <p:cNvSpPr txBox="1"/>
          <p:nvPr/>
        </p:nvSpPr>
        <p:spPr>
          <a:xfrm rot="0" flipH="0" flipV="0">
            <a:off x="6419850" y="29241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①二线选择是“共同决策”，需交代三方案利弊（</a:t>
            </a:r>
            <a:r>
              <a:rPr lang="en-US" sz="1275">
                <a:solidFill>
                  <a:srgbClr val="2C3E50"/>
                </a:solidFill>
                <a:latin typeface="Microsoft YaHei"/>
                <a:ea typeface="Microsoft YaHei"/>
              </a:rPr>
              <a:t>ICR/ASH/</a:t>
            </a:r>
            <a:r>
              <a:rPr lang="zh-CN" sz="1275">
                <a:solidFill>
                  <a:srgbClr val="2C3E50"/>
                </a:solidFill>
                <a:latin typeface="Microsoft YaHei"/>
                <a:ea typeface="Microsoft YaHei"/>
              </a:rPr>
              <a:t>中国指南一致）；②</a:t>
            </a:r>
            <a:r>
              <a:rPr lang="en-US" sz="1275">
                <a:solidFill>
                  <a:srgbClr val="2C3E50"/>
                </a:solidFill>
                <a:latin typeface="Microsoft YaHei"/>
                <a:ea typeface="Microsoft YaHei"/>
              </a:rPr>
              <a:t>TPO-RA </a:t>
            </a:r>
            <a:r>
              <a:rPr lang="zh-CN" sz="1275">
                <a:solidFill>
                  <a:srgbClr val="2C3E50"/>
                </a:solidFill>
                <a:latin typeface="Microsoft YaHei"/>
                <a:ea typeface="Microsoft YaHei"/>
              </a:rPr>
              <a:t>起效与超调的动态监测频率（启动后</a:t>
            </a:r>
            <a:r>
              <a:rPr lang="en-US" sz="1275">
                <a:solidFill>
                  <a:srgbClr val="2C3E50"/>
                </a:solidFill>
                <a:latin typeface="Microsoft YaHei"/>
                <a:ea typeface="Microsoft YaHei"/>
              </a:rPr>
              <a:t> 1—2 </a:t>
            </a:r>
            <a:r>
              <a:rPr lang="zh-CN" sz="1275">
                <a:solidFill>
                  <a:srgbClr val="2C3E50"/>
                </a:solidFill>
                <a:latin typeface="Microsoft YaHei"/>
                <a:ea typeface="Microsoft YaHei"/>
              </a:rPr>
              <a:t>周复查）；③“以出血与生活质量为轴”，计数目标</a:t>
            </a:r>
            <a:r>
              <a:rPr lang="en-US" sz="1275">
                <a:solidFill>
                  <a:srgbClr val="2C3E50"/>
                </a:solidFill>
                <a:latin typeface="Microsoft YaHei"/>
                <a:ea typeface="Microsoft YaHei"/>
              </a:rPr>
              <a:t> ≥30—50 </a:t>
            </a:r>
            <a:r>
              <a:rPr lang="zh-CN" sz="1275">
                <a:solidFill>
                  <a:srgbClr val="2C3E50"/>
                </a:solidFill>
                <a:latin typeface="Microsoft YaHei"/>
                <a:ea typeface="Microsoft YaHei"/>
              </a:rPr>
              <a:t>即可防严重出血。</a:t>
            </a:r>
            <a:endParaRPr/>
          </a:p>
        </p:txBody>
      </p:sp>
      <p:sp>
        <p:nvSpPr>
          <p:cNvPr id="1561"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62"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563"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564"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65" name="" descr="{&quot;isTemplate&quot;:true,&quot;type&quot;:&quot;text&quot;}"/>
          <p:cNvSpPr txBox="1"/>
          <p:nvPr/>
        </p:nvSpPr>
        <p:spPr>
          <a:xfrm rot="0" flipH="0" flipV="0">
            <a:off x="641985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把</a:t>
            </a:r>
            <a:r>
              <a:rPr lang="en-US" sz="1275">
                <a:solidFill>
                  <a:srgbClr val="2C3E50"/>
                </a:solidFill>
                <a:latin typeface="Microsoft YaHei"/>
                <a:ea typeface="Microsoft YaHei"/>
              </a:rPr>
              <a:t> RCT </a:t>
            </a:r>
            <a:r>
              <a:rPr lang="zh-CN" sz="1275">
                <a:solidFill>
                  <a:srgbClr val="2C3E50"/>
                </a:solidFill>
                <a:latin typeface="Microsoft YaHei"/>
                <a:ea typeface="Microsoft YaHei"/>
              </a:rPr>
              <a:t>的“应答终点”翻译成患者的“出血</a:t>
            </a:r>
            <a:r>
              <a:rPr lang="en-US" sz="1275">
                <a:solidFill>
                  <a:srgbClr val="2C3E50"/>
                </a:solidFill>
                <a:latin typeface="Microsoft YaHei"/>
                <a:ea typeface="Microsoft YaHei"/>
              </a:rPr>
              <a:t>-</a:t>
            </a:r>
            <a:r>
              <a:rPr lang="zh-CN" sz="1275">
                <a:solidFill>
                  <a:srgbClr val="2C3E50"/>
                </a:solidFill>
                <a:latin typeface="Microsoft YaHei"/>
                <a:ea typeface="Microsoft YaHei"/>
              </a:rPr>
              <a:t>生活质量”收益，是二线治疗的核心功课。</a:t>
            </a:r>
            <a:endParaRPr/>
          </a:p>
        </p:txBody>
      </p:sp>
      <p:sp>
        <p:nvSpPr>
          <p:cNvPr id="156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56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Lancet 2011;377:393-402 (PMID 20739054)</a:t>
            </a:r>
            <a:endParaRPr/>
          </a:p>
        </p:txBody>
      </p:sp>
      <p:sp>
        <p:nvSpPr>
          <p:cNvPr id="1568" name=""/>
          <p:cNvSpPr/>
          <p:nvPr/>
        </p:nvSpPr>
        <p:spPr>
          <a:xfrm rot="0" flipH="0" flipV="0">
            <a:off x="0" y="6324600"/>
            <a:ext cx="12192000" cy="342900"/>
          </a:xfrm>
          <a:prstGeom prst="rect">
            <a:avLst/>
          </a:prstGeom>
          <a:solidFill>
            <a:srgbClr val="F7F9FC"/>
          </a:solidFill>
          <a:ln/>
        </p:spPr>
        <p:txBody>
          <a:bodyPr/>
          <a:p/>
        </p:txBody>
      </p:sp>
      <p:sp>
        <p:nvSpPr>
          <p:cNvPr id="156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57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69.xml><?xml version="1.0" encoding="utf-8"?>
<p:sld xmlns:p="http://schemas.openxmlformats.org/presentationml/2006/main" xmlns:a="http://schemas.openxmlformats.org/drawingml/2006/main">
  <p:cSld>
    <p:spTree>
      <p:nvGrpSpPr>
        <p:cNvPr id="1571" name="" descr="&lt;Slide notes={`演讲者备注：【BOLLIGER-TEG】血栓弹力图（TEG）原理与应用综述：MA 等参数反映血小板-纤维蛋白共同作用形成的血块强度，可用于围术期/创伤的目标导向输血。证据：Transfus Med Rev 2012;26:1-13，PMID 21872428。&#13;&#10;【EACTS-PBM】EACTS/EACTA 心脏手术患者血液管理指南（2017 版）：CPB 相关血小板功能障碍是出血重要因素，推荐围术期血小板功能与 VET 监测导向个体化止血治疗。证据：J Cardiothorac Vasc Anesth 2018;32:88-120，PMID 29029100。&#13;&#10;讲解提示：强调“先定位再输注”的成本收益——一次 VET 避免了一次无效的二次开胸与盲目输注；同时示范血小板输注剂量与再评估节点（输后 15—30min 复查 MA）。`}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一章 案例分享&lt;/Text&gt;&#13;&#10;      &lt;Box style={{ width: 1, height: 24, background: '#3D7BD9' }} /&gt;&#13;&#10;      &lt;Text style={{ fontSize: 16, color: '#C7D6EC' }}&gt;案例 4：CPB 术后渗血——计数正常≠功能正常&lt;/Text&gt;&#13;&#10;    &lt;/Box&gt;&#13;&#10;    &lt;Text style={{ position: 'absolute', right: 64, top: 24, fontSize: 15, color: '#9DB8E0' }}&gt;69 / 77&lt;/Text&gt;&#13;&#10;  &lt;/Box&gt;&#13;&#10;  &lt;Box style={{ position: 'absolute', left: 64, top: 96, width: 562, height: 128, background: '#F0F5FC', borderRadius: 12, border: '1px solid #E5E7EB', padding: 20 }}&gt;&#13;&#10;&lt;Text style={{ fontSize: 19, color: '#0E3F8C', fontWeight: 'bold', textAlign: 'left', lineHeight: 1.5 }}&gt;病情概要&lt;/Text&gt;&#13;&#10;&lt;Text style={{ fontSize: 17, color: '#2C3E50', textAlign: 'left', lineHeight: 1.62 }}&gt;68 岁男性 CABG+瓣膜术后 2h 引流增多（450ml/h），血小板 92×10^9/L（“不低”）、PT/APTT 接近正常、纤维蛋白原 2.4g/L；常规“凝血四项正常”让团队犹豫是否开胸探查。&lt;/Text&gt;&#13;&#10;  &lt;/Box&gt;&#13;&#10;  &lt;Box style={{ position: 'absolute', left: 654, top: 96, width: 562, height: 128, background: '#F0F5FC', borderRadius: 12, border: '1px solid #E5E7EB', padding: 20 }}&gt;&#13;&#10;&lt;Text style={{ fontSize: 19, color: '#0E3F8C', fontWeight: 'bold', textAlign: 'left', lineHeight: 1.5 }}&gt;细节推演&lt;/Text&gt;&#13;&#10;&lt;Text style={{ fontSize: 17, color: '#2C3E50', textAlign: 'left', lineHeight: 1.62 }}&gt;VET（TEG）示 MA 显著降低（41mm，参考 50—70）而 ROTEM FIBTEM 正常→定位“血小板端贡献不足”；追问用药：术前氯吡格雷仅停 4 天+CPB 本身功能损伤。输注单采血小板 1 单位后 MA 回升至 55，引流 2h 内减至 80ml/h，避免二次开胸。&lt;/Text&gt;&#13;&#10;  &lt;/Box&gt;&#13;&#10;  &lt;Box style={{ position: 'absolute', left: 64, top: 252, width: 562, height: 128, background: '#F0F5FC', borderRadius: 12, border: '1px solid #E5E7EB', padding: 20 }}&gt;&#13;&#10;&lt;Text style={{ fontSize: 19, color: '#0E3F8C', fontWeight: 'bold', textAlign: 'left', lineHeight: 1.5 }}&gt;经验要点&lt;/Text&gt;&#13;&#10;&lt;Text style={{ fontSize: 17, color: '#2C3E50', textAlign: 'left', lineHeight: 1.62 }}&gt;①CPB 后“血小板计数可+功能差”是常态：决策要用 MA/A10 而非只看计数；②“凝血四项正常”不能排除血小板问题（第六章逻辑）；③停药时间不足+CPB 双重打击需按目标值补足（EACTS 指南）。&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当“数字”与“出血”打架时，功能/整合检测是裁判。&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Transfus Med Rev 2012;26:1-13 (PMID 21872428)&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572" name=""/>
          <p:cNvSpPr/>
          <p:nvPr/>
        </p:nvSpPr>
        <p:spPr>
          <a:xfrm rot="0" flipH="0" flipV="0">
            <a:off x="0" y="0"/>
            <a:ext cx="12192000" cy="6858000"/>
          </a:xfrm>
          <a:prstGeom prst="rect">
            <a:avLst/>
          </a:prstGeom>
          <a:solidFill>
            <a:srgbClr val="FFFFFF"/>
          </a:solidFill>
          <a:ln/>
        </p:spPr>
        <p:txBody>
          <a:bodyPr/>
          <a:p/>
        </p:txBody>
      </p:sp>
      <p:sp>
        <p:nvSpPr>
          <p:cNvPr id="1573" name=""/>
          <p:cNvSpPr/>
          <p:nvPr/>
        </p:nvSpPr>
        <p:spPr>
          <a:xfrm rot="0" flipH="0" flipV="0">
            <a:off x="0" y="0"/>
            <a:ext cx="12192000" cy="685800"/>
          </a:xfrm>
          <a:prstGeom prst="rect">
            <a:avLst/>
          </a:prstGeom>
          <a:solidFill>
            <a:srgbClr val="0E3F8C"/>
          </a:solidFill>
          <a:ln/>
        </p:spPr>
        <p:txBody>
          <a:bodyPr/>
          <a:p/>
        </p:txBody>
      </p:sp>
      <p:sp>
        <p:nvSpPr>
          <p:cNvPr id="1574" name="" descr="{&quot;isTemplate&quot;:true,&quot;type&quot;:&quot;text&quot;}"/>
          <p:cNvSpPr txBox="1"/>
          <p:nvPr/>
        </p:nvSpPr>
        <p:spPr>
          <a:xfrm rot="0" flipH="0" flipV="0">
            <a:off x="609600" y="219075"/>
            <a:ext cx="1428750" cy="209550"/>
          </a:xfrm>
          <a:prstGeom prst="rect"/>
        </p:spPr>
        <p:txBody>
          <a:bodyPr wrap="none" lIns="0" tIns="0" rIns="0" bIns="0"/>
          <a:p>
            <a:pPr>
              <a:lnSpc>
                <a:spcPct val="100000"/>
              </a:lnSpc>
            </a:pPr>
            <a:r>
              <a:rPr lang="zh-CN" sz="1350" b="1">
                <a:solidFill>
                  <a:srgbClr val="FFFFFF"/>
                </a:solidFill>
                <a:latin typeface="Microsoft YaHei"/>
                <a:ea typeface="Microsoft YaHei"/>
              </a:rPr>
              <a:t>第十一章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案例分享</a:t>
            </a:r>
            <a:endParaRPr/>
          </a:p>
        </p:txBody>
      </p:sp>
      <p:sp>
        <p:nvSpPr>
          <p:cNvPr id="1575" name=""/>
          <p:cNvSpPr/>
          <p:nvPr/>
        </p:nvSpPr>
        <p:spPr>
          <a:xfrm rot="0" flipH="0" flipV="0">
            <a:off x="2190750" y="209550"/>
            <a:ext cx="9525" cy="228600"/>
          </a:xfrm>
          <a:prstGeom prst="rect">
            <a:avLst/>
          </a:prstGeom>
          <a:solidFill>
            <a:srgbClr val="3D7BD9"/>
          </a:solidFill>
          <a:ln/>
        </p:spPr>
        <p:txBody>
          <a:bodyPr/>
          <a:p/>
        </p:txBody>
      </p:sp>
      <p:sp>
        <p:nvSpPr>
          <p:cNvPr id="1576" name="" descr="{&quot;isTemplate&quot;:true,&quot;type&quot;:&quot;text&quot;}"/>
          <p:cNvSpPr txBox="1"/>
          <p:nvPr/>
        </p:nvSpPr>
        <p:spPr>
          <a:xfrm rot="0" flipH="0" flipV="0">
            <a:off x="2352675" y="228600"/>
            <a:ext cx="3200400" cy="190500"/>
          </a:xfrm>
          <a:prstGeom prst="rect"/>
        </p:spPr>
        <p:txBody>
          <a:bodyPr wrap="none" lIns="0" tIns="0" rIns="0" bIns="0"/>
          <a:p>
            <a:pPr>
              <a:lnSpc>
                <a:spcPct val="100000"/>
              </a:lnSpc>
            </a:pPr>
            <a:r>
              <a:rPr lang="zh-CN" sz="1200">
                <a:solidFill>
                  <a:srgbClr val="C7D6EC"/>
                </a:solidFill>
                <a:latin typeface="Microsoft YaHei"/>
                <a:ea typeface="Microsoft YaHei"/>
              </a:rPr>
              <a:t>案例</a:t>
            </a:r>
            <a:r>
              <a:rPr lang="en-US" sz="1200">
                <a:solidFill>
                  <a:srgbClr val="C7D6EC"/>
                </a:solidFill>
                <a:latin typeface="Microsoft YaHei"/>
                <a:ea typeface="Microsoft YaHei"/>
              </a:rPr>
              <a:t> 4</a:t>
            </a:r>
            <a:r>
              <a:rPr lang="zh-CN" sz="1200">
                <a:solidFill>
                  <a:srgbClr val="C7D6EC"/>
                </a:solidFill>
                <a:latin typeface="Microsoft YaHei"/>
                <a:ea typeface="Microsoft YaHei"/>
              </a:rPr>
              <a:t>：</a:t>
            </a:r>
            <a:r>
              <a:rPr lang="en-US" sz="1200">
                <a:solidFill>
                  <a:srgbClr val="C7D6EC"/>
                </a:solidFill>
                <a:latin typeface="Microsoft YaHei"/>
                <a:ea typeface="Microsoft YaHei"/>
              </a:rPr>
              <a:t>CPB </a:t>
            </a:r>
            <a:r>
              <a:rPr lang="zh-CN" sz="1200">
                <a:solidFill>
                  <a:srgbClr val="C7D6EC"/>
                </a:solidFill>
                <a:latin typeface="Microsoft YaHei"/>
                <a:ea typeface="Microsoft YaHei"/>
              </a:rPr>
              <a:t>术后渗血——计数正常≠功能正常</a:t>
            </a:r>
            <a:endParaRPr/>
          </a:p>
        </p:txBody>
      </p:sp>
      <p:sp>
        <p:nvSpPr>
          <p:cNvPr id="157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69 / 77</a:t>
            </a:r>
            <a:endParaRPr/>
          </a:p>
        </p:txBody>
      </p:sp>
      <p:sp>
        <p:nvSpPr>
          <p:cNvPr id="157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7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病情概要</a:t>
            </a:r>
            <a:endParaRPr/>
          </a:p>
        </p:txBody>
      </p:sp>
      <p:sp>
        <p:nvSpPr>
          <p:cNvPr id="1580"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68 </a:t>
            </a:r>
            <a:r>
              <a:rPr lang="zh-CN" sz="1275">
                <a:solidFill>
                  <a:srgbClr val="2C3E50"/>
                </a:solidFill>
                <a:latin typeface="Microsoft YaHei"/>
                <a:ea typeface="Microsoft YaHei"/>
              </a:rPr>
              <a:t>岁男性</a:t>
            </a:r>
            <a:r>
              <a:rPr lang="en-US" sz="1275">
                <a:solidFill>
                  <a:srgbClr val="2C3E50"/>
                </a:solidFill>
                <a:latin typeface="Microsoft YaHei"/>
                <a:ea typeface="Microsoft YaHei"/>
              </a:rPr>
              <a:t> CABG+</a:t>
            </a:r>
            <a:r>
              <a:rPr lang="zh-CN" sz="1275">
                <a:solidFill>
                  <a:srgbClr val="2C3E50"/>
                </a:solidFill>
                <a:latin typeface="Microsoft YaHei"/>
                <a:ea typeface="Microsoft YaHei"/>
              </a:rPr>
              <a:t>瓣膜术后</a:t>
            </a:r>
            <a:r>
              <a:rPr lang="en-US" sz="1275">
                <a:solidFill>
                  <a:srgbClr val="2C3E50"/>
                </a:solidFill>
                <a:latin typeface="Microsoft YaHei"/>
                <a:ea typeface="Microsoft YaHei"/>
              </a:rPr>
              <a:t> 2h </a:t>
            </a:r>
            <a:r>
              <a:rPr lang="zh-CN" sz="1275">
                <a:solidFill>
                  <a:srgbClr val="2C3E50"/>
                </a:solidFill>
                <a:latin typeface="Microsoft YaHei"/>
                <a:ea typeface="Microsoft YaHei"/>
              </a:rPr>
              <a:t>引流增多（</a:t>
            </a:r>
            <a:r>
              <a:rPr lang="en-US" sz="1275">
                <a:solidFill>
                  <a:srgbClr val="2C3E50"/>
                </a:solidFill>
                <a:latin typeface="Microsoft YaHei"/>
                <a:ea typeface="Microsoft YaHei"/>
              </a:rPr>
              <a:t>450ml/h</a:t>
            </a:r>
            <a:r>
              <a:rPr lang="zh-CN" sz="1275">
                <a:solidFill>
                  <a:srgbClr val="2C3E50"/>
                </a:solidFill>
                <a:latin typeface="Microsoft YaHei"/>
                <a:ea typeface="Microsoft YaHei"/>
              </a:rPr>
              <a:t>），血小板</a:t>
            </a:r>
            <a:r>
              <a:rPr lang="en-US" sz="1275">
                <a:solidFill>
                  <a:srgbClr val="2C3E50"/>
                </a:solidFill>
                <a:latin typeface="Microsoft YaHei"/>
                <a:ea typeface="Microsoft YaHei"/>
              </a:rPr>
              <a:t> 92×10^9/L</a:t>
            </a:r>
            <a:r>
              <a:rPr lang="zh-CN" sz="1275">
                <a:solidFill>
                  <a:srgbClr val="2C3E50"/>
                </a:solidFill>
                <a:latin typeface="Microsoft YaHei"/>
                <a:ea typeface="Microsoft YaHei"/>
              </a:rPr>
              <a:t>（“不低”）、</a:t>
            </a:r>
            <a:r>
              <a:rPr lang="en-US" sz="1275">
                <a:solidFill>
                  <a:srgbClr val="2C3E50"/>
                </a:solidFill>
                <a:latin typeface="Microsoft YaHei"/>
                <a:ea typeface="Microsoft YaHei"/>
              </a:rPr>
              <a:t>PT/APTT </a:t>
            </a:r>
            <a:r>
              <a:rPr lang="zh-CN" sz="1275">
                <a:solidFill>
                  <a:srgbClr val="2C3E50"/>
                </a:solidFill>
                <a:latin typeface="Microsoft YaHei"/>
                <a:ea typeface="Microsoft YaHei"/>
              </a:rPr>
              <a:t>接近正常、纤维蛋白原</a:t>
            </a:r>
            <a:r>
              <a:rPr lang="en-US" sz="1275">
                <a:solidFill>
                  <a:srgbClr val="2C3E50"/>
                </a:solidFill>
                <a:latin typeface="Microsoft YaHei"/>
                <a:ea typeface="Microsoft YaHei"/>
              </a:rPr>
              <a:t> 2.4g/L</a:t>
            </a:r>
            <a:r>
              <a:rPr lang="zh-CN" sz="1275">
                <a:solidFill>
                  <a:srgbClr val="2C3E50"/>
                </a:solidFill>
                <a:latin typeface="Microsoft YaHei"/>
                <a:ea typeface="Microsoft YaHei"/>
              </a:rPr>
              <a:t>；常规“凝血四项正常”让团队犹豫是否开胸探查。</a:t>
            </a:r>
            <a:endParaRPr/>
          </a:p>
        </p:txBody>
      </p:sp>
      <p:sp>
        <p:nvSpPr>
          <p:cNvPr id="158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8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细节推演</a:t>
            </a:r>
            <a:endParaRPr/>
          </a:p>
        </p:txBody>
      </p:sp>
      <p:sp>
        <p:nvSpPr>
          <p:cNvPr id="1583"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VET</a:t>
            </a:r>
            <a:r>
              <a:rPr lang="zh-CN" sz="1275">
                <a:solidFill>
                  <a:srgbClr val="2C3E50"/>
                </a:solidFill>
                <a:latin typeface="Microsoft YaHei"/>
                <a:ea typeface="Microsoft YaHei"/>
              </a:rPr>
              <a:t>（</a:t>
            </a:r>
            <a:r>
              <a:rPr lang="en-US" sz="1275">
                <a:solidFill>
                  <a:srgbClr val="2C3E50"/>
                </a:solidFill>
                <a:latin typeface="Microsoft YaHei"/>
                <a:ea typeface="Microsoft YaHei"/>
              </a:rPr>
              <a:t>TEG</a:t>
            </a:r>
            <a:r>
              <a:rPr lang="zh-CN" sz="1275">
                <a:solidFill>
                  <a:srgbClr val="2C3E50"/>
                </a:solidFill>
                <a:latin typeface="Microsoft YaHei"/>
                <a:ea typeface="Microsoft YaHei"/>
              </a:rPr>
              <a:t>）示</a:t>
            </a:r>
            <a:r>
              <a:rPr lang="en-US" sz="1275">
                <a:solidFill>
                  <a:srgbClr val="2C3E50"/>
                </a:solidFill>
                <a:latin typeface="Microsoft YaHei"/>
                <a:ea typeface="Microsoft YaHei"/>
              </a:rPr>
              <a:t> MA </a:t>
            </a:r>
            <a:r>
              <a:rPr lang="zh-CN" sz="1275">
                <a:solidFill>
                  <a:srgbClr val="2C3E50"/>
                </a:solidFill>
                <a:latin typeface="Microsoft YaHei"/>
                <a:ea typeface="Microsoft YaHei"/>
              </a:rPr>
              <a:t>显著降低（</a:t>
            </a:r>
            <a:r>
              <a:rPr lang="en-US" sz="1275">
                <a:solidFill>
                  <a:srgbClr val="2C3E50"/>
                </a:solidFill>
                <a:latin typeface="Microsoft YaHei"/>
                <a:ea typeface="Microsoft YaHei"/>
              </a:rPr>
              <a:t>41mm</a:t>
            </a:r>
            <a:r>
              <a:rPr lang="zh-CN" sz="1275">
                <a:solidFill>
                  <a:srgbClr val="2C3E50"/>
                </a:solidFill>
                <a:latin typeface="Microsoft YaHei"/>
                <a:ea typeface="Microsoft YaHei"/>
              </a:rPr>
              <a:t>，参考</a:t>
            </a:r>
            <a:r>
              <a:rPr lang="en-US" sz="1275">
                <a:solidFill>
                  <a:srgbClr val="2C3E50"/>
                </a:solidFill>
                <a:latin typeface="Microsoft YaHei"/>
                <a:ea typeface="Microsoft YaHei"/>
              </a:rPr>
              <a:t> 50—70</a:t>
            </a:r>
            <a:r>
              <a:rPr lang="zh-CN" sz="1275">
                <a:solidFill>
                  <a:srgbClr val="2C3E50"/>
                </a:solidFill>
                <a:latin typeface="Microsoft YaHei"/>
                <a:ea typeface="Microsoft YaHei"/>
              </a:rPr>
              <a:t>）而</a:t>
            </a:r>
            <a:r>
              <a:rPr lang="en-US" sz="1275">
                <a:solidFill>
                  <a:srgbClr val="2C3E50"/>
                </a:solidFill>
                <a:latin typeface="Microsoft YaHei"/>
                <a:ea typeface="Microsoft YaHei"/>
              </a:rPr>
              <a:t> ROTEM FIBTEM </a:t>
            </a:r>
            <a:r>
              <a:rPr lang="zh-CN" sz="1275">
                <a:solidFill>
                  <a:srgbClr val="2C3E50"/>
                </a:solidFill>
                <a:latin typeface="Microsoft YaHei"/>
                <a:ea typeface="Microsoft YaHei"/>
              </a:rPr>
              <a:t>正常→定位“血小板端贡献不足”；追问用药：术前氯吡格雷仅停</a:t>
            </a:r>
            <a:r>
              <a:rPr lang="en-US" sz="1275">
                <a:solidFill>
                  <a:srgbClr val="2C3E50"/>
                </a:solidFill>
                <a:latin typeface="Microsoft YaHei"/>
                <a:ea typeface="Microsoft YaHei"/>
              </a:rPr>
              <a:t> 4 </a:t>
            </a:r>
            <a:r>
              <a:rPr lang="zh-CN" sz="1275">
                <a:solidFill>
                  <a:srgbClr val="2C3E50"/>
                </a:solidFill>
                <a:latin typeface="Microsoft YaHei"/>
                <a:ea typeface="Microsoft YaHei"/>
              </a:rPr>
              <a:t>天</a:t>
            </a:r>
            <a:r>
              <a:rPr lang="en-US" sz="1275">
                <a:solidFill>
                  <a:srgbClr val="2C3E50"/>
                </a:solidFill>
                <a:latin typeface="Microsoft YaHei"/>
                <a:ea typeface="Microsoft YaHei"/>
              </a:rPr>
              <a:t>+CPB </a:t>
            </a:r>
            <a:r>
              <a:rPr lang="zh-CN" sz="1275">
                <a:solidFill>
                  <a:srgbClr val="2C3E50"/>
                </a:solidFill>
                <a:latin typeface="Microsoft YaHei"/>
                <a:ea typeface="Microsoft YaHei"/>
              </a:rPr>
              <a:t>本身功能损伤。输注单采血小板</a:t>
            </a:r>
            <a:r>
              <a:rPr lang="en-US" sz="1275">
                <a:solidFill>
                  <a:srgbClr val="2C3E50"/>
                </a:solidFill>
                <a:latin typeface="Microsoft YaHei"/>
                <a:ea typeface="Microsoft YaHei"/>
              </a:rPr>
              <a:t> 1 </a:t>
            </a:r>
            <a:r>
              <a:rPr lang="zh-CN" sz="1275">
                <a:solidFill>
                  <a:srgbClr val="2C3E50"/>
                </a:solidFill>
                <a:latin typeface="Microsoft YaHei"/>
                <a:ea typeface="Microsoft YaHei"/>
              </a:rPr>
              <a:t>单位后</a:t>
            </a:r>
            <a:r>
              <a:rPr lang="en-US" sz="1275">
                <a:solidFill>
                  <a:srgbClr val="2C3E50"/>
                </a:solidFill>
                <a:latin typeface="Microsoft YaHei"/>
                <a:ea typeface="Microsoft YaHei"/>
              </a:rPr>
              <a:t> MA </a:t>
            </a:r>
            <a:r>
              <a:rPr lang="zh-CN" sz="1275">
                <a:solidFill>
                  <a:srgbClr val="2C3E50"/>
                </a:solidFill>
                <a:latin typeface="Microsoft YaHei"/>
                <a:ea typeface="Microsoft YaHei"/>
              </a:rPr>
              <a:t>回升至</a:t>
            </a:r>
            <a:r>
              <a:rPr lang="en-US" sz="1275">
                <a:solidFill>
                  <a:srgbClr val="2C3E50"/>
                </a:solidFill>
                <a:latin typeface="Microsoft YaHei"/>
                <a:ea typeface="Microsoft YaHei"/>
              </a:rPr>
              <a:t> 55</a:t>
            </a:r>
            <a:r>
              <a:rPr lang="zh-CN" sz="1275">
                <a:solidFill>
                  <a:srgbClr val="2C3E50"/>
                </a:solidFill>
                <a:latin typeface="Microsoft YaHei"/>
                <a:ea typeface="Microsoft YaHei"/>
              </a:rPr>
              <a:t>，引流</a:t>
            </a:r>
            <a:r>
              <a:rPr lang="en-US" sz="1275">
                <a:solidFill>
                  <a:srgbClr val="2C3E50"/>
                </a:solidFill>
                <a:latin typeface="Microsoft YaHei"/>
                <a:ea typeface="Microsoft YaHei"/>
              </a:rPr>
              <a:t> 2h </a:t>
            </a:r>
            <a:r>
              <a:rPr lang="zh-CN" sz="1275">
                <a:solidFill>
                  <a:srgbClr val="2C3E50"/>
                </a:solidFill>
                <a:latin typeface="Microsoft YaHei"/>
                <a:ea typeface="Microsoft YaHei"/>
              </a:rPr>
              <a:t>内减至</a:t>
            </a:r>
            <a:r>
              <a:rPr lang="en-US" sz="1275">
                <a:solidFill>
                  <a:srgbClr val="2C3E50"/>
                </a:solidFill>
                <a:latin typeface="Microsoft YaHei"/>
                <a:ea typeface="Microsoft YaHei"/>
              </a:rPr>
              <a:t> 80ml/h</a:t>
            </a:r>
            <a:r>
              <a:rPr lang="zh-CN" sz="1275">
                <a:solidFill>
                  <a:srgbClr val="2C3E50"/>
                </a:solidFill>
                <a:latin typeface="Microsoft YaHei"/>
                <a:ea typeface="Microsoft YaHei"/>
              </a:rPr>
              <a:t>，避免二次开胸。</a:t>
            </a:r>
            <a:endParaRPr/>
          </a:p>
        </p:txBody>
      </p:sp>
      <p:sp>
        <p:nvSpPr>
          <p:cNvPr id="158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8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经验要点</a:t>
            </a:r>
            <a:endParaRPr/>
          </a:p>
        </p:txBody>
      </p:sp>
      <p:sp>
        <p:nvSpPr>
          <p:cNvPr id="1586" name="" descr="{&quot;isTemplate&quot;:true,&quot;type&quot;:&quot;text&quot;}"/>
          <p:cNvSpPr txBox="1"/>
          <p:nvPr/>
        </p:nvSpPr>
        <p:spPr>
          <a:xfrm rot="0" flipH="0" flipV="0">
            <a:off x="800100" y="2924175"/>
            <a:ext cx="4972050" cy="1266825"/>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①CPB </a:t>
            </a:r>
            <a:r>
              <a:rPr lang="zh-CN" sz="1275">
                <a:solidFill>
                  <a:srgbClr val="2C3E50"/>
                </a:solidFill>
                <a:latin typeface="Microsoft YaHei"/>
                <a:ea typeface="Microsoft YaHei"/>
              </a:rPr>
              <a:t>后“血小板计数可</a:t>
            </a:r>
            <a:r>
              <a:rPr lang="en-US" sz="1275">
                <a:solidFill>
                  <a:srgbClr val="2C3E50"/>
                </a:solidFill>
                <a:latin typeface="Microsoft YaHei"/>
                <a:ea typeface="Microsoft YaHei"/>
              </a:rPr>
              <a:t>+</a:t>
            </a:r>
            <a:r>
              <a:rPr lang="zh-CN" sz="1275">
                <a:solidFill>
                  <a:srgbClr val="2C3E50"/>
                </a:solidFill>
                <a:latin typeface="Microsoft YaHei"/>
                <a:ea typeface="Microsoft YaHei"/>
              </a:rPr>
              <a:t>功能差”是常态：决策要用</a:t>
            </a:r>
            <a:r>
              <a:rPr lang="en-US" sz="1275">
                <a:solidFill>
                  <a:srgbClr val="2C3E50"/>
                </a:solidFill>
                <a:latin typeface="Microsoft YaHei"/>
                <a:ea typeface="Microsoft YaHei"/>
              </a:rPr>
              <a:t> MA/A10 </a:t>
            </a:r>
            <a:r>
              <a:rPr lang="zh-CN" sz="1275">
                <a:solidFill>
                  <a:srgbClr val="2C3E50"/>
                </a:solidFill>
                <a:latin typeface="Microsoft YaHei"/>
                <a:ea typeface="Microsoft YaHei"/>
              </a:rPr>
              <a:t>而非只看计数；②“凝血四项正常”不能排除血小板问题（第六章逻辑）；③停药时间不足</a:t>
            </a:r>
            <a:r>
              <a:rPr lang="en-US" sz="1275">
                <a:solidFill>
                  <a:srgbClr val="2C3E50"/>
                </a:solidFill>
                <a:latin typeface="Microsoft YaHei"/>
                <a:ea typeface="Microsoft YaHei"/>
              </a:rPr>
              <a:t>+CPB </a:t>
            </a:r>
            <a:r>
              <a:rPr lang="zh-CN" sz="1275">
                <a:solidFill>
                  <a:srgbClr val="2C3E50"/>
                </a:solidFill>
                <a:latin typeface="Microsoft YaHei"/>
                <a:ea typeface="Microsoft YaHei"/>
              </a:rPr>
              <a:t>双重打击需按目标值补足（</a:t>
            </a:r>
            <a:r>
              <a:rPr lang="en-US" sz="1275">
                <a:solidFill>
                  <a:srgbClr val="2C3E50"/>
                </a:solidFill>
                <a:latin typeface="Microsoft YaHei"/>
                <a:ea typeface="Microsoft YaHei"/>
              </a:rPr>
              <a:t>EACTS </a:t>
            </a:r>
            <a:r>
              <a:rPr lang="zh-CN" sz="1275">
                <a:solidFill>
                  <a:srgbClr val="2C3E50"/>
                </a:solidFill>
                <a:latin typeface="Microsoft YaHei"/>
                <a:ea typeface="Microsoft YaHei"/>
              </a:rPr>
              <a:t>指南）。</a:t>
            </a:r>
            <a:endParaRPr/>
          </a:p>
        </p:txBody>
      </p:sp>
      <p:sp>
        <p:nvSpPr>
          <p:cNvPr id="158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8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58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59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591"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当“数字”与“出血”打架时，功能</a:t>
            </a:r>
            <a:r>
              <a:rPr lang="en-US" sz="1425" b="1">
                <a:solidFill>
                  <a:srgbClr val="0E3F8C"/>
                </a:solidFill>
                <a:latin typeface="Microsoft YaHei"/>
                <a:ea typeface="Microsoft YaHei"/>
              </a:rPr>
              <a:t>/</a:t>
            </a:r>
            <a:r>
              <a:rPr lang="zh-CN" sz="1425" b="1">
                <a:solidFill>
                  <a:srgbClr val="0E3F8C"/>
                </a:solidFill>
                <a:latin typeface="Microsoft YaHei"/>
                <a:ea typeface="Microsoft YaHei"/>
              </a:rPr>
              <a:t>整合检测是裁判。</a:t>
            </a:r>
            <a:endParaRPr/>
          </a:p>
        </p:txBody>
      </p:sp>
      <p:sp>
        <p:nvSpPr>
          <p:cNvPr id="1592"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59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59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Transfus Med Rev 2012;26:1-13 (PMID 21872428)</a:t>
            </a:r>
            <a:endParaRPr/>
          </a:p>
        </p:txBody>
      </p:sp>
      <p:sp>
        <p:nvSpPr>
          <p:cNvPr id="1595" name=""/>
          <p:cNvSpPr/>
          <p:nvPr/>
        </p:nvSpPr>
        <p:spPr>
          <a:xfrm rot="0" flipH="0" flipV="0">
            <a:off x="0" y="6324600"/>
            <a:ext cx="12192000" cy="342900"/>
          </a:xfrm>
          <a:prstGeom prst="rect">
            <a:avLst/>
          </a:prstGeom>
          <a:solidFill>
            <a:srgbClr val="F7F9FC"/>
          </a:solidFill>
          <a:ln/>
        </p:spPr>
        <p:txBody>
          <a:bodyPr/>
          <a:p/>
        </p:txBody>
      </p:sp>
      <p:sp>
        <p:nvSpPr>
          <p:cNvPr id="159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59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0.xml><?xml version="1.0" encoding="utf-8"?>
<p:sld xmlns:p="http://schemas.openxmlformats.org/presentationml/2006/main" xmlns:a="http://schemas.openxmlformats.org/drawingml/2006/main">
  <p:cSld>
    <p:spTree>
      <p:nvGrpSpPr>
        <p:cNvPr id="1624" name="" descr="&lt;Slide notes={`演讲者备注：【HOLCOMB-PROPPR】PROPPR：严重创伤大出血 1:1:1 与 1:1:2 输注相比，24h/30d 总死亡率无统计学差异，但 1:1:1 组止血更快、24h 内失血性死亡更低。证据：JAMA 2015;313:471-482，PMID 25647203。&#13;&#10;【EU-TRAUMA-6】欧洲创伤大出血与凝血病管理第 6 版指南（2023）：创伤出血期建议维持血小板计数&gt;50×10^9/L，多发性创伤/活动性出血或 TBI 患者目标更高（TBI≥100×10^9/L），推荐 VET 导向管理。证据：Crit Care 2023;27:80，PMID 36859355。&#13;&#10;讲解提示：强调与输血科/血库的沟通时点（预判 1:1:1 需求、TBI 目标上报），把“化验驱动”升级为“方案驱动”，减少反应性输血延误。`}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一章 案例分享&lt;/Text&gt;&#13;&#10;      &lt;Box style={{ width: 1, height: 24, background: '#3D7BD9' }} /&gt;&#13;&#10;      &lt;Text style={{ fontSize: 16, color: '#C7D6EC' }}&gt;案例 5：创伤复苏——血小板目标与 TBI 的特殊线&lt;/Text&gt;&#13;&#10;    &lt;/Box&gt;&#13;&#10;    &lt;Text style={{ position: 'absolute', right: 64, top: 24, fontSize: 15, color: '#9DB8E0' }}&gt;70 / 77&lt;/Text&gt;&#13;&#10;  &lt;/Box&gt;&#13;&#10;  &lt;Box style={{ position: 'absolute', left: 64, top: 96, width: 562, height: 128, background: '#F0F5FC', borderRadius: 12, border: '1px solid #E5E7EB', padding: 20 }}&gt;&#13;&#10;&lt;Text style={{ fontSize: 19, color: '#0E3F8C', fontWeight: 'bold', textAlign: 'left', lineHeight: 1.5 }}&gt;病情概要&lt;/Text&gt;&#13;&#10;&lt;Text style={{ fontSize: 17, color: '#2C3E50', textAlign: 'left', lineHeight: 1.62 }}&gt;34 岁男性车祸，ISS 38，颅脑外伤（GCS 6）+骨盆骨折+失血性休克，启动大量输血方案；初始血小板 210×10^9/L，2h 后因稀释+消耗降至 60。&lt;/Text&gt;&#13;&#10;  &lt;/Box&gt;&#13;&#10;  &lt;Box style={{ position: 'absolute', left: 654, top: 96, width: 562, height: 128, background: '#F0F5FC', borderRadius: 12, border: '1px solid #E5E7EB', padding: 20 }}&gt;&#13;&#10;&lt;Text style={{ fontSize: 19, color: '#0E3F8C', fontWeight: 'bold', textAlign: 'left', lineHeight: 1.5 }}&gt;细节推演&lt;/Text&gt;&#13;&#10;&lt;Text style={{ fontSize: 17, color: '#2C3E50', textAlign: 'left', lineHeight: 1.62 }}&gt;按 1:1:1 损伤控制复苏维持（血浆:血小板:RBC 同步）；针对 TBI 采用更高血小板目标：计数 &amp;lt;100 即开始补充血小板；VET 动态示 MA 偏低且 FIBTEM 正常→目标化追加血小板；维持计数 100—150 完成急诊骨盆外固定与减压。&lt;/Text&gt;&#13;&#10;  &lt;/Box&gt;&#13;&#10;  &lt;Box style={{ position: 'absolute', left: 64, top: 252, width: 562, height: 128, background: '#F0F5FC', borderRadius: 12, border: '1px solid #E5E7EB', padding: 20 }}&gt;&#13;&#10;&lt;Text style={{ fontSize: 19, color: '#0E3F8C', fontWeight: 'bold', textAlign: 'left', lineHeight: 1.5 }}&gt;转归与复盘&lt;/Text&gt;&#13;&#10;&lt;Text style={{ fontSize: 17, color: '#2C3E50', textAlign: 'left', lineHeight: 1.62 }}&gt;术后血小板稳定回升，无新发颅内出血；复盘：若按“50 线”可能延误 TBI 患者的血小板支持；1:1:1 早期启动避免了深度稀释性血小板减少（PROPPR 的止血获益逻辑）。&lt;/Text&gt;&#13;&#10;  &lt;/Box&gt;&#13;&#10;  &lt;Box style={{ position: 'absolute', left: 654, top: 252, width: 562, height: 128, background: '#F0F5FC', borderRadius: 12, border: '1px solid #E5E7EB', padding: 20 }}&gt;&#13;&#10;&lt;Text style={{ fontSize: 19, color: '#0E3F8C', fontWeight: 'bold', textAlign: 'left', lineHeight: 1.5 }}&gt;经验要点&lt;/Text&gt;&#13;&#10;&lt;Text style={{ fontSize: 17, color: '#2C3E50', textAlign: 'left', lineHeight: 1.62 }}&gt;①创伤目标分层：普通出血 &amp;gt;50、TBI/活动性出血 ≥100（欧洲指南 2023）；②早期 1:1:1 是“预防性”维持血小板的最优解；③VET+计数双轨监测防过输/欠输。&lt;/Text&gt;&#13;&#10;  &lt;/Box&gt;&#13;&#10;  &lt;Box style={{ position: 'absolute', left: 64, top: 408,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54, top: 408, width: 562, height: 128, background: '#F0F5FC', borderRadius: 12, border: '1px solid #E5E7EB', padding: 20 }}&gt;&#13;&#10;&lt;Text style={{ fontSize: 19, color: '#0E3F8C', fontWeight: 'bold', textAlign: 'left', lineHeight: 1.5 }}&gt;创伤场景中血小板管理是“时间×目标×工具”的三元方程。&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JAMA 2015;313:471-482 (PMID 25647203)&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625" name=""/>
          <p:cNvSpPr/>
          <p:nvPr/>
        </p:nvSpPr>
        <p:spPr>
          <a:xfrm rot="0" flipH="0" flipV="0">
            <a:off x="0" y="0"/>
            <a:ext cx="12192000" cy="6858000"/>
          </a:xfrm>
          <a:prstGeom prst="rect">
            <a:avLst/>
          </a:prstGeom>
          <a:solidFill>
            <a:srgbClr val="FFFFFF"/>
          </a:solidFill>
          <a:ln/>
        </p:spPr>
        <p:txBody>
          <a:bodyPr/>
          <a:p/>
        </p:txBody>
      </p:sp>
      <p:sp>
        <p:nvSpPr>
          <p:cNvPr id="1626" name=""/>
          <p:cNvSpPr/>
          <p:nvPr/>
        </p:nvSpPr>
        <p:spPr>
          <a:xfrm rot="0" flipH="0" flipV="0">
            <a:off x="0" y="0"/>
            <a:ext cx="12192000" cy="685800"/>
          </a:xfrm>
          <a:prstGeom prst="rect">
            <a:avLst/>
          </a:prstGeom>
          <a:solidFill>
            <a:srgbClr val="0E3F8C"/>
          </a:solidFill>
          <a:ln/>
        </p:spPr>
        <p:txBody>
          <a:bodyPr/>
          <a:p/>
        </p:txBody>
      </p:sp>
      <p:sp>
        <p:nvSpPr>
          <p:cNvPr id="1627" name="" descr="{&quot;isTemplate&quot;:true,&quot;type&quot;:&quot;text&quot;}"/>
          <p:cNvSpPr txBox="1"/>
          <p:nvPr/>
        </p:nvSpPr>
        <p:spPr>
          <a:xfrm rot="0" flipH="0" flipV="0">
            <a:off x="609600" y="219075"/>
            <a:ext cx="1428750" cy="209550"/>
          </a:xfrm>
          <a:prstGeom prst="rect"/>
        </p:spPr>
        <p:txBody>
          <a:bodyPr wrap="none" lIns="0" tIns="0" rIns="0" bIns="0"/>
          <a:p>
            <a:pPr>
              <a:lnSpc>
                <a:spcPct val="100000"/>
              </a:lnSpc>
            </a:pPr>
            <a:r>
              <a:rPr lang="zh-CN" sz="1350" b="1">
                <a:solidFill>
                  <a:srgbClr val="FFFFFF"/>
                </a:solidFill>
                <a:latin typeface="Microsoft YaHei"/>
                <a:ea typeface="Microsoft YaHei"/>
              </a:rPr>
              <a:t>第十一章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案例分享</a:t>
            </a:r>
            <a:endParaRPr/>
          </a:p>
        </p:txBody>
      </p:sp>
      <p:sp>
        <p:nvSpPr>
          <p:cNvPr id="1628" name=""/>
          <p:cNvSpPr/>
          <p:nvPr/>
        </p:nvSpPr>
        <p:spPr>
          <a:xfrm rot="0" flipH="0" flipV="0">
            <a:off x="2190750" y="209550"/>
            <a:ext cx="9525" cy="228600"/>
          </a:xfrm>
          <a:prstGeom prst="rect">
            <a:avLst/>
          </a:prstGeom>
          <a:solidFill>
            <a:srgbClr val="3D7BD9"/>
          </a:solidFill>
          <a:ln/>
        </p:spPr>
        <p:txBody>
          <a:bodyPr/>
          <a:p/>
        </p:txBody>
      </p:sp>
      <p:sp>
        <p:nvSpPr>
          <p:cNvPr id="1629" name="" descr="{&quot;isTemplate&quot;:true,&quot;type&quot;:&quot;text&quot;}"/>
          <p:cNvSpPr txBox="1"/>
          <p:nvPr/>
        </p:nvSpPr>
        <p:spPr>
          <a:xfrm rot="0" flipH="0" flipV="0">
            <a:off x="2352675" y="228600"/>
            <a:ext cx="3381375" cy="190500"/>
          </a:xfrm>
          <a:prstGeom prst="rect"/>
        </p:spPr>
        <p:txBody>
          <a:bodyPr wrap="none" lIns="0" tIns="0" rIns="0" bIns="0"/>
          <a:p>
            <a:pPr>
              <a:lnSpc>
                <a:spcPct val="100000"/>
              </a:lnSpc>
            </a:pPr>
            <a:r>
              <a:rPr lang="zh-CN" sz="1200">
                <a:solidFill>
                  <a:srgbClr val="C7D6EC"/>
                </a:solidFill>
                <a:latin typeface="Microsoft YaHei"/>
                <a:ea typeface="Microsoft YaHei"/>
              </a:rPr>
              <a:t>案例</a:t>
            </a:r>
            <a:r>
              <a:rPr lang="en-US" sz="1200">
                <a:solidFill>
                  <a:srgbClr val="C7D6EC"/>
                </a:solidFill>
                <a:latin typeface="Microsoft YaHei"/>
                <a:ea typeface="Microsoft YaHei"/>
              </a:rPr>
              <a:t> 5</a:t>
            </a:r>
            <a:r>
              <a:rPr lang="zh-CN" sz="1200">
                <a:solidFill>
                  <a:srgbClr val="C7D6EC"/>
                </a:solidFill>
                <a:latin typeface="Microsoft YaHei"/>
                <a:ea typeface="Microsoft YaHei"/>
              </a:rPr>
              <a:t>：创伤复苏——血小板目标与</a:t>
            </a:r>
            <a:r>
              <a:rPr lang="en-US" sz="1200">
                <a:solidFill>
                  <a:srgbClr val="C7D6EC"/>
                </a:solidFill>
                <a:latin typeface="Microsoft YaHei"/>
                <a:ea typeface="Microsoft YaHei"/>
              </a:rPr>
              <a:t> TBI </a:t>
            </a:r>
            <a:r>
              <a:rPr lang="zh-CN" sz="1200">
                <a:solidFill>
                  <a:srgbClr val="C7D6EC"/>
                </a:solidFill>
                <a:latin typeface="Microsoft YaHei"/>
                <a:ea typeface="Microsoft YaHei"/>
              </a:rPr>
              <a:t>的特殊线</a:t>
            </a:r>
            <a:endParaRPr/>
          </a:p>
        </p:txBody>
      </p:sp>
      <p:sp>
        <p:nvSpPr>
          <p:cNvPr id="1630"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70 / 77</a:t>
            </a:r>
            <a:endParaRPr/>
          </a:p>
        </p:txBody>
      </p:sp>
      <p:sp>
        <p:nvSpPr>
          <p:cNvPr id="1631"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32"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病情概要</a:t>
            </a:r>
            <a:endParaRPr/>
          </a:p>
        </p:txBody>
      </p:sp>
      <p:sp>
        <p:nvSpPr>
          <p:cNvPr id="1633"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34 </a:t>
            </a:r>
            <a:r>
              <a:rPr lang="zh-CN" sz="1275">
                <a:solidFill>
                  <a:srgbClr val="2C3E50"/>
                </a:solidFill>
                <a:latin typeface="Microsoft YaHei"/>
                <a:ea typeface="Microsoft YaHei"/>
              </a:rPr>
              <a:t>岁男性车祸，</a:t>
            </a:r>
            <a:r>
              <a:rPr lang="en-US" sz="1275">
                <a:solidFill>
                  <a:srgbClr val="2C3E50"/>
                </a:solidFill>
                <a:latin typeface="Microsoft YaHei"/>
                <a:ea typeface="Microsoft YaHei"/>
              </a:rPr>
              <a:t>ISS 38</a:t>
            </a:r>
            <a:r>
              <a:rPr lang="zh-CN" sz="1275">
                <a:solidFill>
                  <a:srgbClr val="2C3E50"/>
                </a:solidFill>
                <a:latin typeface="Microsoft YaHei"/>
                <a:ea typeface="Microsoft YaHei"/>
              </a:rPr>
              <a:t>，颅脑外伤（</a:t>
            </a:r>
            <a:r>
              <a:rPr lang="en-US" sz="1275">
                <a:solidFill>
                  <a:srgbClr val="2C3E50"/>
                </a:solidFill>
                <a:latin typeface="Microsoft YaHei"/>
                <a:ea typeface="Microsoft YaHei"/>
              </a:rPr>
              <a:t>GCS 6</a:t>
            </a:r>
            <a:r>
              <a:rPr lang="zh-CN" sz="1275">
                <a:solidFill>
                  <a:srgbClr val="2C3E50"/>
                </a:solidFill>
                <a:latin typeface="Microsoft YaHei"/>
                <a:ea typeface="Microsoft YaHei"/>
              </a:rPr>
              <a:t>）</a:t>
            </a:r>
            <a:r>
              <a:rPr lang="en-US" sz="1275">
                <a:solidFill>
                  <a:srgbClr val="2C3E50"/>
                </a:solidFill>
                <a:latin typeface="Microsoft YaHei"/>
                <a:ea typeface="Microsoft YaHei"/>
              </a:rPr>
              <a:t>+</a:t>
            </a:r>
            <a:r>
              <a:rPr lang="zh-CN" sz="1275">
                <a:solidFill>
                  <a:srgbClr val="2C3E50"/>
                </a:solidFill>
                <a:latin typeface="Microsoft YaHei"/>
                <a:ea typeface="Microsoft YaHei"/>
              </a:rPr>
              <a:t>骨盆骨折</a:t>
            </a:r>
            <a:r>
              <a:rPr lang="en-US" sz="1275">
                <a:solidFill>
                  <a:srgbClr val="2C3E50"/>
                </a:solidFill>
                <a:latin typeface="Microsoft YaHei"/>
                <a:ea typeface="Microsoft YaHei"/>
              </a:rPr>
              <a:t>+</a:t>
            </a:r>
            <a:r>
              <a:rPr lang="zh-CN" sz="1275">
                <a:solidFill>
                  <a:srgbClr val="2C3E50"/>
                </a:solidFill>
                <a:latin typeface="Microsoft YaHei"/>
                <a:ea typeface="Microsoft YaHei"/>
              </a:rPr>
              <a:t>失血性休克，启动大量输血方案；初始血小板</a:t>
            </a:r>
            <a:r>
              <a:rPr lang="en-US" sz="1275">
                <a:solidFill>
                  <a:srgbClr val="2C3E50"/>
                </a:solidFill>
                <a:latin typeface="Microsoft YaHei"/>
                <a:ea typeface="Microsoft YaHei"/>
              </a:rPr>
              <a:t> 210×10^9/L</a:t>
            </a:r>
            <a:r>
              <a:rPr lang="zh-CN" sz="1275">
                <a:solidFill>
                  <a:srgbClr val="2C3E50"/>
                </a:solidFill>
                <a:latin typeface="Microsoft YaHei"/>
                <a:ea typeface="Microsoft YaHei"/>
              </a:rPr>
              <a:t>，</a:t>
            </a:r>
            <a:r>
              <a:rPr lang="en-US" sz="1275">
                <a:solidFill>
                  <a:srgbClr val="2C3E50"/>
                </a:solidFill>
                <a:latin typeface="Microsoft YaHei"/>
                <a:ea typeface="Microsoft YaHei"/>
              </a:rPr>
              <a:t>2h </a:t>
            </a:r>
            <a:r>
              <a:rPr lang="zh-CN" sz="1275">
                <a:solidFill>
                  <a:srgbClr val="2C3E50"/>
                </a:solidFill>
                <a:latin typeface="Microsoft YaHei"/>
                <a:ea typeface="Microsoft YaHei"/>
              </a:rPr>
              <a:t>后因稀释</a:t>
            </a:r>
            <a:r>
              <a:rPr lang="en-US" sz="1275">
                <a:solidFill>
                  <a:srgbClr val="2C3E50"/>
                </a:solidFill>
                <a:latin typeface="Microsoft YaHei"/>
                <a:ea typeface="Microsoft YaHei"/>
              </a:rPr>
              <a:t>+</a:t>
            </a:r>
            <a:r>
              <a:rPr lang="zh-CN" sz="1275">
                <a:solidFill>
                  <a:srgbClr val="2C3E50"/>
                </a:solidFill>
                <a:latin typeface="Microsoft YaHei"/>
                <a:ea typeface="Microsoft YaHei"/>
              </a:rPr>
              <a:t>消耗降至</a:t>
            </a:r>
            <a:r>
              <a:rPr lang="en-US" sz="1275">
                <a:solidFill>
                  <a:srgbClr val="2C3E50"/>
                </a:solidFill>
                <a:latin typeface="Microsoft YaHei"/>
                <a:ea typeface="Microsoft YaHei"/>
              </a:rPr>
              <a:t> 60</a:t>
            </a:r>
            <a:r>
              <a:rPr lang="zh-CN" sz="1275">
                <a:solidFill>
                  <a:srgbClr val="2C3E50"/>
                </a:solidFill>
                <a:latin typeface="Microsoft YaHei"/>
                <a:ea typeface="Microsoft YaHei"/>
              </a:rPr>
              <a:t>。</a:t>
            </a:r>
            <a:endParaRPr/>
          </a:p>
        </p:txBody>
      </p:sp>
      <p:sp>
        <p:nvSpPr>
          <p:cNvPr id="1634"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35"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细节推演</a:t>
            </a:r>
            <a:endParaRPr/>
          </a:p>
        </p:txBody>
      </p:sp>
      <p:sp>
        <p:nvSpPr>
          <p:cNvPr id="1636" name="" descr="{&quot;isTemplate&quot;:true,&quot;type&quot;:&quot;text&quot;}"/>
          <p:cNvSpPr txBox="1"/>
          <p:nvPr/>
        </p:nvSpPr>
        <p:spPr>
          <a:xfrm rot="0" flipH="0" flipV="0">
            <a:off x="6419850" y="1438275"/>
            <a:ext cx="4972050" cy="126682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按</a:t>
            </a:r>
            <a:r>
              <a:rPr lang="en-US" sz="1275">
                <a:solidFill>
                  <a:srgbClr val="2C3E50"/>
                </a:solidFill>
                <a:latin typeface="Microsoft YaHei"/>
                <a:ea typeface="Microsoft YaHei"/>
              </a:rPr>
              <a:t> 1:1:1 </a:t>
            </a:r>
            <a:r>
              <a:rPr lang="zh-CN" sz="1275">
                <a:solidFill>
                  <a:srgbClr val="2C3E50"/>
                </a:solidFill>
                <a:latin typeface="Microsoft YaHei"/>
                <a:ea typeface="Microsoft YaHei"/>
              </a:rPr>
              <a:t>损伤控制复苏维持（血浆</a:t>
            </a:r>
            <a:r>
              <a:rPr lang="en-US" sz="1275">
                <a:solidFill>
                  <a:srgbClr val="2C3E50"/>
                </a:solidFill>
                <a:latin typeface="Microsoft YaHei"/>
                <a:ea typeface="Microsoft YaHei"/>
              </a:rPr>
              <a:t>:</a:t>
            </a:r>
            <a:r>
              <a:rPr lang="zh-CN" sz="1275">
                <a:solidFill>
                  <a:srgbClr val="2C3E50"/>
                </a:solidFill>
                <a:latin typeface="Microsoft YaHei"/>
                <a:ea typeface="Microsoft YaHei"/>
              </a:rPr>
              <a:t>血小板</a:t>
            </a:r>
            <a:r>
              <a:rPr lang="en-US" sz="1275">
                <a:solidFill>
                  <a:srgbClr val="2C3E50"/>
                </a:solidFill>
                <a:latin typeface="Microsoft YaHei"/>
                <a:ea typeface="Microsoft YaHei"/>
              </a:rPr>
              <a:t>:RBC </a:t>
            </a:r>
            <a:r>
              <a:rPr lang="zh-CN" sz="1275">
                <a:solidFill>
                  <a:srgbClr val="2C3E50"/>
                </a:solidFill>
                <a:latin typeface="Microsoft YaHei"/>
                <a:ea typeface="Microsoft YaHei"/>
              </a:rPr>
              <a:t>同步）；针对</a:t>
            </a:r>
            <a:r>
              <a:rPr lang="en-US" sz="1275">
                <a:solidFill>
                  <a:srgbClr val="2C3E50"/>
                </a:solidFill>
                <a:latin typeface="Microsoft YaHei"/>
                <a:ea typeface="Microsoft YaHei"/>
              </a:rPr>
              <a:t> TBI </a:t>
            </a:r>
            <a:r>
              <a:rPr lang="zh-CN" sz="1275">
                <a:solidFill>
                  <a:srgbClr val="2C3E50"/>
                </a:solidFill>
                <a:latin typeface="Microsoft YaHei"/>
                <a:ea typeface="Microsoft YaHei"/>
              </a:rPr>
              <a:t>采用更高血小板目标：计数</a:t>
            </a:r>
            <a:r>
              <a:rPr lang="en-US" sz="1275">
                <a:solidFill>
                  <a:srgbClr val="2C3E50"/>
                </a:solidFill>
                <a:latin typeface="Microsoft YaHei"/>
                <a:ea typeface="Microsoft YaHei"/>
              </a:rPr>
              <a:t> &lt;100 </a:t>
            </a:r>
            <a:r>
              <a:rPr lang="zh-CN" sz="1275">
                <a:solidFill>
                  <a:srgbClr val="2C3E50"/>
                </a:solidFill>
                <a:latin typeface="Microsoft YaHei"/>
                <a:ea typeface="Microsoft YaHei"/>
              </a:rPr>
              <a:t>即开始补充血小板；</a:t>
            </a:r>
            <a:r>
              <a:rPr lang="en-US" sz="1275">
                <a:solidFill>
                  <a:srgbClr val="2C3E50"/>
                </a:solidFill>
                <a:latin typeface="Microsoft YaHei"/>
                <a:ea typeface="Microsoft YaHei"/>
              </a:rPr>
              <a:t>VET </a:t>
            </a:r>
            <a:r>
              <a:rPr lang="zh-CN" sz="1275">
                <a:solidFill>
                  <a:srgbClr val="2C3E50"/>
                </a:solidFill>
                <a:latin typeface="Microsoft YaHei"/>
                <a:ea typeface="Microsoft YaHei"/>
              </a:rPr>
              <a:t>动态示</a:t>
            </a:r>
            <a:r>
              <a:rPr lang="en-US" sz="1275">
                <a:solidFill>
                  <a:srgbClr val="2C3E50"/>
                </a:solidFill>
                <a:latin typeface="Microsoft YaHei"/>
                <a:ea typeface="Microsoft YaHei"/>
              </a:rPr>
              <a:t> MA </a:t>
            </a:r>
            <a:r>
              <a:rPr lang="zh-CN" sz="1275">
                <a:solidFill>
                  <a:srgbClr val="2C3E50"/>
                </a:solidFill>
                <a:latin typeface="Microsoft YaHei"/>
                <a:ea typeface="Microsoft YaHei"/>
              </a:rPr>
              <a:t>偏低且</a:t>
            </a:r>
            <a:r>
              <a:rPr lang="en-US" sz="1275">
                <a:solidFill>
                  <a:srgbClr val="2C3E50"/>
                </a:solidFill>
                <a:latin typeface="Microsoft YaHei"/>
                <a:ea typeface="Microsoft YaHei"/>
              </a:rPr>
              <a:t> FIBTEM </a:t>
            </a:r>
            <a:r>
              <a:rPr lang="zh-CN" sz="1275">
                <a:solidFill>
                  <a:srgbClr val="2C3E50"/>
                </a:solidFill>
                <a:latin typeface="Microsoft YaHei"/>
                <a:ea typeface="Microsoft YaHei"/>
              </a:rPr>
              <a:t>正常→目标化追加血小板；维持计数</a:t>
            </a:r>
            <a:r>
              <a:rPr lang="en-US" sz="1275">
                <a:solidFill>
                  <a:srgbClr val="2C3E50"/>
                </a:solidFill>
                <a:latin typeface="Microsoft YaHei"/>
                <a:ea typeface="Microsoft YaHei"/>
              </a:rPr>
              <a:t> 100—150 </a:t>
            </a:r>
            <a:r>
              <a:rPr lang="zh-CN" sz="1275">
                <a:solidFill>
                  <a:srgbClr val="2C3E50"/>
                </a:solidFill>
                <a:latin typeface="Microsoft YaHei"/>
                <a:ea typeface="Microsoft YaHei"/>
              </a:rPr>
              <a:t>完成急诊骨盆外固定与减压。</a:t>
            </a:r>
            <a:endParaRPr/>
          </a:p>
        </p:txBody>
      </p:sp>
      <p:sp>
        <p:nvSpPr>
          <p:cNvPr id="1637"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38"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转归与复盘</a:t>
            </a:r>
            <a:endParaRPr/>
          </a:p>
        </p:txBody>
      </p:sp>
      <p:sp>
        <p:nvSpPr>
          <p:cNvPr id="1639"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术后血小板稳定回升，无新发颅内出血；复盘：若按“</a:t>
            </a:r>
            <a:r>
              <a:rPr lang="en-US" sz="1275">
                <a:solidFill>
                  <a:srgbClr val="2C3E50"/>
                </a:solidFill>
                <a:latin typeface="Microsoft YaHei"/>
                <a:ea typeface="Microsoft YaHei"/>
              </a:rPr>
              <a:t>50 </a:t>
            </a:r>
            <a:r>
              <a:rPr lang="zh-CN" sz="1275">
                <a:solidFill>
                  <a:srgbClr val="2C3E50"/>
                </a:solidFill>
                <a:latin typeface="Microsoft YaHei"/>
                <a:ea typeface="Microsoft YaHei"/>
              </a:rPr>
              <a:t>线”可能延误</a:t>
            </a:r>
            <a:r>
              <a:rPr lang="en-US" sz="1275">
                <a:solidFill>
                  <a:srgbClr val="2C3E50"/>
                </a:solidFill>
                <a:latin typeface="Microsoft YaHei"/>
                <a:ea typeface="Microsoft YaHei"/>
              </a:rPr>
              <a:t> TBI </a:t>
            </a:r>
            <a:r>
              <a:rPr lang="zh-CN" sz="1275">
                <a:solidFill>
                  <a:srgbClr val="2C3E50"/>
                </a:solidFill>
                <a:latin typeface="Microsoft YaHei"/>
                <a:ea typeface="Microsoft YaHei"/>
              </a:rPr>
              <a:t>患者的血小板支持；</a:t>
            </a:r>
            <a:r>
              <a:rPr lang="en-US" sz="1275">
                <a:solidFill>
                  <a:srgbClr val="2C3E50"/>
                </a:solidFill>
                <a:latin typeface="Microsoft YaHei"/>
                <a:ea typeface="Microsoft YaHei"/>
              </a:rPr>
              <a:t>1:1:1 </a:t>
            </a:r>
            <a:r>
              <a:rPr lang="zh-CN" sz="1275">
                <a:solidFill>
                  <a:srgbClr val="2C3E50"/>
                </a:solidFill>
                <a:latin typeface="Microsoft YaHei"/>
                <a:ea typeface="Microsoft YaHei"/>
              </a:rPr>
              <a:t>早期启动避免了深度稀释性血小板减少（</a:t>
            </a:r>
            <a:r>
              <a:rPr lang="en-US" sz="1275">
                <a:solidFill>
                  <a:srgbClr val="2C3E50"/>
                </a:solidFill>
                <a:latin typeface="Microsoft YaHei"/>
                <a:ea typeface="Microsoft YaHei"/>
              </a:rPr>
              <a:t>PROPPR </a:t>
            </a:r>
            <a:r>
              <a:rPr lang="zh-CN" sz="1275">
                <a:solidFill>
                  <a:srgbClr val="2C3E50"/>
                </a:solidFill>
                <a:latin typeface="Microsoft YaHei"/>
                <a:ea typeface="Microsoft YaHei"/>
              </a:rPr>
              <a:t>的止血获益逻辑）。</a:t>
            </a:r>
            <a:endParaRPr/>
          </a:p>
        </p:txBody>
      </p:sp>
      <p:sp>
        <p:nvSpPr>
          <p:cNvPr id="1640"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41"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经验要点</a:t>
            </a:r>
            <a:endParaRPr/>
          </a:p>
        </p:txBody>
      </p:sp>
      <p:sp>
        <p:nvSpPr>
          <p:cNvPr id="1642" name="" descr="{&quot;isTemplate&quot;:true,&quot;type&quot;:&quot;text&quot;}"/>
          <p:cNvSpPr txBox="1"/>
          <p:nvPr/>
        </p:nvSpPr>
        <p:spPr>
          <a:xfrm rot="0" flipH="0" flipV="0">
            <a:off x="641985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①创伤目标分层：普通出血</a:t>
            </a:r>
            <a:r>
              <a:rPr lang="en-US" sz="1275">
                <a:solidFill>
                  <a:srgbClr val="2C3E50"/>
                </a:solidFill>
                <a:latin typeface="Microsoft YaHei"/>
                <a:ea typeface="Microsoft YaHei"/>
              </a:rPr>
              <a:t> &gt;50</a:t>
            </a:r>
            <a:r>
              <a:rPr lang="zh-CN" sz="1275">
                <a:solidFill>
                  <a:srgbClr val="2C3E50"/>
                </a:solidFill>
                <a:latin typeface="Microsoft YaHei"/>
                <a:ea typeface="Microsoft YaHei"/>
              </a:rPr>
              <a:t>、</a:t>
            </a:r>
            <a:r>
              <a:rPr lang="en-US" sz="1275">
                <a:solidFill>
                  <a:srgbClr val="2C3E50"/>
                </a:solidFill>
                <a:latin typeface="Microsoft YaHei"/>
                <a:ea typeface="Microsoft YaHei"/>
              </a:rPr>
              <a:t>TBI/</a:t>
            </a:r>
            <a:r>
              <a:rPr lang="zh-CN" sz="1275">
                <a:solidFill>
                  <a:srgbClr val="2C3E50"/>
                </a:solidFill>
                <a:latin typeface="Microsoft YaHei"/>
                <a:ea typeface="Microsoft YaHei"/>
              </a:rPr>
              <a:t>活动性出血</a:t>
            </a:r>
            <a:r>
              <a:rPr lang="en-US" sz="1275">
                <a:solidFill>
                  <a:srgbClr val="2C3E50"/>
                </a:solidFill>
                <a:latin typeface="Microsoft YaHei"/>
                <a:ea typeface="Microsoft YaHei"/>
              </a:rPr>
              <a:t> ≥100</a:t>
            </a:r>
            <a:r>
              <a:rPr lang="zh-CN" sz="1275">
                <a:solidFill>
                  <a:srgbClr val="2C3E50"/>
                </a:solidFill>
                <a:latin typeface="Microsoft YaHei"/>
                <a:ea typeface="Microsoft YaHei"/>
              </a:rPr>
              <a:t>（欧洲指南</a:t>
            </a:r>
            <a:r>
              <a:rPr lang="en-US" sz="1275">
                <a:solidFill>
                  <a:srgbClr val="2C3E50"/>
                </a:solidFill>
                <a:latin typeface="Microsoft YaHei"/>
                <a:ea typeface="Microsoft YaHei"/>
              </a:rPr>
              <a:t> 2023</a:t>
            </a:r>
            <a:r>
              <a:rPr lang="zh-CN" sz="1275">
                <a:solidFill>
                  <a:srgbClr val="2C3E50"/>
                </a:solidFill>
                <a:latin typeface="Microsoft YaHei"/>
                <a:ea typeface="Microsoft YaHei"/>
              </a:rPr>
              <a:t>）；②早期</a:t>
            </a:r>
            <a:r>
              <a:rPr lang="en-US" sz="1275">
                <a:solidFill>
                  <a:srgbClr val="2C3E50"/>
                </a:solidFill>
                <a:latin typeface="Microsoft YaHei"/>
                <a:ea typeface="Microsoft YaHei"/>
              </a:rPr>
              <a:t> 1:1:1 </a:t>
            </a:r>
            <a:r>
              <a:rPr lang="zh-CN" sz="1275">
                <a:solidFill>
                  <a:srgbClr val="2C3E50"/>
                </a:solidFill>
                <a:latin typeface="Microsoft YaHei"/>
                <a:ea typeface="Microsoft YaHei"/>
              </a:rPr>
              <a:t>是“预防性”维持血小板的最优解；③</a:t>
            </a:r>
            <a:r>
              <a:rPr lang="en-US" sz="1275">
                <a:solidFill>
                  <a:srgbClr val="2C3E50"/>
                </a:solidFill>
                <a:latin typeface="Microsoft YaHei"/>
                <a:ea typeface="Microsoft YaHei"/>
              </a:rPr>
              <a:t>VET+</a:t>
            </a:r>
            <a:r>
              <a:rPr lang="zh-CN" sz="1275">
                <a:solidFill>
                  <a:srgbClr val="2C3E50"/>
                </a:solidFill>
                <a:latin typeface="Microsoft YaHei"/>
                <a:ea typeface="Microsoft YaHei"/>
              </a:rPr>
              <a:t>计数双轨监测防过输</a:t>
            </a:r>
            <a:r>
              <a:rPr lang="en-US" sz="1275">
                <a:solidFill>
                  <a:srgbClr val="2C3E50"/>
                </a:solidFill>
                <a:latin typeface="Microsoft YaHei"/>
                <a:ea typeface="Microsoft YaHei"/>
              </a:rPr>
              <a:t>/</a:t>
            </a:r>
            <a:r>
              <a:rPr lang="zh-CN" sz="1275">
                <a:solidFill>
                  <a:srgbClr val="2C3E50"/>
                </a:solidFill>
                <a:latin typeface="Microsoft YaHei"/>
                <a:ea typeface="Microsoft YaHei"/>
              </a:rPr>
              <a:t>欠输。</a:t>
            </a:r>
            <a:endParaRPr/>
          </a:p>
        </p:txBody>
      </p:sp>
      <p:sp>
        <p:nvSpPr>
          <p:cNvPr id="1643"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44"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645"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646" name=""/>
          <p:cNvSpPr/>
          <p:nvPr/>
        </p:nvSpPr>
        <p:spPr>
          <a:xfrm rot="0" flipH="0" flipV="0">
            <a:off x="622935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47" name="" descr="{&quot;isTemplate&quot;:true,&quot;type&quot;:&quot;text&quot;}"/>
          <p:cNvSpPr txBox="1"/>
          <p:nvPr/>
        </p:nvSpPr>
        <p:spPr>
          <a:xfrm rot="0" flipH="0" flipV="0">
            <a:off x="6419850" y="40767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创伤场景中血小板管理是“时间×目标×工具”的三元方程。</a:t>
            </a:r>
            <a:endParaRPr/>
          </a:p>
        </p:txBody>
      </p:sp>
      <p:sp>
        <p:nvSpPr>
          <p:cNvPr id="1648" name="" descr="{&quot;isTemplate&quot;:true,&quot;type&quot;:&quot;text&quot;}"/>
          <p:cNvSpPr txBox="1"/>
          <p:nvPr/>
        </p:nvSpPr>
        <p:spPr>
          <a:xfrm rot="0" flipH="0" flipV="0">
            <a:off x="6419850" y="4410075"/>
            <a:ext cx="4972050" cy="0"/>
          </a:xfrm>
          <a:prstGeom prst="rect"/>
        </p:spPr>
        <p:txBody>
          <a:bodyPr wrap="none" lIns="0" tIns="0" rIns="0" bIns="0"/>
          <a:p>
            <a:pPr/>
            <a:endParaRPr/>
          </a:p>
        </p:txBody>
      </p:sp>
      <p:sp>
        <p:nvSpPr>
          <p:cNvPr id="1649"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650"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JAMA 2015;313:471-482 (PMID 25647203)</a:t>
            </a:r>
            <a:endParaRPr/>
          </a:p>
        </p:txBody>
      </p:sp>
      <p:sp>
        <p:nvSpPr>
          <p:cNvPr id="1651" name=""/>
          <p:cNvSpPr/>
          <p:nvPr/>
        </p:nvSpPr>
        <p:spPr>
          <a:xfrm rot="0" flipH="0" flipV="0">
            <a:off x="0" y="6324600"/>
            <a:ext cx="12192000" cy="342900"/>
          </a:xfrm>
          <a:prstGeom prst="rect">
            <a:avLst/>
          </a:prstGeom>
          <a:solidFill>
            <a:srgbClr val="F7F9FC"/>
          </a:solidFill>
          <a:ln/>
        </p:spPr>
        <p:txBody>
          <a:bodyPr/>
          <a:p/>
        </p:txBody>
      </p:sp>
      <p:sp>
        <p:nvSpPr>
          <p:cNvPr id="1652"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653"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1.xml><?xml version="1.0" encoding="utf-8"?>
<p:sld xmlns:p="http://schemas.openxmlformats.org/presentationml/2006/main" xmlns:a="http://schemas.openxmlformats.org/drawingml/2006/main">
  <p:cSld>
    <p:spTree>
      <p:nvGrpSpPr>
        <p:cNvPr id="1654" name="" descr="&lt;Slide notes={`演讲者备注：第十二章展望血小板检验的未来：AI 让形态学复检更普及、IPF 让“生成恢复”可预警、免疫血栓机制提供新靶点、微流控等新技术尝试在生理剪切条件下重演血栓形成——最终目标是让血小板检验从“事后解释”走向“实时、个体化、预测性”。`} style={{ width: '1280px', height: '720px', background: '#0E3F8C', padding: 0 }}&gt;&#13;&#10;  &lt;Box style={{ position: 'absolute', left: 0, top: 0, width: 12, height: 720, background: '#3D7BD9' }} /&gt;&#13;&#10;  &lt;Text style={{ position: 'absolute', left: 64, top: 138, fontSize: 22, color: '#9DB8E0', letterSpacing: 4 }}&gt;第 12 章&lt;/Text&gt;&#13;&#10;  &lt;Text style={{ position: 'absolute', left: 56, top: 168, fontSize: 150, color: '#164A9E', fontWeight: 'bold' }}&gt;12&lt;/Text&gt;&#13;&#10;  &lt;Text style={{ position: 'absolute', left: 64, top: 332, fontSize: 50, color: '#FFFFFF', fontWeight: 'bold' }}&gt;进展与研究方向&lt;/Text&gt;&#13;&#10;  &lt;Text style={{ position: 'absolute', left: 64, top: 400, fontSize: 22, color: '#9DB8E0', fontFamily: 'Times New Roman' }}&gt;Advances &amp; Research Directions&lt;/Text&gt;&#13;&#10;  &lt;Box key={0} style={{ position: 'absolute', left: 64, top: 472, width: 360, height: 150, background: '#12448F', borderRadius: 12, border: '1px solid #2E5BA8', padding: 20 }}&gt;&#13;&#10;    &lt;Text style={{ fontSize: 18, color: '#9DB8E0', fontWeight: 'bold', marginBottom: 8 }}&gt;检验自动化&lt;/Text&gt;&#13;&#10;    &lt;Text style={{ fontSize: 15, color: '#C7D6EC', lineHeight: 1.5 }}&gt;AI 形态学与全自动复检把经验变成算法&lt;/Text&gt;&#13;&#10;  &lt;/Box&gt;  &lt;Box key={1} style={{ position: 'absolute', left: 452, top: 472, width: 360, height: 150, background: '#12448F', borderRadius: 12, border: '1px solid #2E5BA8', padding: 20 }}&gt;&#13;&#10;    &lt;Text style={{ fontSize: 18, color: '#9DB8E0', fontWeight: 'bold', marginBottom: 8 }}&gt;预警标志物&lt;/Text&gt;&#13;&#10;    &lt;Text style={{ fontSize: 15, color: '#C7D6EC', lineHeight: 1.5 }}&gt;IPF/网织血小板走向早期恢复与预后预警&lt;/Text&gt;&#13;&#10;  &lt;/Box&gt;  &lt;Box key={2} style={{ position: 'absolute', left: 840, top: 472, width: 360, height: 150, background: '#12448F', borderRadius: 12, border: '1px solid #2E5BA8', padding: 20 }}&gt;&#13;&#10;    &lt;Text style={{ fontSize: 18, color: '#9DB8E0', fontWeight: 'bold', marginBottom: 8 }}&gt;机制与新技术&lt;/Text&gt;&#13;&#10;    &lt;Text style={{ fontSize: 15, color: '#C7D6EC', lineHeight: 1.5 }}&gt;免疫血栓、微流控与精准抗栓监测&lt;/Text&gt;&#13;&#10;  &lt;/Box&gt;&#13;&#10;  &lt;Text style={{ position: 'absolute', right: 64, top: 660, fontSize: 15, color: '#9DB8E0' }}&gt;71 / 77&lt;/Text&gt;&#13;&#10;&lt;/Slide&gt;"/>
        <p:cNvGrpSpPr/>
        <p:nvPr/>
      </p:nvGrpSpPr>
      <p:grpSpPr>
        <a:xfrm>
          <a:off x="0" y="0"/>
          <a:ext cx="0" cy="0"/>
          <a:chOff x="0" y="0"/>
          <a:chExt cx="0" cy="0"/>
        </a:xfrm>
      </p:grpSpPr>
      <p:sp>
        <p:nvSpPr>
          <p:cNvPr id="1655" name=""/>
          <p:cNvSpPr/>
          <p:nvPr/>
        </p:nvSpPr>
        <p:spPr>
          <a:xfrm rot="0" flipH="0" flipV="0">
            <a:off x="0" y="0"/>
            <a:ext cx="12192000" cy="6858000"/>
          </a:xfrm>
          <a:prstGeom prst="rect">
            <a:avLst/>
          </a:prstGeom>
          <a:solidFill>
            <a:srgbClr val="0E3F8C"/>
          </a:solidFill>
          <a:ln/>
        </p:spPr>
        <p:txBody>
          <a:bodyPr/>
          <a:p/>
        </p:txBody>
      </p:sp>
      <p:sp>
        <p:nvSpPr>
          <p:cNvPr id="1656" name=""/>
          <p:cNvSpPr/>
          <p:nvPr/>
        </p:nvSpPr>
        <p:spPr>
          <a:xfrm rot="0" flipH="0" flipV="0">
            <a:off x="0" y="0"/>
            <a:ext cx="114300" cy="6858000"/>
          </a:xfrm>
          <a:prstGeom prst="rect">
            <a:avLst/>
          </a:prstGeom>
          <a:solidFill>
            <a:srgbClr val="3D7BD9"/>
          </a:solidFill>
          <a:ln/>
        </p:spPr>
        <p:txBody>
          <a:bodyPr/>
          <a:p/>
        </p:txBody>
      </p:sp>
      <p:sp>
        <p:nvSpPr>
          <p:cNvPr id="1657" name="" descr="{&quot;isTemplate&quot;:true,&quot;type&quot;:&quot;text&quot;}"/>
          <p:cNvSpPr txBox="1"/>
          <p:nvPr/>
        </p:nvSpPr>
        <p:spPr>
          <a:xfrm rot="0" flipH="0" flipV="0">
            <a:off x="609600" y="1314450"/>
            <a:ext cx="1019175" cy="257175"/>
          </a:xfrm>
          <a:prstGeom prst="rect"/>
        </p:spPr>
        <p:txBody>
          <a:bodyPr wrap="none" lIns="0" tIns="0" rIns="0" bIns="0"/>
          <a:p>
            <a:pPr>
              <a:lnSpc>
                <a:spcPct val="100000"/>
              </a:lnSpc>
            </a:pPr>
            <a:r>
              <a:rPr lang="zh-CN" sz="1650" spc="300">
                <a:solidFill>
                  <a:srgbClr val="9DB8E0"/>
                </a:solidFill>
                <a:latin typeface="Microsoft YaHei"/>
                <a:ea typeface="Microsoft YaHei"/>
              </a:rPr>
              <a:t>第</a:t>
            </a:r>
            <a:r>
              <a:rPr lang="en-US" sz="1650" spc="300">
                <a:solidFill>
                  <a:srgbClr val="9DB8E0"/>
                </a:solidFill>
                <a:latin typeface="Microsoft YaHei"/>
                <a:ea typeface="Microsoft YaHei"/>
              </a:rPr>
              <a:t> 12 </a:t>
            </a:r>
            <a:r>
              <a:rPr lang="zh-CN" sz="1650" spc="300">
                <a:solidFill>
                  <a:srgbClr val="9DB8E0"/>
                </a:solidFill>
                <a:latin typeface="Microsoft YaHei"/>
                <a:ea typeface="Microsoft YaHei"/>
              </a:rPr>
              <a:t>章</a:t>
            </a:r>
            <a:endParaRPr/>
          </a:p>
        </p:txBody>
      </p:sp>
      <p:sp>
        <p:nvSpPr>
          <p:cNvPr id="1658" name="" descr="{&quot;isTemplate&quot;:true,&quot;type&quot;:&quot;text&quot;}"/>
          <p:cNvSpPr txBox="1"/>
          <p:nvPr/>
        </p:nvSpPr>
        <p:spPr>
          <a:xfrm rot="0" flipH="0" flipV="0">
            <a:off x="533400" y="1600200"/>
            <a:ext cx="1771650" cy="1714500"/>
          </a:xfrm>
          <a:prstGeom prst="rect"/>
        </p:spPr>
        <p:txBody>
          <a:bodyPr wrap="none" lIns="0" tIns="0" rIns="0" bIns="0"/>
          <a:p>
            <a:pPr>
              <a:lnSpc>
                <a:spcPct val="100000"/>
              </a:lnSpc>
            </a:pPr>
            <a:r>
              <a:rPr lang="en-US" sz="11250" b="1">
                <a:solidFill>
                  <a:srgbClr val="164A9E"/>
                </a:solidFill>
                <a:latin typeface="Microsoft YaHei"/>
                <a:ea typeface="Microsoft YaHei"/>
              </a:rPr>
              <a:t>12</a:t>
            </a:r>
            <a:endParaRPr/>
          </a:p>
        </p:txBody>
      </p:sp>
      <p:sp>
        <p:nvSpPr>
          <p:cNvPr id="1659" name="" descr="{&quot;isTemplate&quot;:true,&quot;type&quot;:&quot;text&quot;}"/>
          <p:cNvSpPr txBox="1"/>
          <p:nvPr/>
        </p:nvSpPr>
        <p:spPr>
          <a:xfrm rot="0" flipH="0" flipV="0">
            <a:off x="609600" y="3162300"/>
            <a:ext cx="3333750" cy="571500"/>
          </a:xfrm>
          <a:prstGeom prst="rect"/>
        </p:spPr>
        <p:txBody>
          <a:bodyPr wrap="none" lIns="0" tIns="0" rIns="0" bIns="0"/>
          <a:p>
            <a:pPr>
              <a:lnSpc>
                <a:spcPct val="100000"/>
              </a:lnSpc>
            </a:pPr>
            <a:r>
              <a:rPr lang="zh-CN" sz="3750" b="1">
                <a:solidFill>
                  <a:srgbClr val="FFFFFF"/>
                </a:solidFill>
                <a:latin typeface="Microsoft YaHei"/>
                <a:ea typeface="Microsoft YaHei"/>
              </a:rPr>
              <a:t>进展与研究方向</a:t>
            </a:r>
            <a:endParaRPr/>
          </a:p>
        </p:txBody>
      </p:sp>
      <p:sp>
        <p:nvSpPr>
          <p:cNvPr id="1660" name="" descr="{&quot;isTemplate&quot;:true,&quot;type&quot;:&quot;text&quot;}"/>
          <p:cNvSpPr txBox="1"/>
          <p:nvPr/>
        </p:nvSpPr>
        <p:spPr>
          <a:xfrm rot="0" flipH="0" flipV="0">
            <a:off x="609600" y="3810000"/>
            <a:ext cx="2790825" cy="257175"/>
          </a:xfrm>
          <a:prstGeom prst="rect"/>
        </p:spPr>
        <p:txBody>
          <a:bodyPr wrap="none" lIns="0" tIns="0" rIns="0" bIns="0"/>
          <a:p>
            <a:pPr>
              <a:lnSpc>
                <a:spcPct val="100000"/>
              </a:lnSpc>
            </a:pPr>
            <a:r>
              <a:rPr lang="en-US" sz="1650">
                <a:solidFill>
                  <a:srgbClr val="9DB8E0"/>
                </a:solidFill>
                <a:latin typeface="Times New Roman"/>
                <a:ea typeface="Times New Roman"/>
              </a:rPr>
              <a:t>Advances &amp; Research Directions</a:t>
            </a:r>
            <a:endParaRPr/>
          </a:p>
        </p:txBody>
      </p:sp>
      <p:sp>
        <p:nvSpPr>
          <p:cNvPr id="1661" name=""/>
          <p:cNvSpPr/>
          <p:nvPr/>
        </p:nvSpPr>
        <p:spPr>
          <a:xfrm rot="0" flipH="0" flipV="0">
            <a:off x="6096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662" name="" descr="{&quot;isTemplate&quot;:true,&quot;type&quot;:&quot;text&quot;}"/>
          <p:cNvSpPr txBox="1"/>
          <p:nvPr/>
        </p:nvSpPr>
        <p:spPr>
          <a:xfrm rot="0" flipH="0" flipV="0">
            <a:off x="8001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检验自动化</a:t>
            </a:r>
            <a:endParaRPr/>
          </a:p>
        </p:txBody>
      </p:sp>
      <p:sp>
        <p:nvSpPr>
          <p:cNvPr id="1663" name="" descr="{&quot;isTemplate&quot;:true,&quot;type&quot;:&quot;text&quot;}"/>
          <p:cNvSpPr txBox="1"/>
          <p:nvPr/>
        </p:nvSpPr>
        <p:spPr>
          <a:xfrm rot="0" flipH="0" flipV="0">
            <a:off x="8001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AI </a:t>
            </a:r>
            <a:r>
              <a:rPr lang="zh-CN" sz="1125">
                <a:solidFill>
                  <a:srgbClr val="C7D6EC"/>
                </a:solidFill>
                <a:latin typeface="Microsoft YaHei"/>
                <a:ea typeface="Microsoft YaHei"/>
              </a:rPr>
              <a:t>形态学与全自动复检把经验变成算法</a:t>
            </a:r>
            <a:endParaRPr/>
          </a:p>
        </p:txBody>
      </p:sp>
      <p:sp>
        <p:nvSpPr>
          <p:cNvPr id="1664" name=""/>
          <p:cNvSpPr/>
          <p:nvPr/>
        </p:nvSpPr>
        <p:spPr>
          <a:xfrm rot="0" flipH="0" flipV="0">
            <a:off x="43053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665" name="" descr="{&quot;isTemplate&quot;:true,&quot;type&quot;:&quot;text&quot;}"/>
          <p:cNvSpPr txBox="1"/>
          <p:nvPr/>
        </p:nvSpPr>
        <p:spPr>
          <a:xfrm rot="0" flipH="0" flipV="0">
            <a:off x="44958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预警标志物</a:t>
            </a:r>
            <a:endParaRPr/>
          </a:p>
        </p:txBody>
      </p:sp>
      <p:sp>
        <p:nvSpPr>
          <p:cNvPr id="1666" name="" descr="{&quot;isTemplate&quot;:true,&quot;type&quot;:&quot;text&quot;}"/>
          <p:cNvSpPr txBox="1"/>
          <p:nvPr/>
        </p:nvSpPr>
        <p:spPr>
          <a:xfrm rot="0" flipH="0" flipV="0">
            <a:off x="4495800" y="4972050"/>
            <a:ext cx="3048000" cy="257175"/>
          </a:xfrm>
          <a:prstGeom prst="rect"/>
        </p:spPr>
        <p:txBody>
          <a:bodyPr wrap="none" lIns="0" tIns="0" rIns="0" bIns="0"/>
          <a:p>
            <a:pPr>
              <a:lnSpc>
                <a:spcPct val="150000"/>
              </a:lnSpc>
            </a:pPr>
            <a:r>
              <a:rPr lang="en-US" sz="1125">
                <a:solidFill>
                  <a:srgbClr val="C7D6EC"/>
                </a:solidFill>
                <a:latin typeface="Microsoft YaHei"/>
                <a:ea typeface="Microsoft YaHei"/>
              </a:rPr>
              <a:t>IPF/</a:t>
            </a:r>
            <a:r>
              <a:rPr lang="zh-CN" sz="1125">
                <a:solidFill>
                  <a:srgbClr val="C7D6EC"/>
                </a:solidFill>
                <a:latin typeface="Microsoft YaHei"/>
                <a:ea typeface="Microsoft YaHei"/>
              </a:rPr>
              <a:t>网织血小板走向早期恢复与预后预警</a:t>
            </a:r>
            <a:endParaRPr/>
          </a:p>
        </p:txBody>
      </p:sp>
      <p:sp>
        <p:nvSpPr>
          <p:cNvPr id="1667" name=""/>
          <p:cNvSpPr/>
          <p:nvPr/>
        </p:nvSpPr>
        <p:spPr>
          <a:xfrm rot="0" flipH="0" flipV="0">
            <a:off x="8001000" y="4495800"/>
            <a:ext cx="3429000" cy="1428750"/>
          </a:xfrm>
          <a:prstGeom prst="roundRect">
            <a:avLst>
              <a:gd name="adj" fmla="val 8000"/>
            </a:avLst>
          </a:prstGeom>
          <a:solidFill>
            <a:srgbClr val="12448F"/>
          </a:solidFill>
          <a:ln w="12700">
            <a:solidFill>
              <a:srgbClr val="2E5BA8"/>
            </a:solidFill>
            <a:prstDash val="solid"/>
          </a:ln>
        </p:spPr>
        <p:txBody>
          <a:bodyPr/>
          <a:p/>
        </p:txBody>
      </p:sp>
      <p:sp>
        <p:nvSpPr>
          <p:cNvPr id="1668" name="" descr="{&quot;isTemplate&quot;:true,&quot;type&quot;:&quot;text&quot;}"/>
          <p:cNvSpPr txBox="1"/>
          <p:nvPr/>
        </p:nvSpPr>
        <p:spPr>
          <a:xfrm rot="0" flipH="0" flipV="0">
            <a:off x="8191500" y="4686300"/>
            <a:ext cx="3048000" cy="209550"/>
          </a:xfrm>
          <a:prstGeom prst="rect"/>
        </p:spPr>
        <p:txBody>
          <a:bodyPr wrap="none" lIns="0" tIns="0" rIns="0" bIns="0"/>
          <a:p>
            <a:pPr>
              <a:lnSpc>
                <a:spcPct val="100000"/>
              </a:lnSpc>
            </a:pPr>
            <a:r>
              <a:rPr lang="zh-CN" sz="1350" b="1">
                <a:solidFill>
                  <a:srgbClr val="9DB8E0"/>
                </a:solidFill>
                <a:latin typeface="Microsoft YaHei"/>
                <a:ea typeface="Microsoft YaHei"/>
              </a:rPr>
              <a:t>机制与新技术</a:t>
            </a:r>
            <a:endParaRPr/>
          </a:p>
        </p:txBody>
      </p:sp>
      <p:sp>
        <p:nvSpPr>
          <p:cNvPr id="1669" name="" descr="{&quot;isTemplate&quot;:true,&quot;type&quot;:&quot;text&quot;}"/>
          <p:cNvSpPr txBox="1"/>
          <p:nvPr/>
        </p:nvSpPr>
        <p:spPr>
          <a:xfrm rot="0" flipH="0" flipV="0">
            <a:off x="8191500" y="4972050"/>
            <a:ext cx="3048000" cy="257175"/>
          </a:xfrm>
          <a:prstGeom prst="rect"/>
        </p:spPr>
        <p:txBody>
          <a:bodyPr wrap="none" lIns="0" tIns="0" rIns="0" bIns="0"/>
          <a:p>
            <a:pPr>
              <a:lnSpc>
                <a:spcPct val="150000"/>
              </a:lnSpc>
            </a:pPr>
            <a:r>
              <a:rPr lang="zh-CN" sz="1125">
                <a:solidFill>
                  <a:srgbClr val="C7D6EC"/>
                </a:solidFill>
                <a:latin typeface="Microsoft YaHei"/>
                <a:ea typeface="Microsoft YaHei"/>
              </a:rPr>
              <a:t>免疫血栓、微流控与精准抗栓监测</a:t>
            </a:r>
            <a:endParaRPr/>
          </a:p>
        </p:txBody>
      </p:sp>
      <p:sp>
        <p:nvSpPr>
          <p:cNvPr id="1670"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71 / 77</a:t>
            </a:r>
            <a:endParaRPr/>
          </a:p>
        </p:txBody>
      </p:sp>
    </p:spTree>
  </p:cSld>
</p:sld>
</file>

<file path=ppt/slides/slide72.xml><?xml version="1.0" encoding="utf-8"?>
<p:sld xmlns:p="http://schemas.openxmlformats.org/presentationml/2006/main" xmlns:a="http://schemas.openxmlformats.org/drawingml/2006/main">
  <p:cSld>
    <p:spTree>
      <p:nvGrpSpPr>
        <p:cNvPr id="1671" name="" descr="&lt;Slide notes={`演讲者备注：【BARNES-REVIEW41】国际血液学复检共识（41 条）：明确血小板计数触发涂片复检/人工核对的规则（如新发重度减少、仪器报警等），减少假性结果漏报。证据：Lab Hematol 2005;11:83-90，PMID 16024331。&#13;&#10;【ZANDECKI-SPUR】自动化血细胞分析仪血小板部分系统性综述：EDTA 依赖聚集、血小板卫星现象、大血小板漏计等假性结果常见，需直方图/散点图与涂片复检甄别。证据：Int J Lab Hematol 2007;29:4-20，PMID 17224004。&#13;&#10;讲解提示：把“复检规则→AI 分级→危急值解释”画成一条管线；讨论落地时与检验信息化的结合点（LIS 拦截+AI 建议+人工确认）。`}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二章 进展与研究方向&lt;/Text&gt;&#13;&#10;      &lt;Box style={{ width: 1, height: 24, background: '#3D7BD9' }} /&gt;&#13;&#10;      &lt;Text style={{ fontSize: 16, color: '#C7D6EC' }}&gt;AI 与数字化形态学：让“复检规则”更聪明&lt;/Text&gt;&#13;&#10;    &lt;/Box&gt;&#13;&#10;    &lt;Text style={{ position: 'absolute', right: 64, top: 24, fontSize: 15, color: '#9DB8E0' }}&gt;72 / 77&lt;/Text&gt;&#13;&#10;  &lt;/Box&gt;&#13;&#10;  &lt;Box style={{ position: 'absolute', left: 64, top: 96, width: 562, height: 128, background: '#F0F5FC', borderRadius: 12, border: '1px solid #E5E7EB', padding: 20 }}&gt;&#13;&#10;&lt;Text style={{ fontSize: 19, color: '#0E3F8C', fontWeight: 'bold', textAlign: 'left', lineHeight: 1.5 }}&gt;现状&lt;/Text&gt;&#13;&#10;&lt;Text style={{ fontSize: 17, color: '#2C3E50', textAlign: 'left', lineHeight: 1.62 }}&gt;全自动推片染片+数字图像分析已能识别血小板聚集、大血小板、碎片与卫星现象，复检规则（41 条）正在从“人工触发”走向“AI 辅助分级”。&lt;/Text&gt;&#13;&#10;  &lt;/Box&gt;&#13;&#10;  &lt;Box style={{ position: 'absolute', left: 654, top: 96, width: 562, height: 128, background: '#F0F5FC', borderRadius: 12, border: '1px solid #E5E7EB', padding: 20 }}&gt;&#13;&#10;&lt;Text style={{ fontSize: 19, color: '#0E3F8C', fontWeight: 'bold', textAlign: 'left', lineHeight: 1.5 }}&gt;进展&lt;/Text&gt;&#13;&#10;&lt;Text style={{ fontSize: 17, color: '#2C3E50', textAlign: 'left', lineHeight: 1.62 }}&gt;深度学习模型在血小板形态分类/计数纠偏上接近或达到形态学专家水平；AI 可整合直方图、散点图与临床信息给出“假性减少预警”，减少危急值误报。&lt;/Text&gt;&#13;&#10;  &lt;/Box&gt;&#13;&#10;  &lt;Box style={{ position: 'absolute', left: 64, top: 252, width: 562, height: 128, background: '#F0F5FC', borderRadius: 12, border: '1px solid #E5E7EB', padding: 20 }}&gt;&#13;&#10;&lt;Text style={{ fontSize: 19, color: '#0E3F8C', fontWeight: 'bold', textAlign: 'left', lineHeight: 1.5 }}&gt;方向与挑战&lt;/Text&gt;&#13;&#10;&lt;Text style={{ fontSize: 17, color: '#2C3E50', textAlign: 'left', lineHeight: 1.62 }}&gt;需要跨仪器/跨人群的外部验证与标准化数据集；AI 的“黑箱”需保留人工复核与责任边界；最终价值是提高低值计数的可信度与复检效率。&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AI 不会取代形态学，而是让高质量复检“可及化”。&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Lab Hematol 2005;11:83-90 (PMID 16024331)&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672" name=""/>
          <p:cNvSpPr/>
          <p:nvPr/>
        </p:nvSpPr>
        <p:spPr>
          <a:xfrm rot="0" flipH="0" flipV="0">
            <a:off x="0" y="0"/>
            <a:ext cx="12192000" cy="6858000"/>
          </a:xfrm>
          <a:prstGeom prst="rect">
            <a:avLst/>
          </a:prstGeom>
          <a:solidFill>
            <a:srgbClr val="FFFFFF"/>
          </a:solidFill>
          <a:ln/>
        </p:spPr>
        <p:txBody>
          <a:bodyPr/>
          <a:p/>
        </p:txBody>
      </p:sp>
      <p:sp>
        <p:nvSpPr>
          <p:cNvPr id="1673" name=""/>
          <p:cNvSpPr/>
          <p:nvPr/>
        </p:nvSpPr>
        <p:spPr>
          <a:xfrm rot="0" flipH="0" flipV="0">
            <a:off x="0" y="0"/>
            <a:ext cx="12192000" cy="685800"/>
          </a:xfrm>
          <a:prstGeom prst="rect">
            <a:avLst/>
          </a:prstGeom>
          <a:solidFill>
            <a:srgbClr val="0E3F8C"/>
          </a:solidFill>
          <a:ln/>
        </p:spPr>
        <p:txBody>
          <a:bodyPr/>
          <a:p/>
        </p:txBody>
      </p:sp>
      <p:sp>
        <p:nvSpPr>
          <p:cNvPr id="1674" name="" descr="{&quot;isTemplate&quot;:true,&quot;type&quot;:&quot;text&quot;}"/>
          <p:cNvSpPr txBox="1"/>
          <p:nvPr/>
        </p:nvSpPr>
        <p:spPr>
          <a:xfrm rot="0" flipH="0" flipV="0">
            <a:off x="609600" y="219075"/>
            <a:ext cx="1943100" cy="209550"/>
          </a:xfrm>
          <a:prstGeom prst="rect"/>
        </p:spPr>
        <p:txBody>
          <a:bodyPr wrap="none" lIns="0" tIns="0" rIns="0" bIns="0"/>
          <a:p>
            <a:pPr>
              <a:lnSpc>
                <a:spcPct val="100000"/>
              </a:lnSpc>
            </a:pPr>
            <a:r>
              <a:rPr lang="zh-CN" sz="1350" b="1">
                <a:solidFill>
                  <a:srgbClr val="FFFFFF"/>
                </a:solidFill>
                <a:latin typeface="Microsoft YaHei"/>
                <a:ea typeface="Microsoft YaHei"/>
              </a:rPr>
              <a:t>第十二章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进展与研究方向</a:t>
            </a:r>
            <a:endParaRPr/>
          </a:p>
        </p:txBody>
      </p:sp>
      <p:sp>
        <p:nvSpPr>
          <p:cNvPr id="1675" name=""/>
          <p:cNvSpPr/>
          <p:nvPr/>
        </p:nvSpPr>
        <p:spPr>
          <a:xfrm rot="0" flipH="0" flipV="0">
            <a:off x="2705100" y="209550"/>
            <a:ext cx="9525" cy="228600"/>
          </a:xfrm>
          <a:prstGeom prst="rect">
            <a:avLst/>
          </a:prstGeom>
          <a:solidFill>
            <a:srgbClr val="3D7BD9"/>
          </a:solidFill>
          <a:ln/>
        </p:spPr>
        <p:txBody>
          <a:bodyPr/>
          <a:p/>
        </p:txBody>
      </p:sp>
      <p:sp>
        <p:nvSpPr>
          <p:cNvPr id="1676" name="" descr="{&quot;isTemplate&quot;:true,&quot;type&quot;:&quot;text&quot;}"/>
          <p:cNvSpPr txBox="1"/>
          <p:nvPr/>
        </p:nvSpPr>
        <p:spPr>
          <a:xfrm rot="0" flipH="0" flipV="0">
            <a:off x="2867025" y="228600"/>
            <a:ext cx="2943225" cy="190500"/>
          </a:xfrm>
          <a:prstGeom prst="rect"/>
        </p:spPr>
        <p:txBody>
          <a:bodyPr wrap="none" lIns="0" tIns="0" rIns="0" bIns="0"/>
          <a:p>
            <a:pPr>
              <a:lnSpc>
                <a:spcPct val="100000"/>
              </a:lnSpc>
            </a:pPr>
            <a:r>
              <a:rPr lang="en-US" sz="1200">
                <a:solidFill>
                  <a:srgbClr val="C7D6EC"/>
                </a:solidFill>
                <a:latin typeface="Microsoft YaHei"/>
                <a:ea typeface="Microsoft YaHei"/>
              </a:rPr>
              <a:t>AI </a:t>
            </a:r>
            <a:r>
              <a:rPr lang="zh-CN" sz="1200">
                <a:solidFill>
                  <a:srgbClr val="C7D6EC"/>
                </a:solidFill>
                <a:latin typeface="Microsoft YaHei"/>
                <a:ea typeface="Microsoft YaHei"/>
              </a:rPr>
              <a:t>与数字化形态学：让“复检规则”更聪明</a:t>
            </a:r>
            <a:endParaRPr/>
          </a:p>
        </p:txBody>
      </p:sp>
      <p:sp>
        <p:nvSpPr>
          <p:cNvPr id="167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72 / 77</a:t>
            </a:r>
            <a:endParaRPr/>
          </a:p>
        </p:txBody>
      </p:sp>
      <p:sp>
        <p:nvSpPr>
          <p:cNvPr id="167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7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现状</a:t>
            </a:r>
            <a:endParaRPr/>
          </a:p>
        </p:txBody>
      </p:sp>
      <p:sp>
        <p:nvSpPr>
          <p:cNvPr id="1680"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全自动推片染片</a:t>
            </a:r>
            <a:r>
              <a:rPr lang="en-US" sz="1275">
                <a:solidFill>
                  <a:srgbClr val="2C3E50"/>
                </a:solidFill>
                <a:latin typeface="Microsoft YaHei"/>
                <a:ea typeface="Microsoft YaHei"/>
              </a:rPr>
              <a:t>+</a:t>
            </a:r>
            <a:r>
              <a:rPr lang="zh-CN" sz="1275">
                <a:solidFill>
                  <a:srgbClr val="2C3E50"/>
                </a:solidFill>
                <a:latin typeface="Microsoft YaHei"/>
                <a:ea typeface="Microsoft YaHei"/>
              </a:rPr>
              <a:t>数字图像分析已能识别血小板聚集、大血小板、碎片与卫星现象，复检规则（</a:t>
            </a:r>
            <a:r>
              <a:rPr lang="en-US" sz="1275">
                <a:solidFill>
                  <a:srgbClr val="2C3E50"/>
                </a:solidFill>
                <a:latin typeface="Microsoft YaHei"/>
                <a:ea typeface="Microsoft YaHei"/>
              </a:rPr>
              <a:t>41 </a:t>
            </a:r>
            <a:r>
              <a:rPr lang="zh-CN" sz="1275">
                <a:solidFill>
                  <a:srgbClr val="2C3E50"/>
                </a:solidFill>
                <a:latin typeface="Microsoft YaHei"/>
                <a:ea typeface="Microsoft YaHei"/>
              </a:rPr>
              <a:t>条）正在从“人工触发”走向“</a:t>
            </a:r>
            <a:r>
              <a:rPr lang="en-US" sz="1275">
                <a:solidFill>
                  <a:srgbClr val="2C3E50"/>
                </a:solidFill>
                <a:latin typeface="Microsoft YaHei"/>
                <a:ea typeface="Microsoft YaHei"/>
              </a:rPr>
              <a:t>AI </a:t>
            </a:r>
            <a:r>
              <a:rPr lang="zh-CN" sz="1275">
                <a:solidFill>
                  <a:srgbClr val="2C3E50"/>
                </a:solidFill>
                <a:latin typeface="Microsoft YaHei"/>
                <a:ea typeface="Microsoft YaHei"/>
              </a:rPr>
              <a:t>辅助分级”。</a:t>
            </a:r>
            <a:endParaRPr/>
          </a:p>
        </p:txBody>
      </p:sp>
      <p:sp>
        <p:nvSpPr>
          <p:cNvPr id="168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8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进展</a:t>
            </a:r>
            <a:endParaRPr/>
          </a:p>
        </p:txBody>
      </p:sp>
      <p:sp>
        <p:nvSpPr>
          <p:cNvPr id="1683"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深度学习模型在血小板形态分类</a:t>
            </a:r>
            <a:r>
              <a:rPr lang="en-US" sz="1275">
                <a:solidFill>
                  <a:srgbClr val="2C3E50"/>
                </a:solidFill>
                <a:latin typeface="Microsoft YaHei"/>
                <a:ea typeface="Microsoft YaHei"/>
              </a:rPr>
              <a:t>/</a:t>
            </a:r>
            <a:r>
              <a:rPr lang="zh-CN" sz="1275">
                <a:solidFill>
                  <a:srgbClr val="2C3E50"/>
                </a:solidFill>
                <a:latin typeface="Microsoft YaHei"/>
                <a:ea typeface="Microsoft YaHei"/>
              </a:rPr>
              <a:t>计数纠偏上接近或达到形态学专家水平；</a:t>
            </a:r>
            <a:r>
              <a:rPr lang="en-US" sz="1275">
                <a:solidFill>
                  <a:srgbClr val="2C3E50"/>
                </a:solidFill>
                <a:latin typeface="Microsoft YaHei"/>
                <a:ea typeface="Microsoft YaHei"/>
              </a:rPr>
              <a:t>AI </a:t>
            </a:r>
            <a:r>
              <a:rPr lang="zh-CN" sz="1275">
                <a:solidFill>
                  <a:srgbClr val="2C3E50"/>
                </a:solidFill>
                <a:latin typeface="Microsoft YaHei"/>
                <a:ea typeface="Microsoft YaHei"/>
              </a:rPr>
              <a:t>可整合直方图、散点图与临床信息给出“假性减少预警”，减少危急值误报。</a:t>
            </a:r>
            <a:endParaRPr/>
          </a:p>
        </p:txBody>
      </p:sp>
      <p:sp>
        <p:nvSpPr>
          <p:cNvPr id="168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8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方向与挑战</a:t>
            </a:r>
            <a:endParaRPr/>
          </a:p>
        </p:txBody>
      </p:sp>
      <p:sp>
        <p:nvSpPr>
          <p:cNvPr id="1686"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需要跨仪器</a:t>
            </a:r>
            <a:r>
              <a:rPr lang="en-US" sz="1275">
                <a:solidFill>
                  <a:srgbClr val="2C3E50"/>
                </a:solidFill>
                <a:latin typeface="Microsoft YaHei"/>
                <a:ea typeface="Microsoft YaHei"/>
              </a:rPr>
              <a:t>/</a:t>
            </a:r>
            <a:r>
              <a:rPr lang="zh-CN" sz="1275">
                <a:solidFill>
                  <a:srgbClr val="2C3E50"/>
                </a:solidFill>
                <a:latin typeface="Microsoft YaHei"/>
                <a:ea typeface="Microsoft YaHei"/>
              </a:rPr>
              <a:t>跨人群的外部验证与标准化数据集；</a:t>
            </a:r>
            <a:r>
              <a:rPr lang="en-US" sz="1275">
                <a:solidFill>
                  <a:srgbClr val="2C3E50"/>
                </a:solidFill>
                <a:latin typeface="Microsoft YaHei"/>
                <a:ea typeface="Microsoft YaHei"/>
              </a:rPr>
              <a:t>AI </a:t>
            </a:r>
            <a:r>
              <a:rPr lang="zh-CN" sz="1275">
                <a:solidFill>
                  <a:srgbClr val="2C3E50"/>
                </a:solidFill>
                <a:latin typeface="Microsoft YaHei"/>
                <a:ea typeface="Microsoft YaHei"/>
              </a:rPr>
              <a:t>的“黑箱”需保留人工复核与责任边界；最终价值是提高低值计数的可信度与复检效率。</a:t>
            </a:r>
            <a:endParaRPr/>
          </a:p>
        </p:txBody>
      </p:sp>
      <p:sp>
        <p:nvSpPr>
          <p:cNvPr id="168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8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68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69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691"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AI </a:t>
            </a:r>
            <a:r>
              <a:rPr lang="zh-CN" sz="1425" b="1">
                <a:solidFill>
                  <a:srgbClr val="0E3F8C"/>
                </a:solidFill>
                <a:latin typeface="Microsoft YaHei"/>
                <a:ea typeface="Microsoft YaHei"/>
              </a:rPr>
              <a:t>不会取代形态学，而是让高质量复检“可及化”。</a:t>
            </a:r>
            <a:endParaRPr/>
          </a:p>
        </p:txBody>
      </p:sp>
      <p:sp>
        <p:nvSpPr>
          <p:cNvPr id="1692"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693"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694"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Lab Hematol 2005;11:83-90 (PMID 16024331)</a:t>
            </a:r>
            <a:endParaRPr/>
          </a:p>
        </p:txBody>
      </p:sp>
      <p:sp>
        <p:nvSpPr>
          <p:cNvPr id="1695" name=""/>
          <p:cNvSpPr/>
          <p:nvPr/>
        </p:nvSpPr>
        <p:spPr>
          <a:xfrm rot="0" flipH="0" flipV="0">
            <a:off x="0" y="6324600"/>
            <a:ext cx="12192000" cy="342900"/>
          </a:xfrm>
          <a:prstGeom prst="rect">
            <a:avLst/>
          </a:prstGeom>
          <a:solidFill>
            <a:srgbClr val="F7F9FC"/>
          </a:solidFill>
          <a:ln/>
        </p:spPr>
        <p:txBody>
          <a:bodyPr/>
          <a:p/>
        </p:txBody>
      </p:sp>
      <p:sp>
        <p:nvSpPr>
          <p:cNvPr id="1696"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697"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3.xml><?xml version="1.0" encoding="utf-8"?>
<p:sld xmlns:p="http://schemas.openxmlformats.org/presentationml/2006/main" xmlns:a="http://schemas.openxmlformats.org/drawingml/2006/main">
  <p:cSld>
    <p:spTree>
      <p:nvGrpSpPr>
        <p:cNvPr id="1698" name="" descr="&lt;Slide notes={`演讲者备注：【HOFFMANN-IPF】网织血小板/IPF 反映血小板生成活性：在化疗/移植后恢复预测、ITP 与再生障碍性血小板减少鉴别中具有临床价值，但方法间可比性仍受限。证据：Clin Chem Lab Med 2014;52:1107-1117，PMID 24807169。&#13;&#10;讲解提示：展示化疗周期中“IPF 先升→计数 3—5 天后回升”的示意图；强调动态而非单点解读（呼应第九章）。`}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二章 进展与研究方向&lt;/Text&gt;&#13;&#10;      &lt;Box style={{ width: 1, height: 24, background: '#3D7BD9' }} /&gt;&#13;&#10;      &lt;Text style={{ fontSize: 16, color: '#C7D6EC' }}&gt;IPF/网织血小板：从参数走向预警标志物&lt;/Text&gt;&#13;&#10;    &lt;/Box&gt;&#13;&#10;    &lt;Text style={{ position: 'absolute', right: 64, top: 24, fontSize: 15, color: '#9DB8E0' }}&gt;73 / 77&lt;/Text&gt;&#13;&#10;  &lt;/Box&gt;&#13;&#10;  &lt;Box style={{ position: 'absolute', left: 64, top: 96, width: 562, height: 128, background: '#F0F5FC', borderRadius: 12, border: '1px solid #E5E7EB', padding: 20 }}&gt;&#13;&#10;&lt;Text style={{ fontSize: 19, color: '#0E3F8C', fontWeight: 'bold', textAlign: 'left', lineHeight: 1.5 }}&gt;成熟应用&lt;/Text&gt;&#13;&#10;&lt;Text style={{ fontSize: 17, color: '#2C3E50', textAlign: 'left', lineHeight: 1.62 }}&gt;化疗/移植后预测血小板恢复、评估巨核细胞生成活性已进入常规（Sysmex 等平台）；HSCT 植入早期 IPF 上升先于计数，可优化预防性输注“停输点”。&lt;/Text&gt;&#13;&#10;  &lt;/Box&gt;&#13;&#10;  &lt;Box style={{ position: 'absolute', left: 654, top: 96, width: 562, height: 128, background: '#F0F5FC', borderRadius: 12, border: '1px solid #E5E7EB', padding: 20 }}&gt;&#13;&#10;&lt;Text style={{ fontSize: 19, color: '#0E3F8C', fontWeight: 'bold', textAlign: 'left', lineHeight: 1.5 }}&gt;新证据方向&lt;/Text&gt;&#13;&#10;&lt;Text style={{ fontSize: 17, color: '#2C3E50', textAlign: 'left', lineHeight: 1.62 }}&gt;IPF 作为脓毒症/DIC 的预后标志、急性冠脉综合征的结局预测、以及 ITP 疗效早期评估的探索研究不断增多；多中心标准化（参考区间、方法间可比性）是推广前提。&lt;/Text&gt;&#13;&#10;  &lt;/Box&gt;&#13;&#10;  &lt;Box style={{ position: 'absolute', left: 64, top: 252, width: 562, height: 128, background: '#F0F5FC', borderRadius: 12, border: '1px solid #E5E7EB', padding: 20 }}&gt;&#13;&#10;&lt;Text style={{ fontSize: 19, color: '#0E3F8C', fontWeight: 'bold', textAlign: 'left', lineHeight: 1.5 }}&gt;落地建议&lt;/Text&gt;&#13;&#10;&lt;Text style={{ fontSize: 17, color: '#2C3E50', textAlign: 'left', lineHeight: 1.62 }}&gt;把 IPF 加入“化疗后随访”与“ITP 鉴别”的检验套餐，并用 Δ 规则（IPF 持续升高提示恢复启动）驱动输注决策。&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9, color: '#0E3F8C', fontWeight: 'bold', textAlign: 'left', lineHeight: 1.5 }}&gt;IPF 把“骨髓在努力吗”变成可动态回答的问题。&lt;/Text&gt;&#13;&#10;&lt;Text style={{ fontSize: 17, color: '#2C3E50', textAlign: 'left', lineHeight: 1.62 }}&gt;&lt;/Text&gt;&#13;&#10;  &lt;/Box&gt;&#13;&#10;&#13;&#10;  &lt;Box style={{ position: 'absolute', left: 64, top: 556, width: 1152, height: 92, background: '#F0F5FC', borderRadius: 12, border: '1px solid #E5E7EB', padding: 20 }}&gt;&#13;&#10;&lt;Text style={{ fontSize: 17, color: '#2C3E50', textAlign: 'left', lineHeight: 1.6 }}&gt;小结：Clin Chem Lab Med 2014;52:1107-1117 (PMID 24807169)&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699" name=""/>
          <p:cNvSpPr/>
          <p:nvPr/>
        </p:nvSpPr>
        <p:spPr>
          <a:xfrm rot="0" flipH="0" flipV="0">
            <a:off x="0" y="0"/>
            <a:ext cx="12192000" cy="6858000"/>
          </a:xfrm>
          <a:prstGeom prst="rect">
            <a:avLst/>
          </a:prstGeom>
          <a:solidFill>
            <a:srgbClr val="FFFFFF"/>
          </a:solidFill>
          <a:ln/>
        </p:spPr>
        <p:txBody>
          <a:bodyPr/>
          <a:p/>
        </p:txBody>
      </p:sp>
      <p:sp>
        <p:nvSpPr>
          <p:cNvPr id="1700" name=""/>
          <p:cNvSpPr/>
          <p:nvPr/>
        </p:nvSpPr>
        <p:spPr>
          <a:xfrm rot="0" flipH="0" flipV="0">
            <a:off x="0" y="0"/>
            <a:ext cx="12192000" cy="685800"/>
          </a:xfrm>
          <a:prstGeom prst="rect">
            <a:avLst/>
          </a:prstGeom>
          <a:solidFill>
            <a:srgbClr val="0E3F8C"/>
          </a:solidFill>
          <a:ln/>
        </p:spPr>
        <p:txBody>
          <a:bodyPr/>
          <a:p/>
        </p:txBody>
      </p:sp>
      <p:sp>
        <p:nvSpPr>
          <p:cNvPr id="1701" name="" descr="{&quot;isTemplate&quot;:true,&quot;type&quot;:&quot;text&quot;}"/>
          <p:cNvSpPr txBox="1"/>
          <p:nvPr/>
        </p:nvSpPr>
        <p:spPr>
          <a:xfrm rot="0" flipH="0" flipV="0">
            <a:off x="609600" y="219075"/>
            <a:ext cx="1943100" cy="209550"/>
          </a:xfrm>
          <a:prstGeom prst="rect"/>
        </p:spPr>
        <p:txBody>
          <a:bodyPr wrap="none" lIns="0" tIns="0" rIns="0" bIns="0"/>
          <a:p>
            <a:pPr>
              <a:lnSpc>
                <a:spcPct val="100000"/>
              </a:lnSpc>
            </a:pPr>
            <a:r>
              <a:rPr lang="zh-CN" sz="1350" b="1">
                <a:solidFill>
                  <a:srgbClr val="FFFFFF"/>
                </a:solidFill>
                <a:latin typeface="Microsoft YaHei"/>
                <a:ea typeface="Microsoft YaHei"/>
              </a:rPr>
              <a:t>第十二章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进展与研究方向</a:t>
            </a:r>
            <a:endParaRPr/>
          </a:p>
        </p:txBody>
      </p:sp>
      <p:sp>
        <p:nvSpPr>
          <p:cNvPr id="1702" name=""/>
          <p:cNvSpPr/>
          <p:nvPr/>
        </p:nvSpPr>
        <p:spPr>
          <a:xfrm rot="0" flipH="0" flipV="0">
            <a:off x="2705100" y="209550"/>
            <a:ext cx="9525" cy="228600"/>
          </a:xfrm>
          <a:prstGeom prst="rect">
            <a:avLst/>
          </a:prstGeom>
          <a:solidFill>
            <a:srgbClr val="3D7BD9"/>
          </a:solidFill>
          <a:ln/>
        </p:spPr>
        <p:txBody>
          <a:bodyPr/>
          <a:p/>
        </p:txBody>
      </p:sp>
      <p:sp>
        <p:nvSpPr>
          <p:cNvPr id="1703" name="" descr="{&quot;isTemplate&quot;:true,&quot;type&quot;:&quot;text&quot;}"/>
          <p:cNvSpPr txBox="1"/>
          <p:nvPr/>
        </p:nvSpPr>
        <p:spPr>
          <a:xfrm rot="0" flipH="0" flipV="0">
            <a:off x="2867025" y="228600"/>
            <a:ext cx="2724150" cy="190500"/>
          </a:xfrm>
          <a:prstGeom prst="rect"/>
        </p:spPr>
        <p:txBody>
          <a:bodyPr wrap="none" lIns="0" tIns="0" rIns="0" bIns="0"/>
          <a:p>
            <a:pPr>
              <a:lnSpc>
                <a:spcPct val="100000"/>
              </a:lnSpc>
            </a:pPr>
            <a:r>
              <a:rPr lang="en-US" sz="1200">
                <a:solidFill>
                  <a:srgbClr val="C7D6EC"/>
                </a:solidFill>
                <a:latin typeface="Microsoft YaHei"/>
                <a:ea typeface="Microsoft YaHei"/>
              </a:rPr>
              <a:t>IPF/</a:t>
            </a:r>
            <a:r>
              <a:rPr lang="zh-CN" sz="1200">
                <a:solidFill>
                  <a:srgbClr val="C7D6EC"/>
                </a:solidFill>
                <a:latin typeface="Microsoft YaHei"/>
                <a:ea typeface="Microsoft YaHei"/>
              </a:rPr>
              <a:t>网织血小板：从参数走向预警标志物</a:t>
            </a:r>
            <a:endParaRPr/>
          </a:p>
        </p:txBody>
      </p:sp>
      <p:sp>
        <p:nvSpPr>
          <p:cNvPr id="1704"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73 / 77</a:t>
            </a:r>
            <a:endParaRPr/>
          </a:p>
        </p:txBody>
      </p:sp>
      <p:sp>
        <p:nvSpPr>
          <p:cNvPr id="1705"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06"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成熟应用</a:t>
            </a:r>
            <a:endParaRPr/>
          </a:p>
        </p:txBody>
      </p:sp>
      <p:sp>
        <p:nvSpPr>
          <p:cNvPr id="1707"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化疗</a:t>
            </a:r>
            <a:r>
              <a:rPr lang="en-US" sz="1275">
                <a:solidFill>
                  <a:srgbClr val="2C3E50"/>
                </a:solidFill>
                <a:latin typeface="Microsoft YaHei"/>
                <a:ea typeface="Microsoft YaHei"/>
              </a:rPr>
              <a:t>/</a:t>
            </a:r>
            <a:r>
              <a:rPr lang="zh-CN" sz="1275">
                <a:solidFill>
                  <a:srgbClr val="2C3E50"/>
                </a:solidFill>
                <a:latin typeface="Microsoft YaHei"/>
                <a:ea typeface="Microsoft YaHei"/>
              </a:rPr>
              <a:t>移植后预测血小板恢复、评估巨核细胞生成活性已进入常规（</a:t>
            </a:r>
            <a:r>
              <a:rPr lang="en-US" sz="1275">
                <a:solidFill>
                  <a:srgbClr val="2C3E50"/>
                </a:solidFill>
                <a:latin typeface="Microsoft YaHei"/>
                <a:ea typeface="Microsoft YaHei"/>
              </a:rPr>
              <a:t>Sysmex </a:t>
            </a:r>
            <a:r>
              <a:rPr lang="zh-CN" sz="1275">
                <a:solidFill>
                  <a:srgbClr val="2C3E50"/>
                </a:solidFill>
                <a:latin typeface="Microsoft YaHei"/>
                <a:ea typeface="Microsoft YaHei"/>
              </a:rPr>
              <a:t>等平台）；</a:t>
            </a:r>
            <a:r>
              <a:rPr lang="en-US" sz="1275">
                <a:solidFill>
                  <a:srgbClr val="2C3E50"/>
                </a:solidFill>
                <a:latin typeface="Microsoft YaHei"/>
                <a:ea typeface="Microsoft YaHei"/>
              </a:rPr>
              <a:t>HSCT </a:t>
            </a:r>
            <a:r>
              <a:rPr lang="zh-CN" sz="1275">
                <a:solidFill>
                  <a:srgbClr val="2C3E50"/>
                </a:solidFill>
                <a:latin typeface="Microsoft YaHei"/>
                <a:ea typeface="Microsoft YaHei"/>
              </a:rPr>
              <a:t>植入早期</a:t>
            </a:r>
            <a:r>
              <a:rPr lang="en-US" sz="1275">
                <a:solidFill>
                  <a:srgbClr val="2C3E50"/>
                </a:solidFill>
                <a:latin typeface="Microsoft YaHei"/>
                <a:ea typeface="Microsoft YaHei"/>
              </a:rPr>
              <a:t> IPF </a:t>
            </a:r>
            <a:r>
              <a:rPr lang="zh-CN" sz="1275">
                <a:solidFill>
                  <a:srgbClr val="2C3E50"/>
                </a:solidFill>
                <a:latin typeface="Microsoft YaHei"/>
                <a:ea typeface="Microsoft YaHei"/>
              </a:rPr>
              <a:t>上升先于计数，可优化预防性输注“停输点”。</a:t>
            </a:r>
            <a:endParaRPr/>
          </a:p>
        </p:txBody>
      </p:sp>
      <p:sp>
        <p:nvSpPr>
          <p:cNvPr id="1708"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09"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新证据方向</a:t>
            </a:r>
            <a:endParaRPr/>
          </a:p>
        </p:txBody>
      </p:sp>
      <p:sp>
        <p:nvSpPr>
          <p:cNvPr id="1710"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en-US" sz="1275">
                <a:solidFill>
                  <a:srgbClr val="2C3E50"/>
                </a:solidFill>
                <a:latin typeface="Microsoft YaHei"/>
                <a:ea typeface="Microsoft YaHei"/>
              </a:rPr>
              <a:t>IPF </a:t>
            </a:r>
            <a:r>
              <a:rPr lang="zh-CN" sz="1275">
                <a:solidFill>
                  <a:srgbClr val="2C3E50"/>
                </a:solidFill>
                <a:latin typeface="Microsoft YaHei"/>
                <a:ea typeface="Microsoft YaHei"/>
              </a:rPr>
              <a:t>作为脓毒症</a:t>
            </a:r>
            <a:r>
              <a:rPr lang="en-US" sz="1275">
                <a:solidFill>
                  <a:srgbClr val="2C3E50"/>
                </a:solidFill>
                <a:latin typeface="Microsoft YaHei"/>
                <a:ea typeface="Microsoft YaHei"/>
              </a:rPr>
              <a:t>/DIC </a:t>
            </a:r>
            <a:r>
              <a:rPr lang="zh-CN" sz="1275">
                <a:solidFill>
                  <a:srgbClr val="2C3E50"/>
                </a:solidFill>
                <a:latin typeface="Microsoft YaHei"/>
                <a:ea typeface="Microsoft YaHei"/>
              </a:rPr>
              <a:t>的预后标志、急性冠脉综合征的结局预测、以及</a:t>
            </a:r>
            <a:r>
              <a:rPr lang="en-US" sz="1275">
                <a:solidFill>
                  <a:srgbClr val="2C3E50"/>
                </a:solidFill>
                <a:latin typeface="Microsoft YaHei"/>
                <a:ea typeface="Microsoft YaHei"/>
              </a:rPr>
              <a:t> ITP </a:t>
            </a:r>
            <a:r>
              <a:rPr lang="zh-CN" sz="1275">
                <a:solidFill>
                  <a:srgbClr val="2C3E50"/>
                </a:solidFill>
                <a:latin typeface="Microsoft YaHei"/>
                <a:ea typeface="Microsoft YaHei"/>
              </a:rPr>
              <a:t>疗效早期评估的探索研究不断增多；多中心标准化（参考区间、方法间可比性）是推广前提。</a:t>
            </a:r>
            <a:endParaRPr/>
          </a:p>
        </p:txBody>
      </p:sp>
      <p:sp>
        <p:nvSpPr>
          <p:cNvPr id="1711"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12"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落地建议</a:t>
            </a:r>
            <a:endParaRPr/>
          </a:p>
        </p:txBody>
      </p:sp>
      <p:sp>
        <p:nvSpPr>
          <p:cNvPr id="1713" name="" descr="{&quot;isTemplate&quot;:true,&quot;type&quot;:&quot;text&quot;}"/>
          <p:cNvSpPr txBox="1"/>
          <p:nvPr/>
        </p:nvSpPr>
        <p:spPr>
          <a:xfrm rot="0" flipH="0" flipV="0">
            <a:off x="800100" y="29241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把</a:t>
            </a:r>
            <a:r>
              <a:rPr lang="en-US" sz="1275">
                <a:solidFill>
                  <a:srgbClr val="2C3E50"/>
                </a:solidFill>
                <a:latin typeface="Microsoft YaHei"/>
                <a:ea typeface="Microsoft YaHei"/>
              </a:rPr>
              <a:t> IPF </a:t>
            </a:r>
            <a:r>
              <a:rPr lang="zh-CN" sz="1275">
                <a:solidFill>
                  <a:srgbClr val="2C3E50"/>
                </a:solidFill>
                <a:latin typeface="Microsoft YaHei"/>
                <a:ea typeface="Microsoft YaHei"/>
              </a:rPr>
              <a:t>加入“化疗后随访”与“</a:t>
            </a:r>
            <a:r>
              <a:rPr lang="en-US" sz="1275">
                <a:solidFill>
                  <a:srgbClr val="2C3E50"/>
                </a:solidFill>
                <a:latin typeface="Microsoft YaHei"/>
                <a:ea typeface="Microsoft YaHei"/>
              </a:rPr>
              <a:t>ITP </a:t>
            </a:r>
            <a:r>
              <a:rPr lang="zh-CN" sz="1275">
                <a:solidFill>
                  <a:srgbClr val="2C3E50"/>
                </a:solidFill>
                <a:latin typeface="Microsoft YaHei"/>
                <a:ea typeface="Microsoft YaHei"/>
              </a:rPr>
              <a:t>鉴别”的检验套餐，并用</a:t>
            </a:r>
            <a:r>
              <a:rPr lang="en-US" sz="1275">
                <a:solidFill>
                  <a:srgbClr val="2C3E50"/>
                </a:solidFill>
                <a:latin typeface="Microsoft YaHei"/>
                <a:ea typeface="Microsoft YaHei"/>
              </a:rPr>
              <a:t> Δ </a:t>
            </a:r>
            <a:r>
              <a:rPr lang="zh-CN" sz="1275">
                <a:solidFill>
                  <a:srgbClr val="2C3E50"/>
                </a:solidFill>
                <a:latin typeface="Microsoft YaHei"/>
                <a:ea typeface="Microsoft YaHei"/>
              </a:rPr>
              <a:t>规则（</a:t>
            </a:r>
            <a:r>
              <a:rPr lang="en-US" sz="1275">
                <a:solidFill>
                  <a:srgbClr val="2C3E50"/>
                </a:solidFill>
                <a:latin typeface="Microsoft YaHei"/>
                <a:ea typeface="Microsoft YaHei"/>
              </a:rPr>
              <a:t>IPF </a:t>
            </a:r>
            <a:r>
              <a:rPr lang="zh-CN" sz="1275">
                <a:solidFill>
                  <a:srgbClr val="2C3E50"/>
                </a:solidFill>
                <a:latin typeface="Microsoft YaHei"/>
                <a:ea typeface="Microsoft YaHei"/>
              </a:rPr>
              <a:t>持续升高提示恢复启动）驱动输注决策。</a:t>
            </a:r>
            <a:endParaRPr/>
          </a:p>
        </p:txBody>
      </p:sp>
      <p:sp>
        <p:nvSpPr>
          <p:cNvPr id="1714"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15"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716"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717"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18" name="" descr="{&quot;isTemplate&quot;:true,&quot;type&quot;:&quot;text&quot;}"/>
          <p:cNvSpPr txBox="1"/>
          <p:nvPr/>
        </p:nvSpPr>
        <p:spPr>
          <a:xfrm rot="0" flipH="0" flipV="0">
            <a:off x="800100" y="4076700"/>
            <a:ext cx="4972050" cy="333375"/>
          </a:xfrm>
          <a:prstGeom prst="rect"/>
        </p:spPr>
        <p:txBody>
          <a:bodyPr wrap="none" lIns="0" tIns="0" rIns="0" bIns="0"/>
          <a:p>
            <a:pPr algn="l">
              <a:lnSpc>
                <a:spcPct val="150000"/>
              </a:lnSpc>
            </a:pPr>
            <a:r>
              <a:rPr lang="en-US" sz="1425" b="1">
                <a:solidFill>
                  <a:srgbClr val="0E3F8C"/>
                </a:solidFill>
                <a:latin typeface="Microsoft YaHei"/>
                <a:ea typeface="Microsoft YaHei"/>
              </a:rPr>
              <a:t>IPF </a:t>
            </a:r>
            <a:r>
              <a:rPr lang="zh-CN" sz="1425" b="1">
                <a:solidFill>
                  <a:srgbClr val="0E3F8C"/>
                </a:solidFill>
                <a:latin typeface="Microsoft YaHei"/>
                <a:ea typeface="Microsoft YaHei"/>
              </a:rPr>
              <a:t>把“骨髓在努力吗”变成可动态回答的问题。</a:t>
            </a:r>
            <a:endParaRPr/>
          </a:p>
        </p:txBody>
      </p:sp>
      <p:sp>
        <p:nvSpPr>
          <p:cNvPr id="1719" name="" descr="{&quot;isTemplate&quot;:true,&quot;type&quot;:&quot;text&quot;}"/>
          <p:cNvSpPr txBox="1"/>
          <p:nvPr/>
        </p:nvSpPr>
        <p:spPr>
          <a:xfrm rot="0" flipH="0" flipV="0">
            <a:off x="800100" y="4410075"/>
            <a:ext cx="4972050" cy="0"/>
          </a:xfrm>
          <a:prstGeom prst="rect"/>
        </p:spPr>
        <p:txBody>
          <a:bodyPr wrap="none" lIns="0" tIns="0" rIns="0" bIns="0"/>
          <a:p>
            <a:pPr/>
            <a:endParaRPr/>
          </a:p>
        </p:txBody>
      </p:sp>
      <p:sp>
        <p:nvSpPr>
          <p:cNvPr id="1720"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721"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Clin Chem Lab Med 2014;52:1107-1117 (PMID 24807169)</a:t>
            </a:r>
            <a:endParaRPr/>
          </a:p>
        </p:txBody>
      </p:sp>
      <p:sp>
        <p:nvSpPr>
          <p:cNvPr id="1722" name=""/>
          <p:cNvSpPr/>
          <p:nvPr/>
        </p:nvSpPr>
        <p:spPr>
          <a:xfrm rot="0" flipH="0" flipV="0">
            <a:off x="0" y="6324600"/>
            <a:ext cx="12192000" cy="342900"/>
          </a:xfrm>
          <a:prstGeom prst="rect">
            <a:avLst/>
          </a:prstGeom>
          <a:solidFill>
            <a:srgbClr val="F7F9FC"/>
          </a:solidFill>
          <a:ln/>
        </p:spPr>
        <p:txBody>
          <a:bodyPr/>
          <a:p/>
        </p:txBody>
      </p:sp>
      <p:sp>
        <p:nvSpPr>
          <p:cNvPr id="1723"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724"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4.xml><?xml version="1.0" encoding="utf-8"?>
<p:sld xmlns:p="http://schemas.openxmlformats.org/presentationml/2006/main" xmlns:a="http://schemas.openxmlformats.org/drawingml/2006/main">
  <p:cSld>
    <p:spTree>
      <p:nvGrpSpPr>
        <p:cNvPr id="1725" name="" descr="&lt;Slide notes={`演讲者备注：【ENGELMANN-INNATE】血小板是固有免疫与血栓形成的交汇节点：通过 P-选择素、聚磷酸盐、趋化因子与中性粒细胞 NETs 互作参与免疫血栓（immunothrombosis）。证据：Nat Rev Immunol 2013;13:34-45，PMID 23222502。&#13;&#10;讲解提示：用 COVID-19 的血栓并发症引出“血小板活化×炎症”的临床直觉；指出 IPF/微粒/活化标志可能成为危重症风险分层的组合工具。`}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二章 进展与研究方向&lt;/Text&gt;&#13;&#10;      &lt;Box style={{ width: 1, height: 24, background: '#3D7BD9' }} /&gt;&#13;&#10;      &lt;Text style={{ fontSize: 16, color: '#C7D6EC' }}&gt;血小板与免疫血栓：机制的新地图&lt;/Text&gt;&#13;&#10;    &lt;/Box&gt;&#13;&#10;    &lt;Text style={{ position: 'absolute', right: 64, top: 24, fontSize: 15, color: '#9DB8E0' }}&gt;74 / 77&lt;/Text&gt;&#13;&#10;  &lt;/Box&gt;&#13;&#10;  &lt;Box style={{ position: 'absolute', left: 64, top: 96, width: 562, height: 128, background: '#F0F5FC', borderRadius: 12, border: '1px solid #E5E7EB', padding: 20 }}&gt;&#13;&#10;&lt;Text style={{ fontSize: 19, color: '#0E3F8C', fontWeight: 'bold', textAlign: 'left', lineHeight: 1.5 }}&gt;概念&lt;/Text&gt;&#13;&#10;&lt;Text style={{ fontSize: 17, color: '#2C3E50', textAlign: 'left', lineHeight: 1.62 }}&gt;免疫血栓（immunothrombosis）：血小板经 P-选择素、聚磷酸盐与中性粒细胞 NETs 互作，把止血系统卷进感染/炎症——脓毒症 DIC、COVID-19 血栓与静脉血栓都含此机制。&lt;/Text&gt;&#13;&#10;  &lt;/Box&gt;&#13;&#10;  &lt;Box style={{ position: 'absolute', left: 654, top: 96, width: 562, height: 128, background: '#F0F5FC', borderRadius: 12, border: '1px solid #E5E7EB', padding: 20 }}&gt;&#13;&#10;&lt;Text style={{ fontSize: 19, color: '#0E3F8C', fontWeight: 'bold', textAlign: 'left', lineHeight: 1.5 }}&gt;临床意义&lt;/Text&gt;&#13;&#10;&lt;Text style={{ fontSize: 17, color: '#2C3E50', textAlign: 'left', lineHeight: 1.62 }}&gt;血小板不再是“被动”的止血细胞：其活化标志与微粒可作为炎症-血栓负荷的生物标志；抗血小板药在脓毒症/COVID 中的研究提示血小板是潜在治疗靶点。&lt;/Text&gt;&#13;&#10;  &lt;/Box&gt;&#13;&#10;  &lt;Box style={{ position: 'absolute', left: 64, top: 252, width: 562, height: 128, background: '#F0F5FC', borderRadius: 12, border: '1px solid #E5E7EB', padding: 20 }}&gt;&#13;&#10;&lt;Text style={{ fontSize: 19, color: '#0E3F8C', fontWeight: 'bold', textAlign: 'left', lineHeight: 1.5 }}&gt;方向&lt;/Text&gt;&#13;&#10;&lt;Text style={{ fontSize: 17, color: '#2C3E50', textAlign: 'left', lineHeight: 1.62 }}&gt;靶向“血小板-中性粒细胞”互作（如 P-选择素/PSGL-1）、NETs 与血小板微粒清除策略处于转化研究阶段；检验侧则需开发“血栓-炎症表型”联合评估工具。&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理解免疫血栓，让“血小板增多/活化”从单纯计数问题升级为炎症管理问题。&lt;/Text&gt;&#13;&#10;  &lt;/Box&gt;&#13;&#10;&#13;&#10;  &lt;Box style={{ position: 'absolute', left: 64, top: 556, width: 1152, height: 92, background: '#F0F5FC', borderRadius: 12, border: '1px solid #E5E7EB', padding: 20 }}&gt;&#13;&#10;&lt;Text style={{ fontSize: 17, color: '#2C3E50', textAlign: 'left', lineHeight: 1.6 }}&gt;小结：Nat Rev Immunol 2013;13:34-45 (PMID 23222502)&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726" name=""/>
          <p:cNvSpPr/>
          <p:nvPr/>
        </p:nvSpPr>
        <p:spPr>
          <a:xfrm rot="0" flipH="0" flipV="0">
            <a:off x="0" y="0"/>
            <a:ext cx="12192000" cy="6858000"/>
          </a:xfrm>
          <a:prstGeom prst="rect">
            <a:avLst/>
          </a:prstGeom>
          <a:solidFill>
            <a:srgbClr val="FFFFFF"/>
          </a:solidFill>
          <a:ln/>
        </p:spPr>
        <p:txBody>
          <a:bodyPr/>
          <a:p/>
        </p:txBody>
      </p:sp>
      <p:sp>
        <p:nvSpPr>
          <p:cNvPr id="1727" name=""/>
          <p:cNvSpPr/>
          <p:nvPr/>
        </p:nvSpPr>
        <p:spPr>
          <a:xfrm rot="0" flipH="0" flipV="0">
            <a:off x="0" y="0"/>
            <a:ext cx="12192000" cy="685800"/>
          </a:xfrm>
          <a:prstGeom prst="rect">
            <a:avLst/>
          </a:prstGeom>
          <a:solidFill>
            <a:srgbClr val="0E3F8C"/>
          </a:solidFill>
          <a:ln/>
        </p:spPr>
        <p:txBody>
          <a:bodyPr/>
          <a:p/>
        </p:txBody>
      </p:sp>
      <p:sp>
        <p:nvSpPr>
          <p:cNvPr id="1728" name="" descr="{&quot;isTemplate&quot;:true,&quot;type&quot;:&quot;text&quot;}"/>
          <p:cNvSpPr txBox="1"/>
          <p:nvPr/>
        </p:nvSpPr>
        <p:spPr>
          <a:xfrm rot="0" flipH="0" flipV="0">
            <a:off x="609600" y="219075"/>
            <a:ext cx="1943100" cy="209550"/>
          </a:xfrm>
          <a:prstGeom prst="rect"/>
        </p:spPr>
        <p:txBody>
          <a:bodyPr wrap="none" lIns="0" tIns="0" rIns="0" bIns="0"/>
          <a:p>
            <a:pPr>
              <a:lnSpc>
                <a:spcPct val="100000"/>
              </a:lnSpc>
            </a:pPr>
            <a:r>
              <a:rPr lang="zh-CN" sz="1350" b="1">
                <a:solidFill>
                  <a:srgbClr val="FFFFFF"/>
                </a:solidFill>
                <a:latin typeface="Microsoft YaHei"/>
                <a:ea typeface="Microsoft YaHei"/>
              </a:rPr>
              <a:t>第十二章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进展与研究方向</a:t>
            </a:r>
            <a:endParaRPr/>
          </a:p>
        </p:txBody>
      </p:sp>
      <p:sp>
        <p:nvSpPr>
          <p:cNvPr id="1729" name=""/>
          <p:cNvSpPr/>
          <p:nvPr/>
        </p:nvSpPr>
        <p:spPr>
          <a:xfrm rot="0" flipH="0" flipV="0">
            <a:off x="2705100" y="209550"/>
            <a:ext cx="9525" cy="228600"/>
          </a:xfrm>
          <a:prstGeom prst="rect">
            <a:avLst/>
          </a:prstGeom>
          <a:solidFill>
            <a:srgbClr val="3D7BD9"/>
          </a:solidFill>
          <a:ln/>
        </p:spPr>
        <p:txBody>
          <a:bodyPr/>
          <a:p/>
        </p:txBody>
      </p:sp>
      <p:sp>
        <p:nvSpPr>
          <p:cNvPr id="1730" name="" descr="{&quot;isTemplate&quot;:true,&quot;type&quot;:&quot;text&quot;}"/>
          <p:cNvSpPr txBox="1"/>
          <p:nvPr/>
        </p:nvSpPr>
        <p:spPr>
          <a:xfrm rot="0" flipH="0" flipV="0">
            <a:off x="2867025" y="228600"/>
            <a:ext cx="2286000" cy="190500"/>
          </a:xfrm>
          <a:prstGeom prst="rect"/>
        </p:spPr>
        <p:txBody>
          <a:bodyPr wrap="none" lIns="0" tIns="0" rIns="0" bIns="0"/>
          <a:p>
            <a:pPr>
              <a:lnSpc>
                <a:spcPct val="100000"/>
              </a:lnSpc>
            </a:pPr>
            <a:r>
              <a:rPr lang="zh-CN" sz="1200">
                <a:solidFill>
                  <a:srgbClr val="C7D6EC"/>
                </a:solidFill>
                <a:latin typeface="Microsoft YaHei"/>
                <a:ea typeface="Microsoft YaHei"/>
              </a:rPr>
              <a:t>血小板与免疫血栓：机制的新地图</a:t>
            </a:r>
            <a:endParaRPr/>
          </a:p>
        </p:txBody>
      </p:sp>
      <p:sp>
        <p:nvSpPr>
          <p:cNvPr id="1731"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74 / 77</a:t>
            </a:r>
            <a:endParaRPr/>
          </a:p>
        </p:txBody>
      </p:sp>
      <p:sp>
        <p:nvSpPr>
          <p:cNvPr id="1732"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33"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概念</a:t>
            </a:r>
            <a:endParaRPr/>
          </a:p>
        </p:txBody>
      </p:sp>
      <p:sp>
        <p:nvSpPr>
          <p:cNvPr id="1734" name="" descr="{&quot;isTemplate&quot;:true,&quot;type&quot;:&quot;text&quot;}"/>
          <p:cNvSpPr txBox="1"/>
          <p:nvPr/>
        </p:nvSpPr>
        <p:spPr>
          <a:xfrm rot="0" flipH="0" flipV="0">
            <a:off x="80010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免疫血栓（</a:t>
            </a:r>
            <a:r>
              <a:rPr lang="en-US" sz="1275">
                <a:solidFill>
                  <a:srgbClr val="2C3E50"/>
                </a:solidFill>
                <a:latin typeface="Microsoft YaHei"/>
                <a:ea typeface="Microsoft YaHei"/>
              </a:rPr>
              <a:t>immunothrombosis</a:t>
            </a:r>
            <a:r>
              <a:rPr lang="zh-CN" sz="1275">
                <a:solidFill>
                  <a:srgbClr val="2C3E50"/>
                </a:solidFill>
                <a:latin typeface="Microsoft YaHei"/>
                <a:ea typeface="Microsoft YaHei"/>
              </a:rPr>
              <a:t>）：血小板经</a:t>
            </a:r>
            <a:r>
              <a:rPr lang="en-US" sz="1275">
                <a:solidFill>
                  <a:srgbClr val="2C3E50"/>
                </a:solidFill>
                <a:latin typeface="Microsoft YaHei"/>
                <a:ea typeface="Microsoft YaHei"/>
              </a:rPr>
              <a:t> P-</a:t>
            </a:r>
            <a:r>
              <a:rPr lang="zh-CN" sz="1275">
                <a:solidFill>
                  <a:srgbClr val="2C3E50"/>
                </a:solidFill>
                <a:latin typeface="Microsoft YaHei"/>
                <a:ea typeface="Microsoft YaHei"/>
              </a:rPr>
              <a:t>选择素、聚磷酸盐与中性粒细胞</a:t>
            </a:r>
            <a:r>
              <a:rPr lang="en-US" sz="1275">
                <a:solidFill>
                  <a:srgbClr val="2C3E50"/>
                </a:solidFill>
                <a:latin typeface="Microsoft YaHei"/>
                <a:ea typeface="Microsoft YaHei"/>
              </a:rPr>
              <a:t> NETs </a:t>
            </a:r>
            <a:r>
              <a:rPr lang="zh-CN" sz="1275">
                <a:solidFill>
                  <a:srgbClr val="2C3E50"/>
                </a:solidFill>
                <a:latin typeface="Microsoft YaHei"/>
                <a:ea typeface="Microsoft YaHei"/>
              </a:rPr>
              <a:t>互作，把止血系统卷进感染</a:t>
            </a:r>
            <a:r>
              <a:rPr lang="en-US" sz="1275">
                <a:solidFill>
                  <a:srgbClr val="2C3E50"/>
                </a:solidFill>
                <a:latin typeface="Microsoft YaHei"/>
                <a:ea typeface="Microsoft YaHei"/>
              </a:rPr>
              <a:t>/</a:t>
            </a:r>
            <a:r>
              <a:rPr lang="zh-CN" sz="1275">
                <a:solidFill>
                  <a:srgbClr val="2C3E50"/>
                </a:solidFill>
                <a:latin typeface="Microsoft YaHei"/>
                <a:ea typeface="Microsoft YaHei"/>
              </a:rPr>
              <a:t>炎症——脓毒症</a:t>
            </a:r>
            <a:r>
              <a:rPr lang="en-US" sz="1275">
                <a:solidFill>
                  <a:srgbClr val="2C3E50"/>
                </a:solidFill>
                <a:latin typeface="Microsoft YaHei"/>
                <a:ea typeface="Microsoft YaHei"/>
              </a:rPr>
              <a:t> DIC</a:t>
            </a:r>
            <a:r>
              <a:rPr lang="zh-CN" sz="1275">
                <a:solidFill>
                  <a:srgbClr val="2C3E50"/>
                </a:solidFill>
                <a:latin typeface="Microsoft YaHei"/>
                <a:ea typeface="Microsoft YaHei"/>
              </a:rPr>
              <a:t>、</a:t>
            </a:r>
            <a:r>
              <a:rPr lang="en-US" sz="1275">
                <a:solidFill>
                  <a:srgbClr val="2C3E50"/>
                </a:solidFill>
                <a:latin typeface="Microsoft YaHei"/>
                <a:ea typeface="Microsoft YaHei"/>
              </a:rPr>
              <a:t>COVID-19 </a:t>
            </a:r>
            <a:r>
              <a:rPr lang="zh-CN" sz="1275">
                <a:solidFill>
                  <a:srgbClr val="2C3E50"/>
                </a:solidFill>
                <a:latin typeface="Microsoft YaHei"/>
                <a:ea typeface="Microsoft YaHei"/>
              </a:rPr>
              <a:t>血栓与静脉血栓都含此机制。</a:t>
            </a:r>
            <a:endParaRPr/>
          </a:p>
        </p:txBody>
      </p:sp>
      <p:sp>
        <p:nvSpPr>
          <p:cNvPr id="1735"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36"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临床意义</a:t>
            </a:r>
            <a:endParaRPr/>
          </a:p>
        </p:txBody>
      </p:sp>
      <p:sp>
        <p:nvSpPr>
          <p:cNvPr id="1737"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血小板不再是“被动”的止血细胞：其活化标志与微粒可作为炎症</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血栓负荷的生物标志；抗血小板药在脓毒症</a:t>
            </a:r>
            <a:r>
              <a:rPr lang="en-US" sz="1275">
                <a:solidFill>
                  <a:srgbClr val="2C3E50"/>
                </a:solidFill>
                <a:latin typeface="Microsoft YaHei"/>
                <a:ea typeface="Microsoft YaHei"/>
              </a:rPr>
              <a:t>/COVID </a:t>
            </a:r>
            <a:r>
              <a:rPr lang="zh-CN" sz="1275">
                <a:solidFill>
                  <a:srgbClr val="2C3E50"/>
                </a:solidFill>
                <a:latin typeface="Microsoft YaHei"/>
                <a:ea typeface="Microsoft YaHei"/>
              </a:rPr>
              <a:t>中的研究提示血小板是潜在治疗靶点。</a:t>
            </a:r>
            <a:endParaRPr/>
          </a:p>
        </p:txBody>
      </p:sp>
      <p:sp>
        <p:nvSpPr>
          <p:cNvPr id="1738"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39"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方向</a:t>
            </a:r>
            <a:endParaRPr/>
          </a:p>
        </p:txBody>
      </p:sp>
      <p:sp>
        <p:nvSpPr>
          <p:cNvPr id="1740" name="" descr="{&quot;isTemplate&quot;:true,&quot;type&quot;:&quot;text&quot;}"/>
          <p:cNvSpPr txBox="1"/>
          <p:nvPr/>
        </p:nvSpPr>
        <p:spPr>
          <a:xfrm rot="0" flipH="0" flipV="0">
            <a:off x="800100" y="29241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靶向“血小板</a:t>
            </a:r>
            <a:r>
              <a:rPr lang="en-US" sz="1275">
                <a:solidFill>
                  <a:srgbClr val="2C3E50"/>
                </a:solidFill>
                <a:latin typeface="Microsoft YaHei"/>
                <a:ea typeface="Microsoft YaHei"/>
              </a:rPr>
              <a:t>-</a:t>
            </a:r>
            <a:r>
              <a:rPr lang="zh-CN" sz="1275">
                <a:solidFill>
                  <a:srgbClr val="2C3E50"/>
                </a:solidFill>
                <a:latin typeface="Microsoft YaHei"/>
                <a:ea typeface="Microsoft YaHei"/>
              </a:rPr>
              <a:t>中性粒细胞”互作（如</a:t>
            </a:r>
            <a:r>
              <a:rPr lang="en-US" sz="1275">
                <a:solidFill>
                  <a:srgbClr val="2C3E50"/>
                </a:solidFill>
                <a:latin typeface="Microsoft YaHei"/>
                <a:ea typeface="Microsoft YaHei"/>
              </a:rPr>
              <a:t> P-</a:t>
            </a:r>
            <a:r>
              <a:rPr lang="zh-CN" sz="1275">
                <a:solidFill>
                  <a:srgbClr val="2C3E50"/>
                </a:solidFill>
                <a:latin typeface="Microsoft YaHei"/>
                <a:ea typeface="Microsoft YaHei"/>
              </a:rPr>
              <a:t>选择素</a:t>
            </a:r>
            <a:r>
              <a:rPr lang="en-US" sz="1275">
                <a:solidFill>
                  <a:srgbClr val="2C3E50"/>
                </a:solidFill>
                <a:latin typeface="Microsoft YaHei"/>
                <a:ea typeface="Microsoft YaHei"/>
              </a:rPr>
              <a:t>/PSGL-1</a:t>
            </a:r>
            <a:r>
              <a:rPr lang="zh-CN" sz="1275">
                <a:solidFill>
                  <a:srgbClr val="2C3E50"/>
                </a:solidFill>
                <a:latin typeface="Microsoft YaHei"/>
                <a:ea typeface="Microsoft YaHei"/>
              </a:rPr>
              <a:t>）、</a:t>
            </a:r>
            <a:r>
              <a:rPr lang="en-US" sz="1275">
                <a:solidFill>
                  <a:srgbClr val="2C3E50"/>
                </a:solidFill>
                <a:latin typeface="Microsoft YaHei"/>
                <a:ea typeface="Microsoft YaHei"/>
              </a:rPr>
              <a:t>NETs </a:t>
            </a:r>
            <a:r>
              <a:rPr lang="zh-CN" sz="1275">
                <a:solidFill>
                  <a:srgbClr val="2C3E50"/>
                </a:solidFill>
                <a:latin typeface="Microsoft YaHei"/>
                <a:ea typeface="Microsoft YaHei"/>
              </a:rPr>
              <a:t>与血小板微粒清除策略处于转化研究阶段；检验侧则需开发“血栓</a:t>
            </a:r>
            <a:r>
              <a:rPr lang="en-US" sz="1275">
                <a:solidFill>
                  <a:srgbClr val="2C3E50"/>
                </a:solidFill>
                <a:latin typeface="Microsoft YaHei"/>
                <a:ea typeface="Microsoft YaHei"/>
              </a:rPr>
              <a:t>-</a:t>
            </a:r>
            <a:r>
              <a:rPr lang="zh-CN" sz="1275">
                <a:solidFill>
                  <a:srgbClr val="2C3E50"/>
                </a:solidFill>
                <a:latin typeface="Microsoft YaHei"/>
                <a:ea typeface="Microsoft YaHei"/>
              </a:rPr>
              <a:t>炎症表型”联合评估工具。</a:t>
            </a:r>
            <a:endParaRPr/>
          </a:p>
        </p:txBody>
      </p:sp>
      <p:sp>
        <p:nvSpPr>
          <p:cNvPr id="1741"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42"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743"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744"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45"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理解免疫血栓，让“血小板增多</a:t>
            </a:r>
            <a:r>
              <a:rPr lang="en-US" sz="1275">
                <a:solidFill>
                  <a:srgbClr val="2C3E50"/>
                </a:solidFill>
                <a:latin typeface="Microsoft YaHei"/>
                <a:ea typeface="Microsoft YaHei"/>
              </a:rPr>
              <a:t>/</a:t>
            </a:r>
            <a:r>
              <a:rPr lang="zh-CN" sz="1275">
                <a:solidFill>
                  <a:srgbClr val="2C3E50"/>
                </a:solidFill>
                <a:latin typeface="Microsoft YaHei"/>
                <a:ea typeface="Microsoft YaHei"/>
              </a:rPr>
              <a:t>活化”从单纯计数问题升级为炎症管理问题。</a:t>
            </a:r>
            <a:endParaRPr/>
          </a:p>
        </p:txBody>
      </p:sp>
      <p:sp>
        <p:nvSpPr>
          <p:cNvPr id="1746"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747"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Nat Rev Immunol 2013;13:34-45 (PMID 23222502)</a:t>
            </a:r>
            <a:endParaRPr/>
          </a:p>
        </p:txBody>
      </p:sp>
      <p:sp>
        <p:nvSpPr>
          <p:cNvPr id="1748" name=""/>
          <p:cNvSpPr/>
          <p:nvPr/>
        </p:nvSpPr>
        <p:spPr>
          <a:xfrm rot="0" flipH="0" flipV="0">
            <a:off x="0" y="6324600"/>
            <a:ext cx="12192000" cy="342900"/>
          </a:xfrm>
          <a:prstGeom prst="rect">
            <a:avLst/>
          </a:prstGeom>
          <a:solidFill>
            <a:srgbClr val="F7F9FC"/>
          </a:solidFill>
          <a:ln/>
        </p:spPr>
        <p:txBody>
          <a:bodyPr/>
          <a:p/>
        </p:txBody>
      </p:sp>
      <p:sp>
        <p:nvSpPr>
          <p:cNvPr id="1749"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750"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5.xml><?xml version="1.0" encoding="utf-8"?>
<p:sld xmlns:p="http://schemas.openxmlformats.org/presentationml/2006/main" xmlns:a="http://schemas.openxmlformats.org/drawingml/2006/main">
  <p:cSld>
    <p:spTree>
      <p:nvGrpSpPr>
        <p:cNvPr id="1751" name="" descr="&lt;Slide notes={`演讲者备注：【FLOW-ISTH】ISTH SSC 共识：流式细胞术可用于遗传性与获得性血小板数量/功能疾病评估，推荐作为先天性血小板病的补充诊断平台。证据：J Thromb Haemost 2021;19:3193-3202，PMID 34580997。&#13;&#10;【FNX-MONITOR-REV】抗血小板治疗血小板功能监测为何未转化为临床获益的深度分析：药理异质性、检测切点、样本时机与结局事件频谱等均为原因。证据：Circ Cardiovasc Interv 2019;12:e007749，PMID 31694410。&#13;&#10;讲解提示：收束全章——把新技术挂回“是否会改变临床决策”的检验标尺（第三章/第九章的批判视角），避免重复出血时间的覆辙。`}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第十二章 进展与研究方向&lt;/Text&gt;&#13;&#10;      &lt;Box style={{ width: 1, height: 24, background: '#3D7BD9' }} /&gt;&#13;&#10;      &lt;Text style={{ fontSize: 16, color: '#C7D6EC' }}&gt;功能检测新技术：在“生理条件”下测血小板&lt;/Text&gt;&#13;&#10;    &lt;/Box&gt;&#13;&#10;    &lt;Text style={{ position: 'absolute', right: 64, top: 24, fontSize: 15, color: '#9DB8E0' }}&gt;75 / 77&lt;/Text&gt;&#13;&#10;  &lt;/Box&gt;&#13;&#10;  &lt;Box style={{ position: 'absolute', left: 64, top: 96, width: 562, height: 128, background: '#F0F5FC', borderRadius: 12, border: '1px solid #E5E7EB', padding: 20 }}&gt;&#13;&#10;&lt;Text style={{ fontSize: 19, color: '#0E3F8C', fontWeight: 'bold', textAlign: 'left', lineHeight: 1.5 }}&gt;微流控与剪切平台&lt;/Text&gt;&#13;&#10;&lt;Text style={{ fontSize: 17, color: '#2C3E50', textAlign: 'left', lineHeight: 1.62 }}&gt;在可控剪切流场中用全血重建“黏附-聚集-血栓生长”全过程，输出血栓面积/体积等生理参数，弥补静态聚集试验的信息损失。&lt;/Text&gt;&#13;&#10;  &lt;/Box&gt;&#13;&#10;  &lt;Box style={{ position: 'absolute', left: 654, top: 96, width: 562, height: 128, background: '#F0F5FC', borderRadius: 12, border: '1px solid #E5E7EB', padding: 20 }}&gt;&#13;&#10;&lt;Text style={{ fontSize: 19, color: '#0E3F8C', fontWeight: 'bold', textAlign: 'left', lineHeight: 1.5 }}&gt;多参数与床旁化&lt;/Text&gt;&#13;&#10;&lt;Text style={{ fontSize: 17, color: '#2C3E50', textAlign: 'left', lineHeight: 1.62 }}&gt;流式多色方案一次评估活化、微粒、白细胞-血小板聚集体；VET 集成血小板图与抗血小板模块；干式/微量床旁设备让危重症场景“即时可测”。&lt;/Text&gt;&#13;&#10;  &lt;/Box&gt;&#13;&#10;  &lt;Box style={{ position: 'absolute', left: 64, top: 252, width: 562, height: 128, background: '#F0F5FC', borderRadius: 12, border: '1px solid #E5E7EB', padding: 20 }}&gt;&#13;&#10;&lt;Text style={{ fontSize: 19, color: '#0E3F8C', fontWeight: 'bold', textAlign: 'left', lineHeight: 1.5 }}&gt;分子与精准&lt;/Text&gt;&#13;&#10;&lt;Text style={{ fontSize: 17, color: '#2C3E50', textAlign: 'left', lineHeight: 1.62 }}&gt;血小板转录组/蛋白组、基因 panel（先天性血小板病）与药物基因组（CYP2C19）结合，推动“表型+基因型”的精准抗栓评估。&lt;/Text&gt;&#13;&#10;  &lt;/Box&gt;&#13;&#10;  &lt;Box style={{ position: 'absolute', left: 654, top: 252, width: 562, height: 128, background: '#F0F5FC', borderRadius: 12, border: '1px solid #E5E7EB', padding: 20 }}&gt;&#13;&#10;&lt;Text style={{ fontSize: 19, color: '#0E3F8C', fontWeight: 'bold', textAlign: 'left', lineHeight: 1.5 }}&gt;小结&lt;/Text&gt;&#13;&#10;&lt;Text style={{ fontSize: 17, color: '#2C3E50', textAlign: 'left', lineHeight: 1.62 }}&gt;&lt;/Text&gt;&#13;&#10;  &lt;/Box&gt;&#13;&#10;  &lt;Box style={{ position: 'absolute', left: 64, top: 408, width: 562, height: 128, background: '#F0F5FC', borderRadius: 12, border: '1px solid #E5E7EB', padding: 20 }}&gt;&#13;&#10;&lt;Text style={{ fontSize: 17, color: '#2C3E50', textAlign: 'left', lineHeight: 1.62 }}&gt;新一代血小板检测的共性是“更接近体内、更快、更能回答临床问题”。&lt;/Text&gt;&#13;&#10;  &lt;/Box&gt;&#13;&#10;&#13;&#10;  &lt;Box style={{ position: 'absolute', left: 64, top: 556, width: 1152, height: 92, background: '#F0F5FC', borderRadius: 12, border: '1px solid #E5E7EB', padding: 20 }}&gt;&#13;&#10;&lt;Text style={{ fontSize: 17, color: '#2C3E50', textAlign: 'left', lineHeight: 1.6 }}&gt;小结：J Thromb Haemost 2021;19:3193-3202 (PMID 34580997)&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752" name=""/>
          <p:cNvSpPr/>
          <p:nvPr/>
        </p:nvSpPr>
        <p:spPr>
          <a:xfrm rot="0" flipH="0" flipV="0">
            <a:off x="0" y="0"/>
            <a:ext cx="12192000" cy="6858000"/>
          </a:xfrm>
          <a:prstGeom prst="rect">
            <a:avLst/>
          </a:prstGeom>
          <a:solidFill>
            <a:srgbClr val="FFFFFF"/>
          </a:solidFill>
          <a:ln/>
        </p:spPr>
        <p:txBody>
          <a:bodyPr/>
          <a:p/>
        </p:txBody>
      </p:sp>
      <p:sp>
        <p:nvSpPr>
          <p:cNvPr id="1753" name=""/>
          <p:cNvSpPr/>
          <p:nvPr/>
        </p:nvSpPr>
        <p:spPr>
          <a:xfrm rot="0" flipH="0" flipV="0">
            <a:off x="0" y="0"/>
            <a:ext cx="12192000" cy="685800"/>
          </a:xfrm>
          <a:prstGeom prst="rect">
            <a:avLst/>
          </a:prstGeom>
          <a:solidFill>
            <a:srgbClr val="0E3F8C"/>
          </a:solidFill>
          <a:ln/>
        </p:spPr>
        <p:txBody>
          <a:bodyPr/>
          <a:p/>
        </p:txBody>
      </p:sp>
      <p:sp>
        <p:nvSpPr>
          <p:cNvPr id="1754" name="" descr="{&quot;isTemplate&quot;:true,&quot;type&quot;:&quot;text&quot;}"/>
          <p:cNvSpPr txBox="1"/>
          <p:nvPr/>
        </p:nvSpPr>
        <p:spPr>
          <a:xfrm rot="0" flipH="0" flipV="0">
            <a:off x="609600" y="219075"/>
            <a:ext cx="1943100" cy="209550"/>
          </a:xfrm>
          <a:prstGeom prst="rect"/>
        </p:spPr>
        <p:txBody>
          <a:bodyPr wrap="none" lIns="0" tIns="0" rIns="0" bIns="0"/>
          <a:p>
            <a:pPr>
              <a:lnSpc>
                <a:spcPct val="100000"/>
              </a:lnSpc>
            </a:pPr>
            <a:r>
              <a:rPr lang="zh-CN" sz="1350" b="1">
                <a:solidFill>
                  <a:srgbClr val="FFFFFF"/>
                </a:solidFill>
                <a:latin typeface="Microsoft YaHei"/>
                <a:ea typeface="Microsoft YaHei"/>
              </a:rPr>
              <a:t>第十二章</a:t>
            </a:r>
            <a:r>
              <a:rPr lang="en-US" sz="1350" b="1">
                <a:solidFill>
                  <a:srgbClr val="FFFFFF"/>
                </a:solidFill>
                <a:latin typeface="Microsoft YaHei"/>
                <a:ea typeface="Microsoft YaHei"/>
              </a:rPr>
              <a:t> </a:t>
            </a:r>
            <a:r>
              <a:rPr lang="zh-CN" sz="1350" b="1">
                <a:solidFill>
                  <a:srgbClr val="FFFFFF"/>
                </a:solidFill>
                <a:latin typeface="Microsoft YaHei"/>
                <a:ea typeface="Microsoft YaHei"/>
              </a:rPr>
              <a:t>进展与研究方向</a:t>
            </a:r>
            <a:endParaRPr/>
          </a:p>
        </p:txBody>
      </p:sp>
      <p:sp>
        <p:nvSpPr>
          <p:cNvPr id="1755" name=""/>
          <p:cNvSpPr/>
          <p:nvPr/>
        </p:nvSpPr>
        <p:spPr>
          <a:xfrm rot="0" flipH="0" flipV="0">
            <a:off x="2705100" y="209550"/>
            <a:ext cx="9525" cy="228600"/>
          </a:xfrm>
          <a:prstGeom prst="rect">
            <a:avLst/>
          </a:prstGeom>
          <a:solidFill>
            <a:srgbClr val="3D7BD9"/>
          </a:solidFill>
          <a:ln/>
        </p:spPr>
        <p:txBody>
          <a:bodyPr/>
          <a:p/>
        </p:txBody>
      </p:sp>
      <p:sp>
        <p:nvSpPr>
          <p:cNvPr id="1756" name="" descr="{&quot;isTemplate&quot;:true,&quot;type&quot;:&quot;text&quot;}"/>
          <p:cNvSpPr txBox="1"/>
          <p:nvPr/>
        </p:nvSpPr>
        <p:spPr>
          <a:xfrm rot="0" flipH="0" flipV="0">
            <a:off x="2867025" y="228600"/>
            <a:ext cx="3048000" cy="190500"/>
          </a:xfrm>
          <a:prstGeom prst="rect"/>
        </p:spPr>
        <p:txBody>
          <a:bodyPr wrap="none" lIns="0" tIns="0" rIns="0" bIns="0"/>
          <a:p>
            <a:pPr>
              <a:lnSpc>
                <a:spcPct val="100000"/>
              </a:lnSpc>
            </a:pPr>
            <a:r>
              <a:rPr lang="zh-CN" sz="1200">
                <a:solidFill>
                  <a:srgbClr val="C7D6EC"/>
                </a:solidFill>
                <a:latin typeface="Microsoft YaHei"/>
                <a:ea typeface="Microsoft YaHei"/>
              </a:rPr>
              <a:t>功能检测新技术：在“生理条件”下测血小板</a:t>
            </a:r>
            <a:endParaRPr/>
          </a:p>
        </p:txBody>
      </p:sp>
      <p:sp>
        <p:nvSpPr>
          <p:cNvPr id="1757"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75 / 77</a:t>
            </a:r>
            <a:endParaRPr/>
          </a:p>
        </p:txBody>
      </p:sp>
      <p:sp>
        <p:nvSpPr>
          <p:cNvPr id="1758" name=""/>
          <p:cNvSpPr/>
          <p:nvPr/>
        </p:nvSpPr>
        <p:spPr>
          <a:xfrm rot="0" flipH="0" flipV="0">
            <a:off x="60960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59" name="" descr="{&quot;isTemplate&quot;:true,&quot;type&quot;:&quot;text&quot;}"/>
          <p:cNvSpPr txBox="1"/>
          <p:nvPr/>
        </p:nvSpPr>
        <p:spPr>
          <a:xfrm rot="0" flipH="0" flipV="0">
            <a:off x="80010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微流控与剪切平台</a:t>
            </a:r>
            <a:endParaRPr/>
          </a:p>
        </p:txBody>
      </p:sp>
      <p:sp>
        <p:nvSpPr>
          <p:cNvPr id="1760" name="" descr="{&quot;isTemplate&quot;:true,&quot;type&quot;:&quot;text&quot;}"/>
          <p:cNvSpPr txBox="1"/>
          <p:nvPr/>
        </p:nvSpPr>
        <p:spPr>
          <a:xfrm rot="0" flipH="0" flipV="0">
            <a:off x="800100" y="14382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在可控剪切流场中用全血重建“黏附</a:t>
            </a:r>
            <a:r>
              <a:rPr lang="en-US" sz="1275">
                <a:solidFill>
                  <a:srgbClr val="2C3E50"/>
                </a:solidFill>
                <a:latin typeface="Microsoft YaHei"/>
                <a:ea typeface="Microsoft YaHei"/>
              </a:rPr>
              <a:t>-</a:t>
            </a:r>
            <a:r>
              <a:rPr lang="zh-CN" sz="1275">
                <a:solidFill>
                  <a:srgbClr val="2C3E50"/>
                </a:solidFill>
                <a:latin typeface="Microsoft YaHei"/>
                <a:ea typeface="Microsoft YaHei"/>
              </a:rPr>
              <a:t>聚集</a:t>
            </a:r>
            <a:r>
              <a:rPr lang="en-US" sz="1275">
                <a:solidFill>
                  <a:srgbClr val="2C3E50"/>
                </a:solidFill>
                <a:latin typeface="Microsoft YaHei"/>
                <a:ea typeface="Microsoft YaHei"/>
              </a:rPr>
              <a:t>-</a:t>
            </a:r>
            <a:r>
              <a:rPr lang="zh-CN" sz="1275">
                <a:solidFill>
                  <a:srgbClr val="2C3E50"/>
                </a:solidFill>
                <a:latin typeface="Microsoft YaHei"/>
                <a:ea typeface="Microsoft YaHei"/>
              </a:rPr>
              <a:t>血栓生长”全过程，输出血栓面积</a:t>
            </a:r>
            <a:r>
              <a:rPr lang="en-US" sz="1275">
                <a:solidFill>
                  <a:srgbClr val="2C3E50"/>
                </a:solidFill>
                <a:latin typeface="Microsoft YaHei"/>
                <a:ea typeface="Microsoft YaHei"/>
              </a:rPr>
              <a:t>/</a:t>
            </a:r>
            <a:r>
              <a:rPr lang="zh-CN" sz="1275">
                <a:solidFill>
                  <a:srgbClr val="2C3E50"/>
                </a:solidFill>
                <a:latin typeface="Microsoft YaHei"/>
                <a:ea typeface="Microsoft YaHei"/>
              </a:rPr>
              <a:t>体积等生理参数，弥补静态聚集试验的信息损失。</a:t>
            </a:r>
            <a:endParaRPr/>
          </a:p>
        </p:txBody>
      </p:sp>
      <p:sp>
        <p:nvSpPr>
          <p:cNvPr id="1761" name=""/>
          <p:cNvSpPr/>
          <p:nvPr/>
        </p:nvSpPr>
        <p:spPr>
          <a:xfrm rot="0" flipH="0" flipV="0">
            <a:off x="6229350" y="9144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62" name="" descr="{&quot;isTemplate&quot;:true,&quot;type&quot;:&quot;text&quot;}"/>
          <p:cNvSpPr txBox="1"/>
          <p:nvPr/>
        </p:nvSpPr>
        <p:spPr>
          <a:xfrm rot="0" flipH="0" flipV="0">
            <a:off x="6419850" y="11049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多参数与床旁化</a:t>
            </a:r>
            <a:endParaRPr/>
          </a:p>
        </p:txBody>
      </p:sp>
      <p:sp>
        <p:nvSpPr>
          <p:cNvPr id="1763" name="" descr="{&quot;isTemplate&quot;:true,&quot;type&quot;:&quot;text&quot;}"/>
          <p:cNvSpPr txBox="1"/>
          <p:nvPr/>
        </p:nvSpPr>
        <p:spPr>
          <a:xfrm rot="0" flipH="0" flipV="0">
            <a:off x="6419850" y="1438275"/>
            <a:ext cx="4972050" cy="952500"/>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流式多色方案一次评估活化、微粒、白细胞</a:t>
            </a:r>
            <a:r>
              <a:rPr lang="en-US" sz="1275">
                <a:solidFill>
                  <a:srgbClr val="2C3E50"/>
                </a:solidFill>
                <a:latin typeface="Microsoft YaHei"/>
                <a:ea typeface="Microsoft YaHei"/>
              </a:rPr>
              <a:t>-</a:t>
            </a:r>
            <a:r>
              <a:rPr lang="zh-CN" sz="1275">
                <a:solidFill>
                  <a:srgbClr val="2C3E50"/>
                </a:solidFill>
                <a:latin typeface="Microsoft YaHei"/>
                <a:ea typeface="Microsoft YaHei"/>
              </a:rPr>
              <a:t>血小板聚集体；</a:t>
            </a:r>
            <a:r>
              <a:rPr lang="en-US" sz="1275">
                <a:solidFill>
                  <a:srgbClr val="2C3E50"/>
                </a:solidFill>
                <a:latin typeface="Microsoft YaHei"/>
                <a:ea typeface="Microsoft YaHei"/>
              </a:rPr>
              <a:t>VET </a:t>
            </a:r>
            <a:r>
              <a:rPr lang="zh-CN" sz="1275">
                <a:solidFill>
                  <a:srgbClr val="2C3E50"/>
                </a:solidFill>
                <a:latin typeface="Microsoft YaHei"/>
                <a:ea typeface="Microsoft YaHei"/>
              </a:rPr>
              <a:t>集成血小板图与抗血小板模块；干式</a:t>
            </a:r>
            <a:r>
              <a:rPr lang="en-US" sz="1275">
                <a:solidFill>
                  <a:srgbClr val="2C3E50"/>
                </a:solidFill>
                <a:latin typeface="Microsoft YaHei"/>
                <a:ea typeface="Microsoft YaHei"/>
              </a:rPr>
              <a:t>/</a:t>
            </a:r>
            <a:r>
              <a:rPr lang="zh-CN" sz="1275">
                <a:solidFill>
                  <a:srgbClr val="2C3E50"/>
                </a:solidFill>
                <a:latin typeface="Microsoft YaHei"/>
                <a:ea typeface="Microsoft YaHei"/>
              </a:rPr>
              <a:t>微量床旁设备让危重症场景“即时可测”。</a:t>
            </a:r>
            <a:endParaRPr/>
          </a:p>
        </p:txBody>
      </p:sp>
      <p:sp>
        <p:nvSpPr>
          <p:cNvPr id="1764" name=""/>
          <p:cNvSpPr/>
          <p:nvPr/>
        </p:nvSpPr>
        <p:spPr>
          <a:xfrm rot="0" flipH="0" flipV="0">
            <a:off x="60960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65" name="" descr="{&quot;isTemplate&quot;:true,&quot;type&quot;:&quot;text&quot;}"/>
          <p:cNvSpPr txBox="1"/>
          <p:nvPr/>
        </p:nvSpPr>
        <p:spPr>
          <a:xfrm rot="0" flipH="0" flipV="0">
            <a:off x="80010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分子与精准</a:t>
            </a:r>
            <a:endParaRPr/>
          </a:p>
        </p:txBody>
      </p:sp>
      <p:sp>
        <p:nvSpPr>
          <p:cNvPr id="1766" name="" descr="{&quot;isTemplate&quot;:true,&quot;type&quot;:&quot;text&quot;}"/>
          <p:cNvSpPr txBox="1"/>
          <p:nvPr/>
        </p:nvSpPr>
        <p:spPr>
          <a:xfrm rot="0" flipH="0" flipV="0">
            <a:off x="800100" y="2924175"/>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血小板转录组</a:t>
            </a:r>
            <a:r>
              <a:rPr lang="en-US" sz="1275">
                <a:solidFill>
                  <a:srgbClr val="2C3E50"/>
                </a:solidFill>
                <a:latin typeface="Microsoft YaHei"/>
                <a:ea typeface="Microsoft YaHei"/>
              </a:rPr>
              <a:t>/</a:t>
            </a:r>
            <a:r>
              <a:rPr lang="zh-CN" sz="1275">
                <a:solidFill>
                  <a:srgbClr val="2C3E50"/>
                </a:solidFill>
                <a:latin typeface="Microsoft YaHei"/>
                <a:ea typeface="Microsoft YaHei"/>
              </a:rPr>
              <a:t>蛋白组、基因</a:t>
            </a:r>
            <a:r>
              <a:rPr lang="en-US" sz="1275">
                <a:solidFill>
                  <a:srgbClr val="2C3E50"/>
                </a:solidFill>
                <a:latin typeface="Microsoft YaHei"/>
                <a:ea typeface="Microsoft YaHei"/>
              </a:rPr>
              <a:t> panel</a:t>
            </a:r>
            <a:r>
              <a:rPr lang="zh-CN" sz="1275">
                <a:solidFill>
                  <a:srgbClr val="2C3E50"/>
                </a:solidFill>
                <a:latin typeface="Microsoft YaHei"/>
                <a:ea typeface="Microsoft YaHei"/>
              </a:rPr>
              <a:t>（先天性血小板病）与药物基因组（</a:t>
            </a:r>
            <a:r>
              <a:rPr lang="en-US" sz="1275">
                <a:solidFill>
                  <a:srgbClr val="2C3E50"/>
                </a:solidFill>
                <a:latin typeface="Microsoft YaHei"/>
                <a:ea typeface="Microsoft YaHei"/>
              </a:rPr>
              <a:t>CYP2C19</a:t>
            </a:r>
            <a:r>
              <a:rPr lang="zh-CN" sz="1275">
                <a:solidFill>
                  <a:srgbClr val="2C3E50"/>
                </a:solidFill>
                <a:latin typeface="Microsoft YaHei"/>
                <a:ea typeface="Microsoft YaHei"/>
              </a:rPr>
              <a:t>）结合，推动“表型</a:t>
            </a:r>
            <a:r>
              <a:rPr lang="en-US" sz="1275">
                <a:solidFill>
                  <a:srgbClr val="2C3E50"/>
                </a:solidFill>
                <a:latin typeface="Microsoft YaHei"/>
                <a:ea typeface="Microsoft YaHei"/>
              </a:rPr>
              <a:t>+</a:t>
            </a:r>
            <a:r>
              <a:rPr lang="zh-CN" sz="1275">
                <a:solidFill>
                  <a:srgbClr val="2C3E50"/>
                </a:solidFill>
                <a:latin typeface="Microsoft YaHei"/>
                <a:ea typeface="Microsoft YaHei"/>
              </a:rPr>
              <a:t>基因型”的精准抗栓评估。</a:t>
            </a:r>
            <a:endParaRPr/>
          </a:p>
        </p:txBody>
      </p:sp>
      <p:sp>
        <p:nvSpPr>
          <p:cNvPr id="1767" name=""/>
          <p:cNvSpPr/>
          <p:nvPr/>
        </p:nvSpPr>
        <p:spPr>
          <a:xfrm rot="0" flipH="0" flipV="0">
            <a:off x="6229350" y="24003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68" name="" descr="{&quot;isTemplate&quot;:true,&quot;type&quot;:&quot;text&quot;}"/>
          <p:cNvSpPr txBox="1"/>
          <p:nvPr/>
        </p:nvSpPr>
        <p:spPr>
          <a:xfrm rot="0" flipH="0" flipV="0">
            <a:off x="6419850" y="2590800"/>
            <a:ext cx="4972050" cy="333375"/>
          </a:xfrm>
          <a:prstGeom prst="rect"/>
        </p:spPr>
        <p:txBody>
          <a:bodyPr wrap="none" lIns="0" tIns="0" rIns="0" bIns="0"/>
          <a:p>
            <a:pPr algn="l">
              <a:lnSpc>
                <a:spcPct val="150000"/>
              </a:lnSpc>
            </a:pPr>
            <a:r>
              <a:rPr lang="zh-CN" sz="1425" b="1">
                <a:solidFill>
                  <a:srgbClr val="0E3F8C"/>
                </a:solidFill>
                <a:latin typeface="Microsoft YaHei"/>
                <a:ea typeface="Microsoft YaHei"/>
              </a:rPr>
              <a:t>小结</a:t>
            </a:r>
            <a:endParaRPr/>
          </a:p>
        </p:txBody>
      </p:sp>
      <p:sp>
        <p:nvSpPr>
          <p:cNvPr id="1769" name="" descr="{&quot;isTemplate&quot;:true,&quot;type&quot;:&quot;text&quot;}"/>
          <p:cNvSpPr txBox="1"/>
          <p:nvPr/>
        </p:nvSpPr>
        <p:spPr>
          <a:xfrm rot="0" flipH="0" flipV="0">
            <a:off x="6419850" y="2924175"/>
            <a:ext cx="4972050" cy="0"/>
          </a:xfrm>
          <a:prstGeom prst="rect"/>
        </p:spPr>
        <p:txBody>
          <a:bodyPr wrap="none" lIns="0" tIns="0" rIns="0" bIns="0"/>
          <a:p>
            <a:pPr/>
            <a:endParaRPr/>
          </a:p>
        </p:txBody>
      </p:sp>
      <p:sp>
        <p:nvSpPr>
          <p:cNvPr id="1770" name=""/>
          <p:cNvSpPr/>
          <p:nvPr/>
        </p:nvSpPr>
        <p:spPr>
          <a:xfrm rot="0" flipH="0" flipV="0">
            <a:off x="609600" y="3886200"/>
            <a:ext cx="5353050" cy="1219200"/>
          </a:xfrm>
          <a:prstGeom prst="roundRect">
            <a:avLst>
              <a:gd name="adj" fmla="val 9375"/>
            </a:avLst>
          </a:prstGeom>
          <a:solidFill>
            <a:srgbClr val="F0F5FC"/>
          </a:solidFill>
          <a:ln w="12700">
            <a:solidFill>
              <a:srgbClr val="E5E7EB"/>
            </a:solidFill>
            <a:prstDash val="solid"/>
          </a:ln>
        </p:spPr>
        <p:txBody>
          <a:bodyPr/>
          <a:p/>
        </p:txBody>
      </p:sp>
      <p:sp>
        <p:nvSpPr>
          <p:cNvPr id="1771" name="" descr="{&quot;isTemplate&quot;:true,&quot;type&quot;:&quot;text&quot;}"/>
          <p:cNvSpPr txBox="1"/>
          <p:nvPr/>
        </p:nvSpPr>
        <p:spPr>
          <a:xfrm rot="0" flipH="0" flipV="0">
            <a:off x="800100" y="4076700"/>
            <a:ext cx="4972050" cy="638175"/>
          </a:xfrm>
          <a:prstGeom prst="rect"/>
        </p:spPr>
        <p:txBody>
          <a:bodyPr wrap="square" lIns="0" tIns="0" rIns="0" bIns="0">
            <a:normAutofit/>
          </a:bodyPr>
          <a:p>
            <a:pPr algn="l">
              <a:lnSpc>
                <a:spcPct val="162000"/>
              </a:lnSpc>
            </a:pPr>
            <a:r>
              <a:rPr lang="zh-CN" sz="1275">
                <a:solidFill>
                  <a:srgbClr val="2C3E50"/>
                </a:solidFill>
                <a:latin typeface="Microsoft YaHei"/>
                <a:ea typeface="Microsoft YaHei"/>
              </a:rPr>
              <a:t>新一代血小板检测的共性是“更接近体内、更快、更能回答临床问题”。</a:t>
            </a:r>
            <a:endParaRPr/>
          </a:p>
        </p:txBody>
      </p:sp>
      <p:sp>
        <p:nvSpPr>
          <p:cNvPr id="1772" name=""/>
          <p:cNvSpPr/>
          <p:nvPr/>
        </p:nvSpPr>
        <p:spPr>
          <a:xfrm rot="0" flipH="0" flipV="0">
            <a:off x="609600" y="5295900"/>
            <a:ext cx="10972800" cy="876300"/>
          </a:xfrm>
          <a:prstGeom prst="roundRect">
            <a:avLst>
              <a:gd name="adj" fmla="val 13043"/>
            </a:avLst>
          </a:prstGeom>
          <a:solidFill>
            <a:srgbClr val="F0F5FC"/>
          </a:solidFill>
          <a:ln w="12700">
            <a:solidFill>
              <a:srgbClr val="E5E7EB"/>
            </a:solidFill>
            <a:prstDash val="solid"/>
          </a:ln>
        </p:spPr>
        <p:txBody>
          <a:bodyPr/>
          <a:p/>
        </p:txBody>
      </p:sp>
      <p:sp>
        <p:nvSpPr>
          <p:cNvPr id="1773" name="" descr="{&quot;isTemplate&quot;:true,&quot;type&quot;:&quot;text&quot;}"/>
          <p:cNvSpPr txBox="1"/>
          <p:nvPr/>
        </p:nvSpPr>
        <p:spPr>
          <a:xfrm rot="0" flipH="0" flipV="0">
            <a:off x="800100" y="5486400"/>
            <a:ext cx="10591800" cy="314325"/>
          </a:xfrm>
          <a:prstGeom prst="rect"/>
        </p:spPr>
        <p:txBody>
          <a:bodyPr wrap="none" lIns="0" tIns="0" rIns="0" bIns="0"/>
          <a:p>
            <a:pPr algn="l">
              <a:lnSpc>
                <a:spcPct val="160000"/>
              </a:lnSpc>
            </a:pPr>
            <a:r>
              <a:rPr lang="zh-CN" sz="1275">
                <a:solidFill>
                  <a:srgbClr val="2C3E50"/>
                </a:solidFill>
                <a:latin typeface="Microsoft YaHei"/>
                <a:ea typeface="Microsoft YaHei"/>
              </a:rPr>
              <a:t>小结：</a:t>
            </a:r>
            <a:r>
              <a:rPr lang="en-US" sz="1275">
                <a:solidFill>
                  <a:srgbClr val="2C3E50"/>
                </a:solidFill>
                <a:latin typeface="Microsoft YaHei"/>
                <a:ea typeface="Microsoft YaHei"/>
              </a:rPr>
              <a:t>J Thromb Haemost 2021;19:3193-3202 (PMID 34580997)</a:t>
            </a:r>
            <a:endParaRPr/>
          </a:p>
        </p:txBody>
      </p:sp>
      <p:sp>
        <p:nvSpPr>
          <p:cNvPr id="1774" name=""/>
          <p:cNvSpPr/>
          <p:nvPr/>
        </p:nvSpPr>
        <p:spPr>
          <a:xfrm rot="0" flipH="0" flipV="0">
            <a:off x="0" y="6324600"/>
            <a:ext cx="12192000" cy="342900"/>
          </a:xfrm>
          <a:prstGeom prst="rect">
            <a:avLst/>
          </a:prstGeom>
          <a:solidFill>
            <a:srgbClr val="F7F9FC"/>
          </a:solidFill>
          <a:ln/>
        </p:spPr>
        <p:txBody>
          <a:bodyPr/>
          <a:p/>
        </p:txBody>
      </p:sp>
      <p:sp>
        <p:nvSpPr>
          <p:cNvPr id="1775"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776"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6.xml><?xml version="1.0" encoding="utf-8"?>
<p:sld xmlns:p="http://schemas.openxmlformats.org/presentationml/2006/main" xmlns:a="http://schemas.openxmlformats.org/drawingml/2006/main">
  <p:cSld>
    <p:spTree>
      <p:nvGrpSpPr>
        <p:cNvPr id="1777" name="" descr="&lt;Slide notes={`演讲者备注：本页为全篇总结。可作为单页“临床口袋卡”使用：遇血小板异常先问三句话——是真的吗（假性）？什么机制？目标值多少、何时复查？三句话答完，绝大多数临床场景的处理方向已经清晰。`} style={{ width: '1280px', height: '720px', background: '#FFFFFF', padding: 0 }}&gt;&#13;&#10;  &lt;Box style={{ position: 'absolute', left: 0, top: 0, width: 1280, height: 72, background: '#0E3F8C' }}&gt;&#13;&#10;    &lt;Box style={{ position: 'absolute', left: 64, top: 22, flexDirection: 'row', alignItems: 'center', gap: 16 }}&gt;&#13;&#10;      &lt;Text style={{ fontSize: 18, color: '#FFFFFF', fontWeight: 'bold' }}&gt;总结&lt;/Text&gt;&#13;&#10;      &lt;Box style={{ width: 1, height: 24, background: '#3D7BD9' }} /&gt;&#13;&#10;      &lt;Text style={{ fontSize: 16, color: '#C7D6EC' }}&gt;总结&lt;/Text&gt;&#13;&#10;    &lt;/Box&gt;&#13;&#10;    &lt;Text style={{ position: 'absolute', right: 64, top: 24, fontSize: 15, color: '#9DB8E0' }}&gt;76 / 77&lt;/Text&gt;&#13;&#10;  &lt;/Box&gt;&#13;&#10;  &lt;Box style={{ position: 'absolute', left: 64, top: 116, width: 1152, height: 528, background: '#F0F5FC', borderRadius: 12, border: '1px solid #E5E7EB', padding: 20 }}&gt;&#13;&#10;&lt;Text style={{ fontSize: 16, color: '#2C3E50', textAlign: 'justify', lineHeight: 1.5 }}&gt;全篇核心要义：①血小板解读 = 数量维度（计数/体积/IPF）+ 功能维度（聚集/分泌/活化）+ 场景阈值三合一，任何单一数字都不足以指导决策。②读懂一张化验单先要排除“假”（EDTA 聚集/大血小板/凝块/药物干扰），再问“机制”（生成/破坏/消耗/分布），最后选“场景阈值”（10/20/50/100 与出血/血栓目标）。③与其他凝血检测（PT/APTT/纤维蛋白原/D-二聚体）互为盲区互补，VET/PFA/流式是桥接工具。④治疗指导的关键是把“参考区间”翻译成“行动阈值”，并以出血与血栓风险为轴、以动态趋势为导航（DIC/HIT/ITP/化疗恢复的监测频率各有章法）。⑤所有关键推荐均有指南/RCT 支撑（ASH 2019 ITP、ICR 2019、中国 ITP 2020、ASH 2018 HIT、AABB 2015、欧洲创伤 2023、ISTH DIC 等，详见正文 PMID）。&lt;/Text&gt;&#13;&#10;  &lt;/Box&gt;&#13;&#10;  &lt;Box style={{ position: 'absolute', left: 0, top: 664, width: 1280, height: 36, background: '#F7F9FC' }}&gt;&#13;&#10;    &lt;Text style={{ position: 'absolute', left: 64, top: 8, fontSize: 12, lineHeight: 1.3, color: '#6B7B8C', width: 1000 }}&gt;&lt;/Text&gt;&#13;&#10;    &lt;Text style={{ position: 'absolute', right: 64, top: 9, fontSize: 13, color: '#6B7B8C' }}&gt;血小板 PLT · 计数与功能&lt;/Text&gt;&#13;&#10;  &lt;/Box&gt;&#13;&#10;&lt;/Slide&gt;"/>
        <p:cNvGrpSpPr/>
        <p:nvPr/>
      </p:nvGrpSpPr>
      <p:grpSpPr>
        <a:xfrm>
          <a:off x="0" y="0"/>
          <a:ext cx="0" cy="0"/>
          <a:chOff x="0" y="0"/>
          <a:chExt cx="0" cy="0"/>
        </a:xfrm>
      </p:grpSpPr>
      <p:sp>
        <p:nvSpPr>
          <p:cNvPr id="1778" name=""/>
          <p:cNvSpPr/>
          <p:nvPr/>
        </p:nvSpPr>
        <p:spPr>
          <a:xfrm rot="0" flipH="0" flipV="0">
            <a:off x="0" y="0"/>
            <a:ext cx="12192000" cy="6858000"/>
          </a:xfrm>
          <a:prstGeom prst="rect">
            <a:avLst/>
          </a:prstGeom>
          <a:solidFill>
            <a:srgbClr val="FFFFFF"/>
          </a:solidFill>
          <a:ln/>
        </p:spPr>
        <p:txBody>
          <a:bodyPr/>
          <a:p/>
        </p:txBody>
      </p:sp>
      <p:sp>
        <p:nvSpPr>
          <p:cNvPr id="1779" name=""/>
          <p:cNvSpPr/>
          <p:nvPr/>
        </p:nvSpPr>
        <p:spPr>
          <a:xfrm rot="0" flipH="0" flipV="0">
            <a:off x="0" y="0"/>
            <a:ext cx="12192000" cy="685800"/>
          </a:xfrm>
          <a:prstGeom prst="rect">
            <a:avLst/>
          </a:prstGeom>
          <a:solidFill>
            <a:srgbClr val="0E3F8C"/>
          </a:solidFill>
          <a:ln/>
        </p:spPr>
        <p:txBody>
          <a:bodyPr/>
          <a:p/>
        </p:txBody>
      </p:sp>
      <p:sp>
        <p:nvSpPr>
          <p:cNvPr id="1780" name="" descr="{&quot;isTemplate&quot;:true,&quot;type&quot;:&quot;text&quot;}"/>
          <p:cNvSpPr txBox="1"/>
          <p:nvPr/>
        </p:nvSpPr>
        <p:spPr>
          <a:xfrm rot="0" flipH="0" flipV="0">
            <a:off x="609600" y="219075"/>
            <a:ext cx="342900" cy="209550"/>
          </a:xfrm>
          <a:prstGeom prst="rect"/>
        </p:spPr>
        <p:txBody>
          <a:bodyPr wrap="none" lIns="0" tIns="0" rIns="0" bIns="0"/>
          <a:p>
            <a:pPr>
              <a:lnSpc>
                <a:spcPct val="100000"/>
              </a:lnSpc>
            </a:pPr>
            <a:r>
              <a:rPr lang="zh-CN" sz="1350" b="1">
                <a:solidFill>
                  <a:srgbClr val="FFFFFF"/>
                </a:solidFill>
                <a:latin typeface="Microsoft YaHei"/>
                <a:ea typeface="Microsoft YaHei"/>
              </a:rPr>
              <a:t>总结</a:t>
            </a:r>
            <a:endParaRPr/>
          </a:p>
        </p:txBody>
      </p:sp>
      <p:sp>
        <p:nvSpPr>
          <p:cNvPr id="1781" name=""/>
          <p:cNvSpPr/>
          <p:nvPr/>
        </p:nvSpPr>
        <p:spPr>
          <a:xfrm rot="0" flipH="0" flipV="0">
            <a:off x="1104900" y="209550"/>
            <a:ext cx="9525" cy="228600"/>
          </a:xfrm>
          <a:prstGeom prst="rect">
            <a:avLst/>
          </a:prstGeom>
          <a:solidFill>
            <a:srgbClr val="3D7BD9"/>
          </a:solidFill>
          <a:ln/>
        </p:spPr>
        <p:txBody>
          <a:bodyPr/>
          <a:p/>
        </p:txBody>
      </p:sp>
      <p:sp>
        <p:nvSpPr>
          <p:cNvPr id="1782" name="" descr="{&quot;isTemplate&quot;:true,&quot;type&quot;:&quot;text&quot;}"/>
          <p:cNvSpPr txBox="1"/>
          <p:nvPr/>
        </p:nvSpPr>
        <p:spPr>
          <a:xfrm rot="0" flipH="0" flipV="0">
            <a:off x="1266825" y="228600"/>
            <a:ext cx="304800" cy="190500"/>
          </a:xfrm>
          <a:prstGeom prst="rect"/>
        </p:spPr>
        <p:txBody>
          <a:bodyPr wrap="none" lIns="0" tIns="0" rIns="0" bIns="0"/>
          <a:p>
            <a:pPr>
              <a:lnSpc>
                <a:spcPct val="100000"/>
              </a:lnSpc>
            </a:pPr>
            <a:r>
              <a:rPr lang="zh-CN" sz="1200">
                <a:solidFill>
                  <a:srgbClr val="C7D6EC"/>
                </a:solidFill>
                <a:latin typeface="Microsoft YaHei"/>
                <a:ea typeface="Microsoft YaHei"/>
              </a:rPr>
              <a:t>总结</a:t>
            </a:r>
            <a:endParaRPr/>
          </a:p>
        </p:txBody>
      </p:sp>
      <p:sp>
        <p:nvSpPr>
          <p:cNvPr id="1783" name="" descr="{&quot;isTemplate&quot;:true,&quot;type&quot;:&quot;text&quot;}"/>
          <p:cNvSpPr txBox="1"/>
          <p:nvPr/>
        </p:nvSpPr>
        <p:spPr>
          <a:xfrm rot="0" flipH="0" flipV="0">
            <a:off x="11096625" y="2286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76 / 77</a:t>
            </a:r>
            <a:endParaRPr/>
          </a:p>
        </p:txBody>
      </p:sp>
      <p:sp>
        <p:nvSpPr>
          <p:cNvPr id="1784" name=""/>
          <p:cNvSpPr/>
          <p:nvPr/>
        </p:nvSpPr>
        <p:spPr>
          <a:xfrm rot="0" flipH="0" flipV="0">
            <a:off x="609600" y="1104900"/>
            <a:ext cx="10972800" cy="5029200"/>
          </a:xfrm>
          <a:prstGeom prst="roundRect">
            <a:avLst>
              <a:gd name="adj" fmla="val 2273"/>
            </a:avLst>
          </a:prstGeom>
          <a:solidFill>
            <a:srgbClr val="F0F5FC"/>
          </a:solidFill>
          <a:ln w="12700">
            <a:solidFill>
              <a:srgbClr val="E5E7EB"/>
            </a:solidFill>
            <a:prstDash val="solid"/>
          </a:ln>
        </p:spPr>
        <p:txBody>
          <a:bodyPr/>
          <a:p/>
        </p:txBody>
      </p:sp>
      <p:sp>
        <p:nvSpPr>
          <p:cNvPr id="1785" name="" descr="{&quot;isTemplate&quot;:true,&quot;type&quot;:&quot;text&quot;}"/>
          <p:cNvSpPr txBox="1"/>
          <p:nvPr/>
        </p:nvSpPr>
        <p:spPr>
          <a:xfrm rot="0" flipH="0" flipV="0">
            <a:off x="800100" y="1295400"/>
            <a:ext cx="10591800" cy="1371600"/>
          </a:xfrm>
          <a:prstGeom prst="rect"/>
        </p:spPr>
        <p:txBody>
          <a:bodyPr wrap="square" lIns="0" tIns="0" rIns="0" bIns="0">
            <a:normAutofit/>
          </a:bodyPr>
          <a:p>
            <a:pPr algn="just">
              <a:lnSpc>
                <a:spcPct val="150000"/>
              </a:lnSpc>
            </a:pPr>
            <a:r>
              <a:rPr lang="zh-CN" sz="1200">
                <a:solidFill>
                  <a:srgbClr val="2C3E50"/>
                </a:solidFill>
                <a:latin typeface="Microsoft YaHei"/>
                <a:ea typeface="Microsoft YaHei"/>
              </a:rPr>
              <a:t>全篇核心要义：①血小板解读</a:t>
            </a:r>
            <a:r>
              <a:rPr lang="en-US" sz="1200">
                <a:solidFill>
                  <a:srgbClr val="2C3E50"/>
                </a:solidFill>
                <a:latin typeface="Microsoft YaHei"/>
                <a:ea typeface="Microsoft YaHei"/>
              </a:rPr>
              <a:t> = </a:t>
            </a:r>
            <a:r>
              <a:rPr lang="zh-CN" sz="1200">
                <a:solidFill>
                  <a:srgbClr val="2C3E50"/>
                </a:solidFill>
                <a:latin typeface="Microsoft YaHei"/>
                <a:ea typeface="Microsoft YaHei"/>
              </a:rPr>
              <a:t>数量维度（计数</a:t>
            </a:r>
            <a:r>
              <a:rPr lang="en-US" sz="1200">
                <a:solidFill>
                  <a:srgbClr val="2C3E50"/>
                </a:solidFill>
                <a:latin typeface="Microsoft YaHei"/>
                <a:ea typeface="Microsoft YaHei"/>
              </a:rPr>
              <a:t>/</a:t>
            </a:r>
            <a:r>
              <a:rPr lang="zh-CN" sz="1200">
                <a:solidFill>
                  <a:srgbClr val="2C3E50"/>
                </a:solidFill>
                <a:latin typeface="Microsoft YaHei"/>
                <a:ea typeface="Microsoft YaHei"/>
              </a:rPr>
              <a:t>体积</a:t>
            </a:r>
            <a:r>
              <a:rPr lang="en-US" sz="1200">
                <a:solidFill>
                  <a:srgbClr val="2C3E50"/>
                </a:solidFill>
                <a:latin typeface="Microsoft YaHei"/>
                <a:ea typeface="Microsoft YaHei"/>
              </a:rPr>
              <a:t>/IPF</a:t>
            </a:r>
            <a:r>
              <a:rPr lang="zh-CN" sz="1200">
                <a:solidFill>
                  <a:srgbClr val="2C3E50"/>
                </a:solidFill>
                <a:latin typeface="Microsoft YaHei"/>
                <a:ea typeface="Microsoft YaHei"/>
              </a:rPr>
              <a:t>）</a:t>
            </a:r>
            <a:r>
              <a:rPr lang="en-US" sz="1200">
                <a:solidFill>
                  <a:srgbClr val="2C3E50"/>
                </a:solidFill>
                <a:latin typeface="Microsoft YaHei"/>
                <a:ea typeface="Microsoft YaHei"/>
              </a:rPr>
              <a:t>+ </a:t>
            </a:r>
            <a:r>
              <a:rPr lang="zh-CN" sz="1200">
                <a:solidFill>
                  <a:srgbClr val="2C3E50"/>
                </a:solidFill>
                <a:latin typeface="Microsoft YaHei"/>
                <a:ea typeface="Microsoft YaHei"/>
              </a:rPr>
              <a:t>功能维度（聚集</a:t>
            </a:r>
            <a:r>
              <a:rPr lang="en-US" sz="1200">
                <a:solidFill>
                  <a:srgbClr val="2C3E50"/>
                </a:solidFill>
                <a:latin typeface="Microsoft YaHei"/>
                <a:ea typeface="Microsoft YaHei"/>
              </a:rPr>
              <a:t>/</a:t>
            </a:r>
            <a:r>
              <a:rPr lang="zh-CN" sz="1200">
                <a:solidFill>
                  <a:srgbClr val="2C3E50"/>
                </a:solidFill>
                <a:latin typeface="Microsoft YaHei"/>
                <a:ea typeface="Microsoft YaHei"/>
              </a:rPr>
              <a:t>分泌</a:t>
            </a:r>
            <a:r>
              <a:rPr lang="en-US" sz="1200">
                <a:solidFill>
                  <a:srgbClr val="2C3E50"/>
                </a:solidFill>
                <a:latin typeface="Microsoft YaHei"/>
                <a:ea typeface="Microsoft YaHei"/>
              </a:rPr>
              <a:t>/</a:t>
            </a:r>
            <a:r>
              <a:rPr lang="zh-CN" sz="1200">
                <a:solidFill>
                  <a:srgbClr val="2C3E50"/>
                </a:solidFill>
                <a:latin typeface="Microsoft YaHei"/>
                <a:ea typeface="Microsoft YaHei"/>
              </a:rPr>
              <a:t>活化）</a:t>
            </a:r>
            <a:r>
              <a:rPr lang="en-US" sz="1200">
                <a:solidFill>
                  <a:srgbClr val="2C3E50"/>
                </a:solidFill>
                <a:latin typeface="Microsoft YaHei"/>
                <a:ea typeface="Microsoft YaHei"/>
              </a:rPr>
              <a:t>+ </a:t>
            </a:r>
            <a:r>
              <a:rPr lang="zh-CN" sz="1200">
                <a:solidFill>
                  <a:srgbClr val="2C3E50"/>
                </a:solidFill>
                <a:latin typeface="Microsoft YaHei"/>
                <a:ea typeface="Microsoft YaHei"/>
              </a:rPr>
              <a:t>场景阈值三合一，任何单一数字都不足以指导决策。②读懂一张化验单先要排除“假”（</a:t>
            </a:r>
            <a:r>
              <a:rPr lang="en-US" sz="1200">
                <a:solidFill>
                  <a:srgbClr val="2C3E50"/>
                </a:solidFill>
                <a:latin typeface="Microsoft YaHei"/>
                <a:ea typeface="Microsoft YaHei"/>
              </a:rPr>
              <a:t>EDTA </a:t>
            </a:r>
            <a:r>
              <a:rPr lang="zh-CN" sz="1200">
                <a:solidFill>
                  <a:srgbClr val="2C3E50"/>
                </a:solidFill>
                <a:latin typeface="Microsoft YaHei"/>
                <a:ea typeface="Microsoft YaHei"/>
              </a:rPr>
              <a:t>聚集</a:t>
            </a:r>
            <a:r>
              <a:rPr lang="en-US" sz="1200">
                <a:solidFill>
                  <a:srgbClr val="2C3E50"/>
                </a:solidFill>
                <a:latin typeface="Microsoft YaHei"/>
                <a:ea typeface="Microsoft YaHei"/>
              </a:rPr>
              <a:t>/</a:t>
            </a:r>
            <a:r>
              <a:rPr lang="zh-CN" sz="1200">
                <a:solidFill>
                  <a:srgbClr val="2C3E50"/>
                </a:solidFill>
                <a:latin typeface="Microsoft YaHei"/>
                <a:ea typeface="Microsoft YaHei"/>
              </a:rPr>
              <a:t>大血小板</a:t>
            </a:r>
            <a:r>
              <a:rPr lang="en-US" sz="1200">
                <a:solidFill>
                  <a:srgbClr val="2C3E50"/>
                </a:solidFill>
                <a:latin typeface="Microsoft YaHei"/>
                <a:ea typeface="Microsoft YaHei"/>
              </a:rPr>
              <a:t>/</a:t>
            </a:r>
            <a:r>
              <a:rPr lang="zh-CN" sz="1200">
                <a:solidFill>
                  <a:srgbClr val="2C3E50"/>
                </a:solidFill>
                <a:latin typeface="Microsoft YaHei"/>
                <a:ea typeface="Microsoft YaHei"/>
              </a:rPr>
              <a:t>凝块</a:t>
            </a:r>
            <a:r>
              <a:rPr lang="en-US" sz="1200">
                <a:solidFill>
                  <a:srgbClr val="2C3E50"/>
                </a:solidFill>
                <a:latin typeface="Microsoft YaHei"/>
                <a:ea typeface="Microsoft YaHei"/>
              </a:rPr>
              <a:t>/</a:t>
            </a:r>
            <a:r>
              <a:rPr lang="zh-CN" sz="1200">
                <a:solidFill>
                  <a:srgbClr val="2C3E50"/>
                </a:solidFill>
                <a:latin typeface="Microsoft YaHei"/>
                <a:ea typeface="Microsoft YaHei"/>
              </a:rPr>
              <a:t>药物干扰），再问“机制”（生成</a:t>
            </a:r>
            <a:r>
              <a:rPr lang="en-US" sz="1200">
                <a:solidFill>
                  <a:srgbClr val="2C3E50"/>
                </a:solidFill>
                <a:latin typeface="Microsoft YaHei"/>
                <a:ea typeface="Microsoft YaHei"/>
              </a:rPr>
              <a:t>/</a:t>
            </a:r>
            <a:r>
              <a:rPr lang="zh-CN" sz="1200">
                <a:solidFill>
                  <a:srgbClr val="2C3E50"/>
                </a:solidFill>
                <a:latin typeface="Microsoft YaHei"/>
                <a:ea typeface="Microsoft YaHei"/>
              </a:rPr>
              <a:t>破坏</a:t>
            </a:r>
            <a:r>
              <a:rPr lang="en-US" sz="1200">
                <a:solidFill>
                  <a:srgbClr val="2C3E50"/>
                </a:solidFill>
                <a:latin typeface="Microsoft YaHei"/>
                <a:ea typeface="Microsoft YaHei"/>
              </a:rPr>
              <a:t>/</a:t>
            </a:r>
            <a:r>
              <a:rPr lang="zh-CN" sz="1200">
                <a:solidFill>
                  <a:srgbClr val="2C3E50"/>
                </a:solidFill>
                <a:latin typeface="Microsoft YaHei"/>
                <a:ea typeface="Microsoft YaHei"/>
              </a:rPr>
              <a:t>消耗</a:t>
            </a:r>
            <a:r>
              <a:rPr lang="en-US" sz="1200">
                <a:solidFill>
                  <a:srgbClr val="2C3E50"/>
                </a:solidFill>
                <a:latin typeface="Microsoft YaHei"/>
                <a:ea typeface="Microsoft YaHei"/>
              </a:rPr>
              <a:t>/</a:t>
            </a:r>
            <a:r>
              <a:rPr lang="zh-CN" sz="1200">
                <a:solidFill>
                  <a:srgbClr val="2C3E50"/>
                </a:solidFill>
                <a:latin typeface="Microsoft YaHei"/>
                <a:ea typeface="Microsoft YaHei"/>
              </a:rPr>
              <a:t>分布），最后选“场景阈值”（</a:t>
            </a:r>
            <a:r>
              <a:rPr lang="en-US" sz="1200">
                <a:solidFill>
                  <a:srgbClr val="2C3E50"/>
                </a:solidFill>
                <a:latin typeface="Microsoft YaHei"/>
                <a:ea typeface="Microsoft YaHei"/>
              </a:rPr>
              <a:t>10/20/50/100 </a:t>
            </a:r>
            <a:r>
              <a:rPr lang="zh-CN" sz="1200">
                <a:solidFill>
                  <a:srgbClr val="2C3E50"/>
                </a:solidFill>
                <a:latin typeface="Microsoft YaHei"/>
                <a:ea typeface="Microsoft YaHei"/>
              </a:rPr>
              <a:t>与出血</a:t>
            </a:r>
            <a:r>
              <a:rPr lang="en-US" sz="1200">
                <a:solidFill>
                  <a:srgbClr val="2C3E50"/>
                </a:solidFill>
                <a:latin typeface="Microsoft YaHei"/>
                <a:ea typeface="Microsoft YaHei"/>
              </a:rPr>
              <a:t>/</a:t>
            </a:r>
            <a:r>
              <a:rPr lang="zh-CN" sz="1200">
                <a:solidFill>
                  <a:srgbClr val="2C3E50"/>
                </a:solidFill>
                <a:latin typeface="Microsoft YaHei"/>
                <a:ea typeface="Microsoft YaHei"/>
              </a:rPr>
              <a:t>血栓目标）。③与其他凝血检测（</a:t>
            </a:r>
            <a:r>
              <a:rPr lang="en-US" sz="1200">
                <a:solidFill>
                  <a:srgbClr val="2C3E50"/>
                </a:solidFill>
                <a:latin typeface="Microsoft YaHei"/>
                <a:ea typeface="Microsoft YaHei"/>
              </a:rPr>
              <a:t>PT/APTT/</a:t>
            </a:r>
            <a:r>
              <a:rPr lang="zh-CN" sz="1200">
                <a:solidFill>
                  <a:srgbClr val="2C3E50"/>
                </a:solidFill>
                <a:latin typeface="Microsoft YaHei"/>
                <a:ea typeface="Microsoft YaHei"/>
              </a:rPr>
              <a:t>纤维蛋白原</a:t>
            </a:r>
            <a:r>
              <a:rPr lang="en-US" sz="1200">
                <a:solidFill>
                  <a:srgbClr val="2C3E50"/>
                </a:solidFill>
                <a:latin typeface="Microsoft YaHei"/>
                <a:ea typeface="Microsoft YaHei"/>
              </a:rPr>
              <a:t>/D-</a:t>
            </a:r>
            <a:r>
              <a:rPr lang="zh-CN" sz="1200">
                <a:solidFill>
                  <a:srgbClr val="2C3E50"/>
                </a:solidFill>
                <a:latin typeface="Microsoft YaHei"/>
                <a:ea typeface="Microsoft YaHei"/>
              </a:rPr>
              <a:t>二聚体）互为盲区互补，</a:t>
            </a:r>
            <a:r>
              <a:rPr lang="en-US" sz="1200">
                <a:solidFill>
                  <a:srgbClr val="2C3E50"/>
                </a:solidFill>
                <a:latin typeface="Microsoft YaHei"/>
                <a:ea typeface="Microsoft YaHei"/>
              </a:rPr>
              <a:t>VET/PFA/</a:t>
            </a:r>
            <a:r>
              <a:rPr lang="zh-CN" sz="1200">
                <a:solidFill>
                  <a:srgbClr val="2C3E50"/>
                </a:solidFill>
                <a:latin typeface="Microsoft YaHei"/>
                <a:ea typeface="Microsoft YaHei"/>
              </a:rPr>
              <a:t>流式是桥接工具。④治疗指导的关键是把“参考区间”翻译成“行动阈值”，并以出血与血栓风险为轴、以动态趋势为导航（</a:t>
            </a:r>
            <a:r>
              <a:rPr lang="en-US" sz="1200">
                <a:solidFill>
                  <a:srgbClr val="2C3E50"/>
                </a:solidFill>
                <a:latin typeface="Microsoft YaHei"/>
                <a:ea typeface="Microsoft YaHei"/>
              </a:rPr>
              <a:t>DIC/HIT/ITP/</a:t>
            </a:r>
            <a:r>
              <a:rPr lang="zh-CN" sz="1200">
                <a:solidFill>
                  <a:srgbClr val="2C3E50"/>
                </a:solidFill>
                <a:latin typeface="Microsoft YaHei"/>
                <a:ea typeface="Microsoft YaHei"/>
              </a:rPr>
              <a:t>化疗恢复的监测频率各有章法）。⑤所有关键推荐均有指南</a:t>
            </a:r>
            <a:r>
              <a:rPr lang="en-US" sz="1200">
                <a:solidFill>
                  <a:srgbClr val="2C3E50"/>
                </a:solidFill>
                <a:latin typeface="Microsoft YaHei"/>
                <a:ea typeface="Microsoft YaHei"/>
              </a:rPr>
              <a:t>/RCT </a:t>
            </a:r>
            <a:r>
              <a:rPr lang="zh-CN" sz="1200">
                <a:solidFill>
                  <a:srgbClr val="2C3E50"/>
                </a:solidFill>
                <a:latin typeface="Microsoft YaHei"/>
                <a:ea typeface="Microsoft YaHei"/>
              </a:rPr>
              <a:t>支撑（</a:t>
            </a:r>
            <a:r>
              <a:rPr lang="en-US" sz="1200">
                <a:solidFill>
                  <a:srgbClr val="2C3E50"/>
                </a:solidFill>
                <a:latin typeface="Microsoft YaHei"/>
                <a:ea typeface="Microsoft YaHei"/>
              </a:rPr>
              <a:t>ASH 2019 ITP</a:t>
            </a:r>
            <a:r>
              <a:rPr lang="zh-CN" sz="1200">
                <a:solidFill>
                  <a:srgbClr val="2C3E50"/>
                </a:solidFill>
                <a:latin typeface="Microsoft YaHei"/>
                <a:ea typeface="Microsoft YaHei"/>
              </a:rPr>
              <a:t>、</a:t>
            </a:r>
            <a:r>
              <a:rPr lang="en-US" sz="1200">
                <a:solidFill>
                  <a:srgbClr val="2C3E50"/>
                </a:solidFill>
                <a:latin typeface="Microsoft YaHei"/>
                <a:ea typeface="Microsoft YaHei"/>
              </a:rPr>
              <a:t>ICR 2019</a:t>
            </a:r>
            <a:r>
              <a:rPr lang="zh-CN" sz="1200">
                <a:solidFill>
                  <a:srgbClr val="2C3E50"/>
                </a:solidFill>
                <a:latin typeface="Microsoft YaHei"/>
                <a:ea typeface="Microsoft YaHei"/>
              </a:rPr>
              <a:t>、中国</a:t>
            </a:r>
            <a:r>
              <a:rPr lang="en-US" sz="1200">
                <a:solidFill>
                  <a:srgbClr val="2C3E50"/>
                </a:solidFill>
                <a:latin typeface="Microsoft YaHei"/>
                <a:ea typeface="Microsoft YaHei"/>
              </a:rPr>
              <a:t> ITP 2020</a:t>
            </a:r>
            <a:r>
              <a:rPr lang="zh-CN" sz="1200">
                <a:solidFill>
                  <a:srgbClr val="2C3E50"/>
                </a:solidFill>
                <a:latin typeface="Microsoft YaHei"/>
                <a:ea typeface="Microsoft YaHei"/>
              </a:rPr>
              <a:t>、</a:t>
            </a:r>
            <a:r>
              <a:rPr lang="en-US" sz="1200">
                <a:solidFill>
                  <a:srgbClr val="2C3E50"/>
                </a:solidFill>
                <a:latin typeface="Microsoft YaHei"/>
                <a:ea typeface="Microsoft YaHei"/>
              </a:rPr>
              <a:t>ASH 2018 HIT</a:t>
            </a:r>
            <a:r>
              <a:rPr lang="zh-CN" sz="1200">
                <a:solidFill>
                  <a:srgbClr val="2C3E50"/>
                </a:solidFill>
                <a:latin typeface="Microsoft YaHei"/>
                <a:ea typeface="Microsoft YaHei"/>
              </a:rPr>
              <a:t>、</a:t>
            </a:r>
            <a:r>
              <a:rPr lang="en-US" sz="1200">
                <a:solidFill>
                  <a:srgbClr val="2C3E50"/>
                </a:solidFill>
                <a:latin typeface="Microsoft YaHei"/>
                <a:ea typeface="Microsoft YaHei"/>
              </a:rPr>
              <a:t>AABB 2015</a:t>
            </a:r>
            <a:r>
              <a:rPr lang="zh-CN" sz="1200">
                <a:solidFill>
                  <a:srgbClr val="2C3E50"/>
                </a:solidFill>
                <a:latin typeface="Microsoft YaHei"/>
                <a:ea typeface="Microsoft YaHei"/>
              </a:rPr>
              <a:t>、欧洲创伤</a:t>
            </a:r>
            <a:r>
              <a:rPr lang="en-US" sz="1200">
                <a:solidFill>
                  <a:srgbClr val="2C3E50"/>
                </a:solidFill>
                <a:latin typeface="Microsoft YaHei"/>
                <a:ea typeface="Microsoft YaHei"/>
              </a:rPr>
              <a:t> 2023</a:t>
            </a:r>
            <a:r>
              <a:rPr lang="zh-CN" sz="1200">
                <a:solidFill>
                  <a:srgbClr val="2C3E50"/>
                </a:solidFill>
                <a:latin typeface="Microsoft YaHei"/>
                <a:ea typeface="Microsoft YaHei"/>
              </a:rPr>
              <a:t>、</a:t>
            </a:r>
            <a:r>
              <a:rPr lang="en-US" sz="1200">
                <a:solidFill>
                  <a:srgbClr val="2C3E50"/>
                </a:solidFill>
                <a:latin typeface="Microsoft YaHei"/>
                <a:ea typeface="Microsoft YaHei"/>
              </a:rPr>
              <a:t>ISTH DIC </a:t>
            </a:r>
            <a:r>
              <a:rPr lang="zh-CN" sz="1200">
                <a:solidFill>
                  <a:srgbClr val="2C3E50"/>
                </a:solidFill>
                <a:latin typeface="Microsoft YaHei"/>
                <a:ea typeface="Microsoft YaHei"/>
              </a:rPr>
              <a:t>等，详见正文</a:t>
            </a:r>
            <a:r>
              <a:rPr lang="en-US" sz="1200">
                <a:solidFill>
                  <a:srgbClr val="2C3E50"/>
                </a:solidFill>
                <a:latin typeface="Microsoft YaHei"/>
                <a:ea typeface="Microsoft YaHei"/>
              </a:rPr>
              <a:t> PMID</a:t>
            </a:r>
            <a:r>
              <a:rPr lang="zh-CN" sz="1200">
                <a:solidFill>
                  <a:srgbClr val="2C3E50"/>
                </a:solidFill>
                <a:latin typeface="Microsoft YaHei"/>
                <a:ea typeface="Microsoft YaHei"/>
              </a:rPr>
              <a:t>）。</a:t>
            </a:r>
            <a:endParaRPr/>
          </a:p>
        </p:txBody>
      </p:sp>
      <p:sp>
        <p:nvSpPr>
          <p:cNvPr id="1786" name=""/>
          <p:cNvSpPr/>
          <p:nvPr/>
        </p:nvSpPr>
        <p:spPr>
          <a:xfrm rot="0" flipH="0" flipV="0">
            <a:off x="0" y="6324600"/>
            <a:ext cx="12192000" cy="342900"/>
          </a:xfrm>
          <a:prstGeom prst="rect">
            <a:avLst/>
          </a:prstGeom>
          <a:solidFill>
            <a:srgbClr val="F7F9FC"/>
          </a:solidFill>
          <a:ln/>
        </p:spPr>
        <p:txBody>
          <a:bodyPr/>
          <a:p/>
        </p:txBody>
      </p:sp>
      <p:sp>
        <p:nvSpPr>
          <p:cNvPr id="1787" name="" descr="{&quot;isTemplate&quot;:true,&quot;type&quot;:&quot;text&quot;}"/>
          <p:cNvSpPr txBox="1"/>
          <p:nvPr/>
        </p:nvSpPr>
        <p:spPr>
          <a:xfrm rot="0" flipH="0" flipV="0">
            <a:off x="609600" y="6400800"/>
            <a:ext cx="9525000" cy="0"/>
          </a:xfrm>
          <a:prstGeom prst="rect"/>
        </p:spPr>
        <p:txBody>
          <a:bodyPr wrap="none" lIns="0" tIns="0" rIns="0" bIns="0"/>
          <a:p>
            <a:pPr/>
            <a:endParaRPr/>
          </a:p>
        </p:txBody>
      </p:sp>
      <p:sp>
        <p:nvSpPr>
          <p:cNvPr id="1788" name="" descr="{&quot;isTemplate&quot;:true,&quot;type&quot;:&quot;text&quot;}"/>
          <p:cNvSpPr txBox="1"/>
          <p:nvPr/>
        </p:nvSpPr>
        <p:spPr>
          <a:xfrm rot="0" flipH="0" flipV="0">
            <a:off x="10248900" y="6410325"/>
            <a:ext cx="1333500" cy="152400"/>
          </a:xfrm>
          <a:prstGeom prst="rect"/>
        </p:spPr>
        <p:txBody>
          <a:bodyPr wrap="none" lIns="0" tIns="0" rIns="0" bIns="0"/>
          <a:p>
            <a:pPr>
              <a:lnSpc>
                <a:spcPct val="100000"/>
              </a:lnSpc>
            </a:pPr>
            <a:r>
              <a:rPr lang="zh-CN" sz="975">
                <a:solidFill>
                  <a:srgbClr val="6B7B8C"/>
                </a:solidFill>
                <a:latin typeface="Microsoft YaHei"/>
                <a:ea typeface="Microsoft YaHei"/>
              </a:rPr>
              <a:t>血小板</a:t>
            </a:r>
            <a:r>
              <a:rPr lang="en-US" sz="975">
                <a:solidFill>
                  <a:srgbClr val="6B7B8C"/>
                </a:solidFill>
                <a:latin typeface="Microsoft YaHei"/>
                <a:ea typeface="Microsoft YaHei"/>
              </a:rPr>
              <a:t> PLT · </a:t>
            </a:r>
            <a:r>
              <a:rPr lang="zh-CN" sz="975">
                <a:solidFill>
                  <a:srgbClr val="6B7B8C"/>
                </a:solidFill>
                <a:latin typeface="Microsoft YaHei"/>
                <a:ea typeface="Microsoft YaHei"/>
              </a:rPr>
              <a:t>计数与功能</a:t>
            </a:r>
            <a:endParaRPr/>
          </a:p>
        </p:txBody>
      </p:sp>
    </p:spTree>
  </p:cSld>
</p:sld>
</file>

<file path=ppt/slides/slide77.xml><?xml version="1.0" encoding="utf-8"?>
<p:sld xmlns:p="http://schemas.openxmlformats.org/presentationml/2006/main" xmlns:a="http://schemas.openxmlformats.org/drawingml/2006/main">
  <p:cSld>
    <p:spTree>
      <p:nvGrpSpPr>
        <p:cNvPr id="1789" name="" descr="&lt;Slide notes={`演讲者备注：本课件《血小板（PLT）计数与功能解读：从检验参数到临床决策》完成。&#13;&#10;内容涵盖定义与生理、计数与功能方法学、阈值与危急值、误差与误读、与其他凝血检测的异同、临床场景解读与治疗指导、流程化判读与动态监测、关键研究/指南/共识证据、案例分享与进展方向，共十二章。&#13;&#10;所有关键结论均附参考文献及 PMID（已在 PubMed 核验）；配套《综述》Word 文档同步交付，供学习与引用。&#13;&#10;致谢：感谢检验医学与出凝血团队提供的病例与讨论素材；如有疏漏，欢迎批评指正。`} style={{ width: '1280px', height: '720px', background: '#0E3F8C', padding: 0 }}&gt;&#13;&#10;  &lt;Box style={{ position: 'absolute', left: 0, top: 0, width: 12, height: 720, background: '#3D7BD9' }} /&gt;&#13;&#10;  &lt;Text style={{ position: 'absolute', left: 640, top: 280, fontSize: 72, color: '#FFFFFF', fontWeight: 'bold', textAlign: 'center' }}&gt;谢谢&lt;/Text&gt;&#13;&#10;  &lt;Text style={{ position: 'absolute', left: 640, top: 380, fontSize: 28, color: '#9DB8E0', textAlign: 'center' }}&gt;THANK YOU&lt;/Text&gt;&#13;&#10;  &lt;Text style={{ position: 'absolute', right: 64, top: 660, fontSize: 15, color: '#9DB8E0' }}&gt;77 / 77&lt;/Text&gt;&#13;&#10;&lt;/Slide&gt;"/>
        <p:cNvGrpSpPr/>
        <p:nvPr/>
      </p:nvGrpSpPr>
      <p:grpSpPr>
        <a:xfrm>
          <a:off x="0" y="0"/>
          <a:ext cx="0" cy="0"/>
          <a:chOff x="0" y="0"/>
          <a:chExt cx="0" cy="0"/>
        </a:xfrm>
      </p:grpSpPr>
      <p:sp>
        <p:nvSpPr>
          <p:cNvPr id="1790" name=""/>
          <p:cNvSpPr/>
          <p:nvPr/>
        </p:nvSpPr>
        <p:spPr>
          <a:xfrm rot="0" flipH="0" flipV="0">
            <a:off x="0" y="0"/>
            <a:ext cx="12192000" cy="6858000"/>
          </a:xfrm>
          <a:prstGeom prst="rect">
            <a:avLst/>
          </a:prstGeom>
          <a:solidFill>
            <a:srgbClr val="0E3F8C"/>
          </a:solidFill>
          <a:ln/>
        </p:spPr>
        <p:txBody>
          <a:bodyPr/>
          <a:p/>
        </p:txBody>
      </p:sp>
      <p:sp>
        <p:nvSpPr>
          <p:cNvPr id="1791" name=""/>
          <p:cNvSpPr/>
          <p:nvPr/>
        </p:nvSpPr>
        <p:spPr>
          <a:xfrm rot="0" flipH="0" flipV="0">
            <a:off x="0" y="0"/>
            <a:ext cx="114300" cy="6858000"/>
          </a:xfrm>
          <a:prstGeom prst="rect">
            <a:avLst/>
          </a:prstGeom>
          <a:solidFill>
            <a:srgbClr val="3D7BD9"/>
          </a:solidFill>
          <a:ln/>
        </p:spPr>
        <p:txBody>
          <a:bodyPr/>
          <a:p/>
        </p:txBody>
      </p:sp>
      <p:sp>
        <p:nvSpPr>
          <p:cNvPr id="1792" name="" descr="{&quot;isTemplate&quot;:true,&quot;type&quot;:&quot;text&quot;}"/>
          <p:cNvSpPr txBox="1"/>
          <p:nvPr/>
        </p:nvSpPr>
        <p:spPr>
          <a:xfrm rot="0" flipH="0" flipV="0">
            <a:off x="6096000" y="2667000"/>
            <a:ext cx="1371600" cy="828675"/>
          </a:xfrm>
          <a:prstGeom prst="rect"/>
        </p:spPr>
        <p:txBody>
          <a:bodyPr wrap="none" lIns="0" tIns="0" rIns="0" bIns="0"/>
          <a:p>
            <a:pPr algn="ctr">
              <a:lnSpc>
                <a:spcPct val="100000"/>
              </a:lnSpc>
            </a:pPr>
            <a:r>
              <a:rPr lang="zh-CN" sz="5400" b="1">
                <a:solidFill>
                  <a:srgbClr val="FFFFFF"/>
                </a:solidFill>
                <a:latin typeface="Microsoft YaHei"/>
                <a:ea typeface="Microsoft YaHei"/>
              </a:rPr>
              <a:t>谢谢</a:t>
            </a:r>
            <a:endParaRPr/>
          </a:p>
        </p:txBody>
      </p:sp>
      <p:sp>
        <p:nvSpPr>
          <p:cNvPr id="1793" name="" descr="{&quot;isTemplate&quot;:true,&quot;type&quot;:&quot;text&quot;}"/>
          <p:cNvSpPr txBox="1"/>
          <p:nvPr/>
        </p:nvSpPr>
        <p:spPr>
          <a:xfrm rot="0" flipH="0" flipV="0">
            <a:off x="6096000" y="3619500"/>
            <a:ext cx="1590675" cy="323850"/>
          </a:xfrm>
          <a:prstGeom prst="rect"/>
        </p:spPr>
        <p:txBody>
          <a:bodyPr wrap="none" lIns="0" tIns="0" rIns="0" bIns="0"/>
          <a:p>
            <a:pPr algn="ctr">
              <a:lnSpc>
                <a:spcPct val="100000"/>
              </a:lnSpc>
            </a:pPr>
            <a:r>
              <a:rPr lang="en-US" sz="2100">
                <a:solidFill>
                  <a:srgbClr val="9DB8E0"/>
                </a:solidFill>
                <a:latin typeface="Microsoft YaHei"/>
                <a:ea typeface="Microsoft YaHei"/>
              </a:rPr>
              <a:t>THANK YOU</a:t>
            </a:r>
            <a:endParaRPr/>
          </a:p>
        </p:txBody>
      </p:sp>
      <p:sp>
        <p:nvSpPr>
          <p:cNvPr id="1794" name="" descr="{&quot;isTemplate&quot;:true,&quot;type&quot;:&quot;text&quot;}"/>
          <p:cNvSpPr txBox="1"/>
          <p:nvPr/>
        </p:nvSpPr>
        <p:spPr>
          <a:xfrm rot="0" flipH="0" flipV="0">
            <a:off x="11096625" y="6286500"/>
            <a:ext cx="485775" cy="171450"/>
          </a:xfrm>
          <a:prstGeom prst="rect"/>
        </p:spPr>
        <p:txBody>
          <a:bodyPr wrap="none" lIns="0" tIns="0" rIns="0" bIns="0"/>
          <a:p>
            <a:pPr>
              <a:lnSpc>
                <a:spcPct val="100000"/>
              </a:lnSpc>
            </a:pPr>
            <a:r>
              <a:rPr lang="en-US" sz="1125">
                <a:solidFill>
                  <a:srgbClr val="9DB8E0"/>
                </a:solidFill>
                <a:latin typeface="Microsoft YaHei"/>
                <a:ea typeface="Microsoft YaHei"/>
              </a:rPr>
              <a:t>77 / 77</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2026-09-06T23:12:52Z</dcterms:created>
  <dcterms:modified xsi:type="dcterms:W3CDTF">2026-09-06T23:12:52Z</dcterms:modified>
</cp:coreProperties>
</file>