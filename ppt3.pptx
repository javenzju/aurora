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ContentType="application/vnd.openxmlformats-officedocument.presentationml.slide+xml" PartName="/ppt/slides/slide.xml"/>
  <Default Extension="jpg" ContentType="image/jpeg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custom-properties+xml" PartName="/docProps/custom.xml"/>
</Types>
</file>

<file path=_rels/.rels><?xml version="1.0" encoding="UTF-8" standalone="yes"?>
<Relationships xmlns="http://schemas.openxmlformats.org/package/2006/relationships">
<Relationship Target="ppt/presentation.xml" Type="http://schemas.openxmlformats.org/officeDocument/2006/relationships/officeDocument" Id="rId1"/>
<Relationship Target="docProps/thumbnail.jpeg" Type="http://schemas.openxmlformats.org/package/2006/relationships/metadata/thumbnail" Id="rId2"/>
<Relationship Target="docProps/core.xml" Type="http://schemas.openxmlformats.org/package/2006/relationships/metadata/core-properties" Id="rId3"/>
<Relationship Target="docProps/app.xml" Type="http://schemas.openxmlformats.org/officeDocument/2006/relationships/extended-properties" Id="rId4"/>
<Relationship Target="docProps/custom.xml" Type="http://schemas.openxmlformats.org/officeDocument/2006/relationships/custom-properties" Id="rId5"/>
</Relationships>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2192000" cy="6858000" type="screen16x9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ooxmlsdkcls="c:P15_CT_ExtendedGuideList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 lastView="sldThumbnailView">
  <p:normalViewPr>
    <p:restoredLeft sz="16520"/>
    <p:restoredTop sz="94674"/>
  </p:normalViewPr>
  <p:slideViewPr>
    <p:cSldViewPr snapToGrid="0">
      <p:cViewPr varScale="1">
        <p:scale>
          <a:sx d="100" n="124"/>
          <a:sy d="100" n="124"/>
        </p:scale>
        <p:origin x="224" y="16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
<Relationship Target="slideMasters/slideMaster1.xml" Type="http://schemas.openxmlformats.org/officeDocument/2006/relationships/slideMaster" Id="rId1"/>
<Relationship Target="presProps.xml" Type="http://schemas.openxmlformats.org/officeDocument/2006/relationships/presProps" Id="rId2"/>
<Relationship Target="viewProps.xml" Type="http://schemas.openxmlformats.org/officeDocument/2006/relationships/viewProps" Id="rId3"/>
<Relationship Target="theme/theme1.xml" Type="http://schemas.openxmlformats.org/officeDocument/2006/relationships/theme" Id="rId4"/>
<Relationship Target="tableStyles.xml" Type="http://schemas.openxmlformats.org/officeDocument/2006/relationships/tableStyles" Id="rId5"/>
<Relationship Target="slides/slide1.xml" Type="http://schemas.openxmlformats.org/officeDocument/2006/relationships/slide" Id="rId6"/>
<Relationship Target="slides/slide.xml" Type="http://schemas.openxmlformats.org/officeDocument/2006/relationships/slide" Id="rId7"/>
<Relationship Target="slides/slide2.xml" Type="http://schemas.openxmlformats.org/officeDocument/2006/relationships/slide" Id="rId8"/>
<Relationship Target="slides/slide3.xml" Type="http://schemas.openxmlformats.org/officeDocument/2006/relationships/slide" Id="rId9"/>
<Relationship Target="slides/slide4.xml" Type="http://schemas.openxmlformats.org/officeDocument/2006/relationships/slide" Id="rId10"/>
<Relationship Target="slides/slide5.xml" Type="http://schemas.openxmlformats.org/officeDocument/2006/relationships/slide" Id="rId11"/>
<Relationship Target="slides/slide6.xml" Type="http://schemas.openxmlformats.org/officeDocument/2006/relationships/slide" Id="rId12"/>
<Relationship Target="slides/slide7.xml" Type="http://schemas.openxmlformats.org/officeDocument/2006/relationships/slide" Id="rId13"/>
<Relationship Target="slides/slide8.xml" Type="http://schemas.openxmlformats.org/officeDocument/2006/relationships/slide" Id="rId14"/>
<Relationship Target="slides/slide9.xml" Type="http://schemas.openxmlformats.org/officeDocument/2006/relationships/slide" Id="rId15"/>
<Relationship Target="slides/slide10.xml" Type="http://schemas.openxmlformats.org/officeDocument/2006/relationships/slide" Id="rId16"/>
<Relationship Target="slides/slide11.xml" Type="http://schemas.openxmlformats.org/officeDocument/2006/relationships/slide" Id="rId17"/>
<Relationship Target="slides/slide12.xml" Type="http://schemas.openxmlformats.org/officeDocument/2006/relationships/slide" Id="rId18"/>
<Relationship Target="slides/slide13.xml" Type="http://schemas.openxmlformats.org/officeDocument/2006/relationships/slide" Id="rId19"/>
<Relationship Target="slides/slide14.xml" Type="http://schemas.openxmlformats.org/officeDocument/2006/relationships/slide" Id="rId20"/>
<Relationship Target="slides/slide15.xml" Type="http://schemas.openxmlformats.org/officeDocument/2006/relationships/slide" Id="rId21"/>
<Relationship Target="slides/slide16.xml" Type="http://schemas.openxmlformats.org/officeDocument/2006/relationships/slide" Id="rId22"/>
<Relationship Target="slides/slide17.xml" Type="http://schemas.openxmlformats.org/officeDocument/2006/relationships/slide" Id="rId23"/>
<Relationship Target="slides/slide18.xml" Type="http://schemas.openxmlformats.org/officeDocument/2006/relationships/slide" Id="rId24"/>
<Relationship Target="slides/slide19.xml" Type="http://schemas.openxmlformats.org/officeDocument/2006/relationships/slide" Id="rId25"/>
<Relationship Target="slides/slide20.xml" Type="http://schemas.openxmlformats.org/officeDocument/2006/relationships/slide" Id="rId26"/>
<Relationship Target="slides/slide21.xml" Type="http://schemas.openxmlformats.org/officeDocument/2006/relationships/slide" Id="rId27"/>
<Relationship Target="slides/slide22.xml" Type="http://schemas.openxmlformats.org/officeDocument/2006/relationships/slide" Id="rId28"/>
<Relationship Target="slides/slide23.xml" Type="http://schemas.openxmlformats.org/officeDocument/2006/relationships/slide" Id="rId29"/>
<Relationship Target="slides/slide24.xml" Type="http://schemas.openxmlformats.org/officeDocument/2006/relationships/slide" Id="rId30"/>
<Relationship Target="slides/slide25.xml" Type="http://schemas.openxmlformats.org/officeDocument/2006/relationships/slide" Id="rId31"/>
<Relationship Target="slides/slide26.xml" Type="http://schemas.openxmlformats.org/officeDocument/2006/relationships/slide" Id="rId32"/>
<Relationship Target="slides/slide27.xml" Type="http://schemas.openxmlformats.org/officeDocument/2006/relationships/slide" Id="rId33"/>
</Relationships>

</file>

<file path=ppt/slideLayouts/_rels/slideLayout1.xml.rels><?xml version="1.0" encoding="UTF-8" standalone="yes"?>
<Relationships xmlns="http://schemas.openxmlformats.org/package/2006/relationships">
<Relationship Target="../slideMasters/slideMaster1.xml" Type="http://schemas.openxmlformats.org/officeDocument/2006/relationships/slideMaster" Id="rId1"/>
</Relationships>

</file>

<file path=ppt/slideLayouts/_rels/slideLayout2.xml.rels><?xml version="1.0" encoding="UTF-8" standalone="yes"?>
<Relationships xmlns="http://schemas.openxmlformats.org/package/2006/relationships">
<Relationship Target="../slideMasters/slideMaster1.xml" Type="http://schemas.openxmlformats.org/officeDocument/2006/relationships/slideMaster" Id="rId1"/>
</Relationships>

</file>

<file path=ppt/slideLayouts/_rels/slideLayout3.xml.rels><?xml version="1.0" encoding="UTF-8" standalone="yes"?>
<Relationships xmlns="http://schemas.openxmlformats.org/package/2006/relationships">
<Relationship Target="../slideMasters/slideMaster1.xml" Type="http://schemas.openxmlformats.org/officeDocument/2006/relationships/slideMaster" Id="rId1"/>
</Relationships>

</file>

<file path=ppt/slideLayouts/_rels/slideLayout4.xml.rels><?xml version="1.0" encoding="UTF-8" standalone="yes"?>
<Relationships xmlns="http://schemas.openxmlformats.org/package/2006/relationships">
<Relationship Target="../slideMasters/slideMaster1.xml" Type="http://schemas.openxmlformats.org/officeDocument/2006/relationships/slideMaster" Id="rId1"/>
</Relationships>

</file>

<file path=ppt/slideLayouts/_rels/slideLayout5.xml.rels><?xml version="1.0" encoding="UTF-8" standalone="yes"?>
<Relationships xmlns="http://schemas.openxmlformats.org/package/2006/relationships">
<Relationship Target="../slideMasters/slideMaster1.xml" Type="http://schemas.openxmlformats.org/officeDocument/2006/relationships/slideMaster" Id="rId1"/>
</Relationships>

</file>

<file path=ppt/slideLayouts/_rels/slideLayout6.xml.rels><?xml version="1.0" encoding="UTF-8" standalone="yes"?>
<Relationships xmlns="http://schemas.openxmlformats.org/package/2006/relationships">
<Relationship Target="../slideMasters/slideMaster1.xml" Type="http://schemas.openxmlformats.org/officeDocument/2006/relationships/slideMaster" Id="rId1"/>
</Relationships>

</file>

<file path=ppt/slideLayouts/_rels/slideLayout7.xml.rels><?xml version="1.0" encoding="UTF-8" standalone="yes"?>
<Relationships xmlns="http://schemas.openxmlformats.org/package/2006/relationships">
<Relationship Target="../slideMasters/slideMaster1.xml" Type="http://schemas.openxmlformats.org/officeDocument/2006/relationships/slideMaster" Id="rId1"/>
</Relationships>

</file>

<file path=ppt/slideLayouts/_rels/slideLayout8.xml.rels><?xml version="1.0" encoding="UTF-8" standalone="yes"?>
<Relationships xmlns="http://schemas.openxmlformats.org/package/2006/relationships">
<Relationship Target="../slideMasters/slideMaster1.xml" Type="http://schemas.openxmlformats.org/officeDocument/2006/relationships/slideMaster" Id="rId1"/>
</Relationships>

</file>

<file path=ppt/slideLayouts/_rels/slideLayout9.xml.rels><?xml version="1.0" encoding="UTF-8" standalone="yes"?>
<Relationships xmlns="http://schemas.openxmlformats.org/package/2006/relationships">
<Relationship Target="../slideMasters/slideMaster1.xml" Type="http://schemas.openxmlformats.org/officeDocument/2006/relationships/slideMaster" Id="rId1"/>
</Relationships>

</file>

<file path=ppt/slideLayouts/_rels/slideLayout10.xml.rels><?xml version="1.0" encoding="UTF-8" standalone="yes"?>
<Relationships xmlns="http://schemas.openxmlformats.org/package/2006/relationships">
<Relationship Target="../slideMasters/slideMaster1.xml" Type="http://schemas.openxmlformats.org/officeDocument/2006/relationships/slideMaster" Id="rId1"/>
</Relationships>

</file>

<file path=ppt/slideLayouts/_rels/slideLayout11.xml.rels><?xml version="1.0" encoding="UTF-8" standalone="yes"?>
<Relationships xmlns="http://schemas.openxmlformats.org/package/2006/relationships">
<Relationship Target="../slideMasters/slideMaster1.xml" Type="http://schemas.openxmlformats.org/officeDocument/2006/relationships/slideMaster" Id="rId1"/>
</Relationships>

</file>

<file path=ppt/slideLayouts/slideLayout1.xml><?xml version="1.0" encoding="utf-8"?>
<p:sldLayout xmlns:a="http://schemas.openxmlformats.org/drawingml/2006/main" xmlns:ooxmlsdk="ooxmlsdk" xmlns:p="http://schemas.openxmlformats.org/presentationml/2006/main" xmlns:r="http://schemas.openxmlformats.org/officeDocument/2006/relationships" preserve="1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:ooxmlsdkcls="c:A16_CT_CreationId" id="{AFF4D715-50C3-B803-A8ED-E297CF0F2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en-US" kumimoji="1" lang="zh-CN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:ooxmlsdkcls="c:A16_CT_CreationId" id="{72D1C8FA-4E74-3C2B-B2E1-90179EE0F86D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kumimoji="1" lang="zh-CN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:ooxmlsdkcls="c:A16_CT_CreationId" id="{EAF96F5C-20E8-D5B3-4B51-E00FBADC2408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BDC48963-C8E2-1E4C-A771-F62A9F2C7DEC}" type="datetimeFigureOut">
              <a:rPr altLang="en-US" kumimoji="1" lang="zh-CN" smtClean="0"/>
              <a:t>2025/10/20</a:t>
            </a:fld>
            <a:endParaRPr altLang="en-US" kumimoji="1" 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:ooxmlsdkcls="c:A16_CT_CreationId" id="{5DCA3150-268E-E144-EB8E-C83266A4625E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altLang="en-US" kumimoji="1" 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:ooxmlsdkcls="c:A16_CT_CreationId" id="{62C9375F-A225-D342-874D-7AF26BF34C8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14F1114B-15D0-654E-97CA-9E77F051A874}" type="slidenum">
              <a:rPr altLang="en-US" kumimoji="1" lang="zh-CN" smtClean="0"/>
              <a:t>‹#›</a:t>
            </a:fld>
            <a:endParaRPr altLang="en-US" kumimoji="1" lang="zh-CN"/>
          </a:p>
        </p:txBody>
      </p:sp>
    </p:spTree>
    <p:extLst>
      <p:ext uri="{BB962C8B-B14F-4D97-AF65-F5344CB8AC3E}">
        <p14:creationId xmlns:ooxmlsdkcls="c:P14_CT_RandomId" xmlns:p14="http://schemas.microsoft.com/office/powerpoint/2010/main" val="1213152611"/>
      </p:ext>
    </p:extLst>
  </p:cSld>
  <p:clrMapOvr>
    <a:masterClrMapping/>
  </p:clrMapOvr>
  <p:extLst>
    <p:ext uri="ooxmlsdk">
      <ooxmlsdk:mediaFallback xmlns:ooxmlsdkcls="c:OOXMLSDK_CT_MediaFallback" target="/slidelayout//ppt/slideLayouts/slideLayout1.xml.png" type="slideLayout"/>
    </p:ext>
  </p:extLst>
</p:sldLayout>
</file>

<file path=ppt/slideLayouts/slideLayout2.xml><?xml version="1.0" encoding="utf-8"?>
<p:sldLayout xmlns:a="http://schemas.openxmlformats.org/drawingml/2006/main" xmlns:ooxmlsdk="ooxmlsdk" xmlns:p="http://schemas.openxmlformats.org/presentationml/2006/main" xmlns:r="http://schemas.openxmlformats.org/officeDocument/2006/relationships" preserve="1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:ooxmlsdkcls="c:A16_CT_CreationId" id="{B05BA219-D050-862C-E65B-9683A3676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en-US" kumimoji="1" lang="zh-CN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:ooxmlsdkcls="c:A16_CT_CreationId" id="{773736A5-1585-C5FA-D2FE-8F5ED1377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altLang="en-US" kumimoji="1" lang="zh-CN"/>
              <a:t>单击此处编辑母版文本样式</a:t>
            </a:r>
          </a:p>
          <a:p>
            <a:pPr lvl="1"/>
            <a:r>
              <a:rPr altLang="en-US" kumimoji="1" lang="zh-CN"/>
              <a:t>二级</a:t>
            </a:r>
          </a:p>
          <a:p>
            <a:pPr lvl="2"/>
            <a:r>
              <a:rPr altLang="en-US" kumimoji="1" lang="zh-CN"/>
              <a:t>三级</a:t>
            </a:r>
          </a:p>
          <a:p>
            <a:pPr lvl="3"/>
            <a:r>
              <a:rPr altLang="en-US" kumimoji="1" lang="zh-CN"/>
              <a:t>四级</a:t>
            </a:r>
          </a:p>
          <a:p>
            <a:pPr lvl="4"/>
            <a:r>
              <a:rPr altLang="en-US" kumimoji="1" lang="zh-CN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:ooxmlsdkcls="c:A16_CT_CreationId" id="{76E2F4FD-E8D7-1C42-14C4-121EA09928C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BDC48963-C8E2-1E4C-A771-F62A9F2C7DEC}" type="datetimeFigureOut">
              <a:rPr altLang="en-US" kumimoji="1" lang="zh-CN" smtClean="0"/>
              <a:t>2025/10/20</a:t>
            </a:fld>
            <a:endParaRPr altLang="en-US" kumimoji="1" 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:ooxmlsdkcls="c:A16_CT_CreationId" id="{7BD03D1D-7811-D79C-3E26-008C62664539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altLang="en-US" kumimoji="1" 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:ooxmlsdkcls="c:A16_CT_CreationId" id="{9F5FEE4B-101F-62CC-E69D-F081B97B9CBC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14F1114B-15D0-654E-97CA-9E77F051A874}" type="slidenum">
              <a:rPr altLang="en-US" kumimoji="1" lang="zh-CN" smtClean="0"/>
              <a:t>‹#›</a:t>
            </a:fld>
            <a:endParaRPr altLang="en-US" kumimoji="1" lang="zh-CN"/>
          </a:p>
        </p:txBody>
      </p:sp>
    </p:spTree>
    <p:extLst>
      <p:ext uri="{BB962C8B-B14F-4D97-AF65-F5344CB8AC3E}">
        <p14:creationId xmlns:ooxmlsdkcls="c:P14_CT_RandomId" xmlns:p14="http://schemas.microsoft.com/office/powerpoint/2010/main" val="2047147540"/>
      </p:ext>
    </p:extLst>
  </p:cSld>
  <p:clrMapOvr>
    <a:masterClrMapping/>
  </p:clrMapOvr>
  <p:extLst>
    <p:ext uri="ooxmlsdk">
      <ooxmlsdk:mediaFallback xmlns:ooxmlsdkcls="c:OOXMLSDK_CT_MediaFallback" target="/slidelayout//ppt/slideLayouts/slideLayout2.xml.png" type="slideLayout"/>
    </p:ext>
  </p:extLst>
</p:sldLayout>
</file>

<file path=ppt/slideLayouts/slideLayout3.xml><?xml version="1.0" encoding="utf-8"?>
<p:sldLayout xmlns:a="http://schemas.openxmlformats.org/drawingml/2006/main" xmlns:ooxmlsdk="ooxmlsdk" xmlns:p="http://schemas.openxmlformats.org/presentationml/2006/main" xmlns:r="http://schemas.openxmlformats.org/officeDocument/2006/relationships" preserve="1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:ooxmlsdkcls="c:A16_CT_CreationId" id="{4B30E9EE-8C71-67D4-A2BC-53B10698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en-US" kumimoji="1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:ooxmlsdkcls="c:A16_CT_CreationId" id="{6C09279D-06F0-EFDE-9CD6-193A29D31A41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en-US" kumimoji="1" lang="zh-CN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:ooxmlsdkcls="c:A16_CT_CreationId" id="{23B3CCE7-DC65-DA1D-3E8E-70130CD6E894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BDC48963-C8E2-1E4C-A771-F62A9F2C7DEC}" type="datetimeFigureOut">
              <a:rPr altLang="en-US" kumimoji="1" lang="zh-CN" smtClean="0"/>
              <a:t>2025/10/20</a:t>
            </a:fld>
            <a:endParaRPr altLang="en-US" kumimoji="1" 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:ooxmlsdkcls="c:A16_CT_CreationId" id="{99B74EE2-CD7D-A99C-E5D2-1366E53CABFC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altLang="en-US" kumimoji="1" 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:ooxmlsdkcls="c:A16_CT_CreationId" id="{5252B1E2-E5C3-92D1-FF78-B950DDC1B42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14F1114B-15D0-654E-97CA-9E77F051A874}" type="slidenum">
              <a:rPr altLang="en-US" kumimoji="1" lang="zh-CN" smtClean="0"/>
              <a:t>‹#›</a:t>
            </a:fld>
            <a:endParaRPr altLang="en-US" kumimoji="1" lang="zh-CN"/>
          </a:p>
        </p:txBody>
      </p:sp>
    </p:spTree>
    <p:extLst>
      <p:ext uri="{BB962C8B-B14F-4D97-AF65-F5344CB8AC3E}">
        <p14:creationId xmlns:ooxmlsdkcls="c:P14_CT_RandomId" xmlns:p14="http://schemas.microsoft.com/office/powerpoint/2010/main" val="4205822510"/>
      </p:ext>
    </p:extLst>
  </p:cSld>
  <p:clrMapOvr>
    <a:masterClrMapping/>
  </p:clrMapOvr>
  <p:extLst>
    <p:ext uri="ooxmlsdk">
      <ooxmlsdk:mediaFallback xmlns:ooxmlsdkcls="c:OOXMLSDK_CT_MediaFallback" target="/slidelayout//ppt/slideLayouts/slideLayout3.xml.png" type="slideLayout"/>
    </p:ext>
  </p:extLst>
</p:sldLayout>
</file>

<file path=ppt/slideLayouts/slideLayout4.xml><?xml version="1.0" encoding="utf-8"?>
<p:sldLayout xmlns:a="http://schemas.openxmlformats.org/drawingml/2006/main" xmlns:ooxmlsdk="ooxmlsdk" xmlns:p="http://schemas.openxmlformats.org/presentationml/2006/main" xmlns:r="http://schemas.openxmlformats.org/officeDocument/2006/relationships" preserve="1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:ooxmlsdkcls="c:A16_CT_CreationId" id="{A8C4817C-99A1-757B-E4AD-A40320272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en-US" kumimoji="1" lang="zh-CN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:ooxmlsdkcls="c:A16_CT_CreationId" id="{2C17D338-6AC5-3B05-1915-B1578DB8BD84}"/>
              </a:ext>
            </a:extLst>
          </p:cNvPr>
          <p:cNvSpPr>
            <a:spLocks noGrp="1"/>
          </p:cNvSpPr>
          <p:nvPr>
            <p:ph idx="1" sz="half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altLang="en-US" kumimoji="1" lang="zh-CN"/>
              <a:t>单击此处编辑母版文本样式</a:t>
            </a:r>
          </a:p>
          <a:p>
            <a:pPr lvl="1"/>
            <a:r>
              <a:rPr altLang="en-US" kumimoji="1" lang="zh-CN"/>
              <a:t>二级</a:t>
            </a:r>
          </a:p>
          <a:p>
            <a:pPr lvl="2"/>
            <a:r>
              <a:rPr altLang="en-US" kumimoji="1" lang="zh-CN"/>
              <a:t>三级</a:t>
            </a:r>
          </a:p>
          <a:p>
            <a:pPr lvl="3"/>
            <a:r>
              <a:rPr altLang="en-US" kumimoji="1" lang="zh-CN"/>
              <a:t>四级</a:t>
            </a:r>
          </a:p>
          <a:p>
            <a:pPr lvl="4"/>
            <a:r>
              <a:rPr altLang="en-US" kumimoji="1" lang="zh-CN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:ooxmlsdkcls="c:A16_CT_CreationId" id="{0F8E3BF0-2279-8BF3-1C0E-03C9E7BF3BF7}"/>
              </a:ext>
            </a:extLst>
          </p:cNvPr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altLang="en-US" kumimoji="1" lang="zh-CN"/>
              <a:t>单击此处编辑母版文本样式</a:t>
            </a:r>
          </a:p>
          <a:p>
            <a:pPr lvl="1"/>
            <a:r>
              <a:rPr altLang="en-US" kumimoji="1" lang="zh-CN"/>
              <a:t>二级</a:t>
            </a:r>
          </a:p>
          <a:p>
            <a:pPr lvl="2"/>
            <a:r>
              <a:rPr altLang="en-US" kumimoji="1" lang="zh-CN"/>
              <a:t>三级</a:t>
            </a:r>
          </a:p>
          <a:p>
            <a:pPr lvl="3"/>
            <a:r>
              <a:rPr altLang="en-US" kumimoji="1" lang="zh-CN"/>
              <a:t>四级</a:t>
            </a:r>
          </a:p>
          <a:p>
            <a:pPr lvl="4"/>
            <a:r>
              <a:rPr altLang="en-US" kumimoji="1" lang="zh-CN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:ooxmlsdkcls="c:A16_CT_CreationId" id="{5EB8EC9A-56DC-2B36-BF93-CCB1A8E3E9A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BDC48963-C8E2-1E4C-A771-F62A9F2C7DEC}" type="datetimeFigureOut">
              <a:rPr altLang="en-US" kumimoji="1" lang="zh-CN" smtClean="0"/>
              <a:t>2025/10/20</a:t>
            </a:fld>
            <a:endParaRPr altLang="en-US" kumimoji="1" 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:ooxmlsdkcls="c:A16_CT_CreationId" id="{1F3D304B-FAC1-533F-1456-38E73C2AFC52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altLang="en-US" kumimoji="1" 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:ooxmlsdkcls="c:A16_CT_CreationId" id="{016F4D4A-E839-BFE4-78EA-559F4A54D91C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14F1114B-15D0-654E-97CA-9E77F051A874}" type="slidenum">
              <a:rPr altLang="en-US" kumimoji="1" lang="zh-CN" smtClean="0"/>
              <a:t>‹#›</a:t>
            </a:fld>
            <a:endParaRPr altLang="en-US" kumimoji="1" lang="zh-CN"/>
          </a:p>
        </p:txBody>
      </p:sp>
    </p:spTree>
    <p:extLst>
      <p:ext uri="{BB962C8B-B14F-4D97-AF65-F5344CB8AC3E}">
        <p14:creationId xmlns:ooxmlsdkcls="c:P14_CT_RandomId" xmlns:p14="http://schemas.microsoft.com/office/powerpoint/2010/main" val="1968786054"/>
      </p:ext>
    </p:extLst>
  </p:cSld>
  <p:clrMapOvr>
    <a:masterClrMapping/>
  </p:clrMapOvr>
  <p:extLst>
    <p:ext uri="ooxmlsdk">
      <ooxmlsdk:mediaFallback xmlns:ooxmlsdkcls="c:OOXMLSDK_CT_MediaFallback" target="/slidelayout//ppt/slideLayouts/slideLayout4.xml.png" type="slideLayout"/>
    </p:ext>
  </p:extLst>
</p:sldLayout>
</file>

<file path=ppt/slideLayouts/slideLayout5.xml><?xml version="1.0" encoding="utf-8"?>
<p:sldLayout xmlns:a="http://schemas.openxmlformats.org/drawingml/2006/main" xmlns:ooxmlsdk="ooxmlsdk" xmlns:p="http://schemas.openxmlformats.org/presentationml/2006/main" xmlns:r="http://schemas.openxmlformats.org/officeDocument/2006/relationships" preserve="1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:ooxmlsdkcls="c:A16_CT_CreationId" id="{044C5FF1-6080-2725-74AB-5FF7D3F27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altLang="en-US" kumimoji="1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:ooxmlsdkcls="c:A16_CT_CreationId" id="{47A501C3-38EB-2364-C39C-33279253F15E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kumimoji="1" lang="zh-CN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:ooxmlsdkcls="c:A16_CT_CreationId" id="{85EEC63D-4589-C043-285B-B8127689F2C7}"/>
              </a:ext>
            </a:extLst>
          </p:cNvPr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altLang="en-US" kumimoji="1" lang="zh-CN"/>
              <a:t>单击此处编辑母版文本样式</a:t>
            </a:r>
          </a:p>
          <a:p>
            <a:pPr lvl="1"/>
            <a:r>
              <a:rPr altLang="en-US" kumimoji="1" lang="zh-CN"/>
              <a:t>二级</a:t>
            </a:r>
          </a:p>
          <a:p>
            <a:pPr lvl="2"/>
            <a:r>
              <a:rPr altLang="en-US" kumimoji="1" lang="zh-CN"/>
              <a:t>三级</a:t>
            </a:r>
          </a:p>
          <a:p>
            <a:pPr lvl="3"/>
            <a:r>
              <a:rPr altLang="en-US" kumimoji="1" lang="zh-CN"/>
              <a:t>四级</a:t>
            </a:r>
          </a:p>
          <a:p>
            <a:pPr lvl="4"/>
            <a:r>
              <a:rPr altLang="en-US" kumimoji="1" lang="zh-CN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:ooxmlsdkcls="c:A16_CT_CreationId" id="{18810A47-0A22-AB30-2FCE-43F3C972A800}"/>
              </a:ext>
            </a:extLst>
          </p:cNvPr>
          <p:cNvSpPr>
            <a:spLocks noGrp="1"/>
          </p:cNvSpPr>
          <p:nvPr>
            <p:ph idx="3" sz="quarter" type="body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kumimoji="1" lang="zh-CN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:ooxmlsdkcls="c:A16_CT_CreationId" id="{588C72C7-7B09-FD2C-30C5-4350039BABB1}"/>
              </a:ext>
            </a:extLst>
          </p:cNvPr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altLang="en-US" kumimoji="1" lang="zh-CN"/>
              <a:t>单击此处编辑母版文本样式</a:t>
            </a:r>
          </a:p>
          <a:p>
            <a:pPr lvl="1"/>
            <a:r>
              <a:rPr altLang="en-US" kumimoji="1" lang="zh-CN"/>
              <a:t>二级</a:t>
            </a:r>
          </a:p>
          <a:p>
            <a:pPr lvl="2"/>
            <a:r>
              <a:rPr altLang="en-US" kumimoji="1" lang="zh-CN"/>
              <a:t>三级</a:t>
            </a:r>
          </a:p>
          <a:p>
            <a:pPr lvl="3"/>
            <a:r>
              <a:rPr altLang="en-US" kumimoji="1" lang="zh-CN"/>
              <a:t>四级</a:t>
            </a:r>
          </a:p>
          <a:p>
            <a:pPr lvl="4"/>
            <a:r>
              <a:rPr altLang="en-US" kumimoji="1" lang="zh-CN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:ooxmlsdkcls="c:A16_CT_CreationId" id="{B3957867-163A-9E7A-AE92-DDB0D8E1D82F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BDC48963-C8E2-1E4C-A771-F62A9F2C7DEC}" type="datetimeFigureOut">
              <a:rPr altLang="en-US" kumimoji="1" lang="zh-CN" smtClean="0"/>
              <a:t>2025/10/20</a:t>
            </a:fld>
            <a:endParaRPr altLang="en-US" kumimoji="1" 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:ooxmlsdkcls="c:A16_CT_CreationId" id="{140928ED-F638-2A81-FAF0-17D14FCA9799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altLang="en-US" kumimoji="1" 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:ooxmlsdkcls="c:A16_CT_CreationId" id="{EB5BCCDA-B30D-A94D-59C6-47F6302534C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14F1114B-15D0-654E-97CA-9E77F051A874}" type="slidenum">
              <a:rPr altLang="en-US" kumimoji="1" lang="zh-CN" smtClean="0"/>
              <a:t>‹#›</a:t>
            </a:fld>
            <a:endParaRPr altLang="en-US" kumimoji="1" lang="zh-CN"/>
          </a:p>
        </p:txBody>
      </p:sp>
    </p:spTree>
    <p:extLst>
      <p:ext uri="{BB962C8B-B14F-4D97-AF65-F5344CB8AC3E}">
        <p14:creationId xmlns:ooxmlsdkcls="c:P14_CT_RandomId" xmlns:p14="http://schemas.microsoft.com/office/powerpoint/2010/main" val="4120130515"/>
      </p:ext>
    </p:extLst>
  </p:cSld>
  <p:clrMapOvr>
    <a:masterClrMapping/>
  </p:clrMapOvr>
  <p:extLst>
    <p:ext uri="ooxmlsdk">
      <ooxmlsdk:mediaFallback xmlns:ooxmlsdkcls="c:OOXMLSDK_CT_MediaFallback" target="/slidelayout//ppt/slideLayouts/slideLayout5.xml.png" type="slideLayout"/>
    </p:ext>
  </p:extLst>
</p:sldLayout>
</file>

<file path=ppt/slideLayouts/slideLayout6.xml><?xml version="1.0" encoding="utf-8"?>
<p:sldLayout xmlns:a="http://schemas.openxmlformats.org/drawingml/2006/main" xmlns:ooxmlsdk="ooxmlsdk" xmlns:p="http://schemas.openxmlformats.org/presentationml/2006/main" xmlns:r="http://schemas.openxmlformats.org/officeDocument/2006/relationships" preserve="1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:ooxmlsdkcls="c:A16_CT_CreationId" id="{F6C2DB04-0D11-419F-4D88-8EE71954B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en-US" kumimoji="1" lang="zh-CN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:ooxmlsdkcls="c:A16_CT_CreationId" id="{5CFF8EF7-C3FC-15DF-EB99-F3AFA6C50F0F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BDC48963-C8E2-1E4C-A771-F62A9F2C7DEC}" type="datetimeFigureOut">
              <a:rPr altLang="en-US" kumimoji="1" lang="zh-CN" smtClean="0"/>
              <a:t>2025/10/20</a:t>
            </a:fld>
            <a:endParaRPr altLang="en-US" kumimoji="1" 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:ooxmlsdkcls="c:A16_CT_CreationId" id="{BBA37BA3-FB71-5172-B46A-25DF8DB9748B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altLang="en-US" kumimoji="1" 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:ooxmlsdkcls="c:A16_CT_CreationId" id="{890FED2D-6DE6-4528-CEC4-A1B115005D03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14F1114B-15D0-654E-97CA-9E77F051A874}" type="slidenum">
              <a:rPr altLang="en-US" kumimoji="1" lang="zh-CN" smtClean="0"/>
              <a:t>‹#›</a:t>
            </a:fld>
            <a:endParaRPr altLang="en-US" kumimoji="1" lang="zh-CN"/>
          </a:p>
        </p:txBody>
      </p:sp>
    </p:spTree>
    <p:extLst>
      <p:ext uri="{BB962C8B-B14F-4D97-AF65-F5344CB8AC3E}">
        <p14:creationId xmlns:ooxmlsdkcls="c:P14_CT_RandomId" xmlns:p14="http://schemas.microsoft.com/office/powerpoint/2010/main" val="3281781461"/>
      </p:ext>
    </p:extLst>
  </p:cSld>
  <p:clrMapOvr>
    <a:masterClrMapping/>
  </p:clrMapOvr>
  <p:extLst>
    <p:ext uri="ooxmlsdk">
      <ooxmlsdk:mediaFallback xmlns:ooxmlsdkcls="c:OOXMLSDK_CT_MediaFallback" target="/slidelayout//ppt/slideLayouts/slideLayout6.xml.png" type="slideLayout"/>
    </p:ext>
  </p:extLst>
</p:sldLayout>
</file>

<file path=ppt/slideLayouts/slideLayout7.xml><?xml version="1.0" encoding="utf-8"?>
<p:sldLayout xmlns:a="http://schemas.openxmlformats.org/drawingml/2006/main" xmlns:ooxmlsdk="ooxmlsdk" xmlns:p="http://schemas.openxmlformats.org/presentationml/2006/main" xmlns:r="http://schemas.openxmlformats.org/officeDocument/2006/relationships" preserve="1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xmlns:ooxmlsdkcls="c:A16_CT_CreationId" id="{3C4BDD16-6439-B908-EDD7-E328E0DBDD56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BDC48963-C8E2-1E4C-A771-F62A9F2C7DEC}" type="datetimeFigureOut">
              <a:rPr altLang="en-US" kumimoji="1" lang="zh-CN" smtClean="0"/>
              <a:t>2025/10/20</a:t>
            </a:fld>
            <a:endParaRPr altLang="en-US" kumimoji="1" 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:ooxmlsdkcls="c:A16_CT_CreationId" id="{82E04F1C-1C5E-FF25-BFF4-A2FD0C4AB89F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altLang="en-US" kumimoji="1" 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:ooxmlsdkcls="c:A16_CT_CreationId" id="{25C5C0E4-D1F8-57FC-808D-20A6FC4DDD99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14F1114B-15D0-654E-97CA-9E77F051A874}" type="slidenum">
              <a:rPr altLang="en-US" kumimoji="1" lang="zh-CN" smtClean="0"/>
              <a:t>‹#›</a:t>
            </a:fld>
            <a:endParaRPr altLang="en-US" kumimoji="1" lang="zh-CN"/>
          </a:p>
        </p:txBody>
      </p:sp>
    </p:spTree>
    <p:extLst>
      <p:ext uri="{BB962C8B-B14F-4D97-AF65-F5344CB8AC3E}">
        <p14:creationId xmlns:ooxmlsdkcls="c:P14_CT_RandomId" xmlns:p14="http://schemas.microsoft.com/office/powerpoint/2010/main" val="495038035"/>
      </p:ext>
    </p:extLst>
  </p:cSld>
  <p:clrMapOvr>
    <a:masterClrMapping/>
  </p:clrMapOvr>
  <p:extLst>
    <p:ext uri="ooxmlsdk">
      <ooxmlsdk:mediaFallback xmlns:ooxmlsdkcls="c:OOXMLSDK_CT_MediaFallback" target="/slidelayout//ppt/slideLayouts/slideLayout7.xml.png" type="slideLayout"/>
    </p:ext>
  </p:extLst>
</p:sldLayout>
</file>

<file path=ppt/slideLayouts/slideLayout8.xml><?xml version="1.0" encoding="utf-8"?>
<p:sldLayout xmlns:a="http://schemas.openxmlformats.org/drawingml/2006/main" xmlns:ooxmlsdk="ooxmlsdk" xmlns:p="http://schemas.openxmlformats.org/presentationml/2006/main" xmlns:r="http://schemas.openxmlformats.org/officeDocument/2006/relationships" preserve="1" type="obj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:ooxmlsdkcls="c:A16_CT_CreationId" id="{7843FCD8-D346-D209-27B3-7C09A6E16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kumimoji="1" lang="zh-CN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:ooxmlsdkcls="c:A16_CT_CreationId" id="{4FB47027-3D1C-237E-E4D0-376667F14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en-US" kumimoji="1" lang="zh-CN"/>
              <a:t>单击此处编辑母版文本样式</a:t>
            </a:r>
          </a:p>
          <a:p>
            <a:pPr lvl="1"/>
            <a:r>
              <a:rPr altLang="en-US" kumimoji="1" lang="zh-CN"/>
              <a:t>二级</a:t>
            </a:r>
          </a:p>
          <a:p>
            <a:pPr lvl="2"/>
            <a:r>
              <a:rPr altLang="en-US" kumimoji="1" lang="zh-CN"/>
              <a:t>三级</a:t>
            </a:r>
          </a:p>
          <a:p>
            <a:pPr lvl="3"/>
            <a:r>
              <a:rPr altLang="en-US" kumimoji="1" lang="zh-CN"/>
              <a:t>四级</a:t>
            </a:r>
          </a:p>
          <a:p>
            <a:pPr lvl="4"/>
            <a:r>
              <a:rPr altLang="en-US" kumimoji="1" lang="zh-CN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:ooxmlsdkcls="c:A16_CT_CreationId" id="{F304B274-03F4-DFA5-61F7-9E8E0AC98463}"/>
              </a:ext>
            </a:extLst>
          </p:cNvPr>
          <p:cNvSpPr>
            <a:spLocks noGrp="1"/>
          </p:cNvSpPr>
          <p:nvPr>
            <p:ph idx="2" sz="half" type="body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kumimoji="1" lang="zh-CN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:ooxmlsdkcls="c:A16_CT_CreationId" id="{D8BAC8FF-DC28-5C76-6936-568A1EF2BCE4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BDC48963-C8E2-1E4C-A771-F62A9F2C7DEC}" type="datetimeFigureOut">
              <a:rPr altLang="en-US" kumimoji="1" lang="zh-CN" smtClean="0"/>
              <a:t>2025/10/20</a:t>
            </a:fld>
            <a:endParaRPr altLang="en-US" kumimoji="1" 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:ooxmlsdkcls="c:A16_CT_CreationId" id="{0762A2AA-F26F-56C5-60C1-F265434CD34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altLang="en-US" kumimoji="1" 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:ooxmlsdkcls="c:A16_CT_CreationId" id="{2E79CC6C-B836-7CF1-8B26-F26AD1439431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14F1114B-15D0-654E-97CA-9E77F051A874}" type="slidenum">
              <a:rPr altLang="en-US" kumimoji="1" lang="zh-CN" smtClean="0"/>
              <a:t>‹#›</a:t>
            </a:fld>
            <a:endParaRPr altLang="en-US" kumimoji="1" lang="zh-CN"/>
          </a:p>
        </p:txBody>
      </p:sp>
    </p:spTree>
    <p:extLst>
      <p:ext uri="{BB962C8B-B14F-4D97-AF65-F5344CB8AC3E}">
        <p14:creationId xmlns:ooxmlsdkcls="c:P14_CT_RandomId" xmlns:p14="http://schemas.microsoft.com/office/powerpoint/2010/main" val="3850346981"/>
      </p:ext>
    </p:extLst>
  </p:cSld>
  <p:clrMapOvr>
    <a:masterClrMapping/>
  </p:clrMapOvr>
  <p:extLst>
    <p:ext uri="ooxmlsdk">
      <ooxmlsdk:mediaFallback xmlns:ooxmlsdkcls="c:OOXMLSDK_CT_MediaFallback" target="/slidelayout//ppt/slideLayouts/slideLayout8.xml.png" type="slideLayout"/>
    </p:ext>
  </p:extLst>
</p:sldLayout>
</file>

<file path=ppt/slideLayouts/slideLayout9.xml><?xml version="1.0" encoding="utf-8"?>
<p:sldLayout xmlns:a="http://schemas.openxmlformats.org/drawingml/2006/main" xmlns:ooxmlsdk="ooxmlsdk" xmlns:p="http://schemas.openxmlformats.org/presentationml/2006/main" xmlns:r="http://schemas.openxmlformats.org/officeDocument/2006/relationships" preserve="1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:ooxmlsdkcls="c:A16_CT_CreationId" id="{93E0D37B-120B-5DC1-45AB-49EAA8B78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kumimoji="1" lang="zh-CN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:ooxmlsdkcls="c:A16_CT_CreationId" id="{BB5A8308-143D-B013-FA6D-13A508B23FD4}"/>
              </a:ext>
            </a:extLst>
          </p:cNvPr>
          <p:cNvSpPr>
            <a:spLocks noGrp="1"/>
          </p:cNvSpPr>
          <p:nvPr>
            <p:ph idx="1" type="pic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altLang="en-US" kumimoji="1" lang="zh-CN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:ooxmlsdkcls="c:A16_CT_CreationId" id="{A09730FC-073C-5B6F-22E8-FA4523B5C264}"/>
              </a:ext>
            </a:extLst>
          </p:cNvPr>
          <p:cNvSpPr>
            <a:spLocks noGrp="1"/>
          </p:cNvSpPr>
          <p:nvPr>
            <p:ph idx="2" sz="half" type="body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kumimoji="1" lang="zh-CN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:ooxmlsdkcls="c:A16_CT_CreationId" id="{9C0007D1-71A0-CD5F-5290-4EB94B79278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BDC48963-C8E2-1E4C-A771-F62A9F2C7DEC}" type="datetimeFigureOut">
              <a:rPr altLang="en-US" kumimoji="1" lang="zh-CN" smtClean="0"/>
              <a:t>2025/10/20</a:t>
            </a:fld>
            <a:endParaRPr altLang="en-US" kumimoji="1" 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:ooxmlsdkcls="c:A16_CT_CreationId" id="{F4971ABE-DCFA-3F63-9336-9EBAF4904CA5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altLang="en-US" kumimoji="1" 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:ooxmlsdkcls="c:A16_CT_CreationId" id="{BF786D08-7017-BD7F-109B-79A0EF202E2B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14F1114B-15D0-654E-97CA-9E77F051A874}" type="slidenum">
              <a:rPr altLang="en-US" kumimoji="1" lang="zh-CN" smtClean="0"/>
              <a:t>‹#›</a:t>
            </a:fld>
            <a:endParaRPr altLang="en-US" kumimoji="1" lang="zh-CN"/>
          </a:p>
        </p:txBody>
      </p:sp>
    </p:spTree>
    <p:extLst>
      <p:ext uri="{BB962C8B-B14F-4D97-AF65-F5344CB8AC3E}">
        <p14:creationId xmlns:ooxmlsdkcls="c:P14_CT_RandomId" xmlns:p14="http://schemas.microsoft.com/office/powerpoint/2010/main" val="1851326504"/>
      </p:ext>
    </p:extLst>
  </p:cSld>
  <p:clrMapOvr>
    <a:masterClrMapping/>
  </p:clrMapOvr>
  <p:extLst>
    <p:ext uri="ooxmlsdk">
      <ooxmlsdk:mediaFallback xmlns:ooxmlsdkcls="c:OOXMLSDK_CT_MediaFallback" target="/slidelayout//ppt/slideLayouts/slideLayout9.xml.png" type="slideLayout"/>
    </p:ext>
  </p:extLst>
</p:sldLayout>
</file>

<file path=ppt/slideLayouts/slideLayout10.xml><?xml version="1.0" encoding="utf-8"?>
<p:sldLayout xmlns:a="http://schemas.openxmlformats.org/drawingml/2006/main" xmlns:ooxmlsdk="ooxmlsdk" xmlns:p="http://schemas.openxmlformats.org/presentationml/2006/main" xmlns:r="http://schemas.openxmlformats.org/officeDocument/2006/relationships" preserve="1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:ooxmlsdkcls="c:A16_CT_CreationId" id="{B19FE248-CB53-29A6-B21F-1B9B25DD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en-US" kumimoji="1" lang="zh-CN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:ooxmlsdkcls="c:A16_CT_CreationId" id="{B3CB66B5-34D0-BDE9-5932-0E416504FDCD}"/>
              </a:ext>
            </a:extLst>
          </p:cNvPr>
          <p:cNvSpPr>
            <a:spLocks noGrp="1"/>
          </p:cNvSpPr>
          <p:nvPr>
            <p:ph idx="1" orient="vert" type="body"/>
          </p:nvPr>
        </p:nvSpPr>
        <p:spPr/>
        <p:txBody>
          <a:bodyPr vert="eaVert"/>
          <a:lstStyle/>
          <a:p>
            <a:pPr lvl="0"/>
            <a:r>
              <a:rPr altLang="en-US" kumimoji="1" lang="zh-CN"/>
              <a:t>单击此处编辑母版文本样式</a:t>
            </a:r>
          </a:p>
          <a:p>
            <a:pPr lvl="1"/>
            <a:r>
              <a:rPr altLang="en-US" kumimoji="1" lang="zh-CN"/>
              <a:t>二级</a:t>
            </a:r>
          </a:p>
          <a:p>
            <a:pPr lvl="2"/>
            <a:r>
              <a:rPr altLang="en-US" kumimoji="1" lang="zh-CN"/>
              <a:t>三级</a:t>
            </a:r>
          </a:p>
          <a:p>
            <a:pPr lvl="3"/>
            <a:r>
              <a:rPr altLang="en-US" kumimoji="1" lang="zh-CN"/>
              <a:t>四级</a:t>
            </a:r>
          </a:p>
          <a:p>
            <a:pPr lvl="4"/>
            <a:r>
              <a:rPr altLang="en-US" kumimoji="1" lang="zh-CN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:ooxmlsdkcls="c:A16_CT_CreationId" id="{2BD9B6BF-E627-7250-3EDA-1287E1110522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BDC48963-C8E2-1E4C-A771-F62A9F2C7DEC}" type="datetimeFigureOut">
              <a:rPr altLang="en-US" kumimoji="1" lang="zh-CN" smtClean="0"/>
              <a:t>2025/10/20</a:t>
            </a:fld>
            <a:endParaRPr altLang="en-US" kumimoji="1" 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:ooxmlsdkcls="c:A16_CT_CreationId" id="{AA7CADA8-4560-F141-7ED6-BD570DF7468A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altLang="en-US" kumimoji="1" 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:ooxmlsdkcls="c:A16_CT_CreationId" id="{24590A53-D30B-FB19-DA4E-56FFB4BECD9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14F1114B-15D0-654E-97CA-9E77F051A874}" type="slidenum">
              <a:rPr altLang="en-US" kumimoji="1" lang="zh-CN" smtClean="0"/>
              <a:t>‹#›</a:t>
            </a:fld>
            <a:endParaRPr altLang="en-US" kumimoji="1" lang="zh-CN"/>
          </a:p>
        </p:txBody>
      </p:sp>
    </p:spTree>
    <p:extLst>
      <p:ext uri="{BB962C8B-B14F-4D97-AF65-F5344CB8AC3E}">
        <p14:creationId xmlns:ooxmlsdkcls="c:P14_CT_RandomId" xmlns:p14="http://schemas.microsoft.com/office/powerpoint/2010/main" val="1821721733"/>
      </p:ext>
    </p:extLst>
  </p:cSld>
  <p:clrMapOvr>
    <a:masterClrMapping/>
  </p:clrMapOvr>
  <p:extLst>
    <p:ext uri="ooxmlsdk">
      <ooxmlsdk:mediaFallback xmlns:ooxmlsdkcls="c:OOXMLSDK_CT_MediaFallback" target="/slidelayout//ppt/slideLayouts/slideLayout10.xml.png" type="slideLayout"/>
    </p:ext>
  </p:extLst>
</p:sldLayout>
</file>

<file path=ppt/slideLayouts/slideLayout11.xml><?xml version="1.0" encoding="utf-8"?>
<p:sldLayout xmlns:a="http://schemas.openxmlformats.org/drawingml/2006/main" xmlns:ooxmlsdk="ooxmlsdk" xmlns:p="http://schemas.openxmlformats.org/presentationml/2006/main" xmlns:r="http://schemas.openxmlformats.org/officeDocument/2006/relationships" preserve="1" type="vertTitleAndTx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:ooxmlsdkcls="c:A16_CT_CreationId" id="{9F20F4DD-F736-F394-947B-5741BD745FEF}"/>
              </a:ext>
            </a:extLst>
          </p:cNvPr>
          <p:cNvSpPr>
            <a:spLocks noGrp="1"/>
          </p:cNvSpPr>
          <p:nvPr>
            <p:ph orient="vert"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altLang="en-US" kumimoji="1" lang="zh-CN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:ooxmlsdkcls="c:A16_CT_CreationId" id="{B6E099BE-C301-7614-65DF-46D9E84D64D7}"/>
              </a:ext>
            </a:extLst>
          </p:cNvPr>
          <p:cNvSpPr>
            <a:spLocks noGrp="1"/>
          </p:cNvSpPr>
          <p:nvPr>
            <p:ph idx="1" orient="vert" type="body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altLang="en-US" kumimoji="1" lang="zh-CN"/>
              <a:t>单击此处编辑母版文本样式</a:t>
            </a:r>
          </a:p>
          <a:p>
            <a:pPr lvl="1"/>
            <a:r>
              <a:rPr altLang="en-US" kumimoji="1" lang="zh-CN"/>
              <a:t>二级</a:t>
            </a:r>
          </a:p>
          <a:p>
            <a:pPr lvl="2"/>
            <a:r>
              <a:rPr altLang="en-US" kumimoji="1" lang="zh-CN"/>
              <a:t>三级</a:t>
            </a:r>
          </a:p>
          <a:p>
            <a:pPr lvl="3"/>
            <a:r>
              <a:rPr altLang="en-US" kumimoji="1" lang="zh-CN"/>
              <a:t>四级</a:t>
            </a:r>
          </a:p>
          <a:p>
            <a:pPr lvl="4"/>
            <a:r>
              <a:rPr altLang="en-US" kumimoji="1" lang="zh-CN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:ooxmlsdkcls="c:A16_CT_CreationId" id="{5B136390-1E46-C21F-75CD-E31A78324479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BDC48963-C8E2-1E4C-A771-F62A9F2C7DEC}" type="datetimeFigureOut">
              <a:rPr altLang="en-US" kumimoji="1" lang="zh-CN" smtClean="0"/>
              <a:t>2025/10/20</a:t>
            </a:fld>
            <a:endParaRPr altLang="en-US" kumimoji="1" 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:ooxmlsdkcls="c:A16_CT_CreationId" id="{785A1DA6-C2F0-C179-3F42-8D6667B9AE87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altLang="en-US" kumimoji="1" 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:ooxmlsdkcls="c:A16_CT_CreationId" id="{B4619AC8-8FAF-9013-7FB4-18456D33271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14F1114B-15D0-654E-97CA-9E77F051A874}" type="slidenum">
              <a:rPr altLang="en-US" kumimoji="1" lang="zh-CN" smtClean="0"/>
              <a:t>‹#›</a:t>
            </a:fld>
            <a:endParaRPr altLang="en-US" kumimoji="1" lang="zh-CN"/>
          </a:p>
        </p:txBody>
      </p:sp>
    </p:spTree>
    <p:extLst>
      <p:ext uri="{BB962C8B-B14F-4D97-AF65-F5344CB8AC3E}">
        <p14:creationId xmlns:ooxmlsdkcls="c:P14_CT_RandomId" xmlns:p14="http://schemas.microsoft.com/office/powerpoint/2010/main" val="2923299543"/>
      </p:ext>
    </p:extLst>
  </p:cSld>
  <p:clrMapOvr>
    <a:masterClrMapping/>
  </p:clrMapOvr>
  <p:extLst>
    <p:ext uri="ooxmlsdk">
      <ooxmlsdk:mediaFallback xmlns:ooxmlsdkcls="c:OOXMLSDK_CT_MediaFallback" target="/slidelayout//ppt/slideLayouts/slideLayout11.xml.png" type="slideLayout"/>
    </p:ext>
  </p:extLst>
</p:sldLayout>
</file>

<file path=ppt/slideMasters/_rels/slideMaster1.xml.rels><?xml version="1.0" encoding="UTF-8" standalone="yes"?>
<Relationships xmlns="http://schemas.openxmlformats.org/package/2006/relationships">
<Relationship Target="../slideLayouts/slideLayout1.xml" Type="http://schemas.openxmlformats.org/officeDocument/2006/relationships/slideLayout" Id="rId1"/>
<Relationship Target="../slideLayouts/slideLayout10.xml" Type="http://schemas.openxmlformats.org/officeDocument/2006/relationships/slideLayout" Id="rId10"/>
<Relationship Target="../slideLayouts/slideLayout11.xml" Type="http://schemas.openxmlformats.org/officeDocument/2006/relationships/slideLayout" Id="rId11"/>
<Relationship Target="../theme/theme1.xml" Type="http://schemas.openxmlformats.org/officeDocument/2006/relationships/theme" Id="rId12"/>
<Relationship Target="../slideLayouts/slideLayout2.xml" Type="http://schemas.openxmlformats.org/officeDocument/2006/relationships/slideLayout" Id="rId2"/>
<Relationship Target="../slideLayouts/slideLayout3.xml" Type="http://schemas.openxmlformats.org/officeDocument/2006/relationships/slideLayout" Id="rId3"/>
<Relationship Target="../slideLayouts/slideLayout4.xml" Type="http://schemas.openxmlformats.org/officeDocument/2006/relationships/slideLayout" Id="rId4"/>
<Relationship Target="../slideLayouts/slideLayout5.xml" Type="http://schemas.openxmlformats.org/officeDocument/2006/relationships/slideLayout" Id="rId5"/>
<Relationship Target="../slideLayouts/slideLayout6.xml" Type="http://schemas.openxmlformats.org/officeDocument/2006/relationships/slideLayout" Id="rId6"/>
<Relationship Target="../slideLayouts/slideLayout7.xml" Type="http://schemas.openxmlformats.org/officeDocument/2006/relationships/slideLayout" Id="rId7"/>
<Relationship Target="../slideLayouts/slideLayout8.xml" Type="http://schemas.openxmlformats.org/officeDocument/2006/relationships/slideLayout" Id="rId8"/>
<Relationship Target="../slideLayouts/slideLayout9.xml" Type="http://schemas.openxmlformats.org/officeDocument/2006/relationships/slideLayout" Id="rId9"/>
</Relationships>
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:ooxmlsdkcls="c:A16_CT_CreationId" id="{779C2722-3B8C-2065-5AC5-263CFE98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kumimoji="1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:ooxmlsdkcls="c:A16_CT_CreationId" id="{857A3692-2AD9-CE6F-D53F-7845B9B389BC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kumimoji="1" lang="zh-CN"/>
              <a:t>单击此处编辑母版文本样式</a:t>
            </a:r>
          </a:p>
          <a:p>
            <a:pPr lvl="1"/>
            <a:r>
              <a:rPr altLang="en-US" kumimoji="1" lang="zh-CN"/>
              <a:t>二级</a:t>
            </a:r>
          </a:p>
          <a:p>
            <a:pPr lvl="2"/>
            <a:r>
              <a:rPr altLang="en-US" kumimoji="1" lang="zh-CN"/>
              <a:t>三级</a:t>
            </a:r>
          </a:p>
          <a:p>
            <a:pPr lvl="3"/>
            <a:r>
              <a:rPr altLang="en-US" kumimoji="1" lang="zh-CN"/>
              <a:t>四级</a:t>
            </a:r>
          </a:p>
          <a:p>
            <a:pPr lvl="4"/>
            <a:r>
              <a:rPr altLang="en-US" kumimoji="1" lang="zh-CN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:ooxmlsdkcls="c:A16_CT_CreationId" id="{7B51CEA3-90BC-60A3-2BF0-EFFB67E7C6ED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48963-C8E2-1E4C-A771-F62A9F2C7DEC}" type="datetimeFigureOut">
              <a:rPr altLang="en-US" kumimoji="1" lang="zh-CN" smtClean="0"/>
              <a:t>2025/10/20</a:t>
            </a:fld>
            <a:endParaRPr altLang="en-US" kumimoji="1" 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:ooxmlsdkcls="c:A16_CT_CreationId" id="{CA196AE0-833D-16AA-C61D-4401D75F8977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kumimoji="1" 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:ooxmlsdkcls="c:A16_CT_CreationId" id="{03FBC43C-0D70-FA29-5981-9056C96452AA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1114B-15D0-654E-97CA-9E77F051A874}" type="slidenum">
              <a:rPr altLang="en-US" kumimoji="1" lang="zh-CN" smtClean="0"/>
              <a:t>‹#›</a:t>
            </a:fld>
            <a:endParaRPr altLang="en-US" kumimoji="1" lang="zh-CN"/>
          </a:p>
        </p:txBody>
      </p:sp>
    </p:spTree>
    <p:extLst>
      <p:ext uri="{BB962C8B-B14F-4D97-AF65-F5344CB8AC3E}">
        <p14:creationId xmlns:ooxmlsdkcls="c:P14_CT_RandomId" xmlns:p14="http://schemas.microsoft.com/office/powerpoint/2010/main" val="325848798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"/>
<rels:Relationship Target="../media/image.png" Type="http://schemas.openxmlformats.org/officeDocument/2006/relationships/image" Id="rId2"/>
<rels:Relationship Target="../media/image.jpg" Type="http://schemas.openxmlformats.org/officeDocument/2006/relationships/image" Id="rId3"/>
</rels:Relationships>

</file>

<file path=ppt/slides/_rels/slide1.xml.rels><?xml version="1.0" encoding="UTF-8" standalone="yes"?>
<Relationships xmlns="http://schemas.openxmlformats.org/package/2006/relationships">
<Relationship Target="../slideLayouts/slideLayout7.xml" Type="http://schemas.openxmlformats.org/officeDocument/2006/relationships/slideLayout" Id="rId1"/>
<Relationship Target="../media/image1.png" Type="http://schemas.openxmlformats.org/officeDocument/2006/relationships/image" Id="rId2"/>
</Relationships>

</file>

<file path=ppt/slides/_rels/slide2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"/>
<rels:Relationship Target="../media/image2.png" Type="http://schemas.openxmlformats.org/officeDocument/2006/relationships/image" Id="rId2"/>
</rels:Relationships>

</file>

<file path=ppt/slides/_rels/slide3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"/>
<rels:Relationship Target="../media/image.png" Type="http://schemas.openxmlformats.org/officeDocument/2006/relationships/image" Id="rId2"/>
</rels:Relationships>

</file>

<file path=ppt/slides/_rels/slide4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"/>
<rels:Relationship Target="../media/image.png" Type="http://schemas.openxmlformats.org/officeDocument/2006/relationships/image" Id="rId2"/>
<rels:Relationship Target="../media/image1.jpg" Type="http://schemas.openxmlformats.org/officeDocument/2006/relationships/image" Id="rId3"/>
<rels:Relationship Target="../media/image2.jpg" Type="http://schemas.openxmlformats.org/officeDocument/2006/relationships/image" Id="rId4"/>
</rels:Relationships>

</file>

<file path=ppt/slides/_rels/slide5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"/>
<rels:Relationship Target="../media/image.png" Type="http://schemas.openxmlformats.org/officeDocument/2006/relationships/image" Id="rId2"/>
<rels:Relationship Target="../media/image3.jpg" Type="http://schemas.openxmlformats.org/officeDocument/2006/relationships/image" Id="rId3"/>
<rels:Relationship Target="../media/image4.jpg" Type="http://schemas.openxmlformats.org/officeDocument/2006/relationships/image" Id="rId4"/>
<rels:Relationship Target="../media/image5.jpg" Type="http://schemas.openxmlformats.org/officeDocument/2006/relationships/image" Id="rId5"/>
</rels:Relationships>

</file>

<file path=ppt/slides/_rels/slide6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"/>
<rels:Relationship Target="../media/image.png" Type="http://schemas.openxmlformats.org/officeDocument/2006/relationships/image" Id="rId2"/>
</rels:Relationships>

</file>

<file path=ppt/slides/_rels/slide7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"/>
<rels:Relationship Target="../media/image2.png" Type="http://schemas.openxmlformats.org/officeDocument/2006/relationships/image" Id="rId2"/>
</rels:Relationships>

</file>

<file path=ppt/slides/_rels/slide8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"/>
<rels:Relationship Target="../media/image.png" Type="http://schemas.openxmlformats.org/officeDocument/2006/relationships/image" Id="rId2"/>
<rels:Relationship Target="../media/image3.png" Type="http://schemas.openxmlformats.org/officeDocument/2006/relationships/image" Id="rId3"/>
</rels:Relationships>

</file>

<file path=ppt/slides/_rels/slide9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"/>
<rels:Relationship Target="../media/image.png" Type="http://schemas.openxmlformats.org/officeDocument/2006/relationships/image" Id="rId2"/>
</rels:Relationships>

</file>

<file path=ppt/slides/_rels/slide10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"/>
<rels:Relationship Target="../media/image.png" Type="http://schemas.openxmlformats.org/officeDocument/2006/relationships/image" Id="rId2"/>
</rels:Relationships>

</file>

<file path=ppt/slides/_rels/slide11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"/>
<rels:Relationship Target="../media/image2.png" Type="http://schemas.openxmlformats.org/officeDocument/2006/relationships/image" Id="rId2"/>
</rels:Relationships>

</file>

<file path=ppt/slides/_rels/slide12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"/>
<rels:Relationship Target="../media/image.png" Type="http://schemas.openxmlformats.org/officeDocument/2006/relationships/image" Id="rId2"/>
</rels:Relationships>

</file>

<file path=ppt/slides/_rels/slide13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"/>
<rels:Relationship Target="../media/image.png" Type="http://schemas.openxmlformats.org/officeDocument/2006/relationships/image" Id="rId2"/>
</rels:Relationships>

</file>

<file path=ppt/slides/_rels/slide14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"/>
<rels:Relationship Target="../media/image.png" Type="http://schemas.openxmlformats.org/officeDocument/2006/relationships/image" Id="rId2"/>
</rels:Relationships>

</file>

<file path=ppt/slides/_rels/slide15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"/>
<rels:Relationship Target="../media/image2.png" Type="http://schemas.openxmlformats.org/officeDocument/2006/relationships/image" Id="rId2"/>
</rels:Relationships>

</file>

<file path=ppt/slides/_rels/slide16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"/>
<rels:Relationship Target="../media/image.png" Type="http://schemas.openxmlformats.org/officeDocument/2006/relationships/image" Id="rId2"/>
</rels:Relationships>

</file>

<file path=ppt/slides/_rels/slide17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"/>
<rels:Relationship Target="../media/image.png" Type="http://schemas.openxmlformats.org/officeDocument/2006/relationships/image" Id="rId2"/>
</rels:Relationships>

</file>

<file path=ppt/slides/_rels/slide18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"/>
<rels:Relationship Target="../media/image.png" Type="http://schemas.openxmlformats.org/officeDocument/2006/relationships/image" Id="rId2"/>
</rels:Relationships>

</file>

<file path=ppt/slides/_rels/slide19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"/>
<rels:Relationship Target="../media/image2.png" Type="http://schemas.openxmlformats.org/officeDocument/2006/relationships/image" Id="rId2"/>
</rels:Relationships>

</file>

<file path=ppt/slides/_rels/slide20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"/>
<rels:Relationship Target="../media/image.png" Type="http://schemas.openxmlformats.org/officeDocument/2006/relationships/image" Id="rId2"/>
</rels:Relationships>

</file>

<file path=ppt/slides/_rels/slide21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"/>
<rels:Relationship Target="../media/image.png" Type="http://schemas.openxmlformats.org/officeDocument/2006/relationships/image" Id="rId2"/>
</rels:Relationships>

</file>

<file path=ppt/slides/_rels/slide22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"/>
<rels:Relationship Target="../media/image.png" Type="http://schemas.openxmlformats.org/officeDocument/2006/relationships/image" Id="rId2"/>
</rels:Relationships>

</file>

<file path=ppt/slides/_rels/slide23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"/>
<rels:Relationship Target="../media/image2.png" Type="http://schemas.openxmlformats.org/officeDocument/2006/relationships/image" Id="rId2"/>
</rels:Relationships>

</file>

<file path=ppt/slides/_rels/slide24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"/>
<rels:Relationship Target="../media/image.png" Type="http://schemas.openxmlformats.org/officeDocument/2006/relationships/image" Id="rId2"/>
</rels:Relationships>

</file>

<file path=ppt/slides/_rels/slide25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"/>
<rels:Relationship Target="../media/image.png" Type="http://schemas.openxmlformats.org/officeDocument/2006/relationships/image" Id="rId2"/>
</rels:Relationships>

</file>

<file path=ppt/slides/_rels/slide26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"/>
<rels:Relationship Target="../media/image.png" Type="http://schemas.openxmlformats.org/officeDocument/2006/relationships/image" Id="rId2"/>
</rels:Relationships>

</file>

<file path=ppt/slides/_rels/slide27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"/>
<rels:Relationship Target="../media/image4.png" Type="http://schemas.openxmlformats.org/officeDocument/2006/relationships/image" Id="rId2"/>
</rels:Relationships>

</file>

<file path=ppt/slides/slide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0">
            <a:off x="0" y="0"/>
            <a:ext cx="12192000" cy="6858000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id="3" name="TextBox 3"/>
          <p:cNvSpPr txBox="1"/>
          <p:nvPr/>
        </p:nvSpPr>
        <p:spPr>
          <a:xfrm rot="0">
            <a:off x="664080" y="1873005"/>
            <a:ext cx="2792730" cy="1263015"/>
          </a:xfrm>
          <a:prstGeom prst="rect">
            <a:avLst/>
          </a:prstGeom>
          <a:ln/>
        </p:spPr>
        <p:txBody>
          <a:bodyPr anchor="ctr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b="1" lang="en-US" sz="72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目录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" name="TextBox 4"/>
          <p:cNvSpPr txBox="1"/>
          <p:nvPr/>
        </p:nvSpPr>
        <p:spPr>
          <a:xfrm rot="0">
            <a:off x="664612" y="3126495"/>
            <a:ext cx="2830830" cy="253365"/>
          </a:xfrm>
          <a:prstGeom prst="rect">
            <a:avLst/>
          </a:prstGeom>
          <a:ln/>
        </p:spPr>
        <p:txBody>
          <a:bodyPr anchor="ctr" anchorCtr="0" bIns="45720" lIns="91440" rIns="91440" rtlCol="0" tIns="45720" vert="horz" wrap="square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975">
                <a:solidFill>
                  <a:srgbClr val="7F7F7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SCIENCE AND TECHNOLOGY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5" name="TextBox 5"/>
          <p:cNvSpPr txBox="1"/>
          <p:nvPr/>
        </p:nvSpPr>
        <p:spPr>
          <a:xfrm rot="0">
            <a:off x="2793684" y="2430146"/>
            <a:ext cx="6316980" cy="214090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6" name="TextBox 6"/>
          <p:cNvSpPr txBox="1"/>
          <p:nvPr/>
        </p:nvSpPr>
        <p:spPr>
          <a:xfrm rot="0">
            <a:off x="5886450" y="1371489"/>
            <a:ext cx="571500" cy="457200"/>
          </a:xfrm>
          <a:prstGeom prst="rect">
            <a:avLst/>
          </a:prstGeom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eyJfdGVtcGxhdGVEYXRhIjp7ImxpbmVDb3VudCI6IjEiLCJ3b3JkQ291bnQiOiIxNSJ9LCJ0YWciOiJub0VkaXQifQ==</bd:templateData>
          </p:ext>
        </p:extLst>
      </p:sp>
      <p:sp>
        <p:nvSpPr>
          <p:cNvPr id="7" name="TextBox 7"/>
          <p:cNvSpPr txBox="1"/>
          <p:nvPr/>
        </p:nvSpPr>
        <p:spPr>
          <a:xfrm rot="0">
            <a:off x="6581775" y="1421023"/>
            <a:ext cx="4210541" cy="281974"/>
          </a:xfrm>
          <a:prstGeom prst="rect">
            <a:avLst/>
          </a:prstGeom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头部保健腧穴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eyJfdGVtcGxhdGVEYXRhIjp7ImNvbnRlbnRUeXBlIjoiJGNhdGEwIiwibGluZUNvdW50IjoiMSIsIndvcmRDb3VudCI6IjE0In0sInRhZyI6Im5vRWRpdCJ9</bd:templateData>
          </p:ext>
        </p:extLst>
      </p:sp>
      <p:sp>
        <p:nvSpPr>
          <p:cNvPr id="8" name="TextBox 8"/>
          <p:cNvSpPr txBox="1"/>
          <p:nvPr/>
        </p:nvSpPr>
        <p:spPr>
          <a:xfrm rot="0">
            <a:off x="5886450" y="2080236"/>
            <a:ext cx="571500" cy="457200"/>
          </a:xfrm>
          <a:prstGeom prst="rect">
            <a:avLst/>
          </a:prstGeom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eyJfdGVtcGxhdGVEYXRhIjp7ImxpbmVDb3VudCI6IjEiLCJ3b3JkQ291bnQiOiIxNSJ9LCJ0YWciOiJub0VkaXQifQ==</bd:templateData>
          </p:ext>
        </p:extLst>
      </p:sp>
      <p:sp>
        <p:nvSpPr>
          <p:cNvPr id="9" name="TextBox 9"/>
          <p:cNvSpPr txBox="1"/>
          <p:nvPr/>
        </p:nvSpPr>
        <p:spPr>
          <a:xfrm rot="0">
            <a:off x="6581775" y="2125957"/>
            <a:ext cx="4210541" cy="281974"/>
          </a:xfrm>
          <a:prstGeom prst="rect">
            <a:avLst/>
          </a:prstGeom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耳部保健腧穴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eyJfdGVtcGxhdGVEYXRhIjp7ImNvbnRlbnRUeXBlIjoiJGNhdGExIiwibGluZUNvdW50IjoiMSIsIndvcmRDb3VudCI6IjE0In0sInRhZyI6Im5vRWRpdCJ9</bd:templateData>
          </p:ext>
        </p:extLst>
      </p:sp>
      <p:sp>
        <p:nvSpPr>
          <p:cNvPr id="10" name="TextBox 10"/>
          <p:cNvSpPr txBox="1"/>
          <p:nvPr/>
        </p:nvSpPr>
        <p:spPr>
          <a:xfrm rot="0">
            <a:off x="5886450" y="2788982"/>
            <a:ext cx="571500" cy="457200"/>
          </a:xfrm>
          <a:prstGeom prst="rect">
            <a:avLst/>
          </a:prstGeom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eyJfdGVtcGxhdGVEYXRhIjp7ImxpbmVDb3VudCI6IjEiLCJ3b3JkQ291bnQiOiIxNSJ9LCJ0YWciOiJub0VkaXQifQ==</bd:templateData>
          </p:ext>
        </p:extLst>
      </p:sp>
      <p:sp>
        <p:nvSpPr>
          <p:cNvPr id="11" name="TextBox 11"/>
          <p:cNvSpPr txBox="1"/>
          <p:nvPr/>
        </p:nvSpPr>
        <p:spPr>
          <a:xfrm rot="0">
            <a:off x="6581775" y="2844228"/>
            <a:ext cx="4210541" cy="281974"/>
          </a:xfrm>
          <a:prstGeom prst="rect">
            <a:avLst/>
          </a:prstGeom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手部保健腧穴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eyJfdGVtcGxhdGVEYXRhIjp7ImNvbnRlbnRUeXBlIjoiJGNhdGEyIiwibGluZUNvdW50IjoiMSIsIndvcmRDb3VudCI6IjE0In0sInRhZyI6Im5vRWRpdCJ9</bd:templateData>
          </p:ext>
        </p:extLst>
      </p:sp>
      <p:sp>
        <p:nvSpPr>
          <p:cNvPr id="12" name="TextBox 12"/>
          <p:cNvSpPr txBox="1"/>
          <p:nvPr/>
        </p:nvSpPr>
        <p:spPr>
          <a:xfrm rot="0">
            <a:off x="5895975" y="3497729"/>
            <a:ext cx="561975" cy="457200"/>
          </a:xfrm>
          <a:prstGeom prst="rect">
            <a:avLst/>
          </a:prstGeom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eyJfdGVtcGxhdGVEYXRhIjp7ImxpbmVDb3VudCI6IjEiLCJ3b3JkQ291bnQiOiIxNSJ9LCJ0YWciOiJub0VkaXQifQ==</bd:templateData>
          </p:ext>
        </p:extLst>
      </p:sp>
      <p:sp>
        <p:nvSpPr>
          <p:cNvPr id="13" name="TextBox 13"/>
          <p:cNvSpPr txBox="1"/>
          <p:nvPr/>
        </p:nvSpPr>
        <p:spPr>
          <a:xfrm rot="0">
            <a:off x="6581775" y="3552975"/>
            <a:ext cx="4210541" cy="281974"/>
          </a:xfrm>
          <a:prstGeom prst="rect">
            <a:avLst/>
          </a:prstGeom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腹部保健腧穴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eyJfdGVtcGxhdGVEYXRhIjp7ImNvbnRlbnRUeXBlIjoiJGNhdGEzIiwibGluZUNvdW50IjoiMSIsIndvcmRDb3VudCI6IjE0In0sInRhZyI6Im5vRWRpdCJ9</bd:templateData>
          </p:ext>
        </p:extLst>
      </p:sp>
      <p:sp>
        <p:nvSpPr>
          <p:cNvPr id="14" name="TextBox 14"/>
          <p:cNvSpPr txBox="1"/>
          <p:nvPr/>
        </p:nvSpPr>
        <p:spPr>
          <a:xfrm rot="0">
            <a:off x="5886450" y="4204814"/>
            <a:ext cx="571500" cy="457200"/>
          </a:xfrm>
          <a:prstGeom prst="rect">
            <a:avLst/>
          </a:prstGeom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eyJfdGVtcGxhdGVEYXRhIjp7ImxpbmVDb3VudCI6IjEiLCJ3b3JkQ291bnQiOiIxNSJ9LCJ0YWciOiJub0VkaXQifQ==</bd:templateData>
          </p:ext>
        </p:extLst>
      </p:sp>
      <p:sp>
        <p:nvSpPr>
          <p:cNvPr id="15" name="TextBox 15"/>
          <p:cNvSpPr txBox="1"/>
          <p:nvPr/>
        </p:nvSpPr>
        <p:spPr>
          <a:xfrm rot="0">
            <a:off x="6581775" y="4229581"/>
            <a:ext cx="4210541" cy="281974"/>
          </a:xfrm>
          <a:prstGeom prst="rect">
            <a:avLst/>
          </a:prstGeom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腰背部保健腧穴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eyJfdGVtcGxhdGVEYXRhIjp7ImNvbnRlbnRUeXBlIjoiJGNhdGE0IiwibGluZUNvdW50IjoiMSIsIndvcmRDb3VudCI6IjE0In0sInRhZyI6Im5vRWRpdCJ9</bd:templateData>
          </p:ext>
        </p:extLst>
      </p:sp>
      <p:sp>
        <p:nvSpPr>
          <p:cNvPr id="16" name="TextBox 16"/>
          <p:cNvSpPr txBox="1"/>
          <p:nvPr/>
        </p:nvSpPr>
        <p:spPr>
          <a:xfrm rot="0">
            <a:off x="5889789" y="4904106"/>
            <a:ext cx="571500" cy="457200"/>
          </a:xfrm>
          <a:prstGeom prst="rect">
            <a:avLst/>
          </a:prstGeom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eyJfdGVtcGxhdGVEYXRhIjp7ImxpbmVDb3VudCI6IjEiLCJ3b3JkQ291bnQiOiIxNSJ9LCJ0YWciOiJub0VkaXQifQ==</bd:templateData>
          </p:ext>
        </p:extLst>
      </p:sp>
      <p:sp>
        <p:nvSpPr>
          <p:cNvPr id="17" name="TextBox 17"/>
          <p:cNvSpPr txBox="1"/>
          <p:nvPr/>
        </p:nvSpPr>
        <p:spPr>
          <a:xfrm rot="0">
            <a:off x="6585114" y="4947924"/>
            <a:ext cx="4210541" cy="281974"/>
          </a:xfrm>
          <a:prstGeom prst="rect">
            <a:avLst/>
          </a:prstGeom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足部保健腧穴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eyJfdGVtcGxhdGVEYXRhIjp7ImNvbnRlbnRUeXBlIjoiJGNhdGE1IiwibGluZUNvdW50IjoiMSIsIndvcmRDb3VudCI6IjE0In0sInRhZyI6Im5vRWRpdCJ9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eyJtZCI6IuebruW9lVxu5aS06YOo5L+d5YGl6IWn56m0XG7ogLPpg6jkv53lgaXohafnqbRcbuaJi+mDqOS/neWBpeiFp+eptFxu6IW56YOo5L+d5YGl6IWn56m0XG7ohbDog4zpg6jkv53lgaXohafnqbRcbui2s+mDqOS/neWBpeiFp+eptCIsInRwbGlkIjoiODYiLCJ0cGxOYW1lIjoiY2F0YUxpc3RfODZzaW1wbGVibHVlNiIsImVkaXRlZCI6ImZhbHNlIn0=</bd:templateData>
    </p:ext>
  </p:extLst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2483281" y="2572205"/>
            <a:ext cx="7225437" cy="1977390"/>
          </a:xfrm>
          <a:prstGeom prst="rect">
            <a:avLst/>
          </a:prstGeom>
          <a:noFill/>
          <a:ln/>
        </p:spPr>
        <p:txBody>
          <a:bodyPr anchor="ctr" anchorCtr="0" bIns="45720" lIns="91440" rIns="91440" rtlCol="0" tIns="45720" vert="horz" wrap="square">
            <a:normAutofit/>
          </a:bodyPr>
          <a:lstStyle/>
          <a:p>
            <a:pPr algn="ctr">
              <a:lnSpc>
                <a:spcPct val="120000"/>
              </a:lnSpc>
            </a:pPr>
            <a:r>
              <a:rPr b="1" lang="en-US" sz="4950">
                <a:solidFill>
                  <a:srgbClr val="4C678E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常用人体保健腧穴介绍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eyJfdGVtcGxhdGVEYXRhIjp7ImNvbnRlbnRUeXBlIjoiJHRpdGxlIiwibGluZUNvdW50IjoiMiIsIndvcmRDb3VudCI6IjEwIn0sInRhZyI6IiR0aXRsZSJ9</bd:templateData>
          </p:ext>
        </p:extLst>
      </p:sp>
      <p:sp>
        <p:nvSpPr>
          <p:cNvPr id="3" name="AutoShape 3"/>
          <p:cNvSpPr/>
          <p:nvPr/>
        </p:nvSpPr>
        <p:spPr>
          <a:xfrm rot="0">
            <a:off x="4917445" y="1954313"/>
            <a:ext cx="2357110" cy="419156"/>
          </a:xfrm>
          <a:prstGeom prst="rect">
            <a:avLst/>
          </a:prstGeom>
          <a:noFill/>
          <a:ln/>
        </p:spPr>
        <p:txBody>
          <a:bodyPr anchor="ctr" anchorCtr="1" bIns="33052" lIns="66008" rIns="66008" rtlCol="0" tIns="33052" vert="horz" wrap="square">
            <a:noAutofit/>
          </a:bodyPr>
          <a:lstStyle/>
          <a:p>
            <a:pPr algn="ctr">
              <a:defRPr/>
            </a:pPr>
            <a:r>
              <a:rPr lang="en-US" sz="1425">
                <a:solidFill>
                  <a:srgbClr val="4C678E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20XX WORK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eyJfdGVtcGxhdGVEYXRhIjp7ImxpbmVDb3VudCI6IjEiLCJ3b3JkQ291bnQiOiIxMSJ9LCJ0YWciOiJub0VkaXQifQ==</bd:templateData>
          </p:ext>
        </p:extLst>
      </p:sp>
      <p:grpSp>
        <p:nvGrpSpPr>
          <p:cNvPr id="4" name="Group 4"/>
          <p:cNvGrpSpPr/>
          <p:nvPr/>
        </p:nvGrpSpPr>
        <p:grpSpPr>
          <a:xfrm rot="0">
            <a:off x="3791053" y="4879211"/>
            <a:ext cx="4609893" cy="434059"/>
            <a:chOff x="3791053" y="4879211"/>
            <a:chExt cx="4609893" cy="434059"/>
          </a:xfrm>
        </p:grpSpPr>
        <p:sp>
          <p:nvSpPr>
            <p:cNvPr id="5" name="AutoShape 5"/>
            <p:cNvSpPr/>
            <p:nvPr/>
          </p:nvSpPr>
          <p:spPr>
            <a:xfrm rot="0">
              <a:off x="3791053" y="4879211"/>
              <a:ext cx="2056587" cy="434059"/>
            </a:xfrm>
            <a:prstGeom prst="rect">
              <a:avLst/>
            </a:prstGeom>
            <a:noFill/>
            <a:ln/>
          </p:spPr>
          <p:txBody>
            <a:bodyPr anchor="ctr" anchorCtr="1" bIns="33052" lIns="66008" rIns="66008" rtlCol="0" tIns="33052" vert="horz" wrap="square">
              <a:noAutofit/>
            </a:bodyPr>
            <a:lstStyle/>
            <a:p>
              <a:pPr algn="l">
                <a:lnSpc>
                  <a:spcPct val="120000"/>
                </a:lnSpc>
                <a:defRPr/>
              </a:pPr>
              <a:r>
                <a:rPr lang="en-US" sz="1800">
                  <a:solidFill>
                    <a:srgbClr val="4C678E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>汇报人：文小库</a:t>
              </a:r>
              <a:endParaRPr lang="en-US" sz="1100"/>
            </a:p>
          </p:txBody>
          <p:extLst>
            <p:ext uri="http://schemas.baidu.com/office/drawing/2023/templateData">
              <bd:templateData xmlns:bd="http://schemas.baidu.com/office/drawing/2023/templateData">eyJfdGVtcGxhdGVEYXRhIjp7ImNvbnRlbnRUeXBlIjoiJHJlcG9ydGVyX2F1dGhvciIsImxpbmVDb3VudCI6IjEiLCJ3b3JkQ291bnQiOiI3In19</bd:templateData>
            </p:ext>
          </p:extLst>
        </p:sp>
        <p:sp>
          <p:nvSpPr>
            <p:cNvPr id="6" name="AutoShape 6"/>
            <p:cNvSpPr/>
            <p:nvPr/>
          </p:nvSpPr>
          <p:spPr>
            <a:xfrm rot="0">
              <a:off x="6323803" y="4879211"/>
              <a:ext cx="2077143" cy="419156"/>
            </a:xfrm>
            <a:prstGeom prst="rect">
              <a:avLst/>
            </a:prstGeom>
            <a:noFill/>
            <a:ln/>
          </p:spPr>
          <p:txBody>
            <a:bodyPr anchor="ctr" anchorCtr="1" bIns="33052" lIns="66008" rIns="66008" rtlCol="0" tIns="33052" vert="horz" wrap="square">
              <a:noAutofit/>
            </a:bodyPr>
            <a:lstStyle/>
            <a:p>
              <a:pPr algn="l">
                <a:lnSpc>
                  <a:spcPct val="120000"/>
                </a:lnSpc>
                <a:defRPr/>
              </a:pPr>
              <a:r>
                <a:rPr lang="en-US" sz="1800">
                  <a:solidFill>
                    <a:srgbClr val="4C678E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>2026-03-30</a:t>
              </a:r>
              <a:endParaRPr lang="en-US" sz="1100"/>
            </a:p>
          </p:txBody>
          <p:extLst>
            <p:ext uri="http://schemas.baidu.com/office/drawing/2023/templateData">
              <bd:templateData xmlns:bd="http://schemas.baidu.com/office/drawing/2023/templateData">eyJfdGVtcGxhdGVEYXRhIjp7ImNvbnRlbnRUeXBlIjoiJERhdGUiLCJsaW5lQ291bnQiOiIxIiwid29yZENvdW50IjoiNyJ9fQ==</bd:templateData>
            </p:ext>
          </p:extLst>
        </p:sp>
      </p:grpSp>
      <p:grpSp>
        <p:nvGrpSpPr>
          <p:cNvPr id="7" name="Group 7"/>
          <p:cNvGrpSpPr/>
          <p:nvPr/>
        </p:nvGrpSpPr>
        <p:grpSpPr>
          <a:xfrm rot="0">
            <a:off x="3995756" y="2097216"/>
            <a:ext cx="4200487" cy="110857"/>
            <a:chOff x="3995756" y="2097216"/>
            <a:chExt cx="4200487" cy="110857"/>
          </a:xfrm>
        </p:grpSpPr>
        <p:cxnSp>
          <p:nvCxnSpPr>
            <p:cNvPr id="8" name="Connector 8"/>
            <p:cNvCxnSpPr/>
            <p:nvPr/>
          </p:nvCxnSpPr>
          <p:spPr>
            <a:xfrm>
              <a:off x="7154192" y="2163891"/>
              <a:ext cx="1042051" cy="0"/>
            </a:xfrm>
            <a:prstGeom prst="line">
              <a:avLst/>
            </a:prstGeom>
            <a:ln w="19050">
              <a:solidFill>
                <a:srgbClr val="4C678E">
                  <a:alpha val="100000"/>
                </a:srgbClr>
              </a:solidFill>
              <a:prstDash val="solid"/>
              <a:headEnd type="none"/>
              <a:tailEnd type="none"/>
            </a:ln>
          </p:spPr>
        </p:cxnSp>
        <p:sp>
          <p:nvSpPr>
            <p:cNvPr id="9" name="AutoShape 9"/>
            <p:cNvSpPr/>
            <p:nvPr/>
          </p:nvSpPr>
          <p:spPr>
            <a:xfrm rot="0">
              <a:off x="7154192" y="2097216"/>
              <a:ext cx="110857" cy="110857"/>
            </a:xfrm>
            <a:prstGeom prst="ellipse">
              <a:avLst/>
            </a:prstGeom>
            <a:solidFill>
              <a:srgbClr val="4C678E">
                <a:alpha val="100000"/>
              </a:srgbClr>
            </a:solidFill>
            <a:ln/>
          </p:spPr>
        </p:sp>
        <p:cxnSp>
          <p:nvCxnSpPr>
            <p:cNvPr id="10" name="Connector 10"/>
            <p:cNvCxnSpPr/>
            <p:nvPr/>
          </p:nvCxnSpPr>
          <p:spPr>
            <a:xfrm>
              <a:off x="3995756" y="2163891"/>
              <a:ext cx="1042051" cy="0"/>
            </a:xfrm>
            <a:prstGeom prst="line">
              <a:avLst/>
            </a:prstGeom>
            <a:ln w="19050">
              <a:solidFill>
                <a:srgbClr val="4C678E">
                  <a:alpha val="100000"/>
                </a:srgbClr>
              </a:solidFill>
              <a:prstDash val="solid"/>
              <a:headEnd type="none"/>
              <a:tailEnd type="none"/>
            </a:ln>
          </p:spPr>
        </p:cxnSp>
        <p:sp>
          <p:nvSpPr>
            <p:cNvPr id="11" name="AutoShape 11"/>
            <p:cNvSpPr/>
            <p:nvPr/>
          </p:nvSpPr>
          <p:spPr>
            <a:xfrm rot="0">
              <a:off x="5037808" y="2097216"/>
              <a:ext cx="110857" cy="110857"/>
            </a:xfrm>
            <a:prstGeom prst="ellipse">
              <a:avLst/>
            </a:prstGeom>
            <a:solidFill>
              <a:srgbClr val="4C678E">
                <a:alpha val="100000"/>
              </a:srgbClr>
            </a:solidFill>
            <a:ln/>
          </p:spPr>
        </p:sp>
      </p:grpSp>
      <p:sp>
        <p:nvSpPr>
          <p:cNvPr id="12" name="AutoShape 12"/>
          <p:cNvSpPr/>
          <p:nvPr/>
        </p:nvSpPr>
        <p:spPr>
          <a:xfrm rot="0">
            <a:off x="473638" y="302919"/>
            <a:ext cx="482143" cy="482143"/>
          </a:xfrm>
          <a:prstGeom prst="ellipse">
            <a:avLst/>
          </a:prstGeom>
          <a:solidFill>
            <a:srgbClr val="4C678E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3" name="Freeform 13"/>
          <p:cNvSpPr/>
          <p:nvPr/>
        </p:nvSpPr>
        <p:spPr>
          <a:xfrm rot="0">
            <a:off x="585431" y="395662"/>
            <a:ext cx="258557" cy="258557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4" name="AutoShape 14"/>
          <p:cNvSpPr/>
          <p:nvPr/>
        </p:nvSpPr>
        <p:spPr>
          <a:xfrm rot="0">
            <a:off x="1052310" y="334413"/>
            <a:ext cx="5497697" cy="419156"/>
          </a:xfrm>
          <a:prstGeom prst="rect">
            <a:avLst/>
          </a:prstGeom>
          <a:noFill/>
          <a:ln/>
        </p:spPr>
        <p:txBody>
          <a:bodyPr anchor="ctr" anchorCtr="0" bIns="33052" lIns="66008" rIns="66008" rtlCol="0" tIns="33052" vert="horz" wrap="square">
            <a:noAutofit/>
          </a:bodyPr>
          <a:lstStyle/>
          <a:p>
            <a:pPr algn="l">
              <a:defRPr/>
            </a:pPr>
            <a:r>
              <a:rPr lang="en-US" sz="1575">
                <a:solidFill>
                  <a:srgbClr val="4C678E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Template for educational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eyJfdGVtcGxhdGVEYXRhIjp7ImxpbmVDb3VudCI6IjEiLCJ3b3JkQ291bnQiOiIyNSJ9LCJ0YWciOiJub0VkaXQifQ==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eyJtZCI6IuW4uOeUqOS6uuS9k+S/neWBpeiFp+eptOS7i+e7jSIsInRwbGlkIjoiODYiLCJ0cGxOYW1lIjoidGl0bGVfODZzaW1wbGVibHVlIiwiZWRpdGVkIjoiZmFsc2UifQ==</bd:templateData>
    </p:ext>
  </p:extLs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3829056" y="2526030"/>
            <a:ext cx="7644490" cy="1805940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rmAutofit/>
          </a:bodyPr>
          <a:lstStyle/>
          <a:p>
            <a:pPr>
              <a:lnSpc>
                <a:spcPct val="120000"/>
              </a:lnSpc>
              <a:spcBef>
                <a:spcPts val="375"/>
              </a:spcBef>
            </a:pPr>
            <a:r>
              <a:rPr b="1" lang="en-US" sz="45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头部保健腧穴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eyJfdGVtcGxhdGVEYXRhIjp7ImNvbnRlbnRUeXBlIjoiJHRpdGxlIiwibGluZUNvdW50IjoiMiIsIndvcmRDb3VudCI6IjEyIn0sInRhZyI6IiR0aXRsZSJ9</bd:templateData>
          </p:ext>
        </p:extLst>
      </p:sp>
      <p:sp>
        <p:nvSpPr>
          <p:cNvPr id="3" name="TextBox 3"/>
          <p:cNvSpPr txBox="1"/>
          <p:nvPr/>
        </p:nvSpPr>
        <p:spPr>
          <a:xfrm rot="0">
            <a:off x="3766844" y="1072555"/>
            <a:ext cx="3112760" cy="1138956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>
              <a:lnSpc>
                <a:spcPct val="80000"/>
              </a:lnSpc>
            </a:pPr>
            <a:r>
              <a:rPr b="1" lang="en-US" sz="8400">
                <a:solidFill>
                  <a:schemeClr val="accent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eyJfdGVtcGxhdGVEYXRhIjp7ImNvbnRlbnRUeXBlIjoiJG51bWJlciIsImxpbmVDb3VudCI6IjEiLCJ3b3JkQ291bnQiOiIyIn0sInRhZyI6Im5vRWRpdCJ9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eyJtZCI6IiMjIOWktOmDqOS/neWBpeiFp+eptCIsInRwbGlkIjoiODYiLCJ0cGxOYW1lIjoiaDJ0aXRsZV84NnNpbXBsZWJsdWUiLCJlZGl0ZWQiOiJmYWxzZSJ9</bd:templateData>
    </p:ext>
  </p:extLs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百会穴（提神醒脑）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id="3" name="AutoShape 3"/>
          <p:cNvSpPr/>
          <p:nvPr/>
        </p:nvSpPr>
        <p:spPr>
          <a:xfrm rot="0">
            <a:off x="515104" y="1943785"/>
            <a:ext cx="3637467" cy="1772200"/>
          </a:xfrm>
          <a:prstGeom prst="roundRect">
            <a:avLst>
              <a:gd fmla="val 7233" name="adj"/>
            </a:avLst>
          </a:prstGeom>
          <a:solidFill>
            <a:schemeClr val="lt2">
              <a:alpha val="6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" name="TextBox 4"/>
          <p:cNvSpPr txBox="1"/>
          <p:nvPr/>
        </p:nvSpPr>
        <p:spPr>
          <a:xfrm rot="0">
            <a:off x="740613" y="2105555"/>
            <a:ext cx="3186449" cy="1448659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百会穴位于头顶正中线与两耳尖连线的交叉处，是督脉的重要穴位，取穴时可让患者正坐或仰卧，用拇指按压有明显凹陷感。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eyJfdGVtcGxhdGVEYXRhIjp7ImNvbnRlbnRUeXBlIjoiJGl0ZW0xX2MiLCJsaW5lQ291bnQiOiI0Iiwid29yZENvdW50IjoiMTUifSwidGFnIjoiJGl0ZW0xX2MifQ==</bd:templateData>
          </p:ext>
        </p:extLst>
      </p:sp>
      <p:sp>
        <p:nvSpPr>
          <p:cNvPr id="5" name="TextBox 5"/>
          <p:cNvSpPr txBox="1"/>
          <p:nvPr/>
        </p:nvSpPr>
        <p:spPr>
          <a:xfrm rot="0">
            <a:off x="515104" y="1376998"/>
            <a:ext cx="3637467" cy="501015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b="1"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定位与取穴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eyJfdGVtcGxhdGVEYXRhIjp7ImNvbnRlbnRUeXBlIjoiJGl0ZW0xX3RpdGxlIiwibGluZUNvdW50IjoiMSIsIndvcmRDb3VudCI6IjEwIn0sInRhZyI6IiRpdGVtMV90aXRsZSJ9</bd:templateData>
          </p:ext>
        </p:extLst>
      </p:sp>
      <p:sp>
        <p:nvSpPr>
          <p:cNvPr id="6" name="TextBox 6"/>
          <p:cNvSpPr txBox="1"/>
          <p:nvPr/>
        </p:nvSpPr>
        <p:spPr>
          <a:xfrm rot="0">
            <a:off x="4278857" y="1377315"/>
            <a:ext cx="3637467" cy="501015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b="1"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主要功效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eyJfdGVtcGxhdGVEYXRhIjp7ImNvbnRlbnRUeXBlIjoiJGl0ZW0yX3RpdGxlIiwibGluZUNvdW50IjoiMSIsIndvcmRDb3VudCI6IjEwIn0sInRhZyI6IiRpdGVtMl90aXRsZSJ9</bd:templateData>
          </p:ext>
        </p:extLst>
      </p:sp>
      <p:sp>
        <p:nvSpPr>
          <p:cNvPr id="7" name="TextBox 7"/>
          <p:cNvSpPr txBox="1"/>
          <p:nvPr/>
        </p:nvSpPr>
        <p:spPr>
          <a:xfrm rot="0">
            <a:off x="8042611" y="1377315"/>
            <a:ext cx="3637467" cy="501015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b="1"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刺激方法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eyJfdGVtcGxhdGVEYXRhIjp7ImNvbnRlbnRUeXBlIjoiJGl0ZW0zX3RpdGxlIiwibGluZUNvdW50IjoiMSIsIndvcmRDb3VudCI6IjEwIn0sInRhZyI6IiRpdGVtM190aXRsZSJ9</bd:templateData>
          </p:ext>
        </p:extLst>
      </p:sp>
      <p:sp>
        <p:nvSpPr>
          <p:cNvPr id="8" name="TextBox 8"/>
          <p:cNvSpPr txBox="1"/>
          <p:nvPr/>
        </p:nvSpPr>
        <p:spPr>
          <a:xfrm rot="0">
            <a:off x="515104" y="3950072"/>
            <a:ext cx="3637467" cy="501015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b="1"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配伍应用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eyJfdGVtcGxhdGVEYXRhIjp7ImNvbnRlbnRUeXBlIjoiJGl0ZW00X3RpdGxlIiwibGluZUNvdW50IjoiMSIsIndvcmRDb3VudCI6IjEwIn0sInRhZyI6IiRpdGVtNF90aXRsZSJ9</bd:templateData>
          </p:ext>
        </p:extLst>
      </p:sp>
      <p:sp>
        <p:nvSpPr>
          <p:cNvPr id="9" name="TextBox 9"/>
          <p:cNvSpPr txBox="1"/>
          <p:nvPr/>
        </p:nvSpPr>
        <p:spPr>
          <a:xfrm rot="0">
            <a:off x="4278857" y="3950072"/>
            <a:ext cx="3637467" cy="501015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b="1"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注意事项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eyJfdGVtcGxhdGVEYXRhIjp7ImNvbnRlbnRUeXBlIjoiJGl0ZW01X3RpdGxlIiwibGluZUNvdW50IjoiMSIsIndvcmRDb3VudCI6IjEwIn0sInRhZyI6IiRpdGVtNV90aXRsZSJ9</bd:templateData>
          </p:ext>
        </p:extLst>
      </p:sp>
      <p:sp>
        <p:nvSpPr>
          <p:cNvPr id="10" name="TextBox 10"/>
          <p:cNvSpPr txBox="1"/>
          <p:nvPr/>
        </p:nvSpPr>
        <p:spPr>
          <a:xfrm rot="0">
            <a:off x="8042611" y="3950072"/>
            <a:ext cx="3637467" cy="501015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b="1"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现代研究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eyJfdGVtcGxhdGVEYXRhIjp7ImNvbnRlbnRUeXBlIjoiJGl0ZW02X3RpdGxlIiwibGluZUNvdW50IjoiMSIsIndvcmRDb3VudCI6IjEwIn0sInRhZyI6IiRpdGVtNl90aXRsZSJ9</bd:templateData>
          </p:ext>
        </p:extLst>
      </p:sp>
      <p:sp>
        <p:nvSpPr>
          <p:cNvPr id="11" name="AutoShape 11"/>
          <p:cNvSpPr/>
          <p:nvPr/>
        </p:nvSpPr>
        <p:spPr>
          <a:xfrm rot="0">
            <a:off x="4278857" y="1943785"/>
            <a:ext cx="3637467" cy="1772200"/>
          </a:xfrm>
          <a:prstGeom prst="roundRect">
            <a:avLst>
              <a:gd fmla="val 7233" name="adj"/>
            </a:avLst>
          </a:prstGeom>
          <a:solidFill>
            <a:schemeClr val="lt2">
              <a:alpha val="6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2" name="TextBox 12"/>
          <p:cNvSpPr txBox="1"/>
          <p:nvPr/>
        </p:nvSpPr>
        <p:spPr>
          <a:xfrm rot="0">
            <a:off x="4504366" y="2105555"/>
            <a:ext cx="3186449" cy="1448659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百会穴具有升阳举陷、益气固脱、醒脑开窍的作用，常用于治疗头痛、眩晕、失眠、健忘、脱肛等病症。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eyJfdGVtcGxhdGVEYXRhIjp7ImNvbnRlbnRUeXBlIjoiJGl0ZW0yX2MiLCJsaW5lQ291bnQiOiI0Iiwid29yZENvdW50IjoiMTUifSwidGFnIjoiJGl0ZW0yX2MifQ==</bd:templateData>
          </p:ext>
        </p:extLst>
      </p:sp>
      <p:sp>
        <p:nvSpPr>
          <p:cNvPr id="13" name="AutoShape 13"/>
          <p:cNvSpPr/>
          <p:nvPr/>
        </p:nvSpPr>
        <p:spPr>
          <a:xfrm rot="0">
            <a:off x="8042611" y="1943785"/>
            <a:ext cx="3637467" cy="1772200"/>
          </a:xfrm>
          <a:prstGeom prst="roundRect">
            <a:avLst>
              <a:gd fmla="val 7233" name="adj"/>
            </a:avLst>
          </a:prstGeom>
          <a:solidFill>
            <a:schemeClr val="lt2">
              <a:alpha val="6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4" name="TextBox 14"/>
          <p:cNvSpPr txBox="1"/>
          <p:nvPr/>
        </p:nvSpPr>
        <p:spPr>
          <a:xfrm rot="0">
            <a:off x="8268120" y="2105555"/>
            <a:ext cx="3186449" cy="1448659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可用拇指指腹顺时针按揉3-5分钟，力度以酸胀感为宜；也可用艾条悬灸10-15分钟，注意避免烫伤皮肤。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eyJfdGVtcGxhdGVEYXRhIjp7ImNvbnRlbnRUeXBlIjoiJGl0ZW0zX2MiLCJsaW5lQ291bnQiOiI0Iiwid29yZENvdW50IjoiMTUifSwidGFnIjoiJGl0ZW0zX2MifQ==</bd:templateData>
          </p:ext>
        </p:extLst>
      </p:sp>
      <p:sp>
        <p:nvSpPr>
          <p:cNvPr id="15" name="AutoShape 15"/>
          <p:cNvSpPr/>
          <p:nvPr/>
        </p:nvSpPr>
        <p:spPr>
          <a:xfrm rot="0">
            <a:off x="515104" y="4500511"/>
            <a:ext cx="3637467" cy="1772200"/>
          </a:xfrm>
          <a:prstGeom prst="roundRect">
            <a:avLst>
              <a:gd fmla="val 7233" name="adj"/>
            </a:avLst>
          </a:prstGeom>
          <a:solidFill>
            <a:schemeClr val="lt2">
              <a:alpha val="6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6" name="TextBox 16"/>
          <p:cNvSpPr txBox="1"/>
          <p:nvPr/>
        </p:nvSpPr>
        <p:spPr>
          <a:xfrm rot="0">
            <a:off x="740613" y="4662281"/>
            <a:ext cx="3186449" cy="1448659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常与四神聪、太阳穴配伍治疗神经衰弱；与足三里、气海配伍治疗中气下陷引起的脏器下垂。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eyJfdGVtcGxhdGVEYXRhIjp7ImNvbnRlbnRUeXBlIjoiJGl0ZW00X2MiLCJsaW5lQ291bnQiOiI0Iiwid29yZENvdW50IjoiMTUifSwidGFnIjoiJGl0ZW00X2MifQ==</bd:templateData>
          </p:ext>
        </p:extLst>
      </p:sp>
      <p:sp>
        <p:nvSpPr>
          <p:cNvPr id="17" name="AutoShape 17"/>
          <p:cNvSpPr/>
          <p:nvPr/>
        </p:nvSpPr>
        <p:spPr>
          <a:xfrm rot="0">
            <a:off x="4278857" y="4500511"/>
            <a:ext cx="3637467" cy="1772200"/>
          </a:xfrm>
          <a:prstGeom prst="roundRect">
            <a:avLst>
              <a:gd fmla="val 7233" name="adj"/>
            </a:avLst>
          </a:prstGeom>
          <a:solidFill>
            <a:schemeClr val="lt2">
              <a:alpha val="6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8" name="TextBox 18"/>
          <p:cNvSpPr txBox="1"/>
          <p:nvPr/>
        </p:nvSpPr>
        <p:spPr>
          <a:xfrm rot="0">
            <a:off x="4504366" y="4662281"/>
            <a:ext cx="3186449" cy="1448659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高血压患者慎用强刺激，孕妇不宜针刺；操作时应保持环境温暖，避免受风着凉。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eyJfdGVtcGxhdGVEYXRhIjp7ImNvbnRlbnRUeXBlIjoiJGl0ZW01X2MiLCJsaW5lQ291bnQiOiI0Iiwid29yZENvdW50IjoiMTUifSwidGFnIjoiJGl0ZW01X2MifQ==</bd:templateData>
          </p:ext>
        </p:extLst>
      </p:sp>
      <p:sp>
        <p:nvSpPr>
          <p:cNvPr id="19" name="AutoShape 19"/>
          <p:cNvSpPr/>
          <p:nvPr/>
        </p:nvSpPr>
        <p:spPr>
          <a:xfrm rot="0">
            <a:off x="8042611" y="4500511"/>
            <a:ext cx="3637467" cy="1772200"/>
          </a:xfrm>
          <a:prstGeom prst="roundRect">
            <a:avLst>
              <a:gd fmla="val 7233" name="adj"/>
            </a:avLst>
          </a:prstGeom>
          <a:solidFill>
            <a:schemeClr val="lt2">
              <a:alpha val="6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0" name="TextBox 20"/>
          <p:cNvSpPr txBox="1"/>
          <p:nvPr/>
        </p:nvSpPr>
        <p:spPr>
          <a:xfrm rot="0">
            <a:off x="8268120" y="4662281"/>
            <a:ext cx="3186449" cy="1448659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临床观察表明刺激百会穴能显著改善脑部血液循环，增加脑血流量，对脑血管疾病后遗症有辅助治疗作用。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eyJfdGVtcGxhdGVEYXRhIjp7ImNvbnRlbnRUeXBlIjoiJGl0ZW02X2MiLCJsaW5lQ291bnQiOiI0Iiwid29yZENvdW50IjoiMTUifSwidGFnIjoiJGl0ZW02X2MifQ==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eZvuS8mueptO+8iOaPkOelnumGkuiEke+8iVxuIyMjIOWumuS9jeS4juWPlueptFxu55m+5Lya56m05L2N5LqO5aS06aG25q2j5Lit57q/5LiO5Lik6ICz5bCW6L+e57q/55qE5Lqk5Y+J5aSE77yM5piv552j6ISJ55qE6YeN6KaB56m05L2N77yM5Y+W56m05pe25Y+v6K6p5oKj6ICF5q2j5Z2Q5oiW5Luw5Y2n77yM55So5ouH5oyH5oyJ5Y6L5pyJ5piO5pi+5Ye56Zm35oSf44CCXG4jIyMg5Li76KaB5Yqf5pWIXG7nmb7kvJrnqbTlhbfmnInljYfpmLPkuL7pmbfjgIHnm4rmsJTlm7rohLHjgIHphpLohJHlvIDnqo3nmoTkvZznlKjvvIzluLjnlKjkuo7msrvnlpflpLTnl5vjgIHnnKnmmZXjgIHlpLHnnKDjgIHlgaXlv5jjgIHohLHogpvnrYnnl4Xnl4fjgIJcbiMjIyDliLrmv4Dmlrnms5VcbuWPr+eUqOaLh+aMh+aMh+iFuemhuuaXtumSiOaMieaPiTMtNeWIhumSn++8jOWKm+W6puS7pemFuOiDgOaEn+S4uuWunO+8m+S5n+WPr+eUqOiJvuadoeaCrOeBuDEwLTE15YiG6ZKf77yM5rOo5oSP6YG/5YWN54Or5Lyk55qu6IKk44CCXG4jIyMg6YWN5LyN5bqU55SoXG7luLjkuI7lm5vnpZ7ogarjgIHlpKrpmLPnqbTphY3kvI3msrvnlpfnpZ7nu4/oobDlvLHvvJvkuI7otrPkuInph4zjgIHmsJTmtbfphY3kvI3msrvnlpfkuK3msJTkuIvpmbflvJXotbfnmoTohI/lmajkuIvlnoLjgIJcbiMjIyDms6jmhI/kuovpoblcbumrmOihgOWOi+aCo+iAheaFjueUqOW8uuWIuua/gO+8jOWtleWmh+S4jeWunOmSiOWIuu+8m+aTjeS9nOaXtuW6lOS/neaMgeeOr+Wig+a4qeaalu+8jOmBv+WFjeWPl+mjjuedgOWHieOAglxuIyMjIOeOsOS7o+eglOeptlxu5Li05bqK6KeC5a+f6KGo5piO5Yi65r+A55m+5Lya56m06IO95pi+6JGX5pS55ZaE6ISR6YOo6KGA5ray5b6q546v77yM5aKe5Yqg6ISR6KGA5rWB6YeP77yM5a+56ISR6KGA566h55a+55eF5ZCO6YGX55eH5pyJ6L6F5Yqp5rK755aX5L2c55So44CCIiwidHBsaWQiOiI4NiIsInRwbE5hbWUiOiJsaXN0Nl9zYW1lU3R5bGUwcGljMSIsImVkaXRlZCI6ImZhbHNlIn0=</bd:templateData>
    </p:ext>
  </p:extLs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风池穴（缓解头痛）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00000"/>
          </a:blip>
          <a:srcRect l="27721" r="27721"/>
          <a:stretch>
            <a:fillRect/>
          </a:stretch>
        </p:blipFill>
        <p:spPr>
          <a:xfrm flipH="0" rot="0">
            <a:off x="752047" y="1412707"/>
            <a:ext cx="3005958" cy="4496357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100000"/>
          </a:blip>
          <a:srcRect/>
          <a:stretch>
            <a:fillRect/>
          </a:stretch>
        </p:blipFill>
        <p:spPr>
          <a:xfrm flipH="0" rot="0">
            <a:off x="7833544" y="3730249"/>
            <a:ext cx="3737850" cy="2127687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sp>
        <p:nvSpPr>
          <p:cNvPr id="5" name="AutoShape 5"/>
          <p:cNvSpPr/>
          <p:nvPr/>
        </p:nvSpPr>
        <p:spPr>
          <a:xfrm rot="0">
            <a:off x="7849473" y="1413759"/>
            <a:ext cx="3725999" cy="212914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6" name="AutoShape 6"/>
          <p:cNvSpPr/>
          <p:nvPr/>
        </p:nvSpPr>
        <p:spPr>
          <a:xfrm rot="0">
            <a:off x="3952581" y="3730249"/>
            <a:ext cx="3725999" cy="212914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7" name="AutoShape 7"/>
          <p:cNvSpPr/>
          <p:nvPr/>
        </p:nvSpPr>
        <p:spPr>
          <a:xfrm rot="0">
            <a:off x="3952581" y="1412707"/>
            <a:ext cx="3725999" cy="2129142"/>
          </a:xfrm>
          <a:prstGeom prst="rect">
            <a:avLst/>
          </a:prstGeom>
          <a:solidFill>
            <a:schemeClr val="accent1">
              <a:alpha val="1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8" name="AutoShape 8"/>
          <p:cNvSpPr/>
          <p:nvPr/>
        </p:nvSpPr>
        <p:spPr>
          <a:xfrm rot="0">
            <a:off x="3952581" y="1412707"/>
            <a:ext cx="3725999" cy="53229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9" name="AutoShape 9"/>
          <p:cNvSpPr/>
          <p:nvPr/>
        </p:nvSpPr>
        <p:spPr>
          <a:xfrm rot="0">
            <a:off x="4099978" y="1672358"/>
            <a:ext cx="3431205" cy="481351"/>
          </a:xfrm>
          <a:prstGeom prst="rect">
            <a:avLst/>
          </a:prstGeom>
          <a:noFill/>
          <a:ln/>
        </p:spPr>
        <p:txBody>
          <a:bodyPr anchor="t" anchorCtr="1" bIns="45720" lIns="95250" rIns="91440" rtlCol="0" tIns="45720" vert="horz" wrap="square">
            <a:noAutofit/>
          </a:bodyPr>
          <a:lstStyle/>
          <a:p>
            <a:pPr algn="l">
              <a:defRPr/>
            </a:pPr>
            <a:r>
              <a:rPr b="1" lang="en-US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定位与取穴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eyJfdGVtcGxhdGVEYXRhIjp7ImNvbnRlbnRUeXBlIjoiJGl0ZW0xX3RpdGxlIiwibGluZUNvdW50IjoiMSIsIndvcmRDb3VudCI6IjkifSwidGFnIjoiJGl0ZW0xX3RpdGxlIn0=</bd:templateData>
          </p:ext>
        </p:extLst>
      </p:sp>
      <p:sp>
        <p:nvSpPr>
          <p:cNvPr id="10" name="TextBox 10"/>
          <p:cNvSpPr txBox="1"/>
          <p:nvPr/>
        </p:nvSpPr>
        <p:spPr>
          <a:xfrm rot="0">
            <a:off x="4099978" y="2110737"/>
            <a:ext cx="3431205" cy="1270638"/>
          </a:xfrm>
          <a:prstGeom prst="rect">
            <a:avLst/>
          </a:prstGeom>
          <a:ln/>
        </p:spPr>
        <p:txBody>
          <a:bodyPr anchor="t" anchorCtr="0" bIns="57150" lIns="95250" rIns="57150" rtlCol="0" tIns="5715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风池穴位于颈后区，枕骨之下，胸锁乳突肌上端与斜方肌上端之间的凹陷中，取穴时嘱患者正坐，医者从耳后骨突下缘向脊柱方向推按可触及明显凹陷。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eyJfdGVtcGxhdGVEYXRhIjp7ImNvbnRlbnRUeXBlIjoiJGl0ZW0xX2MiLCJsaW5lQ291bnQiOiI0Iiwid29yZENvdW50IjoiMTgifSwidGFnIjoiJGl0ZW0xX2MifQ==</bd:templateData>
          </p:ext>
        </p:extLst>
      </p:sp>
      <p:sp>
        <p:nvSpPr>
          <p:cNvPr id="11" name="AutoShape 11"/>
          <p:cNvSpPr/>
          <p:nvPr/>
        </p:nvSpPr>
        <p:spPr>
          <a:xfrm rot="0">
            <a:off x="4099978" y="4036516"/>
            <a:ext cx="3431205" cy="481351"/>
          </a:xfrm>
          <a:prstGeom prst="rect">
            <a:avLst/>
          </a:prstGeom>
          <a:noFill/>
          <a:ln/>
        </p:spPr>
        <p:txBody>
          <a:bodyPr anchor="t" anchorCtr="1" bIns="45720" lIns="95250" rIns="91440" rtlCol="0" tIns="45720" vert="horz" wrap="square">
            <a:noAutofit/>
          </a:bodyPr>
          <a:lstStyle/>
          <a:p>
            <a:pPr algn="l">
              <a:defRPr/>
            </a:pPr>
            <a:r>
              <a:rPr b="1" lang="en-US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刺激方法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eyJfdGVtcGxhdGVEYXRhIjp7ImNvbnRlbnRUeXBlIjoiJGl0ZW0zX3RpdGxlIiwibGluZUNvdW50IjoiMSIsIndvcmRDb3VudCI6IjkifSwidGFnIjoiJGl0ZW0zX3RpdGxlIn0=</bd:templateData>
          </p:ext>
        </p:extLst>
      </p:sp>
      <p:sp>
        <p:nvSpPr>
          <p:cNvPr id="12" name="TextBox 12"/>
          <p:cNvSpPr txBox="1"/>
          <p:nvPr/>
        </p:nvSpPr>
        <p:spPr>
          <a:xfrm rot="0">
            <a:off x="4099978" y="4470242"/>
            <a:ext cx="3431205" cy="1276624"/>
          </a:xfrm>
          <a:prstGeom prst="rect">
            <a:avLst/>
          </a:prstGeom>
          <a:ln/>
        </p:spPr>
        <p:txBody>
          <a:bodyPr anchor="t" anchorCtr="0" bIns="57150" lIns="95250" rIns="57150" rtlCol="0" tIns="5715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可用双手拇指同时按压穴位，其余四指固定头部，进行点按或揉动5-10分钟；也可采用针刺法，向鼻尖方向斜刺0.5-1寸。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eyJfdGVtcGxhdGVEYXRhIjp7ImNvbnRlbnRUeXBlIjoiJGl0ZW0zX2MiLCJsaW5lQ291bnQiOiI0Iiwid29yZENvdW50IjoiMTgifSwidGFnIjoiJGl0ZW0zX2MifQ==</bd:templateData>
          </p:ext>
        </p:extLst>
      </p:sp>
      <p:sp>
        <p:nvSpPr>
          <p:cNvPr id="13" name="AutoShape 13"/>
          <p:cNvSpPr/>
          <p:nvPr/>
        </p:nvSpPr>
        <p:spPr>
          <a:xfrm rot="0">
            <a:off x="7996869" y="1672358"/>
            <a:ext cx="3431205" cy="481351"/>
          </a:xfrm>
          <a:prstGeom prst="rect">
            <a:avLst/>
          </a:prstGeom>
          <a:noFill/>
          <a:ln/>
        </p:spPr>
        <p:txBody>
          <a:bodyPr anchor="t" anchorCtr="1" bIns="45720" lIns="95250" rIns="91440" rtlCol="0" tIns="45720" vert="horz" wrap="square">
            <a:noAutofit/>
          </a:bodyPr>
          <a:lstStyle/>
          <a:p>
            <a:pPr algn="l">
              <a:defRPr/>
            </a:pPr>
            <a:r>
              <a:rPr b="1" lang="en-US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主要功效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eyJfdGVtcGxhdGVEYXRhIjp7ImNvbnRlbnRUeXBlIjoiJGl0ZW0yX3RpdGxlIiwibGluZUNvdW50IjoiMSIsIndvcmRDb3VudCI6IjkifSwidGFnIjoiJGl0ZW0yX3RpdGxlIn0=</bd:templateData>
          </p:ext>
        </p:extLst>
      </p:sp>
      <p:sp>
        <p:nvSpPr>
          <p:cNvPr id="14" name="TextBox 14"/>
          <p:cNvSpPr txBox="1"/>
          <p:nvPr/>
        </p:nvSpPr>
        <p:spPr>
          <a:xfrm rot="0">
            <a:off x="7996869" y="2110737"/>
            <a:ext cx="3431205" cy="1270638"/>
          </a:xfrm>
          <a:prstGeom prst="rect">
            <a:avLst/>
          </a:prstGeom>
          <a:ln/>
        </p:spPr>
        <p:txBody>
          <a:bodyPr anchor="t" anchorCtr="0" bIns="57150" lIns="95250" rIns="57150" rtlCol="0" tIns="5715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具有祛风解表、清头明目、通利官窍的功效，主治感冒、头痛、眩晕、目赤肿痛、鼻塞、耳鸣等外风引起的病症。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eyJfdGVtcGxhdGVEYXRhIjp7ImNvbnRlbnRUeXBlIjoiJGl0ZW0yX2MiLCJsaW5lQ291bnQiOiI0Iiwid29yZENvdW50IjoiMTgifSwidGFnIjoiJGl0ZW0yX2MifQ==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mjjuaxoOeptO+8iOe8k+ino+WktOeXm++8iVxuIyMjIOWumuS9jeS4juWPlueptFxu6aOO5rGg56m05L2N5LqO6aKI5ZCO5Yy677yM5p6V6aqo5LmL5LiL77yM6IO46ZSB5Lmz56qB6IKM5LiK56uv5LiO5pac5pa56IKM5LiK56uv5LmL6Ze055qE5Ye56Zm35Lit77yM5Y+W56m05pe25Zix5oKj6ICF5q2j5Z2Q77yM5Yy76ICF5LuO6ICz5ZCO6aqo56qB5LiL57yY5ZCR6ISK5p+x5pa55ZCR5o6o5oyJ5Y+v6Kem5Y+K5piO5pi+5Ye56Zm344CCXG4jIyMg5Li76KaB5Yqf5pWIXG7lhbfmnInnpZvpo47op6PooajjgIHmuIXlpLTmmI7nm67jgIHpgJrliKnlrpjnqo3nmoTlip/mlYjvvIzkuLvmsrvmhJ/lhpLjgIHlpLTnl5vjgIHnnKnmmZXjgIHnm67otaTogr/nl5vjgIHpvLvloZ7jgIHogLPpuKPnrYnlpJbpo47lvJXotbfnmoTnl4Xnl4fjgIJcbiMjIyDliLrmv4Dmlrnms5VcbuWPr+eUqOWPjOaJi+aLh+aMh+WQjOaXtuaMieWOi+eptOS9je+8jOWFtuS9meWbm+aMh+WbuuWumuWktOmDqO+8jOi/m+ihjOeCueaMieaIluaPieWKqDUtMTDliIbpkp/vvJvkuZ/lj6/ph4fnlKjpkojliLrms5XvvIzlkJHpvLvlsJbmlrnlkJHmlpzliLowLjUtMeWvuOOAgiIsInRwbGlkIjoiODYiLCJ0cGxOYW1lIjoibGlzdDNfMjAyNTA3MDEwMiIsImVkaXRlZCI6ImZhbHNlIn0=</bd:templateData>
    </p:ext>
  </p:extLs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b="23202" t="23202"/>
          <a:stretch>
            <a:fillRect/>
          </a:stretch>
        </p:blipFill>
        <p:spPr>
          <a:xfrm rot="0">
            <a:off x="8449231" y="3565204"/>
            <a:ext cx="3050440" cy="2453000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eyJfdGVtcGxhdGVEYXRhIjp7ImNvbnRlbnRUeXBlIjoiJGltZzIifSwidGFnIjoiJGltZzIifQ==</bd:templateData>
          </p:ext>
        </p:extLst>
      </p:pic>
      <p:sp>
        <p:nvSpPr>
          <p:cNvPr id="3" name="AutoShape 3"/>
          <p:cNvSpPr/>
          <p:nvPr/>
        </p:nvSpPr>
        <p:spPr>
          <a:xfrm rot="0">
            <a:off x="8449231" y="1792951"/>
            <a:ext cx="3050857" cy="2406213"/>
          </a:xfrm>
          <a:prstGeom prst="roundRect">
            <a:avLst>
              <a:gd fmla="val 10215" name="adj"/>
            </a:avLst>
          </a:prstGeom>
          <a:solidFill>
            <a:srgbClr val="FFFFFF">
              <a:alpha val="100000"/>
            </a:srgbClr>
          </a:solidFill>
          <a:ln/>
          <a:effectLst>
            <a:outerShdw blurRad="457200" dir="0" dist="0">
              <a:srgbClr val="000000">
                <a:alpha val="8000"/>
              </a:srgbClr>
            </a:outerShdw>
          </a:effectLst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flipV="0" rot="0">
            <a:off x="4549001" y="3532049"/>
            <a:ext cx="3050440" cy="2476500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sp>
        <p:nvSpPr>
          <p:cNvPr id="5" name="AutoShape 5"/>
          <p:cNvSpPr/>
          <p:nvPr/>
        </p:nvSpPr>
        <p:spPr>
          <a:xfrm rot="0">
            <a:off x="4549001" y="1728950"/>
            <a:ext cx="3050857" cy="2406213"/>
          </a:xfrm>
          <a:prstGeom prst="roundRect">
            <a:avLst>
              <a:gd fmla="val 10215" name="adj"/>
            </a:avLst>
          </a:prstGeom>
          <a:solidFill>
            <a:srgbClr val="FFFFFF">
              <a:alpha val="100000"/>
            </a:srgbClr>
          </a:solidFill>
          <a:ln/>
          <a:effectLst>
            <a:outerShdw blurRad="457200" dir="0" dist="0">
              <a:srgbClr val="000000">
                <a:alpha val="8000"/>
              </a:srgbClr>
            </a:outerShdw>
          </a:effectLst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 l="4866" r="4866"/>
          <a:stretch>
            <a:fillRect/>
          </a:stretch>
        </p:blipFill>
        <p:spPr>
          <a:xfrm flipV="0" rot="0">
            <a:off x="644987" y="3751513"/>
            <a:ext cx="3050440" cy="2247381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id="7" name="AutoShape 7"/>
          <p:cNvSpPr/>
          <p:nvPr/>
        </p:nvSpPr>
        <p:spPr>
          <a:xfrm rot="0">
            <a:off x="644570" y="1728950"/>
            <a:ext cx="3050857" cy="2406213"/>
          </a:xfrm>
          <a:prstGeom prst="roundRect">
            <a:avLst>
              <a:gd fmla="val 10215" name="adj"/>
            </a:avLst>
          </a:prstGeom>
          <a:solidFill>
            <a:srgbClr val="FFFFFF">
              <a:alpha val="100000"/>
            </a:srgbClr>
          </a:solidFill>
          <a:ln/>
          <a:effectLst>
            <a:outerShdw blurRad="457200" dir="0" dist="0">
              <a:srgbClr val="000000">
                <a:alpha val="8000"/>
              </a:srgbClr>
            </a:outerShdw>
          </a:effectLst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8" name="TextBox 8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sp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风池穴（缓解头痛）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id="9" name="TextBox 9"/>
          <p:cNvSpPr txBox="1"/>
          <p:nvPr/>
        </p:nvSpPr>
        <p:spPr>
          <a:xfrm rot="0">
            <a:off x="767253" y="2445849"/>
            <a:ext cx="2819400" cy="1605108"/>
          </a:xfrm>
          <a:prstGeom prst="rect">
            <a:avLst/>
          </a:prstGeom>
          <a:ln/>
        </p:spPr>
        <p:txBody>
          <a:bodyPr anchor="t" anchorCtr="0" bIns="57150" lIns="114300" rIns="114300" rtlCol="0" tIns="5715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与太阳穴、合谷穴配伍治疗偏头痛；与列缺穴配伍治疗风寒感冒；与太冲穴配伍治疗肝阳上亢型高血压。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eyJfdGVtcGxhdGVEYXRhIjp7ImNvbnRlbnRUeXBlIjoiJGl0ZW0xX2MiLCJsaW5lQ291bnQiOiI0Iiwid29yZENvdW50IjoiMTIifSwidGFnIjoiJGl0ZW0xX2MifQ==</bd:templateData>
          </p:ext>
        </p:extLst>
      </p:sp>
      <p:sp>
        <p:nvSpPr>
          <p:cNvPr id="10" name="TextBox 10"/>
          <p:cNvSpPr txBox="1"/>
          <p:nvPr/>
        </p:nvSpPr>
        <p:spPr>
          <a:xfrm rot="0">
            <a:off x="651733" y="1856763"/>
            <a:ext cx="3024645" cy="579431"/>
          </a:xfrm>
          <a:prstGeom prst="rect">
            <a:avLst/>
          </a:prstGeom>
          <a:ln/>
        </p:spPr>
        <p:txBody>
          <a:bodyPr anchor="ctr" anchorCtr="0" bIns="57150" lIns="114300" rIns="114300" rtlCol="0" tIns="57150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b="1"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配伍应用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eyJfdGVtcGxhdGVEYXRhIjp7ImNvbnRlbnRUeXBlIjoiJGl0ZW0xX3RpdGxlIiwibGluZUNvdW50IjoiMSIsIndvcmRDb3VudCI6IjgifSwidGFnIjoiJGl0ZW0xX3RpdGxlIn0=</bd:templateData>
          </p:ext>
        </p:extLst>
      </p:sp>
      <p:sp>
        <p:nvSpPr>
          <p:cNvPr id="11" name="TextBox 11"/>
          <p:cNvSpPr txBox="1"/>
          <p:nvPr/>
        </p:nvSpPr>
        <p:spPr>
          <a:xfrm rot="0">
            <a:off x="4667483" y="2445849"/>
            <a:ext cx="2819400" cy="1605108"/>
          </a:xfrm>
          <a:prstGeom prst="rect">
            <a:avLst/>
          </a:prstGeom>
          <a:ln/>
        </p:spPr>
        <p:txBody>
          <a:bodyPr anchor="t" anchorCtr="0" bIns="57150" lIns="114300" rIns="114300" rtlCol="0" tIns="5715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针刺时需严格掌握角度和深度，避免伤及延髓；体质虚弱者刺激量不宜过大。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eyJfdGVtcGxhdGVEYXRhIjp7ImNvbnRlbnRUeXBlIjoiJGl0ZW0yX2MiLCJsaW5lQ291bnQiOiI0Iiwid29yZENvdW50IjoiMTIifSwidGFnIjoiJGl0ZW0yX2MifQ==</bd:templateData>
          </p:ext>
        </p:extLst>
      </p:sp>
      <p:sp>
        <p:nvSpPr>
          <p:cNvPr id="12" name="TextBox 12"/>
          <p:cNvSpPr txBox="1"/>
          <p:nvPr/>
        </p:nvSpPr>
        <p:spPr>
          <a:xfrm rot="0">
            <a:off x="4551963" y="1856763"/>
            <a:ext cx="3024645" cy="579431"/>
          </a:xfrm>
          <a:prstGeom prst="rect">
            <a:avLst/>
          </a:prstGeom>
          <a:ln/>
        </p:spPr>
        <p:txBody>
          <a:bodyPr anchor="ctr" anchorCtr="0" bIns="57150" lIns="114300" rIns="114300" rtlCol="0" tIns="57150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b="1"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注意事项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eyJfdGVtcGxhdGVEYXRhIjp7ImNvbnRlbnRUeXBlIjoiJGl0ZW0yX3RpdGxlIiwibGluZUNvdW50IjoiMSIsIndvcmRDb3VudCI6IjgifSwidGFnIjoiJGl0ZW0yX3RpdGxlIn0=</bd:templateData>
          </p:ext>
        </p:extLst>
      </p:sp>
      <p:sp>
        <p:nvSpPr>
          <p:cNvPr id="13" name="TextBox 13"/>
          <p:cNvSpPr txBox="1"/>
          <p:nvPr/>
        </p:nvSpPr>
        <p:spPr>
          <a:xfrm rot="0">
            <a:off x="8564751" y="2445849"/>
            <a:ext cx="2819400" cy="1605108"/>
          </a:xfrm>
          <a:prstGeom prst="rect">
            <a:avLst/>
          </a:prstGeom>
          <a:ln/>
        </p:spPr>
        <p:txBody>
          <a:bodyPr anchor="t" anchorCtr="0" bIns="57150" lIns="114300" rIns="114300" rtlCol="0" tIns="5715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实验显示刺激风池穴能调节椎-基底动脉血流速度，缓解颈肌痉挛，对颈源性头痛有显著疗效。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eyJfdGVtcGxhdGVEYXRhIjp7ImNvbnRlbnRUeXBlIjoiJGl0ZW0zX2MiLCJsaW5lQ291bnQiOiI0Iiwid29yZENvdW50IjoiMTIifSwidGFnIjoiJGl0ZW0zX2MifQ==</bd:templateData>
          </p:ext>
        </p:extLst>
      </p:sp>
      <p:sp>
        <p:nvSpPr>
          <p:cNvPr id="14" name="TextBox 14"/>
          <p:cNvSpPr txBox="1"/>
          <p:nvPr/>
        </p:nvSpPr>
        <p:spPr>
          <a:xfrm rot="0">
            <a:off x="8449231" y="1856763"/>
            <a:ext cx="3024645" cy="579431"/>
          </a:xfrm>
          <a:prstGeom prst="rect">
            <a:avLst/>
          </a:prstGeom>
          <a:ln/>
        </p:spPr>
        <p:txBody>
          <a:bodyPr anchor="ctr" anchorCtr="0" bIns="57150" lIns="114300" rIns="114300" rtlCol="0" tIns="57150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b="1"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现代研究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eyJfdGVtcGxhdGVEYXRhIjp7ImNvbnRlbnRUeXBlIjoiJGl0ZW0zX3RpdGxlIiwibGluZUNvdW50IjoiMSIsIndvcmRDb3VudCI6IjgifSwidGFnIjoiJGl0ZW0zX3RpdGxlIn0=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mjjuaxoOeptO+8iOe8k+ino+WktOeXm++8iVxuIyMjIOmFjeS8jeW6lOeUqFxu5LiO5aSq6Ziz56m044CB5ZCI6LC356m06YWN5LyN5rK755aX5YGP5aS055eb77yb5LiO5YiX57y656m06YWN5LyN5rK755aX6aOO5a+S5oSf5YaS77yb5LiO5aSq5Yay56m06YWN5LyN5rK755aX6IKd6Ziz5LiK5Lqi5Z6L6auY6KGA5Y6L44CCXG4jIyMg5rOo5oSP5LqL6aG5XG7pkojliLrml7bpnIDkuKXmoLzmjozmj6Hop5Lluqblkozmt7HluqbvvIzpgb/lhY3kvKTlj4rlu7bpq5PvvJvkvZPotKjomZrlvLHogIXliLrmv4Dph4/kuI3lrpzov4flpKfjgIJcbiMjIyDnjrDku6PnoJTnqbZcbuWunumqjOaYvuekuuWIuua/gOmjjuaxoOeptOiDveiwg+iKguakji3ln7rlupXliqjohInooYDmtYHpgJ/luqbvvIznvJPop6Ppoojogoznl4nmjJvvvIzlr7npoojmupDmgKflpLTnl5vmnInmmL7okZfnlpfmlYjjgIIiLCJ0cGxpZCI6Ijg2IiwidHBsTmFtZSI6Imxpc3QzX0ltZ3d6eTI0MDcwOTAwMyIsImVkaXRlZCI6ImZhbHNlIn0=</bd:templateData>
    </p:ext>
  </p:extLs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0">
            <a:off x="369165" y="4391695"/>
            <a:ext cx="11459846" cy="1385974"/>
          </a:xfrm>
          <a:prstGeom prst="trapezoid">
            <a:avLst>
              <a:gd fmla="val 66630" name="adj"/>
            </a:avLst>
          </a:prstGeom>
          <a:gradFill>
            <a:gsLst>
              <a:gs pos="0">
                <a:schemeClr val="accent3">
                  <a:alpha val="0"/>
                </a:schemeClr>
              </a:gs>
              <a:gs pos="50000">
                <a:schemeClr val="accent3">
                  <a:alpha val="30154"/>
                </a:schemeClr>
              </a:gs>
              <a:gs pos="100000">
                <a:schemeClr val="accent3">
                  <a:alpha val="49908"/>
                </a:schemeClr>
              </a:gs>
            </a:gsLst>
            <a:lin ang="54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" name="AutoShape 3"/>
          <p:cNvSpPr/>
          <p:nvPr/>
        </p:nvSpPr>
        <p:spPr>
          <a:xfrm flipH="1" rot="0">
            <a:off x="7984646" y="1345311"/>
            <a:ext cx="3313081" cy="1899761"/>
          </a:xfrm>
          <a:prstGeom prst="roundRect">
            <a:avLst>
              <a:gd fmla="val 0" name="adj"/>
            </a:avLst>
          </a:prstGeom>
          <a:solidFill>
            <a:schemeClr val="lt2">
              <a:alpha val="100000"/>
            </a:schemeClr>
          </a:solidFill>
          <a:ln w="1143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" name="AutoShape 4"/>
          <p:cNvSpPr/>
          <p:nvPr/>
        </p:nvSpPr>
        <p:spPr>
          <a:xfrm rot="0">
            <a:off x="914400" y="3469481"/>
            <a:ext cx="3313081" cy="1899761"/>
          </a:xfrm>
          <a:prstGeom prst="roundRect">
            <a:avLst>
              <a:gd fmla="val 0" name="adj"/>
            </a:avLst>
          </a:prstGeom>
          <a:solidFill>
            <a:schemeClr val="lt2">
              <a:alpha val="100000"/>
            </a:schemeClr>
          </a:solidFill>
          <a:ln w="1143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5" name="AutoShape 5"/>
          <p:cNvSpPr/>
          <p:nvPr/>
        </p:nvSpPr>
        <p:spPr>
          <a:xfrm rot="0">
            <a:off x="4439507" y="3469481"/>
            <a:ext cx="3313081" cy="1899761"/>
          </a:xfrm>
          <a:prstGeom prst="roundRect">
            <a:avLst>
              <a:gd fmla="val 0" name="adj"/>
            </a:avLst>
          </a:prstGeom>
          <a:solidFill>
            <a:schemeClr val="lt2">
              <a:alpha val="100000"/>
            </a:schemeClr>
          </a:solidFill>
          <a:ln w="1143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6" name="AutoShape 6"/>
          <p:cNvSpPr/>
          <p:nvPr/>
        </p:nvSpPr>
        <p:spPr>
          <a:xfrm rot="0">
            <a:off x="4439507" y="1345311"/>
            <a:ext cx="3313081" cy="1899761"/>
          </a:xfrm>
          <a:prstGeom prst="roundRect">
            <a:avLst>
              <a:gd fmla="val 0" name="adj"/>
            </a:avLst>
          </a:prstGeom>
          <a:solidFill>
            <a:schemeClr val="lt2">
              <a:alpha val="100000"/>
            </a:schemeClr>
          </a:solidFill>
          <a:ln w="1143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7" name="AutoShape 7"/>
          <p:cNvSpPr/>
          <p:nvPr/>
        </p:nvSpPr>
        <p:spPr>
          <a:xfrm rot="0">
            <a:off x="914400" y="1345311"/>
            <a:ext cx="3313081" cy="1899761"/>
          </a:xfrm>
          <a:prstGeom prst="roundRect">
            <a:avLst>
              <a:gd fmla="val 0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8" name="AutoShape 8"/>
          <p:cNvSpPr/>
          <p:nvPr/>
        </p:nvSpPr>
        <p:spPr>
          <a:xfrm rot="0">
            <a:off x="369165" y="5777687"/>
            <a:ext cx="11459846" cy="705447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9" name="TextBox 9"/>
          <p:cNvSpPr txBox="1"/>
          <p:nvPr/>
        </p:nvSpPr>
        <p:spPr>
          <a:xfrm flipH="1" rot="0">
            <a:off x="1213584" y="2238992"/>
            <a:ext cx="2762250" cy="24765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5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取穴方法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0" name="TextBox 10"/>
          <p:cNvSpPr txBox="1"/>
          <p:nvPr/>
        </p:nvSpPr>
        <p:spPr>
          <a:xfrm flipH="1" rot="0">
            <a:off x="1213584" y="2534112"/>
            <a:ext cx="2762250" cy="51435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9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位于两眉中点，前额正中线与鼻尖垂直线交点处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1" name="AutoShape 11"/>
          <p:cNvSpPr/>
          <p:nvPr/>
        </p:nvSpPr>
        <p:spPr>
          <a:xfrm rot="0">
            <a:off x="3210377" y="1438690"/>
            <a:ext cx="976549" cy="861774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none">
            <a:noAutofit/>
          </a:bodyPr>
          <a:lstStyle/>
          <a:p>
            <a:pPr algn="l">
              <a:defRPr/>
            </a:pPr>
            <a:r>
              <a:rPr lang="en-US" sz="5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01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2" name="TextBox 12"/>
          <p:cNvSpPr txBox="1"/>
          <p:nvPr/>
        </p:nvSpPr>
        <p:spPr>
          <a:xfrm flipH="1" rot="0">
            <a:off x="8275865" y="2238992"/>
            <a:ext cx="2762250" cy="24765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5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操作方法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3" name="TextBox 13"/>
          <p:cNvSpPr txBox="1"/>
          <p:nvPr/>
        </p:nvSpPr>
        <p:spPr>
          <a:xfrm flipH="1" rot="0">
            <a:off x="8275865" y="2534112"/>
            <a:ext cx="2762250" cy="51435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9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拇指指腹顺时针按揉3-5分钟，力度以酸胀为度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4" name="AutoShape 14"/>
          <p:cNvSpPr/>
          <p:nvPr/>
        </p:nvSpPr>
        <p:spPr>
          <a:xfrm rot="0">
            <a:off x="10106403" y="1438690"/>
            <a:ext cx="1053494" cy="861774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none">
            <a:noAutofit/>
          </a:bodyPr>
          <a:lstStyle/>
          <a:p>
            <a:pPr algn="l">
              <a:defRPr/>
            </a:pPr>
            <a:r>
              <a:rPr lang="en-US" sz="5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03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5" name="TextBox 15"/>
          <p:cNvSpPr txBox="1"/>
          <p:nvPr/>
        </p:nvSpPr>
        <p:spPr>
          <a:xfrm flipH="1" rot="0">
            <a:off x="4754453" y="2238992"/>
            <a:ext cx="2762250" cy="24765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5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主治功能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6" name="TextBox 16"/>
          <p:cNvSpPr txBox="1"/>
          <p:nvPr/>
        </p:nvSpPr>
        <p:spPr>
          <a:xfrm flipH="1" rot="0">
            <a:off x="4754453" y="2534112"/>
            <a:ext cx="2762250" cy="5429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9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安神定志、缓解头痛眩晕、改善失眠焦虑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7" name="AutoShape 17"/>
          <p:cNvSpPr/>
          <p:nvPr/>
        </p:nvSpPr>
        <p:spPr>
          <a:xfrm rot="0">
            <a:off x="6584991" y="1438690"/>
            <a:ext cx="1053494" cy="861774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none">
            <a:noAutofit/>
          </a:bodyPr>
          <a:lstStyle/>
          <a:p>
            <a:pPr algn="l">
              <a:defRPr/>
            </a:pPr>
            <a:r>
              <a:rPr lang="en-US" sz="5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02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8" name="TextBox 18"/>
          <p:cNvSpPr txBox="1"/>
          <p:nvPr/>
        </p:nvSpPr>
        <p:spPr>
          <a:xfrm flipH="1" rot="0">
            <a:off x="1213584" y="4359621"/>
            <a:ext cx="2762250" cy="24765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5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配伍穴位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9" name="TextBox 19"/>
          <p:cNvSpPr txBox="1"/>
          <p:nvPr/>
        </p:nvSpPr>
        <p:spPr>
          <a:xfrm flipH="1" rot="0">
            <a:off x="1213584" y="4654741"/>
            <a:ext cx="2762250" cy="51435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9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配太阳穴治头痛，配百会穴治失眠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0" name="AutoShape 20"/>
          <p:cNvSpPr/>
          <p:nvPr/>
        </p:nvSpPr>
        <p:spPr>
          <a:xfrm rot="0">
            <a:off x="3044122" y="3559319"/>
            <a:ext cx="1053494" cy="861774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none">
            <a:noAutofit/>
          </a:bodyPr>
          <a:lstStyle/>
          <a:p>
            <a:pPr algn="l">
              <a:defRPr/>
            </a:pPr>
            <a:r>
              <a:rPr lang="en-US" sz="5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04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1" name="AutoShape 21"/>
          <p:cNvSpPr/>
          <p:nvPr/>
        </p:nvSpPr>
        <p:spPr>
          <a:xfrm flipH="1" rot="0">
            <a:off x="7988536" y="3468598"/>
            <a:ext cx="3297830" cy="1877922"/>
          </a:xfrm>
          <a:prstGeom prst="roundRect">
            <a:avLst>
              <a:gd fmla="val 0" name="adj"/>
            </a:avLst>
          </a:prstGeom>
          <a:solidFill>
            <a:schemeClr val="lt2">
              <a:alpha val="100000"/>
            </a:schemeClr>
          </a:solidFill>
          <a:ln w="1143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2" name="TextBox 22"/>
          <p:cNvSpPr txBox="1"/>
          <p:nvPr/>
        </p:nvSpPr>
        <p:spPr>
          <a:xfrm flipH="1" rot="0">
            <a:off x="8275864" y="4359621"/>
            <a:ext cx="2762251" cy="24765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5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现代研究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3" name="TextBox 23"/>
          <p:cNvSpPr txBox="1"/>
          <p:nvPr/>
        </p:nvSpPr>
        <p:spPr>
          <a:xfrm flipH="1" rot="0">
            <a:off x="8275865" y="4654741"/>
            <a:ext cx="2762250" cy="68580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9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刺激该穴可调节前额叶皮层功能，改善自主神经紊乱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4" name="AutoShape 24"/>
          <p:cNvSpPr/>
          <p:nvPr/>
        </p:nvSpPr>
        <p:spPr>
          <a:xfrm rot="0">
            <a:off x="10106403" y="3559319"/>
            <a:ext cx="1053494" cy="861774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none">
            <a:noAutofit/>
          </a:bodyPr>
          <a:lstStyle/>
          <a:p>
            <a:pPr algn="l">
              <a:defRPr/>
            </a:pPr>
            <a:r>
              <a:rPr lang="en-US" sz="5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06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5" name="TextBox 25"/>
          <p:cNvSpPr txBox="1"/>
          <p:nvPr/>
        </p:nvSpPr>
        <p:spPr>
          <a:xfrm flipH="1" rot="0">
            <a:off x="4754453" y="4359621"/>
            <a:ext cx="2762250" cy="24765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5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注意事项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6" name="TextBox 26"/>
          <p:cNvSpPr txBox="1"/>
          <p:nvPr/>
        </p:nvSpPr>
        <p:spPr>
          <a:xfrm flipH="1" rot="0">
            <a:off x="4754453" y="4654741"/>
            <a:ext cx="2762250" cy="51435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9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皮肤破损禁用，孕妇慎用，按压后饮温水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7" name="AutoShape 27"/>
          <p:cNvSpPr/>
          <p:nvPr/>
        </p:nvSpPr>
        <p:spPr>
          <a:xfrm rot="0">
            <a:off x="6584991" y="3559319"/>
            <a:ext cx="1053494" cy="861774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none">
            <a:noAutofit/>
          </a:bodyPr>
          <a:lstStyle/>
          <a:p>
            <a:pPr algn="l">
              <a:defRPr/>
            </a:pPr>
            <a:r>
              <a:rPr lang="en-US" sz="5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05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8" name="TextBox 28"/>
          <p:cNvSpPr txBox="1"/>
          <p:nvPr/>
        </p:nvSpPr>
        <p:spPr>
          <a:xfrm rot="0">
            <a:off x="3118263" y="5965973"/>
            <a:ext cx="5897880" cy="405765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印堂穴是头部重要保健穴位，具有显著安神醒脑功效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9" name="Freeform 29"/>
          <p:cNvSpPr/>
          <p:nvPr/>
        </p:nvSpPr>
        <p:spPr>
          <a:xfrm rot="0">
            <a:off x="4852080" y="1678568"/>
            <a:ext cx="269476" cy="269476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274320" y="243840"/>
                </a:moveTo>
                <a:lnTo>
                  <a:pt x="304800" y="243840"/>
                </a:lnTo>
                <a:lnTo>
                  <a:pt x="304800" y="259080"/>
                </a:lnTo>
                <a:cubicBezTo>
                  <a:pt x="304800" y="267500"/>
                  <a:pt x="297980" y="274320"/>
                  <a:pt x="289560" y="274320"/>
                </a:cubicBezTo>
                <a:lnTo>
                  <a:pt x="289560" y="274320"/>
                </a:lnTo>
                <a:lnTo>
                  <a:pt x="15240" y="274320"/>
                </a:lnTo>
                <a:cubicBezTo>
                  <a:pt x="6820" y="274320"/>
                  <a:pt x="0" y="267500"/>
                  <a:pt x="0" y="259080"/>
                </a:cubicBezTo>
                <a:lnTo>
                  <a:pt x="0" y="259080"/>
                </a:lnTo>
                <a:lnTo>
                  <a:pt x="0" y="243840"/>
                </a:lnTo>
                <a:lnTo>
                  <a:pt x="30480" y="243840"/>
                </a:lnTo>
                <a:lnTo>
                  <a:pt x="30480" y="60960"/>
                </a:lnTo>
                <a:cubicBezTo>
                  <a:pt x="30480" y="44196"/>
                  <a:pt x="44196" y="30480"/>
                  <a:pt x="60960" y="30480"/>
                </a:cubicBezTo>
                <a:lnTo>
                  <a:pt x="243840" y="30480"/>
                </a:lnTo>
                <a:cubicBezTo>
                  <a:pt x="260671" y="30480"/>
                  <a:pt x="274320" y="44129"/>
                  <a:pt x="274320" y="60960"/>
                </a:cubicBezTo>
                <a:lnTo>
                  <a:pt x="274320" y="60960"/>
                </a:lnTo>
                <a:lnTo>
                  <a:pt x="274320" y="243840"/>
                </a:lnTo>
                <a:close/>
                <a:moveTo>
                  <a:pt x="60960" y="60960"/>
                </a:moveTo>
                <a:lnTo>
                  <a:pt x="60960" y="198120"/>
                </a:lnTo>
                <a:lnTo>
                  <a:pt x="243840" y="198120"/>
                </a:lnTo>
                <a:lnTo>
                  <a:pt x="243840" y="60960"/>
                </a:lnTo>
                <a:lnTo>
                  <a:pt x="60960" y="60960"/>
                </a:lnTo>
                <a:close/>
                <a:moveTo>
                  <a:pt x="121920" y="228600"/>
                </a:moveTo>
                <a:lnTo>
                  <a:pt x="121920" y="243840"/>
                </a:lnTo>
                <a:lnTo>
                  <a:pt x="182880" y="243840"/>
                </a:lnTo>
                <a:lnTo>
                  <a:pt x="182880" y="228600"/>
                </a:lnTo>
                <a:lnTo>
                  <a:pt x="121920" y="2286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0" name="AutoShape 30"/>
          <p:cNvSpPr/>
          <p:nvPr/>
        </p:nvSpPr>
        <p:spPr>
          <a:xfrm rot="0">
            <a:off x="914400" y="1268444"/>
            <a:ext cx="3394043" cy="76867"/>
          </a:xfrm>
          <a:prstGeom prst="parallelogram">
            <a:avLst>
              <a:gd fmla="val 98201" name="adj"/>
            </a:avLst>
          </a:prstGeom>
          <a:solidFill>
            <a:schemeClr val="accent3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1" name="AutoShape 31"/>
          <p:cNvSpPr/>
          <p:nvPr/>
        </p:nvSpPr>
        <p:spPr>
          <a:xfrm flipH="1" rot="16200000">
            <a:off x="3207544" y="2218944"/>
            <a:ext cx="2120837" cy="75533"/>
          </a:xfrm>
          <a:prstGeom prst="parallelogram">
            <a:avLst>
              <a:gd fmla="val 98201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2" name="AutoShape 32"/>
          <p:cNvSpPr/>
          <p:nvPr/>
        </p:nvSpPr>
        <p:spPr>
          <a:xfrm rot="0">
            <a:off x="4439507" y="1268444"/>
            <a:ext cx="3313081" cy="93059"/>
          </a:xfrm>
          <a:prstGeom prst="trapezoid">
            <a:avLst>
              <a:gd fmla="val 63361" name="adj"/>
            </a:avLst>
          </a:prstGeom>
          <a:solidFill>
            <a:schemeClr val="accent3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3" name="AutoShape 33"/>
          <p:cNvSpPr/>
          <p:nvPr/>
        </p:nvSpPr>
        <p:spPr>
          <a:xfrm rot="0">
            <a:off x="1208861" y="1540920"/>
            <a:ext cx="571500" cy="57150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4" name="Freeform 34"/>
          <p:cNvSpPr/>
          <p:nvPr/>
        </p:nvSpPr>
        <p:spPr>
          <a:xfrm rot="0">
            <a:off x="1322275" y="1646618"/>
            <a:ext cx="317938" cy="314325"/>
          </a:xfrm>
          <a:custGeom>
            <a:avLst/>
            <a:gdLst/>
            <a:ahLst/>
            <a:cxnLst/>
            <a:rect b="b" l="l" r="r" t="t"/>
            <a:pathLst>
              <a:path h="304800" w="323850">
                <a:moveTo>
                  <a:pt x="265490" y="266700"/>
                </a:moveTo>
                <a:cubicBezTo>
                  <a:pt x="265490" y="266700"/>
                  <a:pt x="318068" y="266757"/>
                  <a:pt x="325450" y="215313"/>
                </a:cubicBezTo>
                <a:cubicBezTo>
                  <a:pt x="328965" y="159058"/>
                  <a:pt x="274625" y="147971"/>
                  <a:pt x="274625" y="147971"/>
                </a:cubicBezTo>
                <a:cubicBezTo>
                  <a:pt x="274625" y="147971"/>
                  <a:pt x="280807" y="64694"/>
                  <a:pt x="204511" y="55197"/>
                </a:cubicBezTo>
                <a:cubicBezTo>
                  <a:pt x="139122" y="48520"/>
                  <a:pt x="119224" y="109290"/>
                  <a:pt x="119224" y="109290"/>
                </a:cubicBezTo>
                <a:cubicBezTo>
                  <a:pt x="119224" y="109290"/>
                  <a:pt x="99527" y="90354"/>
                  <a:pt x="72809" y="105823"/>
                </a:cubicBezTo>
                <a:cubicBezTo>
                  <a:pt x="48892" y="120587"/>
                  <a:pt x="53121" y="147618"/>
                  <a:pt x="53121" y="147618"/>
                </a:cubicBezTo>
                <a:cubicBezTo>
                  <a:pt x="53121" y="147618"/>
                  <a:pt x="0" y="157944"/>
                  <a:pt x="0" y="212084"/>
                </a:cubicBezTo>
                <a:cubicBezTo>
                  <a:pt x="1191" y="266157"/>
                  <a:pt x="57693" y="266700"/>
                  <a:pt x="57693" y="266662"/>
                </a:cubicBez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5" name="AutoShape 35"/>
          <p:cNvSpPr/>
          <p:nvPr/>
        </p:nvSpPr>
        <p:spPr>
          <a:xfrm rot="0">
            <a:off x="4791285" y="1543279"/>
            <a:ext cx="571500" cy="57150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6" name="Freeform 36"/>
          <p:cNvSpPr/>
          <p:nvPr/>
        </p:nvSpPr>
        <p:spPr>
          <a:xfrm rot="0">
            <a:off x="4914224" y="1648977"/>
            <a:ext cx="317938" cy="314325"/>
          </a:xfrm>
          <a:custGeom>
            <a:avLst/>
            <a:gdLst/>
            <a:ahLst/>
            <a:cxnLst/>
            <a:rect b="b" l="l" r="r" t="t"/>
            <a:pathLst>
              <a:path h="304800" w="323850">
                <a:moveTo>
                  <a:pt x="265490" y="266700"/>
                </a:moveTo>
                <a:cubicBezTo>
                  <a:pt x="265490" y="266700"/>
                  <a:pt x="318068" y="266757"/>
                  <a:pt x="325450" y="215313"/>
                </a:cubicBezTo>
                <a:cubicBezTo>
                  <a:pt x="328965" y="159058"/>
                  <a:pt x="274625" y="147971"/>
                  <a:pt x="274625" y="147971"/>
                </a:cubicBezTo>
                <a:cubicBezTo>
                  <a:pt x="274625" y="147971"/>
                  <a:pt x="280807" y="64694"/>
                  <a:pt x="204511" y="55197"/>
                </a:cubicBezTo>
                <a:cubicBezTo>
                  <a:pt x="139122" y="48520"/>
                  <a:pt x="119224" y="109290"/>
                  <a:pt x="119224" y="109290"/>
                </a:cubicBezTo>
                <a:cubicBezTo>
                  <a:pt x="119224" y="109290"/>
                  <a:pt x="99527" y="90354"/>
                  <a:pt x="72809" y="105823"/>
                </a:cubicBezTo>
                <a:cubicBezTo>
                  <a:pt x="48892" y="120587"/>
                  <a:pt x="53121" y="147618"/>
                  <a:pt x="53121" y="147618"/>
                </a:cubicBezTo>
                <a:cubicBezTo>
                  <a:pt x="53121" y="147618"/>
                  <a:pt x="0" y="157944"/>
                  <a:pt x="0" y="212084"/>
                </a:cubicBezTo>
                <a:cubicBezTo>
                  <a:pt x="1191" y="266157"/>
                  <a:pt x="57693" y="266700"/>
                  <a:pt x="57693" y="266662"/>
                </a:cubicBez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7" name="AutoShape 37"/>
          <p:cNvSpPr/>
          <p:nvPr/>
        </p:nvSpPr>
        <p:spPr>
          <a:xfrm flipH="1" rot="0">
            <a:off x="7903684" y="1268444"/>
            <a:ext cx="3394043" cy="76867"/>
          </a:xfrm>
          <a:prstGeom prst="parallelogram">
            <a:avLst>
              <a:gd fmla="val 98201" name="adj"/>
            </a:avLst>
          </a:prstGeom>
          <a:solidFill>
            <a:schemeClr val="accent3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8" name="AutoShape 38"/>
          <p:cNvSpPr/>
          <p:nvPr/>
        </p:nvSpPr>
        <p:spPr>
          <a:xfrm rot="5400000">
            <a:off x="6883747" y="2218944"/>
            <a:ext cx="2120837" cy="75533"/>
          </a:xfrm>
          <a:prstGeom prst="parallelogram">
            <a:avLst>
              <a:gd fmla="val 98201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9" name="AutoShape 39"/>
          <p:cNvSpPr/>
          <p:nvPr/>
        </p:nvSpPr>
        <p:spPr>
          <a:xfrm rot="0">
            <a:off x="4439507" y="3392614"/>
            <a:ext cx="3313081" cy="93059"/>
          </a:xfrm>
          <a:prstGeom prst="trapezoid">
            <a:avLst>
              <a:gd fmla="val 63361" name="adj"/>
            </a:avLst>
          </a:prstGeom>
          <a:solidFill>
            <a:schemeClr val="accent3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0" name="AutoShape 40"/>
          <p:cNvSpPr/>
          <p:nvPr/>
        </p:nvSpPr>
        <p:spPr>
          <a:xfrm rot="0">
            <a:off x="914400" y="3392614"/>
            <a:ext cx="3394043" cy="76867"/>
          </a:xfrm>
          <a:prstGeom prst="parallelogram">
            <a:avLst>
              <a:gd fmla="val 98201" name="adj"/>
            </a:avLst>
          </a:prstGeom>
          <a:solidFill>
            <a:schemeClr val="accent3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1" name="AutoShape 41"/>
          <p:cNvSpPr/>
          <p:nvPr/>
        </p:nvSpPr>
        <p:spPr>
          <a:xfrm flipH="1" rot="16200000">
            <a:off x="3207544" y="4343114"/>
            <a:ext cx="2120837" cy="75533"/>
          </a:xfrm>
          <a:prstGeom prst="parallelogram">
            <a:avLst>
              <a:gd fmla="val 98201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2" name="AutoShape 42"/>
          <p:cNvSpPr/>
          <p:nvPr/>
        </p:nvSpPr>
        <p:spPr>
          <a:xfrm rot="0">
            <a:off x="8279485" y="1502811"/>
            <a:ext cx="571500" cy="57150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3" name="Freeform 43"/>
          <p:cNvSpPr/>
          <p:nvPr/>
        </p:nvSpPr>
        <p:spPr>
          <a:xfrm rot="0">
            <a:off x="8402424" y="1608509"/>
            <a:ext cx="317938" cy="314325"/>
          </a:xfrm>
          <a:custGeom>
            <a:avLst/>
            <a:gdLst/>
            <a:ahLst/>
            <a:cxnLst/>
            <a:rect b="b" l="l" r="r" t="t"/>
            <a:pathLst>
              <a:path h="304800" w="323850">
                <a:moveTo>
                  <a:pt x="265490" y="266700"/>
                </a:moveTo>
                <a:cubicBezTo>
                  <a:pt x="265490" y="266700"/>
                  <a:pt x="318068" y="266757"/>
                  <a:pt x="325450" y="215313"/>
                </a:cubicBezTo>
                <a:cubicBezTo>
                  <a:pt x="328965" y="159058"/>
                  <a:pt x="274625" y="147971"/>
                  <a:pt x="274625" y="147971"/>
                </a:cubicBezTo>
                <a:cubicBezTo>
                  <a:pt x="274625" y="147971"/>
                  <a:pt x="280807" y="64694"/>
                  <a:pt x="204511" y="55197"/>
                </a:cubicBezTo>
                <a:cubicBezTo>
                  <a:pt x="139122" y="48520"/>
                  <a:pt x="119224" y="109290"/>
                  <a:pt x="119224" y="109290"/>
                </a:cubicBezTo>
                <a:cubicBezTo>
                  <a:pt x="119224" y="109290"/>
                  <a:pt x="99527" y="90354"/>
                  <a:pt x="72809" y="105823"/>
                </a:cubicBezTo>
                <a:cubicBezTo>
                  <a:pt x="48892" y="120587"/>
                  <a:pt x="53121" y="147618"/>
                  <a:pt x="53121" y="147618"/>
                </a:cubicBezTo>
                <a:cubicBezTo>
                  <a:pt x="53121" y="147618"/>
                  <a:pt x="0" y="157944"/>
                  <a:pt x="0" y="212084"/>
                </a:cubicBezTo>
                <a:cubicBezTo>
                  <a:pt x="1191" y="266157"/>
                  <a:pt x="57693" y="266700"/>
                  <a:pt x="57693" y="266662"/>
                </a:cubicBez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4" name="AutoShape 44"/>
          <p:cNvSpPr/>
          <p:nvPr/>
        </p:nvSpPr>
        <p:spPr>
          <a:xfrm rot="0">
            <a:off x="8279485" y="3659219"/>
            <a:ext cx="571500" cy="57150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5" name="Freeform 45"/>
          <p:cNvSpPr/>
          <p:nvPr/>
        </p:nvSpPr>
        <p:spPr>
          <a:xfrm rot="0">
            <a:off x="8402424" y="3764917"/>
            <a:ext cx="317938" cy="314325"/>
          </a:xfrm>
          <a:custGeom>
            <a:avLst/>
            <a:gdLst/>
            <a:ahLst/>
            <a:cxnLst/>
            <a:rect b="b" l="l" r="r" t="t"/>
            <a:pathLst>
              <a:path h="304800" w="323850">
                <a:moveTo>
                  <a:pt x="265490" y="266700"/>
                </a:moveTo>
                <a:cubicBezTo>
                  <a:pt x="265490" y="266700"/>
                  <a:pt x="318068" y="266757"/>
                  <a:pt x="325450" y="215313"/>
                </a:cubicBezTo>
                <a:cubicBezTo>
                  <a:pt x="328965" y="159058"/>
                  <a:pt x="274625" y="147971"/>
                  <a:pt x="274625" y="147971"/>
                </a:cubicBezTo>
                <a:cubicBezTo>
                  <a:pt x="274625" y="147971"/>
                  <a:pt x="280807" y="64694"/>
                  <a:pt x="204511" y="55197"/>
                </a:cubicBezTo>
                <a:cubicBezTo>
                  <a:pt x="139122" y="48520"/>
                  <a:pt x="119224" y="109290"/>
                  <a:pt x="119224" y="109290"/>
                </a:cubicBezTo>
                <a:cubicBezTo>
                  <a:pt x="119224" y="109290"/>
                  <a:pt x="99527" y="90354"/>
                  <a:pt x="72809" y="105823"/>
                </a:cubicBezTo>
                <a:cubicBezTo>
                  <a:pt x="48892" y="120587"/>
                  <a:pt x="53121" y="147618"/>
                  <a:pt x="53121" y="147618"/>
                </a:cubicBezTo>
                <a:cubicBezTo>
                  <a:pt x="53121" y="147618"/>
                  <a:pt x="0" y="157944"/>
                  <a:pt x="0" y="212084"/>
                </a:cubicBezTo>
                <a:cubicBezTo>
                  <a:pt x="1191" y="266157"/>
                  <a:pt x="57693" y="266700"/>
                  <a:pt x="57693" y="266662"/>
                </a:cubicBez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6" name="AutoShape 46"/>
          <p:cNvSpPr/>
          <p:nvPr/>
        </p:nvSpPr>
        <p:spPr>
          <a:xfrm rot="0">
            <a:off x="4765897" y="3689379"/>
            <a:ext cx="571500" cy="57150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7" name="Freeform 47"/>
          <p:cNvSpPr/>
          <p:nvPr/>
        </p:nvSpPr>
        <p:spPr>
          <a:xfrm rot="0">
            <a:off x="4888836" y="3795076"/>
            <a:ext cx="317938" cy="314325"/>
          </a:xfrm>
          <a:custGeom>
            <a:avLst/>
            <a:gdLst/>
            <a:ahLst/>
            <a:cxnLst/>
            <a:rect b="b" l="l" r="r" t="t"/>
            <a:pathLst>
              <a:path h="304800" w="323850">
                <a:moveTo>
                  <a:pt x="265490" y="266700"/>
                </a:moveTo>
                <a:cubicBezTo>
                  <a:pt x="265490" y="266700"/>
                  <a:pt x="318068" y="266757"/>
                  <a:pt x="325450" y="215313"/>
                </a:cubicBezTo>
                <a:cubicBezTo>
                  <a:pt x="328965" y="159058"/>
                  <a:pt x="274625" y="147971"/>
                  <a:pt x="274625" y="147971"/>
                </a:cubicBezTo>
                <a:cubicBezTo>
                  <a:pt x="274625" y="147971"/>
                  <a:pt x="280807" y="64694"/>
                  <a:pt x="204511" y="55197"/>
                </a:cubicBezTo>
                <a:cubicBezTo>
                  <a:pt x="139122" y="48520"/>
                  <a:pt x="119224" y="109290"/>
                  <a:pt x="119224" y="109290"/>
                </a:cubicBezTo>
                <a:cubicBezTo>
                  <a:pt x="119224" y="109290"/>
                  <a:pt x="99527" y="90354"/>
                  <a:pt x="72809" y="105823"/>
                </a:cubicBezTo>
                <a:cubicBezTo>
                  <a:pt x="48892" y="120587"/>
                  <a:pt x="53121" y="147618"/>
                  <a:pt x="53121" y="147618"/>
                </a:cubicBezTo>
                <a:cubicBezTo>
                  <a:pt x="53121" y="147618"/>
                  <a:pt x="0" y="157944"/>
                  <a:pt x="0" y="212084"/>
                </a:cubicBezTo>
                <a:cubicBezTo>
                  <a:pt x="1191" y="266157"/>
                  <a:pt x="57693" y="266700"/>
                  <a:pt x="57693" y="266662"/>
                </a:cubicBez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8" name="AutoShape 48"/>
          <p:cNvSpPr/>
          <p:nvPr/>
        </p:nvSpPr>
        <p:spPr>
          <a:xfrm rot="0">
            <a:off x="1207069" y="3681839"/>
            <a:ext cx="571500" cy="57150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9" name="Freeform 49"/>
          <p:cNvSpPr/>
          <p:nvPr/>
        </p:nvSpPr>
        <p:spPr>
          <a:xfrm rot="0">
            <a:off x="1330008" y="3787537"/>
            <a:ext cx="317938" cy="314325"/>
          </a:xfrm>
          <a:custGeom>
            <a:avLst/>
            <a:gdLst/>
            <a:ahLst/>
            <a:cxnLst/>
            <a:rect b="b" l="l" r="r" t="t"/>
            <a:pathLst>
              <a:path h="304800" w="323850">
                <a:moveTo>
                  <a:pt x="265490" y="266700"/>
                </a:moveTo>
                <a:cubicBezTo>
                  <a:pt x="265490" y="266700"/>
                  <a:pt x="318068" y="266757"/>
                  <a:pt x="325450" y="215313"/>
                </a:cubicBezTo>
                <a:cubicBezTo>
                  <a:pt x="328965" y="159058"/>
                  <a:pt x="274625" y="147971"/>
                  <a:pt x="274625" y="147971"/>
                </a:cubicBezTo>
                <a:cubicBezTo>
                  <a:pt x="274625" y="147971"/>
                  <a:pt x="280807" y="64694"/>
                  <a:pt x="204511" y="55197"/>
                </a:cubicBezTo>
                <a:cubicBezTo>
                  <a:pt x="139122" y="48520"/>
                  <a:pt x="119224" y="109290"/>
                  <a:pt x="119224" y="109290"/>
                </a:cubicBezTo>
                <a:cubicBezTo>
                  <a:pt x="119224" y="109290"/>
                  <a:pt x="99527" y="90354"/>
                  <a:pt x="72809" y="105823"/>
                </a:cubicBezTo>
                <a:cubicBezTo>
                  <a:pt x="48892" y="120587"/>
                  <a:pt x="53121" y="147618"/>
                  <a:pt x="53121" y="147618"/>
                </a:cubicBezTo>
                <a:cubicBezTo>
                  <a:pt x="53121" y="147618"/>
                  <a:pt x="0" y="157944"/>
                  <a:pt x="0" y="212084"/>
                </a:cubicBezTo>
                <a:cubicBezTo>
                  <a:pt x="1191" y="266157"/>
                  <a:pt x="57693" y="266700"/>
                  <a:pt x="57693" y="266662"/>
                </a:cubicBez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50" name="TextBox 50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印堂穴（安神定志）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eyJfdGVtcGxhdGVEYXRhIjp7ImNvbnRlbnRUeXBlIjoiJHRpdGxlIiwibGluZUNvdW50IjoiMSIsIndvcmRDb3VudCI6IjI4In0sInRhZyI6Im5vRWRpdCJ9</bd:templateData>
          </p:ext>
        </p:extLst>
      </p:sp>
      <p:sp>
        <p:nvSpPr>
          <p:cNvPr id="51" name="AutoShape 51"/>
          <p:cNvSpPr/>
          <p:nvPr/>
        </p:nvSpPr>
        <p:spPr>
          <a:xfrm flipH="1" rot="0">
            <a:off x="7907946" y="3392614"/>
            <a:ext cx="3378420" cy="75983"/>
          </a:xfrm>
          <a:prstGeom prst="parallelogram">
            <a:avLst>
              <a:gd fmla="val 98201" name="adj"/>
            </a:avLst>
          </a:prstGeom>
          <a:solidFill>
            <a:schemeClr val="accent3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52" name="AutoShape 52"/>
          <p:cNvSpPr/>
          <p:nvPr/>
        </p:nvSpPr>
        <p:spPr>
          <a:xfrm rot="5400000">
            <a:off x="6892704" y="4332188"/>
            <a:ext cx="2111074" cy="74665"/>
          </a:xfrm>
          <a:prstGeom prst="parallelogram">
            <a:avLst>
              <a:gd fmla="val 98201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eyJtZCI6IiMjIOWktOmDqOS/neWBpeiFp+eptFxuIyMjIOWNsOWggueptO+8iOWuieelnuWumuW/l++8iSIsInRwbGlkIjoiODYiLCJ0cGxOYW1lIjoidGl0bGVHcmFwaF9wcm85NCIsImVkaXRlZCI6ImZhbHNlIn0=</bd:templateData>
    </p:ext>
  </p:extLs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3829056" y="2526030"/>
            <a:ext cx="7644490" cy="1805940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rmAutofit/>
          </a:bodyPr>
          <a:lstStyle/>
          <a:p>
            <a:pPr>
              <a:lnSpc>
                <a:spcPct val="120000"/>
              </a:lnSpc>
              <a:spcBef>
                <a:spcPts val="375"/>
              </a:spcBef>
            </a:pPr>
            <a:r>
              <a:rPr b="1" lang="en-US" sz="45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耳部保健腧穴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eyJfdGVtcGxhdGVEYXRhIjp7ImNvbnRlbnRUeXBlIjoiJHRpdGxlIiwibGluZUNvdW50IjoiMiIsIndvcmRDb3VudCI6IjEyIn0sInRhZyI6IiR0aXRsZSJ9</bd:templateData>
          </p:ext>
        </p:extLst>
      </p:sp>
      <p:sp>
        <p:nvSpPr>
          <p:cNvPr id="3" name="TextBox 3"/>
          <p:cNvSpPr txBox="1"/>
          <p:nvPr/>
        </p:nvSpPr>
        <p:spPr>
          <a:xfrm rot="0">
            <a:off x="3766844" y="1072555"/>
            <a:ext cx="3112760" cy="1138956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>
              <a:lnSpc>
                <a:spcPct val="80000"/>
              </a:lnSpc>
            </a:pPr>
            <a:r>
              <a:rPr b="1" lang="en-US" sz="8400">
                <a:solidFill>
                  <a:schemeClr val="accent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eyJfdGVtcGxhdGVEYXRhIjp7ImNvbnRlbnRUeXBlIjoiJG51bWJlciIsImxpbmVDb3VudCI6IjEiLCJ3b3JkQ291bnQiOiIyIn0sInRhZyI6Im5vRWRpdCJ9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eyJtZCI6IiMjIOiAs+mDqOS/neWBpeiFp+eptCIsInRwbGlkIjoiODYiLCJ0cGxOYW1lIjoiaDJ0aXRsZV84NnNpbXBsZWJsdWUiLCJlZGl0ZWQiOiJmYWxzZSJ9</bd:templateData>
    </p:ext>
  </p:extLs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0">
            <a:off x="6413211" y="1978049"/>
            <a:ext cx="3999171" cy="3999175"/>
          </a:xfrm>
          <a:custGeom>
            <a:avLst/>
            <a:gdLst/>
            <a:ahLst/>
            <a:cxnLst/>
            <a:rect b="b" l="l" r="r" t="t"/>
            <a:pathLst>
              <a:path h="1116283" w="1116283">
                <a:moveTo>
                  <a:pt x="0" y="558142"/>
                </a:moveTo>
                <a:cubicBezTo>
                  <a:pt x="0" y="249889"/>
                  <a:pt x="249889" y="0"/>
                  <a:pt x="558142" y="0"/>
                </a:cubicBezTo>
                <a:cubicBezTo>
                  <a:pt x="866395" y="0"/>
                  <a:pt x="1116284" y="249889"/>
                  <a:pt x="1116284" y="558142"/>
                </a:cubicBezTo>
                <a:cubicBezTo>
                  <a:pt x="1116284" y="866395"/>
                  <a:pt x="866395" y="1116284"/>
                  <a:pt x="558142" y="1116284"/>
                </a:cubicBezTo>
                <a:cubicBezTo>
                  <a:pt x="249889" y="1116284"/>
                  <a:pt x="0" y="866395"/>
                  <a:pt x="0" y="558142"/>
                </a:cubicBezTo>
              </a:path>
            </a:pathLst>
          </a:custGeom>
          <a:noFill/>
          <a:ln w="15875">
            <a:solidFill>
              <a:schemeClr val="accent2">
                <a:alpha val="100000"/>
              </a:schemeClr>
            </a:solidFill>
            <a:prstDash val="dash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" name="Freeform 3"/>
          <p:cNvSpPr/>
          <p:nvPr/>
        </p:nvSpPr>
        <p:spPr>
          <a:xfrm rot="0">
            <a:off x="7430769" y="1344308"/>
            <a:ext cx="2010407" cy="2010409"/>
          </a:xfrm>
          <a:custGeom>
            <a:avLst/>
            <a:gdLst/>
            <a:ahLst/>
            <a:cxnLst/>
            <a:rect b="b" l="l" r="r" t="t"/>
            <a:pathLst>
              <a:path h="1116283" w="1116283">
                <a:moveTo>
                  <a:pt x="0" y="558142"/>
                </a:moveTo>
                <a:cubicBezTo>
                  <a:pt x="0" y="249889"/>
                  <a:pt x="249889" y="0"/>
                  <a:pt x="558142" y="0"/>
                </a:cubicBezTo>
                <a:cubicBezTo>
                  <a:pt x="866395" y="0"/>
                  <a:pt x="1116284" y="249889"/>
                  <a:pt x="1116284" y="558142"/>
                </a:cubicBezTo>
                <a:cubicBezTo>
                  <a:pt x="1116284" y="866395"/>
                  <a:pt x="866395" y="1116284"/>
                  <a:pt x="558142" y="1116284"/>
                </a:cubicBezTo>
                <a:cubicBezTo>
                  <a:pt x="249889" y="1116284"/>
                  <a:pt x="0" y="866395"/>
                  <a:pt x="0" y="558142"/>
                </a:cubicBezTo>
              </a:path>
            </a:pathLst>
          </a:custGeom>
          <a:solidFill>
            <a:schemeClr val="accen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" name="Freeform 4"/>
          <p:cNvSpPr/>
          <p:nvPr/>
        </p:nvSpPr>
        <p:spPr>
          <a:xfrm rot="0">
            <a:off x="9043103" y="3868212"/>
            <a:ext cx="2010407" cy="2010409"/>
          </a:xfrm>
          <a:custGeom>
            <a:avLst/>
            <a:gdLst/>
            <a:ahLst/>
            <a:cxnLst/>
            <a:rect b="b" l="l" r="r" t="t"/>
            <a:pathLst>
              <a:path h="1116283" w="1116283">
                <a:moveTo>
                  <a:pt x="0" y="558142"/>
                </a:moveTo>
                <a:cubicBezTo>
                  <a:pt x="0" y="249889"/>
                  <a:pt x="249889" y="0"/>
                  <a:pt x="558142" y="0"/>
                </a:cubicBezTo>
                <a:cubicBezTo>
                  <a:pt x="866395" y="0"/>
                  <a:pt x="1116284" y="249889"/>
                  <a:pt x="1116284" y="558142"/>
                </a:cubicBezTo>
                <a:cubicBezTo>
                  <a:pt x="1116284" y="866395"/>
                  <a:pt x="866395" y="1116284"/>
                  <a:pt x="558142" y="1116284"/>
                </a:cubicBezTo>
                <a:cubicBezTo>
                  <a:pt x="249889" y="1116284"/>
                  <a:pt x="0" y="866395"/>
                  <a:pt x="0" y="558142"/>
                </a:cubicBezTo>
              </a:path>
            </a:pathLst>
          </a:custGeom>
          <a:solidFill>
            <a:schemeClr val="accen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5" name="Freeform 5"/>
          <p:cNvSpPr/>
          <p:nvPr/>
        </p:nvSpPr>
        <p:spPr>
          <a:xfrm rot="0">
            <a:off x="5831373" y="3868212"/>
            <a:ext cx="2010407" cy="2010409"/>
          </a:xfrm>
          <a:custGeom>
            <a:avLst/>
            <a:gdLst/>
            <a:ahLst/>
            <a:cxnLst/>
            <a:rect b="b" l="l" r="r" t="t"/>
            <a:pathLst>
              <a:path h="1116283" w="1116283">
                <a:moveTo>
                  <a:pt x="0" y="558142"/>
                </a:moveTo>
                <a:cubicBezTo>
                  <a:pt x="0" y="249889"/>
                  <a:pt x="249889" y="0"/>
                  <a:pt x="558142" y="0"/>
                </a:cubicBezTo>
                <a:cubicBezTo>
                  <a:pt x="866395" y="0"/>
                  <a:pt x="1116284" y="249889"/>
                  <a:pt x="1116284" y="558142"/>
                </a:cubicBezTo>
                <a:cubicBezTo>
                  <a:pt x="1116284" y="866395"/>
                  <a:pt x="866395" y="1116284"/>
                  <a:pt x="558142" y="1116284"/>
                </a:cubicBezTo>
                <a:cubicBezTo>
                  <a:pt x="249889" y="1116284"/>
                  <a:pt x="0" y="866395"/>
                  <a:pt x="0" y="558142"/>
                </a:cubicBezTo>
              </a:path>
            </a:pathLst>
          </a:custGeom>
          <a:solidFill>
            <a:schemeClr val="accen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6" name="TextBox 6"/>
          <p:cNvSpPr txBox="1"/>
          <p:nvPr/>
        </p:nvSpPr>
        <p:spPr>
          <a:xfrm rot="0">
            <a:off x="7965981" y="2420978"/>
            <a:ext cx="954107" cy="40011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F2F5F6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定位准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7" name="TextBox 7"/>
          <p:cNvSpPr txBox="1"/>
          <p:nvPr/>
        </p:nvSpPr>
        <p:spPr>
          <a:xfrm rot="0">
            <a:off x="6359523" y="4994984"/>
            <a:ext cx="954107" cy="40011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solidFill>
                  <a:srgbClr val="F2F5F6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功效全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8" name="TextBox 8"/>
          <p:cNvSpPr txBox="1"/>
          <p:nvPr/>
        </p:nvSpPr>
        <p:spPr>
          <a:xfrm rot="0">
            <a:off x="9623451" y="4994984"/>
            <a:ext cx="954405" cy="41529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操作易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0">
            <a:off x="6578980" y="4479791"/>
            <a:ext cx="515193" cy="515193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id="10" name="AutoShape 10"/>
          <p:cNvSpPr/>
          <p:nvPr/>
        </p:nvSpPr>
        <p:spPr>
          <a:xfrm rot="0">
            <a:off x="6624449" y="2209156"/>
            <a:ext cx="3535816" cy="3535816"/>
          </a:xfrm>
          <a:prstGeom prst="arc">
            <a:avLst>
              <a:gd fmla="val 18840768" name="adj1"/>
              <a:gd fmla="val 20807216" name="adj2"/>
            </a:avLst>
          </a:prstGeom>
          <a:noFill/>
          <a:ln w="28575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1" name="AutoShape 11"/>
          <p:cNvSpPr/>
          <p:nvPr/>
        </p:nvSpPr>
        <p:spPr>
          <a:xfrm rot="0">
            <a:off x="6644889" y="2209728"/>
            <a:ext cx="3535816" cy="3535816"/>
          </a:xfrm>
          <a:prstGeom prst="arc">
            <a:avLst>
              <a:gd fmla="val 3996370" name="adj1"/>
              <a:gd fmla="val 6625973" name="adj2"/>
            </a:avLst>
          </a:prstGeom>
          <a:noFill/>
          <a:ln w="28575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anchor="t" anchorCtr="0" bIns="45720" lIns="91440" rIns="91440" rtlCol="0" tIns="45720" vert="horz" wrap="square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2" name="AutoShape 12"/>
          <p:cNvSpPr/>
          <p:nvPr/>
        </p:nvSpPr>
        <p:spPr>
          <a:xfrm rot="0">
            <a:off x="6668065" y="2293297"/>
            <a:ext cx="3535816" cy="3535816"/>
          </a:xfrm>
          <a:prstGeom prst="arc">
            <a:avLst>
              <a:gd fmla="val 11560467" name="adj1"/>
              <a:gd fmla="val 13937848" name="adj2"/>
            </a:avLst>
          </a:prstGeom>
          <a:noFill/>
          <a:ln w="28575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anchor="t" anchorCtr="0" bIns="45720" lIns="91440" rIns="91440" rtlCol="0" tIns="45720" vert="horz" wrap="square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3" name="TextBox 13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耳廓反射区（全身调理）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eyJfdGVtcGxhdGVEYXRhIjp7ImNvbnRlbnRUeXBlIjoiJHRpdGxlIiwibGluZUNvdW50IjoiMSIsIndvcmRDb3VudCI6IjI4In0sInRhZyI6Im5vRWRpdCJ9</bd:templateData>
          </p:ext>
        </p:extLst>
      </p:sp>
      <p:sp>
        <p:nvSpPr>
          <p:cNvPr id="14" name="Freeform 14"/>
          <p:cNvSpPr/>
          <p:nvPr/>
        </p:nvSpPr>
        <p:spPr>
          <a:xfrm rot="0">
            <a:off x="9927656" y="4479791"/>
            <a:ext cx="495300" cy="495300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133350" y="0"/>
                </a:moveTo>
                <a:lnTo>
                  <a:pt x="0" y="0"/>
                </a:lnTo>
                <a:lnTo>
                  <a:pt x="0" y="304800"/>
                </a:lnTo>
                <a:lnTo>
                  <a:pt x="228600" y="304800"/>
                </a:lnTo>
                <a:lnTo>
                  <a:pt x="228600" y="95231"/>
                </a:lnTo>
                <a:lnTo>
                  <a:pt x="133350" y="0"/>
                </a:lnTo>
                <a:close/>
                <a:moveTo>
                  <a:pt x="113519" y="114300"/>
                </a:moveTo>
                <a:lnTo>
                  <a:pt x="113519" y="38100"/>
                </a:lnTo>
                <a:lnTo>
                  <a:pt x="189719" y="114300"/>
                </a:lnTo>
                <a:lnTo>
                  <a:pt x="113519" y="1143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5" name="Freeform 15"/>
          <p:cNvSpPr/>
          <p:nvPr/>
        </p:nvSpPr>
        <p:spPr>
          <a:xfrm rot="0">
            <a:off x="8188322" y="1854213"/>
            <a:ext cx="495300" cy="495300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261518" y="97841"/>
                </a:moveTo>
                <a:cubicBezTo>
                  <a:pt x="249460" y="74143"/>
                  <a:pt x="230657" y="55340"/>
                  <a:pt x="207655" y="43605"/>
                </a:cubicBezTo>
                <a:lnTo>
                  <a:pt x="206959" y="43282"/>
                </a:lnTo>
                <a:lnTo>
                  <a:pt x="186538" y="84277"/>
                </a:lnTo>
                <a:cubicBezTo>
                  <a:pt x="201292" y="91802"/>
                  <a:pt x="212998" y="103508"/>
                  <a:pt x="220323" y="117834"/>
                </a:cubicBezTo>
                <a:lnTo>
                  <a:pt x="220523" y="118262"/>
                </a:lnTo>
                <a:lnTo>
                  <a:pt x="261518" y="97841"/>
                </a:lnTo>
                <a:close/>
                <a:moveTo>
                  <a:pt x="261518" y="206959"/>
                </a:moveTo>
                <a:lnTo>
                  <a:pt x="220523" y="186538"/>
                </a:lnTo>
                <a:cubicBezTo>
                  <a:pt x="212998" y="201292"/>
                  <a:pt x="201292" y="212998"/>
                  <a:pt x="186966" y="220323"/>
                </a:cubicBezTo>
                <a:lnTo>
                  <a:pt x="186538" y="220523"/>
                </a:lnTo>
                <a:lnTo>
                  <a:pt x="206959" y="261518"/>
                </a:lnTo>
                <a:cubicBezTo>
                  <a:pt x="230657" y="249460"/>
                  <a:pt x="249460" y="230657"/>
                  <a:pt x="261195" y="207655"/>
                </a:cubicBezTo>
                <a:lnTo>
                  <a:pt x="261518" y="206959"/>
                </a:lnTo>
                <a:close/>
                <a:moveTo>
                  <a:pt x="97841" y="43282"/>
                </a:moveTo>
                <a:cubicBezTo>
                  <a:pt x="74143" y="55340"/>
                  <a:pt x="55340" y="74143"/>
                  <a:pt x="43605" y="97145"/>
                </a:cubicBezTo>
                <a:lnTo>
                  <a:pt x="43282" y="97841"/>
                </a:lnTo>
                <a:lnTo>
                  <a:pt x="84277" y="118262"/>
                </a:lnTo>
                <a:cubicBezTo>
                  <a:pt x="91802" y="103508"/>
                  <a:pt x="103508" y="91802"/>
                  <a:pt x="117834" y="84477"/>
                </a:cubicBezTo>
                <a:lnTo>
                  <a:pt x="118262" y="84277"/>
                </a:lnTo>
                <a:lnTo>
                  <a:pt x="97841" y="43282"/>
                </a:lnTo>
                <a:close/>
                <a:moveTo>
                  <a:pt x="43282" y="206959"/>
                </a:moveTo>
                <a:cubicBezTo>
                  <a:pt x="55340" y="230657"/>
                  <a:pt x="74143" y="249460"/>
                  <a:pt x="97145" y="261195"/>
                </a:cubicBezTo>
                <a:lnTo>
                  <a:pt x="97841" y="261518"/>
                </a:lnTo>
                <a:lnTo>
                  <a:pt x="118262" y="220523"/>
                </a:lnTo>
                <a:cubicBezTo>
                  <a:pt x="103508" y="212998"/>
                  <a:pt x="91802" y="201292"/>
                  <a:pt x="84477" y="186966"/>
                </a:cubicBezTo>
                <a:lnTo>
                  <a:pt x="84277" y="186538"/>
                </a:lnTo>
                <a:lnTo>
                  <a:pt x="43282" y="206959"/>
                </a:lnTo>
                <a:close/>
                <a:moveTo>
                  <a:pt x="152400" y="304800"/>
                </a:moveTo>
                <a:cubicBezTo>
                  <a:pt x="68228" y="304800"/>
                  <a:pt x="0" y="236572"/>
                  <a:pt x="0" y="152400"/>
                </a:cubicBezTo>
                <a:cubicBezTo>
                  <a:pt x="0" y="68228"/>
                  <a:pt x="68228" y="0"/>
                  <a:pt x="152400" y="0"/>
                </a:cubicBezTo>
                <a:lnTo>
                  <a:pt x="152400" y="0"/>
                </a:lnTo>
                <a:cubicBezTo>
                  <a:pt x="236572" y="0"/>
                  <a:pt x="304800" y="68228"/>
                  <a:pt x="304800" y="152400"/>
                </a:cubicBezTo>
                <a:cubicBezTo>
                  <a:pt x="304800" y="236572"/>
                  <a:pt x="236572" y="304800"/>
                  <a:pt x="152400" y="304800"/>
                </a:cubicBezTo>
                <a:lnTo>
                  <a:pt x="152400" y="304800"/>
                </a:lnTo>
                <a:close/>
                <a:moveTo>
                  <a:pt x="152400" y="198120"/>
                </a:moveTo>
                <a:cubicBezTo>
                  <a:pt x="177651" y="198120"/>
                  <a:pt x="198120" y="177651"/>
                  <a:pt x="198120" y="152400"/>
                </a:cubicBezTo>
                <a:cubicBezTo>
                  <a:pt x="198120" y="127149"/>
                  <a:pt x="177651" y="106680"/>
                  <a:pt x="152400" y="106680"/>
                </a:cubicBezTo>
                <a:lnTo>
                  <a:pt x="152400" y="106680"/>
                </a:lnTo>
                <a:cubicBezTo>
                  <a:pt x="127149" y="106680"/>
                  <a:pt x="106680" y="127149"/>
                  <a:pt x="106680" y="152400"/>
                </a:cubicBezTo>
                <a:cubicBezTo>
                  <a:pt x="106680" y="177651"/>
                  <a:pt x="127149" y="198120"/>
                  <a:pt x="152400" y="198120"/>
                </a:cubicBezTo>
                <a:lnTo>
                  <a:pt x="152400" y="19812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cxnSp>
        <p:nvCxnSpPr>
          <p:cNvPr id="16" name="Connector 16"/>
          <p:cNvCxnSpPr/>
          <p:nvPr/>
        </p:nvCxnSpPr>
        <p:spPr>
          <a:xfrm flipH="1">
            <a:off x="1267386" y="2002593"/>
            <a:ext cx="1" cy="2981501"/>
          </a:xfrm>
          <a:prstGeom prst="line">
            <a:avLst/>
          </a:prstGeom>
          <a:ln w="12700">
            <a:solidFill>
              <a:schemeClr val="dk1"/>
            </a:solidFill>
            <a:prstDash val="dash"/>
            <a:headEnd type="none"/>
            <a:tailEnd type="none"/>
          </a:ln>
        </p:spPr>
        <p:style>
          <a:lnRef idx="0">
            <a:schemeClr val="dk1"/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17" name="TextBox 17"/>
          <p:cNvSpPr txBox="1"/>
          <p:nvPr/>
        </p:nvSpPr>
        <p:spPr>
          <a:xfrm rot="0">
            <a:off x="1708499" y="1627518"/>
            <a:ext cx="1954530" cy="39624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non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1" lang="en-US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反射区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8" name="TextBox 18"/>
          <p:cNvSpPr txBox="1"/>
          <p:nvPr/>
        </p:nvSpPr>
        <p:spPr>
          <a:xfrm rot="0">
            <a:off x="1689449" y="2012251"/>
            <a:ext cx="3630930" cy="77724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耳廓分布全身对应反射区，如耳垂对应头面部，耳甲对应内脏器官。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9" name="AutoShape 19"/>
          <p:cNvSpPr/>
          <p:nvPr/>
        </p:nvSpPr>
        <p:spPr>
          <a:xfrm rot="0">
            <a:off x="1003268" y="1551718"/>
            <a:ext cx="524542" cy="52454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0" name="TextBox 20"/>
          <p:cNvSpPr txBox="1"/>
          <p:nvPr/>
        </p:nvSpPr>
        <p:spPr>
          <a:xfrm rot="0">
            <a:off x="1653826" y="3148965"/>
            <a:ext cx="1649730" cy="39624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non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1" lang="en-US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主穴区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1" name="TextBox 21"/>
          <p:cNvSpPr txBox="1"/>
          <p:nvPr/>
        </p:nvSpPr>
        <p:spPr>
          <a:xfrm rot="0">
            <a:off x="1689449" y="3550063"/>
            <a:ext cx="3630930" cy="100584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神门穴镇静安神，皮质下调节大脑功能，交感穴平衡自主神经。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2" name="AutoShape 22"/>
          <p:cNvSpPr/>
          <p:nvPr/>
        </p:nvSpPr>
        <p:spPr>
          <a:xfrm rot="0">
            <a:off x="1003268" y="3089624"/>
            <a:ext cx="524542" cy="524542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3" name="TextBox 23"/>
          <p:cNvSpPr txBox="1"/>
          <p:nvPr/>
        </p:nvSpPr>
        <p:spPr>
          <a:xfrm rot="0">
            <a:off x="1689449" y="4873416"/>
            <a:ext cx="2164080" cy="39624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non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1" lang="en-US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配穴法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4" name="TextBox 24"/>
          <p:cNvSpPr txBox="1"/>
          <p:nvPr/>
        </p:nvSpPr>
        <p:spPr>
          <a:xfrm rot="0">
            <a:off x="1689449" y="5326193"/>
            <a:ext cx="3630930" cy="100584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胃病配脾穴，失眠配心穴，形成协同调理效果。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5" name="AutoShape 25"/>
          <p:cNvSpPr/>
          <p:nvPr/>
        </p:nvSpPr>
        <p:spPr>
          <a:xfrm rot="0">
            <a:off x="1003268" y="4767739"/>
            <a:ext cx="524542" cy="524542"/>
          </a:xfrm>
          <a:prstGeom prst="ellipse">
            <a:avLst/>
          </a:prstGeom>
          <a:solidFill>
            <a:schemeClr val="accent3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6" name="TextBox 26"/>
          <p:cNvSpPr txBox="1"/>
          <p:nvPr/>
        </p:nvSpPr>
        <p:spPr>
          <a:xfrm rot="0">
            <a:off x="971264" y="1633252"/>
            <a:ext cx="592360" cy="369379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7" name="TextBox 27"/>
          <p:cNvSpPr txBox="1"/>
          <p:nvPr/>
        </p:nvSpPr>
        <p:spPr>
          <a:xfrm rot="0">
            <a:off x="971264" y="3171158"/>
            <a:ext cx="592360" cy="369379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8" name="TextBox 28"/>
          <p:cNvSpPr txBox="1"/>
          <p:nvPr/>
        </p:nvSpPr>
        <p:spPr>
          <a:xfrm rot="0">
            <a:off x="971264" y="4861370"/>
            <a:ext cx="592360" cy="369379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eyJtZCI6IiMjIOiAs+mDqOS/neWBpeiFp+eptFxuIyMjIOiAs+W7k+WPjeWwhOWMuu+8iOWFqOi6q+iwg+eQhu+8iSIsInRwbGlkIjoiODYiLCJ0cGxOYW1lIjoidGl0bGVHcmFwaF9wcm8xMjgiLCJlZGl0ZWQiOiJmYWxzZSJ9</bd:templateData>
    </p:ext>
  </p:extLs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0">
            <a:off x="6032113" y="5184323"/>
            <a:ext cx="2429542" cy="1127284"/>
          </a:xfrm>
          <a:custGeom>
            <a:avLst/>
            <a:gdLst/>
            <a:ahLst/>
            <a:cxnLst/>
            <a:rect b="b" l="l" r="r" t="t"/>
            <a:pathLst>
              <a:path h="135" w="292">
                <a:moveTo>
                  <a:pt x="130" y="19"/>
                </a:moveTo>
                <a:cubicBezTo>
                  <a:pt x="75" y="38"/>
                  <a:pt x="31" y="73"/>
                  <a:pt x="0" y="118"/>
                </a:cubicBezTo>
                <a:cubicBezTo>
                  <a:pt x="52" y="134"/>
                  <a:pt x="108" y="135"/>
                  <a:pt x="163" y="116"/>
                </a:cubicBezTo>
                <a:cubicBezTo>
                  <a:pt x="218" y="97"/>
                  <a:pt x="262" y="61"/>
                  <a:pt x="292" y="17"/>
                </a:cubicBezTo>
                <a:cubicBezTo>
                  <a:pt x="241" y="0"/>
                  <a:pt x="184" y="0"/>
                  <a:pt x="130" y="19"/>
                </a:cubicBez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" name="Freeform 3"/>
          <p:cNvSpPr/>
          <p:nvPr/>
        </p:nvSpPr>
        <p:spPr>
          <a:xfrm rot="0">
            <a:off x="6032113" y="4073042"/>
            <a:ext cx="1515142" cy="2095595"/>
          </a:xfrm>
          <a:custGeom>
            <a:avLst/>
            <a:gdLst/>
            <a:ahLst/>
            <a:cxnLst/>
            <a:rect b="b" l="l" r="r" t="t"/>
            <a:pathLst>
              <a:path h="251" w="182">
                <a:moveTo>
                  <a:pt x="49" y="96"/>
                </a:moveTo>
                <a:cubicBezTo>
                  <a:pt x="15" y="143"/>
                  <a:pt x="0" y="197"/>
                  <a:pt x="1" y="251"/>
                </a:cubicBezTo>
                <a:cubicBezTo>
                  <a:pt x="52" y="235"/>
                  <a:pt x="99" y="203"/>
                  <a:pt x="132" y="156"/>
                </a:cubicBezTo>
                <a:cubicBezTo>
                  <a:pt x="166" y="109"/>
                  <a:pt x="182" y="54"/>
                  <a:pt x="181" y="0"/>
                </a:cubicBezTo>
                <a:cubicBezTo>
                  <a:pt x="130" y="16"/>
                  <a:pt x="83" y="49"/>
                  <a:pt x="49" y="96"/>
                </a:cubicBezTo>
              </a:path>
            </a:pathLst>
          </a:custGeom>
          <a:solidFill>
            <a:schemeClr val="accent1">
              <a:alpha val="6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" name="Freeform 4"/>
          <p:cNvSpPr/>
          <p:nvPr/>
        </p:nvSpPr>
        <p:spPr>
          <a:xfrm rot="0">
            <a:off x="3612763" y="5184323"/>
            <a:ext cx="2419350" cy="1127284"/>
          </a:xfrm>
          <a:custGeom>
            <a:avLst/>
            <a:gdLst/>
            <a:ahLst/>
            <a:cxnLst/>
            <a:rect b="b" l="l" r="r" t="t"/>
            <a:pathLst>
              <a:path h="135" w="291">
                <a:moveTo>
                  <a:pt x="162" y="19"/>
                </a:moveTo>
                <a:cubicBezTo>
                  <a:pt x="217" y="38"/>
                  <a:pt x="261" y="73"/>
                  <a:pt x="291" y="118"/>
                </a:cubicBezTo>
                <a:cubicBezTo>
                  <a:pt x="240" y="134"/>
                  <a:pt x="184" y="135"/>
                  <a:pt x="129" y="116"/>
                </a:cubicBezTo>
                <a:cubicBezTo>
                  <a:pt x="74" y="97"/>
                  <a:pt x="30" y="61"/>
                  <a:pt x="0" y="17"/>
                </a:cubicBezTo>
                <a:cubicBezTo>
                  <a:pt x="51" y="0"/>
                  <a:pt x="108" y="0"/>
                  <a:pt x="162" y="19"/>
                </a:cubicBez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5" name="Freeform 5"/>
          <p:cNvSpPr/>
          <p:nvPr/>
        </p:nvSpPr>
        <p:spPr>
          <a:xfrm rot="0">
            <a:off x="4527163" y="4073042"/>
            <a:ext cx="1513713" cy="2095595"/>
          </a:xfrm>
          <a:custGeom>
            <a:avLst/>
            <a:gdLst/>
            <a:ahLst/>
            <a:cxnLst/>
            <a:rect b="b" l="l" r="r" t="t"/>
            <a:pathLst>
              <a:path h="251" w="182">
                <a:moveTo>
                  <a:pt x="133" y="96"/>
                </a:moveTo>
                <a:cubicBezTo>
                  <a:pt x="167" y="143"/>
                  <a:pt x="182" y="197"/>
                  <a:pt x="181" y="251"/>
                </a:cubicBezTo>
                <a:cubicBezTo>
                  <a:pt x="130" y="235"/>
                  <a:pt x="83" y="203"/>
                  <a:pt x="50" y="156"/>
                </a:cubicBezTo>
                <a:cubicBezTo>
                  <a:pt x="16" y="109"/>
                  <a:pt x="0" y="54"/>
                  <a:pt x="1" y="0"/>
                </a:cubicBezTo>
                <a:cubicBezTo>
                  <a:pt x="52" y="16"/>
                  <a:pt x="99" y="49"/>
                  <a:pt x="133" y="96"/>
                </a:cubicBezTo>
              </a:path>
            </a:pathLst>
          </a:custGeom>
          <a:solidFill>
            <a:schemeClr val="accent1">
              <a:alpha val="6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6" name="Freeform 6"/>
          <p:cNvSpPr/>
          <p:nvPr/>
        </p:nvSpPr>
        <p:spPr>
          <a:xfrm rot="0">
            <a:off x="5609203" y="3588886"/>
            <a:ext cx="856012" cy="2579751"/>
          </a:xfrm>
          <a:custGeom>
            <a:avLst/>
            <a:gdLst/>
            <a:ahLst/>
            <a:cxnLst/>
            <a:rect b="b" l="l" r="r" t="t"/>
            <a:pathLst>
              <a:path h="309" w="103">
                <a:moveTo>
                  <a:pt x="0" y="154"/>
                </a:moveTo>
                <a:cubicBezTo>
                  <a:pt x="0" y="212"/>
                  <a:pt x="19" y="266"/>
                  <a:pt x="51" y="309"/>
                </a:cubicBezTo>
                <a:cubicBezTo>
                  <a:pt x="84" y="266"/>
                  <a:pt x="103" y="212"/>
                  <a:pt x="103" y="154"/>
                </a:cubicBezTo>
                <a:cubicBezTo>
                  <a:pt x="103" y="97"/>
                  <a:pt x="84" y="43"/>
                  <a:pt x="51" y="0"/>
                </a:cubicBezTo>
                <a:cubicBezTo>
                  <a:pt x="19" y="43"/>
                  <a:pt x="0" y="97"/>
                  <a:pt x="0" y="154"/>
                </a:cubicBez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7" name="TextBox 7"/>
          <p:cNvSpPr txBox="1"/>
          <p:nvPr/>
        </p:nvSpPr>
        <p:spPr>
          <a:xfrm rot="0">
            <a:off x="463378" y="4535812"/>
            <a:ext cx="2931336" cy="490334"/>
          </a:xfrm>
          <a:prstGeom prst="rect">
            <a:avLst/>
          </a:prstGeom>
          <a:ln/>
        </p:spPr>
        <p:txBody>
          <a:bodyPr anchor="ctr" anchorCtr="0" bIns="33052" lIns="66008" rIns="66008" rtlCol="0" tIns="33052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b="1" lang="en-US" sz="21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肾精补充要穴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eyJfdGVtcGxhdGVEYXRhIjp7ImNvbnRlbnRUeXBlIjoiJGl0ZW0xX3RpdGxlIiwibGluZUNvdW50IjoiMSIsIndvcmRDb3VudCI6IjkifSwidGFnIjoiJGl0ZW0xX3RpdGxlIn0=</bd:templateData>
          </p:ext>
        </p:extLst>
      </p:sp>
      <p:sp>
        <p:nvSpPr>
          <p:cNvPr id="8" name="TextBox 8"/>
          <p:cNvSpPr txBox="1"/>
          <p:nvPr/>
        </p:nvSpPr>
        <p:spPr>
          <a:xfrm rot="0">
            <a:off x="449597" y="5004954"/>
            <a:ext cx="2931336" cy="1398504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耳垂部位对应中医"肾"系统，每日用拇指食指捏揉耳垂3-5分钟，可激发肾气，改善腰膝酸软、耳鸣等肾虚症状。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eyJfdGVtcGxhdGVEYXRhIjp7ImNvbnRlbnRUeXBlIjoiJGl0ZW0xX2MiLCJsaW5lQ291bnQiOiI0Iiwid29yZENvdW50IjoiMTQifSwidGFnIjoiJGl0ZW0xX2MifQ==</bd:templateData>
          </p:ext>
        </p:extLst>
      </p:sp>
      <p:sp>
        <p:nvSpPr>
          <p:cNvPr id="9" name="TextBox 9"/>
          <p:cNvSpPr txBox="1"/>
          <p:nvPr/>
        </p:nvSpPr>
        <p:spPr>
          <a:xfrm rot="0">
            <a:off x="1288216" y="2422580"/>
            <a:ext cx="2931336" cy="490334"/>
          </a:xfrm>
          <a:prstGeom prst="rect">
            <a:avLst/>
          </a:prstGeom>
          <a:ln/>
        </p:spPr>
        <p:txBody>
          <a:bodyPr anchor="ctr" anchorCtr="0" bIns="33052" lIns="66008" rIns="66008" rtlCol="0" tIns="33052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b="1" lang="en-US" sz="21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延缓衰老作用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eyJfdGVtcGxhdGVEYXRhIjp7ImNvbnRlbnRUeXBlIjoiJGl0ZW0yX3RpdGxlIiwibGluZUNvdW50IjoiMSIsIndvcmRDb3VudCI6IjkifSwidGFnIjoiJGl0ZW0yX3RpdGxlIn0=</bd:templateData>
          </p:ext>
        </p:extLst>
      </p:sp>
      <p:sp>
        <p:nvSpPr>
          <p:cNvPr id="10" name="TextBox 10"/>
          <p:cNvSpPr txBox="1"/>
          <p:nvPr/>
        </p:nvSpPr>
        <p:spPr>
          <a:xfrm rot="0">
            <a:off x="1274435" y="2891723"/>
            <a:ext cx="2931336" cy="1398504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耳垂富含毛细血管丛，规律按摩能促进末梢循环，增加细胞供氧，具有抗氧化、延缓组织老化的功效。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eyJfdGVtcGxhdGVEYXRhIjp7ImNvbnRlbnRUeXBlIjoiJGl0ZW0yX2MiLCJsaW5lQ291bnQiOiI0Iiwid29yZENvdW50IjoiMTQifSwidGFnIjoiJGl0ZW0yX2MifQ==</bd:templateData>
          </p:ext>
        </p:extLst>
      </p:sp>
      <p:sp>
        <p:nvSpPr>
          <p:cNvPr id="11" name="TextBox 11"/>
          <p:cNvSpPr txBox="1"/>
          <p:nvPr/>
        </p:nvSpPr>
        <p:spPr>
          <a:xfrm rot="0">
            <a:off x="4540944" y="1591726"/>
            <a:ext cx="3020092" cy="490334"/>
          </a:xfrm>
          <a:prstGeom prst="rect">
            <a:avLst/>
          </a:prstGeom>
          <a:ln/>
        </p:spPr>
        <p:txBody>
          <a:bodyPr anchor="ctr" anchorCtr="0" bIns="33052" lIns="66008" rIns="66008" rtlCol="0" tIns="33052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b="1" lang="en-US" sz="21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提升生殖功能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eyJfdGVtcGxhdGVEYXRhIjp7ImNvbnRlbnRUeXBlIjoiJGl0ZW0zX3RpdGxlIiwibGluZUNvdW50IjoiMSIsIndvcmRDb3VudCI6IjkifSwidGFnIjoiJGl0ZW0zX3RpdGxlIn0=</bd:templateData>
          </p:ext>
        </p:extLst>
      </p:sp>
      <p:sp>
        <p:nvSpPr>
          <p:cNvPr id="12" name="TextBox 12"/>
          <p:cNvSpPr txBox="1"/>
          <p:nvPr/>
        </p:nvSpPr>
        <p:spPr>
          <a:xfrm rot="0">
            <a:off x="4564095" y="2060868"/>
            <a:ext cx="2931336" cy="1398504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临床研究表明，持续刺激耳垂可调节下丘脑-垂体-性腺轴，对男性精子活力、女性卵泡发育均有积极影响。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eyJfdGVtcGxhdGVEYXRhIjp7ImNvbnRlbnRUeXBlIjoiJGl0ZW0zX2MiLCJsaW5lQ291bnQiOiI0Iiwid29yZENvdW50IjoiMTQifSwidGFnIjoiJGl0ZW0zX2MifQ==</bd:templateData>
          </p:ext>
        </p:extLst>
      </p:sp>
      <p:sp>
        <p:nvSpPr>
          <p:cNvPr id="13" name="TextBox 13"/>
          <p:cNvSpPr txBox="1"/>
          <p:nvPr/>
        </p:nvSpPr>
        <p:spPr>
          <a:xfrm rot="0">
            <a:off x="8261908" y="2422580"/>
            <a:ext cx="2931336" cy="490334"/>
          </a:xfrm>
          <a:prstGeom prst="rect">
            <a:avLst/>
          </a:prstGeom>
          <a:ln/>
        </p:spPr>
        <p:txBody>
          <a:bodyPr anchor="ctr" anchorCtr="0" bIns="33052" lIns="66008" rIns="66008" rtlCol="0" tIns="33052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b="1" lang="en-US" sz="21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缓解脑疲劳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eyJfdGVtcGxhdGVEYXRhIjp7ImNvbnRlbnRUeXBlIjoiJGl0ZW00X3RpdGxlIiwibGluZUNvdW50IjoiMSIsIndvcmRDb3VudCI6IjkifSwidGFnIjoiJGl0ZW00X3RpdGxlIn0=</bd:templateData>
          </p:ext>
        </p:extLst>
      </p:sp>
      <p:sp>
        <p:nvSpPr>
          <p:cNvPr id="14" name="TextBox 14"/>
          <p:cNvSpPr txBox="1"/>
          <p:nvPr/>
        </p:nvSpPr>
        <p:spPr>
          <a:xfrm rot="0">
            <a:off x="8248127" y="2891723"/>
            <a:ext cx="2931336" cy="1398504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耳垂与大脑皮层存在反射联系，用力揉捏可产生醒脑开窍效果，适合长时间用脑后的放松保健。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eyJfdGVtcGxhdGVEYXRhIjp7ImNvbnRlbnRUeXBlIjoiJGl0ZW00X2MiLCJsaW5lQ291bnQiOiI0Iiwid29yZENvdW50IjoiMTQifSwidGFnIjoiJGl0ZW00X2MifQ==</bd:templateData>
          </p:ext>
        </p:extLst>
      </p:sp>
      <p:sp>
        <p:nvSpPr>
          <p:cNvPr id="15" name="TextBox 15"/>
          <p:cNvSpPr txBox="1"/>
          <p:nvPr/>
        </p:nvSpPr>
        <p:spPr>
          <a:xfrm rot="0">
            <a:off x="8814029" y="4535812"/>
            <a:ext cx="2931336" cy="490334"/>
          </a:xfrm>
          <a:prstGeom prst="rect">
            <a:avLst/>
          </a:prstGeom>
          <a:ln/>
        </p:spPr>
        <p:txBody>
          <a:bodyPr anchor="ctr" anchorCtr="0" bIns="33052" lIns="66008" rIns="66008" rtlCol="0" tIns="33052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b="1" lang="en-US" sz="21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急救应用价值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eyJfdGVtcGxhdGVEYXRhIjp7ImNvbnRlbnRUeXBlIjoiJGl0ZW01X3RpdGxlIiwibGluZUNvdW50IjoiMSIsIndvcmRDb3VudCI6IjkifSwidGFnIjoiJGl0ZW01X3RpdGxlIn0=</bd:templateData>
          </p:ext>
        </p:extLst>
      </p:sp>
      <p:sp>
        <p:nvSpPr>
          <p:cNvPr id="16" name="TextBox 16"/>
          <p:cNvSpPr txBox="1"/>
          <p:nvPr/>
        </p:nvSpPr>
        <p:spPr>
          <a:xfrm rot="0">
            <a:off x="8800248" y="5004954"/>
            <a:ext cx="2931336" cy="1398504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在突发昏厥、低血糖时，用力掐按耳垂可作为应急处理手段，通过强烈疼痛刺激帮助恢复意识。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eyJfdGVtcGxhdGVEYXRhIjp7ImNvbnRlbnRUeXBlIjoiJGl0ZW01X2MiLCJsaW5lQ291bnQiOiI0Iiwid29yZENvdW50IjoiMTQifSwidGFnIjoiJGl0ZW01X2MifQ==</bd:templateData>
          </p:ext>
        </p:extLst>
      </p:sp>
      <p:sp>
        <p:nvSpPr>
          <p:cNvPr id="17" name="TextBox 17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耳垂（强肾健体）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id="18" name="TextBox 18"/>
          <p:cNvSpPr txBox="1"/>
          <p:nvPr/>
        </p:nvSpPr>
        <p:spPr>
          <a:xfrm rot="0">
            <a:off x="3794737" y="5266000"/>
            <a:ext cx="849630" cy="481965"/>
          </a:xfrm>
          <a:prstGeom prst="rect">
            <a:avLst/>
          </a:prstGeom>
          <a:ln/>
        </p:spPr>
        <p:txBody>
          <a:bodyPr anchor="ctr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id="19" name="TextBox 19"/>
          <p:cNvSpPr txBox="1"/>
          <p:nvPr/>
        </p:nvSpPr>
        <p:spPr>
          <a:xfrm rot="0">
            <a:off x="4527163" y="4396796"/>
            <a:ext cx="849630" cy="481965"/>
          </a:xfrm>
          <a:prstGeom prst="rect">
            <a:avLst/>
          </a:prstGeom>
          <a:ln/>
        </p:spPr>
        <p:txBody>
          <a:bodyPr anchor="ctr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id="20" name="TextBox 20"/>
          <p:cNvSpPr txBox="1"/>
          <p:nvPr/>
        </p:nvSpPr>
        <p:spPr>
          <a:xfrm rot="0">
            <a:off x="5607298" y="4073042"/>
            <a:ext cx="849630" cy="481965"/>
          </a:xfrm>
          <a:prstGeom prst="rect">
            <a:avLst/>
          </a:prstGeom>
          <a:ln/>
        </p:spPr>
        <p:txBody>
          <a:bodyPr anchor="ctr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id="21" name="TextBox 21"/>
          <p:cNvSpPr txBox="1"/>
          <p:nvPr/>
        </p:nvSpPr>
        <p:spPr>
          <a:xfrm rot="0">
            <a:off x="6697625" y="4396796"/>
            <a:ext cx="849630" cy="481965"/>
          </a:xfrm>
          <a:prstGeom prst="rect">
            <a:avLst/>
          </a:prstGeom>
          <a:ln/>
        </p:spPr>
        <p:txBody>
          <a:bodyPr anchor="ctr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id="22" name="TextBox 22"/>
          <p:cNvSpPr txBox="1"/>
          <p:nvPr/>
        </p:nvSpPr>
        <p:spPr>
          <a:xfrm rot="0">
            <a:off x="7495431" y="5266000"/>
            <a:ext cx="849630" cy="481965"/>
          </a:xfrm>
          <a:prstGeom prst="rect">
            <a:avLst/>
          </a:prstGeom>
          <a:ln/>
        </p:spPr>
        <p:txBody>
          <a:bodyPr anchor="ctr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iAs+Wegu+8iOW8uuiCvuWBpeS9k++8iVxuIyMjIOiCvueyvuihpeWFheimgeeptFxu6ICz5Z6C6YOo5L2N5a+55bqU5Lit5Yy7XCLogr5cIuezu+e7n++8jOavj+aXpeeUqOaLh+aMh+mjn+aMh+aNj+aPieiAs+WegjMtNeWIhumSn++8jOWPr+a/gOWPkeiCvuawlO+8jOaUueWWhOiFsOiGnemFuOi9r+OAgeiAs+m4o+etieiCvuiZmueXh+eKtuOAglxuIyMjIOW7tue8k+ihsOiAgeS9nOeUqFxu6ICz5Z6C5a+M5ZCr5q+b57uG6KGA566h5Lib77yM6KeE5b6L5oyJ5pGp6IO95L+D6L+b5pyr5qKi5b6q546v77yM5aKe5Yqg57uG6IOe5L6b5rCn77yM5YW35pyJ5oqX5rCn5YyW44CB5bu257yT57uE57uH6ICB5YyW55qE5Yqf5pWI44CCXG4jIyMg5o+Q5Y2H55Sf5q6W5Yqf6IO9XG7kuLTluornoJTnqbbooajmmI7vvIzmjIHnu63liLrmv4DogLPlnoLlj6/osIPoioLkuIvkuJjohJEt5Z6C5L2TLeaAp+iFuui9tO+8jOWvueeUt+aAp+eyvuWtkOa0u+WKm+OAgeWls+aAp+WNteazoeWPkeiCsuWdh+acieenr+aegeW9seWTjeOAglxuIyMjIOe8k+ino+iEkeeWsuWKs1xu6ICz5Z6C5LiO5aSn6ISR55qu5bGC5a2Y5Zyo5Y+N5bCE6IGU57O777yM55So5Yqb5o+J5o2P5Y+v5Lqn55Sf6YaS6ISR5byA56qN5pWI5p6c77yM6YCC5ZCI6ZW/5pe26Ze055So6ISR5ZCO55qE5pS+5p2+5L+d5YGl44CCXG4jIyMg5oCl5pWR5bqU55So5Lu35YC8XG7lnKjnqoHlj5HmmI/ljqXjgIHkvY7ooYDns5bml7bvvIznlKjlipvmjpDmjInogLPlnoLlj6/kvZzkuLrlupTmgKXlpITnkIbmiYvmrrXvvIzpgJrov4flvLrng4jnlrznl5vliLrmv4DluK7liqnmgaLlpI3mhI/or4bjgIIiLCJ0cGxpZCI6Ijg2IiwidHBsTmFtZSI6Imxpc3Q1XzIzMTIwMTAxIiwiZWRpdGVkIjoiZmFsc2UifQ==</bd:templateData>
    </p:ext>
  </p:extLs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1297192" y="1308287"/>
            <a:ext cx="4348638" cy="605790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b="1" lang="en-US" sz="18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听力障碍特效穴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eyJfdGVtcGxhdGVEYXRhIjp7ImNvbnRlbnRUeXBlIjoiJGl0ZW0xX3RpdGxlIiwibGluZUNvdW50IjoiMSIsIndvcmRDb3VudCI6IjE3In0sInRhZyI6IiRpdGVtMV90aXRsZSJ9</bd:templateData>
          </p:ext>
        </p:extLst>
      </p:sp>
      <p:sp>
        <p:nvSpPr>
          <p:cNvPr id="3" name="TextBox 3"/>
          <p:cNvSpPr txBox="1"/>
          <p:nvPr/>
        </p:nvSpPr>
        <p:spPr>
          <a:xfrm rot="0">
            <a:off x="6865764" y="1981135"/>
            <a:ext cx="4493572" cy="605790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b="1" lang="en-US" sz="18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平衡内耳功能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eyJfdGVtcGxhdGVEYXRhIjp7ImNvbnRlbnRUeXBlIjoiJGl0ZW00X3RpdGxlIiwibGluZUNvdW50IjoiMSIsIndvcmRDb3VudCI6IjE3In0sInRhZyI6IiRpdGVtNF90aXRsZSJ9</bd:templateData>
          </p:ext>
        </p:extLst>
      </p:sp>
      <p:sp>
        <p:nvSpPr>
          <p:cNvPr id="4" name="TextBox 4"/>
          <p:cNvSpPr txBox="1"/>
          <p:nvPr/>
        </p:nvSpPr>
        <p:spPr>
          <a:xfrm rot="0">
            <a:off x="6865764" y="4000377"/>
            <a:ext cx="4493572" cy="605790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b="1" lang="en-US" sz="18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促进语言发育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eyJfdGVtcGxhdGVEYXRhIjp7ImNvbnRlbnRUeXBlIjoiJGl0ZW01X3RpdGxlIiwibGluZUNvdW50IjoiMSIsIndvcmRDb3VudCI6IjE3In0sInRhZyI6IiRpdGVtNV90aXRsZSJ9</bd:templateData>
          </p:ext>
        </p:extLst>
      </p:sp>
      <p:sp>
        <p:nvSpPr>
          <p:cNvPr id="5" name="TextBox 5"/>
          <p:cNvSpPr txBox="1"/>
          <p:nvPr/>
        </p:nvSpPr>
        <p:spPr>
          <a:xfrm rot="0">
            <a:off x="1297192" y="4762018"/>
            <a:ext cx="4414526" cy="624840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b="1" lang="en-US" sz="18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缓解偏头痛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eyJfdGVtcGxhdGVEYXRhIjp7ImNvbnRlbnRUeXBlIjoiJGl0ZW0zX3RpdGxlIiwibGluZUNvdW50IjoiMSIsIndvcmRDb3VudCI6IjE3In0sInRhZyI6IiRpdGVtM190aXRsZSJ9</bd:templateData>
          </p:ext>
        </p:extLst>
      </p:sp>
      <p:sp>
        <p:nvSpPr>
          <p:cNvPr id="6" name="TextBox 6"/>
          <p:cNvSpPr txBox="1"/>
          <p:nvPr/>
        </p:nvSpPr>
        <p:spPr>
          <a:xfrm rot="0">
            <a:off x="1297192" y="3025846"/>
            <a:ext cx="4348638" cy="605790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b="1" lang="en-US" sz="18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改善视觉功能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eyJfdGVtcGxhdGVEYXRhIjp7ImNvbnRlbnRUeXBlIjoiJGl0ZW0yX3RpdGxlIiwibGluZUNvdW50IjoiMSIsIndvcmRDb3VudCI6IjE3In0sInRhZyI6IiRpdGVtMl90aXRsZSJ9</bd:templateData>
          </p:ext>
        </p:extLst>
      </p:sp>
      <p:grpSp>
        <p:nvGrpSpPr>
          <p:cNvPr id="7" name="Group 7"/>
          <p:cNvGrpSpPr/>
          <p:nvPr/>
        </p:nvGrpSpPr>
        <p:grpSpPr>
          <a:xfrm rot="0">
            <a:off x="839115" y="1512589"/>
            <a:ext cx="197186" cy="5357334"/>
            <a:chOff x="839115" y="1512589"/>
            <a:chExt cx="197186" cy="5357334"/>
          </a:xfrm>
        </p:grpSpPr>
        <p:sp>
          <p:nvSpPr>
            <p:cNvPr id="8" name="AutoShape 8"/>
            <p:cNvSpPr/>
            <p:nvPr/>
          </p:nvSpPr>
          <p:spPr>
            <a:xfrm rot="0">
              <a:off x="839115" y="1512589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9" name="AutoShape 9"/>
            <p:cNvSpPr/>
            <p:nvPr/>
          </p:nvSpPr>
          <p:spPr>
            <a:xfrm rot="0">
              <a:off x="839115" y="3230148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0" name="AutoShape 10"/>
            <p:cNvSpPr/>
            <p:nvPr/>
          </p:nvSpPr>
          <p:spPr>
            <a:xfrm rot="0">
              <a:off x="839115" y="4975845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cxnSp>
          <p:nvCxnSpPr>
            <p:cNvPr id="11" name="Connector 11"/>
            <p:cNvCxnSpPr/>
            <p:nvPr/>
          </p:nvCxnSpPr>
          <p:spPr>
            <a:xfrm>
              <a:off x="937708" y="1624780"/>
              <a:ext cx="0" cy="5245143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  <a:headEnd type="none"/>
              <a:tailEnd type="none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2" name="TextBox 12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耳门穴（聪耳明目）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id="13" name="AutoShape 13"/>
          <p:cNvSpPr/>
          <p:nvPr/>
        </p:nvSpPr>
        <p:spPr>
          <a:xfrm rot="0">
            <a:off x="6455568" y="2185437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4" name="AutoShape 14"/>
          <p:cNvSpPr/>
          <p:nvPr/>
        </p:nvSpPr>
        <p:spPr>
          <a:xfrm rot="0">
            <a:off x="6455568" y="4241491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cxnSp>
        <p:nvCxnSpPr>
          <p:cNvPr id="15" name="Connector 15"/>
          <p:cNvCxnSpPr/>
          <p:nvPr/>
        </p:nvCxnSpPr>
        <p:spPr>
          <a:xfrm>
            <a:off x="6554162" y="2284030"/>
            <a:ext cx="0" cy="4625613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16" name="TextBox 16"/>
          <p:cNvSpPr txBox="1"/>
          <p:nvPr/>
        </p:nvSpPr>
        <p:spPr>
          <a:xfrm rot="0">
            <a:off x="1297192" y="1804349"/>
            <a:ext cx="4414526" cy="1203960"/>
          </a:xfrm>
          <a:prstGeom prst="rect">
            <a:avLst/>
          </a:prstGeom>
          <a:ln/>
        </p:spPr>
        <p:txBody>
          <a:bodyPr anchor="t" anchorCtr="0" bIns="0" lIns="123825" rIns="57150" rtlCol="0" tIns="0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位于耳屏上切迹前方的耳门穴，是治疗耳鸣、耳聋的首选穴位，可采用指尖点按配合艾灸，每次持续刺激2-3分钟。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eyJfdGVtcGxhdGVEYXRhIjp7ImNvbnRlbnRUeXBlIjoiJGl0ZW0xX2MiLCJsaW5lQ291bnQiOiI0Iiwid29yZENvdW50IjoiMjUifSwidGFnIjoiJGl0ZW0xX2MifQ==</bd:templateData>
          </p:ext>
        </p:extLst>
      </p:sp>
      <p:sp>
        <p:nvSpPr>
          <p:cNvPr id="17" name="TextBox 17"/>
          <p:cNvSpPr txBox="1"/>
          <p:nvPr/>
        </p:nvSpPr>
        <p:spPr>
          <a:xfrm rot="0">
            <a:off x="1297192" y="3543470"/>
            <a:ext cx="4414526" cy="1218548"/>
          </a:xfrm>
          <a:prstGeom prst="rect">
            <a:avLst/>
          </a:prstGeom>
          <a:noFill/>
          <a:ln/>
        </p:spPr>
        <p:txBody>
          <a:bodyPr anchor="t" anchorCtr="0" bIns="0" lIns="123825" rIns="57150" rtlCol="0" tIns="0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该穴属手少阳三焦经，通过经络传导可影响眼周气血运行，对青少年假性近视、老年性眼花有辅助改善作用。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eyJfdGVtcGxhdGVEYXRhIjp7ImNvbnRlbnRUeXBlIjoiJGl0ZW0yX2MiLCJsaW5lQ291bnQiOiI0Iiwid29yZENvdW50IjoiMjUifSwidGFnIjoiJGl0ZW0yX2MifQ==</bd:templateData>
          </p:ext>
        </p:extLst>
      </p:sp>
      <p:sp>
        <p:nvSpPr>
          <p:cNvPr id="18" name="TextBox 18"/>
          <p:cNvSpPr txBox="1"/>
          <p:nvPr/>
        </p:nvSpPr>
        <p:spPr>
          <a:xfrm rot="0">
            <a:off x="1297192" y="5282464"/>
            <a:ext cx="4414526" cy="1215852"/>
          </a:xfrm>
          <a:prstGeom prst="rect">
            <a:avLst/>
          </a:prstGeom>
          <a:noFill/>
          <a:ln/>
        </p:spPr>
        <p:txBody>
          <a:bodyPr anchor="t" anchorCtr="0" bIns="0" lIns="123825" rIns="57150" rtlCol="0" tIns="0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耳门穴深层分布有耳颞神经，刺激该穴能阻断疼痛传导，对血管神经性头痛尤其是太阳穴区域疼痛效果显著。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eyJfdGVtcGxhdGVEYXRhIjp7ImNvbnRlbnRUeXBlIjoiJGl0ZW0zX2MiLCJsaW5lQ291bnQiOiI0Iiwid29yZENvdW50IjoiMjUifSwidGFnIjoiJGl0ZW0zX2MifQ==</bd:templateData>
          </p:ext>
        </p:extLst>
      </p:sp>
      <p:sp>
        <p:nvSpPr>
          <p:cNvPr id="19" name="TextBox 19"/>
          <p:cNvSpPr txBox="1"/>
          <p:nvPr/>
        </p:nvSpPr>
        <p:spPr>
          <a:xfrm rot="0">
            <a:off x="6865764" y="2477197"/>
            <a:ext cx="4416675" cy="1231684"/>
          </a:xfrm>
          <a:prstGeom prst="rect">
            <a:avLst/>
          </a:prstGeom>
          <a:noFill/>
          <a:ln/>
        </p:spPr>
        <p:txBody>
          <a:bodyPr anchor="t" anchorCtr="0" bIns="0" lIns="123825" rIns="57150" rtlCol="0" tIns="0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针对梅尼埃病引起的眩晕，配合听宫穴、翳风穴共同刺激，可调节内耳淋巴液平衡，减轻旋转性眩晕症状。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eyJfdGVtcGxhdGVEYXRhIjp7ImNvbnRlbnRUeXBlIjoiJGl0ZW00X2MiLCJsaW5lQ291bnQiOiI0Iiwid29yZENvdW50IjoiMjUifSwidGFnIjoiJGl0ZW00X2MifQ==</bd:templateData>
          </p:ext>
        </p:extLst>
      </p:sp>
      <p:sp>
        <p:nvSpPr>
          <p:cNvPr id="20" name="TextBox 20"/>
          <p:cNvSpPr txBox="1"/>
          <p:nvPr/>
        </p:nvSpPr>
        <p:spPr>
          <a:xfrm rot="0">
            <a:off x="6865764" y="4518000"/>
            <a:ext cx="4416675" cy="1144609"/>
          </a:xfrm>
          <a:prstGeom prst="rect">
            <a:avLst/>
          </a:prstGeom>
          <a:noFill/>
          <a:ln/>
        </p:spPr>
        <p:txBody>
          <a:bodyPr anchor="t" anchorCtr="0" bIns="0" lIns="123825" rIns="57150" rtlCol="0" tIns="0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儿童语言发育迟缓者，每日温和按压耳门穴能激活听觉中枢神经通路，需配合语言训练效果更佳。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eyJfdGVtcGxhdGVEYXRhIjp7ImNvbnRlbnRUeXBlIjoiJGl0ZW01X2MiLCJsaW5lQ291bnQiOiI0Iiwid29yZENvdW50IjoiMjUifSwidGFnIjoiJGl0ZW01X2MifQ==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iAs+mXqOeptO+8iOiBquiAs+aYjuebru+8iVxuIyMjIOWQrOWKm+manOeijeeJueaViOeptFxu5L2N5LqO6ICz5bGP5LiK5YiH6L+55YmN5pa555qE6ICz6Zeo56m077yM5piv5rK755aX6ICz6bij44CB6ICz6IGL55qE6aaW6YCJ56m05L2N77yM5Y+v6YeH55So5oyH5bCW54K55oyJ6YWN5ZCI6Im+54G477yM5q+P5qyh5oyB57ut5Yi65r+AMi0z5YiG6ZKf44CCXG4jIyMg5pS55ZaE6KeG6KeJ5Yqf6IO9XG7or6XnqbTlsZ7miYvlsJHpmLPkuInnhKbnu4/vvIzpgJrov4fnu4/nu5zkvKDlr7zlj6/lvbHlk43nnLzlkajmsJTooYDov5DooYzvvIzlr7npnZLlsJHlubTlgYfmgKfov5Hop4bjgIHogIHlubTmgKfnnLzoirHmnInovoXliqnmlLnlloTkvZznlKjjgIJcbiMjIyDnvJPop6PlgY/lpLTnl5tcbuiAs+mXqOeptOa3seWxguWIhuW4g+acieiAs+minuelnue7j++8jOWIuua/gOivpeeptOiDvemYu+aWreeWvOeXm+S8oOWvvO+8jOWvueihgOeuoeelnue7j+aAp+WktOeXm+WwpOWFtuaYr+WkqumYs+eptOWMuuWfn+eWvOeXm+aViOaenOaYvuiRl+OAglxuIyMjIOW5s+ihoeWGheiAs+WKn+iDvVxu6ZKI5a+55qKF5bC85Z+D55eF5byV6LW355qE55yp5pmV77yM6YWN5ZCI5ZCs5a6r56m044CB57+z6aOO56m05YWx5ZCM5Yi65r+A77yM5Y+v6LCD6IqC5YaF6ICz5reL5be05ray5bmz6KGh77yM5YeP6L275peL6L2s5oCn55yp5pmV55eH54q244CCXG4jIyMg5L+D6L+b6K+t6KiA5Y+R6IKyXG7lhL/nq6Xor63oqIDlj5HogrLov5/nvJPogIXvvIzmr4/ml6XmuKnlkozmjInljovogLPpl6jnqbTog73mv4DmtLvlkKzop4nkuK3mnqLnpZ7nu4/pgJrot6/vvIzpnIDphY3lkIjor63oqIDorq3nu4PmlYjmnpzmm7TkvbPjgIIiLCJ0cGxpZCI6Ijg2IiwidHBsTmFtZSI6Imxpc3Q1X2xvbmdUaXRsZTMiLCJlZGl0ZWQiOiJmYWxzZSJ9</bd:templateData>
    </p:ext>
  </p:extLs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3829056" y="2526030"/>
            <a:ext cx="7644490" cy="1805940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rmAutofit/>
          </a:bodyPr>
          <a:lstStyle/>
          <a:p>
            <a:pPr>
              <a:lnSpc>
                <a:spcPct val="120000"/>
              </a:lnSpc>
              <a:spcBef>
                <a:spcPts val="375"/>
              </a:spcBef>
            </a:pPr>
            <a:r>
              <a:rPr b="1" lang="en-US" sz="45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手部保健腧穴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eyJfdGVtcGxhdGVEYXRhIjp7ImNvbnRlbnRUeXBlIjoiJHRpdGxlIiwibGluZUNvdW50IjoiMiIsIndvcmRDb3VudCI6IjEyIn0sInRhZyI6IiR0aXRsZSJ9</bd:templateData>
          </p:ext>
        </p:extLst>
      </p:sp>
      <p:sp>
        <p:nvSpPr>
          <p:cNvPr id="3" name="TextBox 3"/>
          <p:cNvSpPr txBox="1"/>
          <p:nvPr/>
        </p:nvSpPr>
        <p:spPr>
          <a:xfrm rot="0">
            <a:off x="3766844" y="1072555"/>
            <a:ext cx="3112760" cy="1138956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>
              <a:lnSpc>
                <a:spcPct val="80000"/>
              </a:lnSpc>
            </a:pPr>
            <a:r>
              <a:rPr b="1" lang="en-US" sz="8400">
                <a:solidFill>
                  <a:schemeClr val="accent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eyJfdGVtcGxhdGVEYXRhIjp7ImNvbnRlbnRUeXBlIjoiJG51bWJlciIsImxpbmVDb3VudCI6IjEiLCJ3b3JkQ291bnQiOiIyIn0sInRhZyI6Im5vRWRpdCJ9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eyJtZCI6IiMjIOaJi+mDqOS/neWBpeiFp+eptCIsInRwbGlkIjoiODYiLCJ0cGxOYW1lIjoiaDJ0aXRsZV84NnNpbXBsZWJsdWUiLCJlZGl0ZWQiOiJmYWxzZSJ9</bd:templateData>
    </p:ext>
  </p:extLs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劳宫穴（养心安神）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id="3" name="AutoShape 3"/>
          <p:cNvSpPr/>
          <p:nvPr/>
        </p:nvSpPr>
        <p:spPr>
          <a:xfrm rot="0">
            <a:off x="401832" y="2050015"/>
            <a:ext cx="2190750" cy="4428588"/>
          </a:xfrm>
          <a:prstGeom prst="round2SameRect">
            <a:avLst/>
          </a:prstGeom>
          <a:solidFill>
            <a:schemeClr val="lt2">
              <a:alpha val="8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" name="AutoShape 4"/>
          <p:cNvSpPr/>
          <p:nvPr/>
        </p:nvSpPr>
        <p:spPr>
          <a:xfrm rot="0">
            <a:off x="1069343" y="1649980"/>
            <a:ext cx="855726" cy="85572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5" name="TextBox 5"/>
          <p:cNvSpPr txBox="1"/>
          <p:nvPr/>
        </p:nvSpPr>
        <p:spPr>
          <a:xfrm rot="0">
            <a:off x="487557" y="3275506"/>
            <a:ext cx="2019300" cy="3010781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劳宫穴位于手掌心，当第2、3掌骨之间偏于第3掌骨，握拳屈指时中指尖处。取穴时可自然握拳，中指指尖所对应的掌心位置即为该穴。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eyJfdGVtcGxhdGVEYXRhIjp7ImNvbnRlbnRUeXBlIjoiJGl0ZW0xX2MiLCJsaW5lQ291bnQiOiIxMCIsIndvcmRDb3VudCI6IjEwIn0sInRhZyI6IiRpdGVtMV9jIn0=</bd:templateData>
          </p:ext>
        </p:extLst>
      </p:sp>
      <p:sp>
        <p:nvSpPr>
          <p:cNvPr id="6" name="TextBox 6"/>
          <p:cNvSpPr txBox="1"/>
          <p:nvPr/>
        </p:nvSpPr>
        <p:spPr>
          <a:xfrm rot="0">
            <a:off x="1095725" y="1712738"/>
            <a:ext cx="802962" cy="730211"/>
          </a:xfrm>
          <a:prstGeom prst="rect">
            <a:avLst/>
          </a:prstGeom>
          <a:noFill/>
          <a:ln/>
        </p:spPr>
        <p:txBody>
          <a:bodyPr anchor="ctr" anchorCtr="0" bIns="0" lIns="0" rIns="0" rtlCol="0" tIns="0" vert="horz" wrap="non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id="7" name="AutoShape 7"/>
          <p:cNvSpPr/>
          <p:nvPr/>
        </p:nvSpPr>
        <p:spPr>
          <a:xfrm rot="0">
            <a:off x="2710003" y="2050015"/>
            <a:ext cx="2190750" cy="4428588"/>
          </a:xfrm>
          <a:prstGeom prst="round2SameRect">
            <a:avLst/>
          </a:prstGeom>
          <a:solidFill>
            <a:schemeClr val="lt2">
              <a:alpha val="8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8" name="AutoShape 8"/>
          <p:cNvSpPr/>
          <p:nvPr/>
        </p:nvSpPr>
        <p:spPr>
          <a:xfrm rot="0">
            <a:off x="3377515" y="1649980"/>
            <a:ext cx="855726" cy="85572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9" name="TextBox 9"/>
          <p:cNvSpPr txBox="1"/>
          <p:nvPr/>
        </p:nvSpPr>
        <p:spPr>
          <a:xfrm rot="0">
            <a:off x="2795728" y="3275506"/>
            <a:ext cx="2019300" cy="3010781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此穴具有清心火、安心神、强健心脏的作用，主治昏迷、晕厥、中暑、呕吐、心痛、癫狂、痫症等与心神相关的疾患，对缓解心悸、失眠、焦虑等亦有显著效果。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eyJfdGVtcGxhdGVEYXRhIjp7ImNvbnRlbnRUeXBlIjoiJGl0ZW0yX2MiLCJsaW5lQ291bnQiOiIxMCIsIndvcmRDb3VudCI6IjEwIn0sInRhZyI6IiRpdGVtMl9jIn0=</bd:templateData>
          </p:ext>
        </p:extLst>
      </p:sp>
      <p:sp>
        <p:nvSpPr>
          <p:cNvPr id="10" name="TextBox 10"/>
          <p:cNvSpPr txBox="1"/>
          <p:nvPr/>
        </p:nvSpPr>
        <p:spPr>
          <a:xfrm rot="0">
            <a:off x="3403897" y="1712738"/>
            <a:ext cx="802962" cy="730211"/>
          </a:xfrm>
          <a:prstGeom prst="rect">
            <a:avLst/>
          </a:prstGeom>
          <a:noFill/>
          <a:ln/>
        </p:spPr>
        <p:txBody>
          <a:bodyPr anchor="ctr" anchorCtr="0" bIns="0" lIns="0" rIns="0" rtlCol="0" tIns="0" vert="horz" wrap="non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id="11" name="AutoShape 11"/>
          <p:cNvSpPr/>
          <p:nvPr/>
        </p:nvSpPr>
        <p:spPr>
          <a:xfrm rot="0">
            <a:off x="5003222" y="2050015"/>
            <a:ext cx="2190750" cy="4428588"/>
          </a:xfrm>
          <a:prstGeom prst="round2SameRect">
            <a:avLst/>
          </a:prstGeom>
          <a:solidFill>
            <a:schemeClr val="lt2">
              <a:alpha val="8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2" name="AutoShape 12"/>
          <p:cNvSpPr/>
          <p:nvPr/>
        </p:nvSpPr>
        <p:spPr>
          <a:xfrm rot="0">
            <a:off x="5670734" y="1649980"/>
            <a:ext cx="855726" cy="85572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3" name="TextBox 13"/>
          <p:cNvSpPr txBox="1"/>
          <p:nvPr/>
        </p:nvSpPr>
        <p:spPr>
          <a:xfrm rot="0">
            <a:off x="5186928" y="2634432"/>
            <a:ext cx="1817690" cy="704850"/>
          </a:xfrm>
          <a:prstGeom prst="rect">
            <a:avLst/>
          </a:prstGeom>
          <a:ln/>
        </p:spPr>
        <p:txBody>
          <a:bodyPr anchor="t" anchorCtr="0" bIns="0" lIns="0" rIns="0" rtlCol="0" tIns="0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b="1" lang="en-US" sz="1599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刺激方法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eyJfdGVtcGxhdGVEYXRhIjp7ImNvbnRlbnRUeXBlIjoiJGl0ZW0zX3RpdGxlIiwibGluZUNvdW50IjoiMiIsIndvcmRDb3VudCI6IjcifSwidGFnIjoiJGl0ZW0zX3RpdGxlIn0=</bd:templateData>
          </p:ext>
        </p:extLst>
      </p:sp>
      <p:sp>
        <p:nvSpPr>
          <p:cNvPr id="14" name="TextBox 14"/>
          <p:cNvSpPr txBox="1"/>
          <p:nvPr/>
        </p:nvSpPr>
        <p:spPr>
          <a:xfrm rot="0">
            <a:off x="5088947" y="3275506"/>
            <a:ext cx="2019300" cy="2947454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可采用拇指按压法，以适度力度揉按3-5分钟；或艾条温和灸5-10分钟，注意避免灼伤皮肤。针刺需由专业医师操作，直刺0.3-0.5寸，因刺激较强，孕妇及体弱者慎用。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eyJfdGVtcGxhdGVEYXRhIjp7ImNvbnRlbnRUeXBlIjoiJGl0ZW0zX2MiLCJsaW5lQ291bnQiOiIxMCIsIndvcmRDb3VudCI6IjEwIn0sInRhZyI6IiRpdGVtM19jIn0=</bd:templateData>
          </p:ext>
        </p:extLst>
      </p:sp>
      <p:sp>
        <p:nvSpPr>
          <p:cNvPr id="15" name="TextBox 15"/>
          <p:cNvSpPr txBox="1"/>
          <p:nvPr/>
        </p:nvSpPr>
        <p:spPr>
          <a:xfrm rot="0">
            <a:off x="5697116" y="1712738"/>
            <a:ext cx="802962" cy="730211"/>
          </a:xfrm>
          <a:prstGeom prst="rect">
            <a:avLst/>
          </a:prstGeom>
          <a:noFill/>
          <a:ln/>
        </p:spPr>
        <p:txBody>
          <a:bodyPr anchor="ctr" anchorCtr="0" bIns="0" lIns="0" rIns="0" rtlCol="0" tIns="0" vert="horz" wrap="non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id="16" name="AutoShape 16"/>
          <p:cNvSpPr/>
          <p:nvPr/>
        </p:nvSpPr>
        <p:spPr>
          <a:xfrm rot="0">
            <a:off x="7275952" y="2079919"/>
            <a:ext cx="2190750" cy="4398684"/>
          </a:xfrm>
          <a:prstGeom prst="round2SameRect">
            <a:avLst/>
          </a:prstGeom>
          <a:solidFill>
            <a:schemeClr val="lt2">
              <a:alpha val="8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7" name="AutoShape 17"/>
          <p:cNvSpPr/>
          <p:nvPr/>
        </p:nvSpPr>
        <p:spPr>
          <a:xfrm rot="0">
            <a:off x="7943464" y="1679885"/>
            <a:ext cx="855726" cy="85572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8" name="TextBox 18"/>
          <p:cNvSpPr txBox="1"/>
          <p:nvPr/>
        </p:nvSpPr>
        <p:spPr>
          <a:xfrm rot="0">
            <a:off x="7361677" y="3305411"/>
            <a:ext cx="2019300" cy="2980876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配合内关穴可增强宁心安神之效，治疗失眠多梦；配大陵穴可缓解口舌生疮；配涌泉穴可引火下行，改善阴虚火旺症状。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eyJfdGVtcGxhdGVEYXRhIjp7ImNvbnRlbnRUeXBlIjoiJGl0ZW00X2MiLCJsaW5lQ291bnQiOiIxMCIsIndvcmRDb3VudCI6IjEwIn0sInRhZyI6IiRpdGVtNF9jIn0=</bd:templateData>
          </p:ext>
        </p:extLst>
      </p:sp>
      <p:sp>
        <p:nvSpPr>
          <p:cNvPr id="19" name="TextBox 19"/>
          <p:cNvSpPr txBox="1"/>
          <p:nvPr/>
        </p:nvSpPr>
        <p:spPr>
          <a:xfrm rot="0">
            <a:off x="7969846" y="1742642"/>
            <a:ext cx="802962" cy="730211"/>
          </a:xfrm>
          <a:prstGeom prst="rect">
            <a:avLst/>
          </a:prstGeom>
          <a:noFill/>
          <a:ln/>
        </p:spPr>
        <p:txBody>
          <a:bodyPr anchor="ctr" anchorCtr="0" bIns="0" lIns="0" rIns="0" rtlCol="0" tIns="0" vert="horz" wrap="non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id="20" name="AutoShape 20"/>
          <p:cNvSpPr/>
          <p:nvPr/>
        </p:nvSpPr>
        <p:spPr>
          <a:xfrm rot="0">
            <a:off x="9548682" y="2050015"/>
            <a:ext cx="2190750" cy="4428588"/>
          </a:xfrm>
          <a:prstGeom prst="round2SameRect">
            <a:avLst/>
          </a:prstGeom>
          <a:solidFill>
            <a:schemeClr val="lt2">
              <a:alpha val="8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1" name="AutoShape 21"/>
          <p:cNvSpPr/>
          <p:nvPr/>
        </p:nvSpPr>
        <p:spPr>
          <a:xfrm rot="0">
            <a:off x="10216194" y="1649980"/>
            <a:ext cx="855726" cy="85572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2" name="TextBox 22"/>
          <p:cNvSpPr txBox="1"/>
          <p:nvPr/>
        </p:nvSpPr>
        <p:spPr>
          <a:xfrm rot="0">
            <a:off x="9634407" y="3275506"/>
            <a:ext cx="2019300" cy="2947454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长期用脑过度或情绪紧张者，可每日早晚各按揉劳宫穴100次，有助于消除疲劳、稳定情绪。手掌对搓至发热后按压此穴效果更佳。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eyJfdGVtcGxhdGVEYXRhIjp7ImNvbnRlbnRUeXBlIjoiJGl0ZW01X2MiLCJsaW5lQ291bnQiOiIxMCIsIndvcmRDb3VudCI6IjEwIn0sInRhZyI6IiRpdGVtNV9jIn0=</bd:templateData>
          </p:ext>
        </p:extLst>
      </p:sp>
      <p:sp>
        <p:nvSpPr>
          <p:cNvPr id="23" name="TextBox 23"/>
          <p:cNvSpPr txBox="1"/>
          <p:nvPr/>
        </p:nvSpPr>
        <p:spPr>
          <a:xfrm rot="0">
            <a:off x="10242576" y="1712738"/>
            <a:ext cx="802962" cy="730211"/>
          </a:xfrm>
          <a:prstGeom prst="rect">
            <a:avLst/>
          </a:prstGeom>
          <a:noFill/>
          <a:ln/>
        </p:spPr>
        <p:txBody>
          <a:bodyPr anchor="ctr" anchorCtr="0" bIns="0" lIns="0" rIns="0" rtlCol="0" tIns="0" vert="horz" wrap="non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id="24" name="TextBox 24"/>
          <p:cNvSpPr txBox="1"/>
          <p:nvPr/>
        </p:nvSpPr>
        <p:spPr>
          <a:xfrm rot="0">
            <a:off x="2896533" y="2634432"/>
            <a:ext cx="1817690" cy="704850"/>
          </a:xfrm>
          <a:prstGeom prst="rect">
            <a:avLst/>
          </a:prstGeom>
          <a:ln/>
        </p:spPr>
        <p:txBody>
          <a:bodyPr anchor="t" anchorCtr="0" bIns="0" lIns="0" rIns="0" rtlCol="0" tIns="0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b="1" lang="en-US" sz="1599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主治功能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eyJfdGVtcGxhdGVEYXRhIjp7ImNvbnRlbnRUeXBlIjoiJGl0ZW0yX3RpdGxlIiwibGluZUNvdW50IjoiMiIsIndvcmRDb3VudCI6IjcifSwidGFnIjoiJGl0ZW0yX3RpdGxlIn0=</bd:templateData>
          </p:ext>
        </p:extLst>
      </p:sp>
      <p:sp>
        <p:nvSpPr>
          <p:cNvPr id="25" name="TextBox 25"/>
          <p:cNvSpPr txBox="1"/>
          <p:nvPr/>
        </p:nvSpPr>
        <p:spPr>
          <a:xfrm rot="0">
            <a:off x="9717122" y="2634432"/>
            <a:ext cx="1817690" cy="704850"/>
          </a:xfrm>
          <a:prstGeom prst="rect">
            <a:avLst/>
          </a:prstGeom>
          <a:ln/>
        </p:spPr>
        <p:txBody>
          <a:bodyPr anchor="t" anchorCtr="0" bIns="0" lIns="0" rIns="0" rtlCol="0" tIns="0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b="1" lang="en-US" sz="1599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日常保健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eyJfdGVtcGxhdGVEYXRhIjp7ImNvbnRlbnRUeXBlIjoiJGl0ZW01X3RpdGxlIiwibGluZUNvdW50IjoiMiIsIndvcmRDb3VudCI6IjcifSwidGFnIjoiJGl0ZW01X3RpdGxlIn0=</bd:templateData>
          </p:ext>
        </p:extLst>
      </p:sp>
      <p:sp>
        <p:nvSpPr>
          <p:cNvPr id="26" name="TextBox 26"/>
          <p:cNvSpPr txBox="1"/>
          <p:nvPr/>
        </p:nvSpPr>
        <p:spPr>
          <a:xfrm rot="0">
            <a:off x="7426726" y="2634432"/>
            <a:ext cx="1817690" cy="704850"/>
          </a:xfrm>
          <a:prstGeom prst="rect">
            <a:avLst/>
          </a:prstGeom>
          <a:ln/>
        </p:spPr>
        <p:txBody>
          <a:bodyPr anchor="t" anchorCtr="0" bIns="0" lIns="0" rIns="0" rtlCol="0" tIns="0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b="1" lang="en-US" sz="1599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配伍应用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eyJfdGVtcGxhdGVEYXRhIjp7ImNvbnRlbnRUeXBlIjoiJGl0ZW00X3RpdGxlIiwibGluZUNvdW50IjoiMiIsIndvcmRDb3VudCI6IjcifSwidGFnIjoiJGl0ZW00X3RpdGxlIn0=</bd:templateData>
          </p:ext>
        </p:extLst>
      </p:sp>
      <p:sp>
        <p:nvSpPr>
          <p:cNvPr id="27" name="TextBox 27"/>
          <p:cNvSpPr txBox="1"/>
          <p:nvPr/>
        </p:nvSpPr>
        <p:spPr>
          <a:xfrm rot="0">
            <a:off x="588361" y="2634432"/>
            <a:ext cx="1817690" cy="704850"/>
          </a:xfrm>
          <a:prstGeom prst="rect">
            <a:avLst/>
          </a:prstGeom>
          <a:ln/>
        </p:spPr>
        <p:txBody>
          <a:bodyPr anchor="t" anchorCtr="0" bIns="0" lIns="0" rIns="0" rtlCol="0" tIns="0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b="1" lang="en-US" sz="1599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定位与取穴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eyJfdGVtcGxhdGVEYXRhIjp7ImNvbnRlbnRUeXBlIjoiJGl0ZW0xX3RpdGxlIiwibGluZUNvdW50IjoiMiIsIndvcmRDb3VudCI6IjcifSwidGFnIjoiJGl0ZW0xX3RpdGxlIn0=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Ks+Wuq+eptO+8iOWFu+W/g+Wuieelnu+8iVxuIyMjIOWumuS9jeS4juWPlueptFxu5Yqz5a6r56m05L2N5LqO5omL5o6M5b+D77yM5b2T56ysMuOAgTPmjozpqqjkuYvpl7TlgY/kuo7nrKwz5o6M6aqo77yM5o+h5ouz5bGI5oyH5pe25Lit5oyH5bCW5aSE44CC5Y+W56m05pe25Y+v6Ieq54S25o+h5ouz77yM5Lit5oyH5oyH5bCW5omA5a+55bqU55qE5o6M5b+D5L2N572u5Y2z5Li66K+l56m044CCXG4jIyMg5Li75rK75Yqf6IO9XG7mraTnqbTlhbfmnInmuIXlv4PngavjgIHlronlv4PnpZ7jgIHlvLrlgaXlv4PohI/nmoTkvZznlKjvvIzkuLvmsrvmmI/ov7fjgIHmmZXljqXjgIHkuK3mmpHjgIHlkZXlkJDjgIHlv4Pnl5vjgIHnmavni4LjgIHnl6vnl4fnrYnkuI7lv4PnpZ7nm7jlhbPnmoTnlr7mgqPvvIzlr7nnvJPop6Plv4PmgrjjgIHlpLHnnKDjgIHnhKbomZHnrYnkuqbmnInmmL7okZfmlYjmnpzjgIJcbiMjIyDliLrmv4Dmlrnms5VcbuWPr+mHh+eUqOaLh+aMh+aMieWOi+azle+8jOS7pemAguW6puWKm+W6puaPieaMiTMtNeWIhumSn++8m+aIluiJvuadoea4qeWSjOeBuDUtMTDliIbpkp/vvIzms6jmhI/pgb/lhY3ngbzkvKTnmq7ogqTjgILpkojliLrpnIDnlLHkuJPkuJrljLvluIjmk43kvZzvvIznm7TliLowLjMtMC415a+477yM5Zug5Yi65r+A6L6D5by677yM5a2V5aaH5Y+K5L2T5byx6ICF5oWO55So44CCXG4jIyMg6YWN5LyN5bqU55SoXG7phY3lkIjlhoXlhbPnqbTlj6/lop7lvLrlroHlv4PlronnpZ7kuYvmlYjvvIzmsrvnlpflpLHnnKDlpJrmoqbvvJvphY3lpKfpmbXnqbTlj6/nvJPop6Plj6PoiIznlJ/nlq7vvJvphY3mtozms4nnqbTlj6/lvJXngavkuIvooYzvvIzmlLnlloTpmLTomZrngavml7rnl4fnirbjgIJcbiMjIyDml6XluLjkv53lgaVcbumVv+acn+eUqOiEkei/h+W6puaIluaDhee7que0p+W8oOiAhe+8jOWPr+avj+aXpeaXqeaZmuWQhOaMieaPieWKs+Wuq+eptDEwMOasoe+8jOacieWKqeS6jua2iOmZpOeWsuWKs+OAgeeos+WumuaDhee7quOAguaJi+aOjOWvueaQk+iHs+WPkeeDreWQjuaMieWOi+atpOeptOaViOaenOabtOS9s+OAgiIsInRwbGlkIjoiODYiLCJ0cGxOYW1lIjoibGlzdDVfbG9uZ1RpdGxlMSIsImVkaXRlZCI6ImZhbHNlIn0=</bd:templateData>
    </p:ext>
  </p:extLs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合谷穴（缓解疼痛）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id="3" name="AutoShape 3"/>
          <p:cNvSpPr/>
          <p:nvPr/>
        </p:nvSpPr>
        <p:spPr>
          <a:xfrm rot="0">
            <a:off x="384075" y="1963339"/>
            <a:ext cx="3637467" cy="1772200"/>
          </a:xfrm>
          <a:prstGeom prst="roundRect">
            <a:avLst>
              <a:gd fmla="val 7233" name="adj"/>
            </a:avLst>
          </a:prstGeom>
          <a:solidFill>
            <a:schemeClr val="lt2">
              <a:alpha val="61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" name="TextBox 4"/>
          <p:cNvSpPr txBox="1"/>
          <p:nvPr/>
        </p:nvSpPr>
        <p:spPr>
          <a:xfrm rot="0">
            <a:off x="454011" y="2110898"/>
            <a:ext cx="3497596" cy="1379868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作为"四总穴"之一，具有通经活络、清热解表之效，主治头痛、目赤肿痛、牙痛、咽喉肿痛、鼻衄、耳聋等头面五官疾患，对腹痛、便秘、经闭等亦有调节作用。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eyJfdGVtcGxhdGVEYXRhIjp7ImNvbnRlbnRUeXBlIjoiJGl0ZW0xX2MiLCJsaW5lQ291bnQiOiI1Iiwid29yZENvdW50IjoiMjAifSwidGFnIjoiJGl0ZW0xX2MifQ==</bd:templateData>
          </p:ext>
        </p:extLst>
      </p:sp>
      <p:sp>
        <p:nvSpPr>
          <p:cNvPr id="5" name="TextBox 5"/>
          <p:cNvSpPr txBox="1"/>
          <p:nvPr/>
        </p:nvSpPr>
        <p:spPr>
          <a:xfrm rot="0">
            <a:off x="358275" y="1468323"/>
            <a:ext cx="3689067" cy="560391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b="1" lang="en-US" sz="17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主治功能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eyJfdGVtcGxhdGVEYXRhIjp7ImNvbnRlbnRUeXBlIjoiJGl0ZW0xX3RpdGxlIiwibGluZUNvdW50IjoiMSIsIndvcmRDb3VudCI6IjE1In0sInRhZyI6IiRpdGVtMV90aXRsZSJ9</bd:templateData>
          </p:ext>
        </p:extLst>
      </p:sp>
      <p:sp>
        <p:nvSpPr>
          <p:cNvPr id="6" name="AutoShape 6"/>
          <p:cNvSpPr/>
          <p:nvPr/>
        </p:nvSpPr>
        <p:spPr>
          <a:xfrm rot="0">
            <a:off x="4297736" y="1963339"/>
            <a:ext cx="3637467" cy="1772200"/>
          </a:xfrm>
          <a:prstGeom prst="roundRect">
            <a:avLst>
              <a:gd fmla="val 7233" name="adj"/>
            </a:avLst>
          </a:prstGeom>
          <a:solidFill>
            <a:schemeClr val="lt2">
              <a:alpha val="61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7" name="TextBox 7"/>
          <p:cNvSpPr txBox="1"/>
          <p:nvPr/>
        </p:nvSpPr>
        <p:spPr>
          <a:xfrm rot="0">
            <a:off x="4367671" y="2110898"/>
            <a:ext cx="3497596" cy="1379868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可用拇指指腹垂直按压，力度以产生酸胀感为宜，持续3-5分钟；艾灸时可悬灸5-8分钟。针刺时直刺0.5-1寸，孕妇禁用以防诱发宫缩。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eyJfdGVtcGxhdGVEYXRhIjp7ImNvbnRlbnRUeXBlIjoiJGl0ZW0yX2MiLCJsaW5lQ291bnQiOiI1Iiwid29yZENvdW50IjoiMjAifSwidGFnIjoiJGl0ZW0yX2MifQ==</bd:templateData>
          </p:ext>
        </p:extLst>
      </p:sp>
      <p:sp>
        <p:nvSpPr>
          <p:cNvPr id="8" name="TextBox 8"/>
          <p:cNvSpPr txBox="1"/>
          <p:nvPr/>
        </p:nvSpPr>
        <p:spPr>
          <a:xfrm rot="0">
            <a:off x="4271935" y="1468323"/>
            <a:ext cx="3689067" cy="560391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b="1" lang="en-US" sz="17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刺激方法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eyJfdGVtcGxhdGVEYXRhIjp7ImNvbnRlbnRUeXBlIjoiJGl0ZW0yX3RpdGxlIiwibGluZUNvdW50IjoiMSIsIndvcmRDb3VudCI6IjE1In0sInRhZyI6IiRpdGVtMl90aXRsZSJ9</bd:templateData>
          </p:ext>
        </p:extLst>
      </p:sp>
      <p:sp>
        <p:nvSpPr>
          <p:cNvPr id="9" name="AutoShape 9"/>
          <p:cNvSpPr/>
          <p:nvPr/>
        </p:nvSpPr>
        <p:spPr>
          <a:xfrm rot="0">
            <a:off x="2127802" y="4534143"/>
            <a:ext cx="3637467" cy="1772200"/>
          </a:xfrm>
          <a:prstGeom prst="roundRect">
            <a:avLst>
              <a:gd fmla="val 7233" name="adj"/>
            </a:avLst>
          </a:prstGeom>
          <a:solidFill>
            <a:schemeClr val="lt2">
              <a:alpha val="61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0" name="TextBox 10"/>
          <p:cNvSpPr txBox="1"/>
          <p:nvPr/>
        </p:nvSpPr>
        <p:spPr>
          <a:xfrm rot="0">
            <a:off x="2197737" y="4681702"/>
            <a:ext cx="3497596" cy="1379868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配太阳穴治偏头痛；配三阴交治痛经；配曲池穴可增强退热效果；配太冲穴称为"四关穴"，有疏肝理气、调和气血之效。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eyJfdGVtcGxhdGVEYXRhIjp7ImNvbnRlbnRUeXBlIjoiJGl0ZW00X2MiLCJsaW5lQ291bnQiOiI1Iiwid29yZENvdW50IjoiMjAifSwidGFnIjoiJGl0ZW00X2MifQ==</bd:templateData>
          </p:ext>
        </p:extLst>
      </p:sp>
      <p:sp>
        <p:nvSpPr>
          <p:cNvPr id="11" name="TextBox 11"/>
          <p:cNvSpPr txBox="1"/>
          <p:nvPr/>
        </p:nvSpPr>
        <p:spPr>
          <a:xfrm rot="0">
            <a:off x="2102002" y="4039126"/>
            <a:ext cx="3689067" cy="560391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b="1" lang="en-US" sz="17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配伍应用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eyJfdGVtcGxhdGVEYXRhIjp7ImNvbnRlbnRUeXBlIjoiJGl0ZW00X3RpdGxlIiwibGluZUNvdW50IjoiMSIsIndvcmRDb3VudCI6IjE1In0sInRhZyI6IiRpdGVtNF90aXRsZSJ9</bd:templateData>
          </p:ext>
        </p:extLst>
      </p:sp>
      <p:sp>
        <p:nvSpPr>
          <p:cNvPr id="12" name="AutoShape 12"/>
          <p:cNvSpPr/>
          <p:nvPr/>
        </p:nvSpPr>
        <p:spPr>
          <a:xfrm rot="0">
            <a:off x="6142390" y="4534143"/>
            <a:ext cx="3637467" cy="1772200"/>
          </a:xfrm>
          <a:prstGeom prst="roundRect">
            <a:avLst>
              <a:gd fmla="val 7233" name="adj"/>
            </a:avLst>
          </a:prstGeom>
          <a:solidFill>
            <a:schemeClr val="lt2">
              <a:alpha val="61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3" name="TextBox 13"/>
          <p:cNvSpPr txBox="1"/>
          <p:nvPr/>
        </p:nvSpPr>
        <p:spPr>
          <a:xfrm rot="0">
            <a:off x="6212325" y="4681702"/>
            <a:ext cx="3497596" cy="1379868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该穴刺激较强，体质虚弱者宜轻刺激；治疗牙痛时需配合患侧下关穴；长期按摩可预防感冒，但需避开皮肤破损处。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eyJfdGVtcGxhdGVEYXRhIjp7ImNvbnRlbnRUeXBlIjoiJGl0ZW01X2MiLCJsaW5lQ291bnQiOiI1Iiwid29yZENvdW50IjoiMjAifSwidGFnIjoiJGl0ZW01X2MifQ==</bd:templateData>
          </p:ext>
        </p:extLst>
      </p:sp>
      <p:sp>
        <p:nvSpPr>
          <p:cNvPr id="14" name="TextBox 14"/>
          <p:cNvSpPr txBox="1"/>
          <p:nvPr/>
        </p:nvSpPr>
        <p:spPr>
          <a:xfrm rot="0">
            <a:off x="6116589" y="4039126"/>
            <a:ext cx="3689067" cy="560391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b="1" lang="en-US" sz="17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注意事项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eyJfdGVtcGxhdGVEYXRhIjp7ImNvbnRlbnRUeXBlIjoiJGl0ZW01X3RpdGxlIiwibGluZUNvdW50IjoiMSIsIndvcmRDb3VudCI6IjE1In0sInRhZyI6IiRpdGVtNV90aXRsZSJ9</bd:templateData>
          </p:ext>
        </p:extLst>
      </p:sp>
      <p:sp>
        <p:nvSpPr>
          <p:cNvPr id="15" name="AutoShape 15"/>
          <p:cNvSpPr/>
          <p:nvPr/>
        </p:nvSpPr>
        <p:spPr>
          <a:xfrm rot="0">
            <a:off x="8177754" y="1963339"/>
            <a:ext cx="3637467" cy="1772200"/>
          </a:xfrm>
          <a:prstGeom prst="roundRect">
            <a:avLst>
              <a:gd fmla="val 7233" name="adj"/>
            </a:avLst>
          </a:prstGeom>
          <a:solidFill>
            <a:schemeClr val="lt2">
              <a:alpha val="61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6" name="TextBox 16"/>
          <p:cNvSpPr txBox="1"/>
          <p:nvPr/>
        </p:nvSpPr>
        <p:spPr>
          <a:xfrm rot="0">
            <a:off x="8247690" y="2110898"/>
            <a:ext cx="3497596" cy="1379868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实验表明刺激合谷穴能促进脑内啡肽分泌，其镇痛效果相当于部分镇痛药物；对自主神经系统有双向调节作用，可改善胃肠功能紊乱。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eyJfdGVtcGxhdGVEYXRhIjp7ImNvbnRlbnRUeXBlIjoiJGl0ZW0zX2MiLCJsaW5lQ291bnQiOiI1Iiwid29yZENvdW50IjoiMjAifSwidGFnIjoiJGl0ZW0zX2MifQ==</bd:templateData>
          </p:ext>
        </p:extLst>
      </p:sp>
      <p:sp>
        <p:nvSpPr>
          <p:cNvPr id="17" name="TextBox 17"/>
          <p:cNvSpPr txBox="1"/>
          <p:nvPr/>
        </p:nvSpPr>
        <p:spPr>
          <a:xfrm rot="0">
            <a:off x="8151954" y="1468323"/>
            <a:ext cx="3689067" cy="560391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b="1" lang="en-US" sz="17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现代研究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eyJfdGVtcGxhdGVEYXRhIjp7ImNvbnRlbnRUeXBlIjoiJGl0ZW0zX3RpdGxlIiwibGluZUNvdW50IjoiMSIsIndvcmRDb3VudCI6IjE1In0sInRhZyI6IiRpdGVtM190aXRsZSJ9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QiOiwt+eptO+8iOe8k+ino+eWvOeXm++8iVxuIyMjIOS4u+ayu+WKn+iDvVxu5L2c5Li6XCLlm5vmgLvnqbRcIuS5i+S4gO+8jOWFt+aciemAmue7j+a0u+e7nOOAgea4heeDreino+ihqOS5i+aViO+8jOS4u+ayu+WktOeXm+OAgeebrui1pOiCv+eXm+OAgeeJmeeXm+OAgeWSveWWieiCv+eXm+OAgem8u+ihhOOAgeiAs+iBi+etieWktOmdouS6lOWumOeWvuaCo++8jOWvueiFueeXm+OAgeS+v+enmOOAgee7j+mXreetieS6puacieiwg+iKguS9nOeUqOOAglxuIyMjIOWIuua/gOaWueazlVxu5Y+v55So5ouH5oyH5oyH6IW55Z6C55u05oyJ5Y6L77yM5Yqb5bqm5Lul5Lqn55Sf6YW46IOA5oSf5Li65a6c77yM5oyB57utMy015YiG6ZKf77yb6Im+54G45pe25Y+v5oKs54G4NS045YiG6ZKf44CC6ZKI5Yi65pe255u05Yi6MC41LTHlr7jvvIzlrZXlpofnpoHnlKjku6XpmLLor7Hlj5HlrqvnvKnjgIJcbiMjIyDnjrDku6PnoJTnqbZcbuWunumqjOihqOaYjuWIuua/gOWQiOiwt+eptOiDveS/g+i/m+iEkeWGheWVoeiCveWIhuazjO+8jOWFtumVh+eXm+aViOaenOebuOW9k+S6jumDqOWIhumVh+eXm+iNr+eJqe+8m+WvueiHquS4u+elnue7j+ezu+e7n+acieWPjOWQkeiwg+iKguS9nOeUqO+8jOWPr+aUueWWhOiDg+iCoOWKn+iDvee0iuS5seOAglxuIyMjIOmFjeS8jeW6lOeUqFxu6YWN5aSq6Ziz56m05rK75YGP5aS055eb77yb6YWN5LiJ6Zi05Lqk5rK755eb57uP77yb6YWN5puy5rGg56m05Y+v5aKe5by66YCA54Ot5pWI5p6c77yb6YWN5aSq5Yay56m056ew5Li6XCLlm5vlhbPnqbRcIu+8jOacieeWj+iCneeQhuawlOOAgeiwg+WSjOawlOihgOS5i+aViOOAglxuIyMjIOazqOaEj+S6i+mhuVxu6K+l56m05Yi65r+A6L6D5by677yM5L2T6LSo6Jma5byx6ICF5a6c6L275Yi65r+A77yb5rK755aX54mZ55eb5pe26ZyA6YWN5ZCI5oKj5L6n5LiL5YWz56m077yb6ZW/5pyf5oyJ5pGp5Y+v6aKE6Ziy5oSf5YaS77yM5L2G6ZyA6YG/5byA55qu6IKk56C05o2f5aSE44CCIiwidHBsaWQiOiI4NiIsInRwbE5hbWUiOiJsaXN0NV9sb25nVGl0bGU0IiwiZWRpdGVkIjoiZmFsc2UifQ==</bd:templateData>
    </p:ext>
  </p:extLs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rot="0">
            <a:off x="619335" y="3608265"/>
            <a:ext cx="2528378" cy="2528378"/>
          </a:xfrm>
          <a:prstGeom prst="blockArc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" name="AutoShape 3"/>
          <p:cNvSpPr/>
          <p:nvPr/>
        </p:nvSpPr>
        <p:spPr>
          <a:xfrm rot="0">
            <a:off x="9066112" y="1570545"/>
            <a:ext cx="2528119" cy="2528119"/>
          </a:xfrm>
          <a:prstGeom prst="blockArc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" name="AutoShape 4"/>
          <p:cNvSpPr/>
          <p:nvPr/>
        </p:nvSpPr>
        <p:spPr>
          <a:xfrm rot="0">
            <a:off x="856343" y="4357420"/>
            <a:ext cx="10737888" cy="1030068"/>
          </a:xfrm>
          <a:prstGeom prst="roundRect">
            <a:avLst>
              <a:gd fmla="val 0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5" name="AutoShape 5"/>
          <p:cNvSpPr/>
          <p:nvPr/>
        </p:nvSpPr>
        <p:spPr>
          <a:xfrm rot="0">
            <a:off x="707860" y="2308745"/>
            <a:ext cx="10700369" cy="1030068"/>
          </a:xfrm>
          <a:prstGeom prst="roundRect">
            <a:avLst>
              <a:gd fmla="val 0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6" name="AutoShape 6"/>
          <p:cNvSpPr/>
          <p:nvPr/>
        </p:nvSpPr>
        <p:spPr>
          <a:xfrm rot="5400000">
            <a:off x="9064705" y="1570545"/>
            <a:ext cx="2528119" cy="2528119"/>
          </a:xfrm>
          <a:prstGeom prst="blockArc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7" name="AutoShape 7"/>
          <p:cNvSpPr/>
          <p:nvPr/>
        </p:nvSpPr>
        <p:spPr>
          <a:xfrm flipH="1" rot="16200000">
            <a:off x="619335" y="3608265"/>
            <a:ext cx="2528378" cy="2528378"/>
          </a:xfrm>
          <a:prstGeom prst="blockArc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8" name="AutoShape 8"/>
          <p:cNvSpPr/>
          <p:nvPr/>
        </p:nvSpPr>
        <p:spPr>
          <a:xfrm rot="0">
            <a:off x="1873999" y="5623796"/>
            <a:ext cx="9720232" cy="503999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9" name="AutoShape 9"/>
          <p:cNvSpPr/>
          <p:nvPr/>
        </p:nvSpPr>
        <p:spPr>
          <a:xfrm rot="0">
            <a:off x="1873999" y="3598487"/>
            <a:ext cx="8464570" cy="500178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0" name="AutoShape 10"/>
          <p:cNvSpPr/>
          <p:nvPr/>
        </p:nvSpPr>
        <p:spPr>
          <a:xfrm rot="0">
            <a:off x="2833966" y="5470278"/>
            <a:ext cx="1249349" cy="792000"/>
          </a:xfrm>
          <a:prstGeom prst="chevron">
            <a:avLst/>
          </a:prstGeom>
          <a:solidFill>
            <a:schemeClr val="accen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1" name="AutoShape 11"/>
          <p:cNvSpPr/>
          <p:nvPr/>
        </p:nvSpPr>
        <p:spPr>
          <a:xfrm rot="0">
            <a:off x="7951304" y="5470278"/>
            <a:ext cx="1249349" cy="792000"/>
          </a:xfrm>
          <a:prstGeom prst="chevron">
            <a:avLst/>
          </a:prstGeom>
          <a:solidFill>
            <a:schemeClr val="accent3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2" name="AutoShape 12"/>
          <p:cNvSpPr/>
          <p:nvPr/>
        </p:nvSpPr>
        <p:spPr>
          <a:xfrm flipH="1" rot="0">
            <a:off x="2833966" y="3450622"/>
            <a:ext cx="1249349" cy="792000"/>
          </a:xfrm>
          <a:prstGeom prst="chevron">
            <a:avLst/>
          </a:prstGeom>
          <a:solidFill>
            <a:schemeClr val="accent3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3" name="AutoShape 13"/>
          <p:cNvSpPr/>
          <p:nvPr/>
        </p:nvSpPr>
        <p:spPr>
          <a:xfrm flipH="1" rot="0">
            <a:off x="7951304" y="3450622"/>
            <a:ext cx="1249349" cy="792000"/>
          </a:xfrm>
          <a:prstGeom prst="chevron">
            <a:avLst/>
          </a:prstGeom>
          <a:solidFill>
            <a:schemeClr val="accen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4" name="Freeform 14"/>
          <p:cNvSpPr/>
          <p:nvPr/>
        </p:nvSpPr>
        <p:spPr>
          <a:xfrm rot="0">
            <a:off x="479961" y="1576029"/>
            <a:ext cx="9878384" cy="500399"/>
          </a:xfrm>
          <a:custGeom>
            <a:avLst/>
            <a:gdLst/>
            <a:ahLst/>
            <a:cxnLst/>
            <a:rect b="b" l="l" r="r" t="t"/>
            <a:pathLst>
              <a:path h="500399" w="9878384">
                <a:moveTo>
                  <a:pt x="0" y="0"/>
                </a:moveTo>
                <a:lnTo>
                  <a:pt x="9878384" y="0"/>
                </a:lnTo>
                <a:lnTo>
                  <a:pt x="9878384" y="500399"/>
                </a:lnTo>
                <a:lnTo>
                  <a:pt x="9293" y="500399"/>
                </a:lnTo>
                <a:lnTo>
                  <a:pt x="254846" y="254846"/>
                </a:lnTo>
                <a:lnTo>
                  <a:pt x="0" y="0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5" name="AutoShape 15"/>
          <p:cNvSpPr/>
          <p:nvPr/>
        </p:nvSpPr>
        <p:spPr>
          <a:xfrm flipH="1" rot="5400000">
            <a:off x="11478657" y="5739369"/>
            <a:ext cx="503999" cy="272854"/>
          </a:xfrm>
          <a:prstGeom prst="triangle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6" name="AutoShape 16"/>
          <p:cNvSpPr/>
          <p:nvPr/>
        </p:nvSpPr>
        <p:spPr>
          <a:xfrm rot="0">
            <a:off x="2833966" y="1434874"/>
            <a:ext cx="1249349" cy="792000"/>
          </a:xfrm>
          <a:prstGeom prst="chevron">
            <a:avLst/>
          </a:prstGeom>
          <a:solidFill>
            <a:schemeClr val="accen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7" name="AutoShape 17"/>
          <p:cNvSpPr/>
          <p:nvPr/>
        </p:nvSpPr>
        <p:spPr>
          <a:xfrm rot="0">
            <a:off x="7951304" y="1434874"/>
            <a:ext cx="1249349" cy="792000"/>
          </a:xfrm>
          <a:prstGeom prst="chevron">
            <a:avLst/>
          </a:prstGeom>
          <a:solidFill>
            <a:schemeClr val="accent3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8" name="AutoShape 18"/>
          <p:cNvSpPr/>
          <p:nvPr/>
        </p:nvSpPr>
        <p:spPr>
          <a:xfrm rot="0">
            <a:off x="3104477" y="1649260"/>
            <a:ext cx="734083" cy="332399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01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id="19" name="AutoShape 19"/>
          <p:cNvSpPr/>
          <p:nvPr/>
        </p:nvSpPr>
        <p:spPr>
          <a:xfrm rot="0">
            <a:off x="8208936" y="1649260"/>
            <a:ext cx="734083" cy="31630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02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0" name="AutoShape 20"/>
          <p:cNvSpPr/>
          <p:nvPr/>
        </p:nvSpPr>
        <p:spPr>
          <a:xfrm rot="0">
            <a:off x="3047325" y="3658365"/>
            <a:ext cx="734083" cy="31630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04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id="21" name="AutoShape 21"/>
          <p:cNvSpPr/>
          <p:nvPr/>
        </p:nvSpPr>
        <p:spPr>
          <a:xfrm rot="0">
            <a:off x="8208936" y="3658365"/>
            <a:ext cx="734083" cy="31630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03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id="22" name="AutoShape 22"/>
          <p:cNvSpPr/>
          <p:nvPr/>
        </p:nvSpPr>
        <p:spPr>
          <a:xfrm rot="0">
            <a:off x="3104477" y="5680348"/>
            <a:ext cx="734083" cy="31630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05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id="23" name="AutoShape 23"/>
          <p:cNvSpPr/>
          <p:nvPr/>
        </p:nvSpPr>
        <p:spPr>
          <a:xfrm rot="0">
            <a:off x="8266088" y="5680348"/>
            <a:ext cx="734083" cy="31630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06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4" name="TextBox 24"/>
          <p:cNvSpPr txBox="1"/>
          <p:nvPr/>
        </p:nvSpPr>
        <p:spPr>
          <a:xfrm flipH="1" rot="0">
            <a:off x="1281539" y="1751128"/>
            <a:ext cx="1639118" cy="18097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999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取穴法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eyJfdGVtcGxhdGVEYXRhIjp7ImxpbmVDb3VudCI6IjEiLCJ3b3JkQ291bnQiOiI3In0sInRhZyI6Im5vRWRpdCJ9</bd:templateData>
          </p:ext>
        </p:extLst>
      </p:sp>
      <p:cxnSp>
        <p:nvCxnSpPr>
          <p:cNvPr id="25" name="Connector 25"/>
          <p:cNvCxnSpPr/>
          <p:nvPr/>
        </p:nvCxnSpPr>
        <p:spPr>
          <a:xfrm flipH="1">
            <a:off x="3793883" y="3851542"/>
            <a:ext cx="4157420" cy="0"/>
          </a:xfrm>
          <a:prstGeom prst="line">
            <a:avLst/>
          </a:prstGeom>
          <a:ln w="19050">
            <a:solidFill>
              <a:srgbClr val="FFFFFF">
                <a:alpha val="100000"/>
              </a:srgbClr>
            </a:solidFill>
            <a:prstDash val="dash"/>
            <a:headEnd type="none"/>
            <a:tailEnd type="triangle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26" name="TextBox 26"/>
          <p:cNvSpPr txBox="1"/>
          <p:nvPr/>
        </p:nvSpPr>
        <p:spPr>
          <a:xfrm rot="0">
            <a:off x="5140151" y="1615194"/>
            <a:ext cx="1631970" cy="222314"/>
          </a:xfrm>
          <a:prstGeom prst="rect">
            <a:avLst/>
          </a:prstGeom>
          <a:ln/>
        </p:spPr>
        <p:txBody>
          <a:bodyPr anchor="t" anchorCtr="0" bIns="25432" lIns="25432" rIns="25432" rtlCol="0" tIns="25432" vert="horz"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1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手部位置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eyJfdGVtcGxhdGVEYXRhIjp7ImxpbmVDb3VudCI6IjEiLCJ3b3JkQ291bnQiOiI4In0sInRhZyI6Im5vRWRpdCJ9</bd:templateData>
          </p:ext>
        </p:extLst>
      </p:sp>
      <p:sp>
        <p:nvSpPr>
          <p:cNvPr id="27" name="TextBox 27"/>
          <p:cNvSpPr txBox="1"/>
          <p:nvPr/>
        </p:nvSpPr>
        <p:spPr>
          <a:xfrm flipH="1" rot="0">
            <a:off x="9296674" y="1751128"/>
            <a:ext cx="1379678" cy="18097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99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按摩手法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eyJfdGVtcGxhdGVEYXRhIjp7ImxpbmVDb3VudCI6IjEiLCJ3b3JkQ291bnQiOiI2In0sInRhZyI6Im5vRWRpdCJ9</bd:templateData>
          </p:ext>
        </p:extLst>
      </p:sp>
      <p:sp>
        <p:nvSpPr>
          <p:cNvPr id="28" name="TextBox 28"/>
          <p:cNvSpPr txBox="1"/>
          <p:nvPr/>
        </p:nvSpPr>
        <p:spPr>
          <a:xfrm rot="0">
            <a:off x="997215" y="2750464"/>
            <a:ext cx="2145030" cy="45339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113999"/>
              </a:lnSpc>
            </a:pPr>
            <a:r>
              <a:rPr lang="en-US" sz="999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位于第一掌骨中点桡侧，赤白肉际处。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eyJfdGVtcGxhdGVEYXRhIjp7ImxpbmVDb3VudCI6IjIiLCJ3b3JkQ291bnQiOiIxNCJ9LCJ0YWciOiJub0VkaXQifQ==</bd:templateData>
          </p:ext>
        </p:extLst>
      </p:sp>
      <p:sp>
        <p:nvSpPr>
          <p:cNvPr id="29" name="Freeform 29"/>
          <p:cNvSpPr/>
          <p:nvPr/>
        </p:nvSpPr>
        <p:spPr>
          <a:xfrm flipH="1" rot="0">
            <a:off x="3508009" y="2445697"/>
            <a:ext cx="88096" cy="763618"/>
          </a:xfrm>
          <a:custGeom>
            <a:avLst/>
            <a:gdLst/>
            <a:ahLst/>
            <a:cxnLst/>
            <a:rect b="b" l="l" r="r" t="t"/>
            <a:pathLst>
              <a:path h="225425" w="6350">
                <a:moveTo>
                  <a:pt x="0" y="0"/>
                </a:moveTo>
                <a:lnTo>
                  <a:pt x="0" y="225425"/>
                </a:lnTo>
              </a:path>
            </a:pathLst>
          </a:custGeom>
          <a:noFill/>
          <a:ln w="1270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0" name="Freeform 30"/>
          <p:cNvSpPr/>
          <p:nvPr/>
        </p:nvSpPr>
        <p:spPr>
          <a:xfrm flipH="1" rot="0">
            <a:off x="6948622" y="2445697"/>
            <a:ext cx="88096" cy="763618"/>
          </a:xfrm>
          <a:custGeom>
            <a:avLst/>
            <a:gdLst/>
            <a:ahLst/>
            <a:cxnLst/>
            <a:rect b="b" l="l" r="r" t="t"/>
            <a:pathLst>
              <a:path h="225425" w="6350">
                <a:moveTo>
                  <a:pt x="0" y="0"/>
                </a:moveTo>
                <a:lnTo>
                  <a:pt x="0" y="225425"/>
                </a:lnTo>
              </a:path>
            </a:pathLst>
          </a:custGeom>
          <a:noFill/>
          <a:ln w="1270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1" name="TextBox 31"/>
          <p:cNvSpPr txBox="1"/>
          <p:nvPr/>
        </p:nvSpPr>
        <p:spPr>
          <a:xfrm flipH="1" rot="0">
            <a:off x="1596681" y="5807042"/>
            <a:ext cx="1323975" cy="17145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999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禁忌人群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eyJfdGVtcGxhdGVEYXRhIjp7ImxpbmVDb3VudCI6IjEiLCJ3b3JkQ291bnQiOiI3In0sInRhZyI6Im5vRWRpdCJ9</bd:templateData>
          </p:ext>
        </p:extLst>
      </p:sp>
      <p:cxnSp>
        <p:nvCxnSpPr>
          <p:cNvPr id="32" name="Connector 32"/>
          <p:cNvCxnSpPr/>
          <p:nvPr/>
        </p:nvCxnSpPr>
        <p:spPr>
          <a:xfrm>
            <a:off x="4051516" y="5873525"/>
            <a:ext cx="4157420" cy="0"/>
          </a:xfrm>
          <a:prstGeom prst="line">
            <a:avLst/>
          </a:prstGeom>
          <a:ln w="19050">
            <a:solidFill>
              <a:srgbClr val="FFFFFF">
                <a:alpha val="100000"/>
              </a:srgbClr>
            </a:solidFill>
            <a:prstDash val="dash"/>
            <a:headEnd type="none"/>
            <a:tailEnd type="triangle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33" name="TextBox 33"/>
          <p:cNvSpPr txBox="1"/>
          <p:nvPr/>
        </p:nvSpPr>
        <p:spPr>
          <a:xfrm rot="0">
            <a:off x="5140151" y="5659160"/>
            <a:ext cx="1631970" cy="222314"/>
          </a:xfrm>
          <a:prstGeom prst="rect">
            <a:avLst/>
          </a:prstGeom>
          <a:ln/>
        </p:spPr>
        <p:txBody>
          <a:bodyPr anchor="t" anchorCtr="0" bIns="25432" lIns="25432" rIns="25432" rtlCol="0" tIns="25432" vert="horz"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1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常见问题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4" name="TextBox 34"/>
          <p:cNvSpPr txBox="1"/>
          <p:nvPr/>
        </p:nvSpPr>
        <p:spPr>
          <a:xfrm flipH="1" rot="0">
            <a:off x="9296674" y="5792150"/>
            <a:ext cx="1843123" cy="18097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99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增强效果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eyJfdGVtcGxhdGVEYXRhIjp7ImxpbmVDb3VudCI6IjEiLCJ3b3JkQ291bnQiOiI3In0sInRhZyI6Im5vRWRpdCJ9</bd:templateData>
          </p:ext>
        </p:extLst>
      </p:sp>
      <p:sp>
        <p:nvSpPr>
          <p:cNvPr id="35" name="Freeform 35"/>
          <p:cNvSpPr/>
          <p:nvPr/>
        </p:nvSpPr>
        <p:spPr>
          <a:xfrm flipH="1" rot="0">
            <a:off x="4667895" y="4494372"/>
            <a:ext cx="88096" cy="763618"/>
          </a:xfrm>
          <a:custGeom>
            <a:avLst/>
            <a:gdLst/>
            <a:ahLst/>
            <a:cxnLst/>
            <a:rect b="b" l="l" r="r" t="t"/>
            <a:pathLst>
              <a:path h="225425" w="6350">
                <a:moveTo>
                  <a:pt x="0" y="0"/>
                </a:moveTo>
                <a:lnTo>
                  <a:pt x="0" y="225425"/>
                </a:lnTo>
              </a:path>
            </a:pathLst>
          </a:custGeom>
          <a:noFill/>
          <a:ln w="1270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6" name="Freeform 36"/>
          <p:cNvSpPr/>
          <p:nvPr/>
        </p:nvSpPr>
        <p:spPr>
          <a:xfrm flipH="1" rot="0">
            <a:off x="8108508" y="4494372"/>
            <a:ext cx="88096" cy="763618"/>
          </a:xfrm>
          <a:custGeom>
            <a:avLst/>
            <a:gdLst/>
            <a:ahLst/>
            <a:cxnLst/>
            <a:rect b="b" l="l" r="r" t="t"/>
            <a:pathLst>
              <a:path h="225425" w="6350">
                <a:moveTo>
                  <a:pt x="0" y="0"/>
                </a:moveTo>
                <a:lnTo>
                  <a:pt x="0" y="225425"/>
                </a:lnTo>
              </a:path>
            </a:pathLst>
          </a:custGeom>
          <a:noFill/>
          <a:ln w="1270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cxnSp>
        <p:nvCxnSpPr>
          <p:cNvPr id="37" name="Connector 37"/>
          <p:cNvCxnSpPr/>
          <p:nvPr/>
        </p:nvCxnSpPr>
        <p:spPr>
          <a:xfrm>
            <a:off x="4051516" y="1842438"/>
            <a:ext cx="4157420" cy="0"/>
          </a:xfrm>
          <a:prstGeom prst="line">
            <a:avLst/>
          </a:prstGeom>
          <a:ln w="19050">
            <a:solidFill>
              <a:srgbClr val="FFFFFF">
                <a:alpha val="100000"/>
              </a:srgbClr>
            </a:solidFill>
            <a:prstDash val="dash"/>
            <a:headEnd type="none"/>
            <a:tailEnd type="triangle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38" name="TextBox 38"/>
          <p:cNvSpPr txBox="1"/>
          <p:nvPr/>
        </p:nvSpPr>
        <p:spPr>
          <a:xfrm rot="0">
            <a:off x="5140151" y="3637177"/>
            <a:ext cx="1631970" cy="222314"/>
          </a:xfrm>
          <a:prstGeom prst="rect">
            <a:avLst/>
          </a:prstGeom>
          <a:ln/>
        </p:spPr>
        <p:txBody>
          <a:bodyPr anchor="t" anchorCtr="0" bIns="25432" lIns="25432" rIns="25432" rtlCol="0" tIns="25432" vert="horz"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1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预防感冒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eyJfdGVtcGxhdGVEYXRhIjp7ImxpbmVDb3VudCI6IjEiLCJ3b3JkQ291bnQiOiI4In0sInRhZyI6Im5vRWRpdCJ9</bd:templateData>
          </p:ext>
        </p:extLst>
      </p:sp>
      <p:sp>
        <p:nvSpPr>
          <p:cNvPr id="39" name="TextBox 39"/>
          <p:cNvSpPr txBox="1"/>
          <p:nvPr/>
        </p:nvSpPr>
        <p:spPr>
          <a:xfrm flipH="1" rot="0">
            <a:off x="1523823" y="3774228"/>
            <a:ext cx="1228725" cy="17145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999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操作步骤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eyJfdGVtcGxhdGVEYXRhIjp7ImxpbmVDb3VudCI6IjEiLCJ3b3JkQ291bnQiOiI3In0sInRhZyI6Im5vRWRpdCJ9</bd:templateData>
          </p:ext>
        </p:extLst>
      </p:sp>
      <p:sp>
        <p:nvSpPr>
          <p:cNvPr id="40" name="TextBox 40"/>
          <p:cNvSpPr txBox="1"/>
          <p:nvPr/>
        </p:nvSpPr>
        <p:spPr>
          <a:xfrm flipH="1" rot="0">
            <a:off x="9149190" y="3774228"/>
            <a:ext cx="1527162" cy="18097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99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艾灸疗法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eyJfdGVtcGxhdGVEYXRhIjp7ImxpbmVDb3VudCI6IjEiLCJ3b3JkQ291bnQiOiI4In0sInRhZyI6Im5vRWRpdCJ9</bd:templateData>
          </p:ext>
        </p:extLst>
      </p:sp>
      <p:sp>
        <p:nvSpPr>
          <p:cNvPr id="41" name="TextBox 41"/>
          <p:cNvSpPr txBox="1"/>
          <p:nvPr/>
        </p:nvSpPr>
        <p:spPr>
          <a:xfrm flipH="1" rot="0">
            <a:off x="1092032" y="2516745"/>
            <a:ext cx="1743075" cy="22860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穴位解剖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eyJfdGVtcGxhdGVEYXRhIjp7ImxpbmVDb3VudCI6IjEiLCJ3b3JkQ291bnQiOiI2In0sInRhZyI6Im5vRWRpdCJ9</bd:templateData>
          </p:ext>
        </p:extLst>
      </p:sp>
      <p:sp>
        <p:nvSpPr>
          <p:cNvPr id="42" name="TextBox 42"/>
          <p:cNvSpPr txBox="1"/>
          <p:nvPr/>
        </p:nvSpPr>
        <p:spPr>
          <a:xfrm rot="0">
            <a:off x="4363290" y="2750464"/>
            <a:ext cx="2145030" cy="45339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113999"/>
              </a:lnSpc>
            </a:pPr>
            <a:r>
              <a:rPr lang="en-US" sz="999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缓解咳嗽、咽痛，预防感冒，清肺泻热。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eyJfdGVtcGxhdGVEYXRhIjp7ImxpbmVDb3VudCI6IjIiLCJ3b3JkQ291bnQiOiIxNCJ9LCJ0YWciOiJub0VkaXQifQ==</bd:templateData>
          </p:ext>
        </p:extLst>
      </p:sp>
      <p:sp>
        <p:nvSpPr>
          <p:cNvPr id="43" name="TextBox 43"/>
          <p:cNvSpPr txBox="1"/>
          <p:nvPr/>
        </p:nvSpPr>
        <p:spPr>
          <a:xfrm flipH="1" rot="0">
            <a:off x="4458107" y="2516745"/>
            <a:ext cx="1743075" cy="22860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功能主治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eyJfdGVtcGxhdGVEYXRhIjp7ImxpbmVDb3VudCI6IjEiLCJ3b3JkQ291bnQiOiI2In0sInRhZyI6Im5vRWRpdCJ9</bd:templateData>
          </p:ext>
        </p:extLst>
      </p:sp>
      <p:sp>
        <p:nvSpPr>
          <p:cNvPr id="44" name="TextBox 44"/>
          <p:cNvSpPr txBox="1"/>
          <p:nvPr/>
        </p:nvSpPr>
        <p:spPr>
          <a:xfrm rot="0">
            <a:off x="7450089" y="2750464"/>
            <a:ext cx="2145030" cy="634365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113999"/>
              </a:lnSpc>
            </a:pPr>
            <a:r>
              <a:rPr lang="en-US" sz="999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拇指按压3分钟，配合深呼吸效果更佳。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eyJfdGVtcGxhdGVEYXRhIjp7ImxpbmVDb3VudCI6IjMiLCJ3b3JkQ291bnQiOiIxNCJ9LCJ0YWciOiJub0VkaXQifQ==</bd:templateData>
          </p:ext>
        </p:extLst>
      </p:sp>
      <p:sp>
        <p:nvSpPr>
          <p:cNvPr id="45" name="TextBox 45"/>
          <p:cNvSpPr txBox="1"/>
          <p:nvPr/>
        </p:nvSpPr>
        <p:spPr>
          <a:xfrm flipH="1" rot="0">
            <a:off x="7544906" y="2516745"/>
            <a:ext cx="1743075" cy="22860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操作要点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eyJfdGVtcGxhdGVEYXRhIjp7ImxpbmVDb3VudCI6IjEiLCJ3b3JkQ291bnQiOiI2In0sInRhZyI6Im5vRWRpdCJ9</bd:templateData>
          </p:ext>
        </p:extLst>
      </p:sp>
      <p:sp>
        <p:nvSpPr>
          <p:cNvPr id="46" name="TextBox 46"/>
          <p:cNvSpPr txBox="1"/>
          <p:nvPr/>
        </p:nvSpPr>
        <p:spPr>
          <a:xfrm rot="0">
            <a:off x="2410559" y="4811493"/>
            <a:ext cx="2145030" cy="45339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113999"/>
              </a:lnSpc>
            </a:pPr>
            <a:r>
              <a:rPr lang="en-US" sz="999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与合谷穴、列缺穴配伍可增强宣肺功效。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7" name="TextBox 47"/>
          <p:cNvSpPr txBox="1"/>
          <p:nvPr/>
        </p:nvSpPr>
        <p:spPr>
          <a:xfrm flipH="1" rot="0">
            <a:off x="2505376" y="4577774"/>
            <a:ext cx="1743075" cy="22860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配伍穴位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eyJfdGVtcGxhdGVEYXRhIjp7ImxpbmVDb3VudCI6IjEiLCJ3b3JkQ291bnQiOiI2In0sInRhZyI6Im5vRWRpdCJ9</bd:templateData>
          </p:ext>
        </p:extLst>
      </p:sp>
      <p:sp>
        <p:nvSpPr>
          <p:cNvPr id="48" name="TextBox 48"/>
          <p:cNvSpPr txBox="1"/>
          <p:nvPr/>
        </p:nvSpPr>
        <p:spPr>
          <a:xfrm rot="0">
            <a:off x="5497358" y="4811493"/>
            <a:ext cx="2145030" cy="45339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113999"/>
              </a:lnSpc>
            </a:pPr>
            <a:r>
              <a:rPr lang="en-US" sz="999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刺激该穴可提升IgA水平，增强呼吸道免疫力。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eyJfdGVtcGxhdGVEYXRhIjp7ImxpbmVDb3VudCI6IjIiLCJ3b3JkQ291bnQiOiIxNCJ9LCJ0YWciOiJub0VkaXQifQ==</bd:templateData>
          </p:ext>
        </p:extLst>
      </p:sp>
      <p:sp>
        <p:nvSpPr>
          <p:cNvPr id="49" name="TextBox 49"/>
          <p:cNvSpPr txBox="1"/>
          <p:nvPr/>
        </p:nvSpPr>
        <p:spPr>
          <a:xfrm flipH="1" rot="0">
            <a:off x="5592175" y="4577774"/>
            <a:ext cx="1743075" cy="22860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现代研究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eyJfdGVtcGxhdGVEYXRhIjp7ImxpbmVDb3VudCI6IjEiLCJ3b3JkQ291bnQiOiI2In0sInRhZyI6Im5vRWRpdCJ9</bd:templateData>
          </p:ext>
        </p:extLst>
      </p:sp>
      <p:sp>
        <p:nvSpPr>
          <p:cNvPr id="50" name="TextBox 50"/>
          <p:cNvSpPr txBox="1"/>
          <p:nvPr/>
        </p:nvSpPr>
        <p:spPr>
          <a:xfrm rot="0">
            <a:off x="8688953" y="4811493"/>
            <a:ext cx="2145030" cy="45339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113999"/>
              </a:lnSpc>
            </a:pPr>
            <a:r>
              <a:rPr lang="en-US" sz="999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感冒初期或季节交替时每日按摩效果显著。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eyJfdGVtcGxhdGVEYXRhIjp7ImxpbmVDb3VudCI6IjIiLCJ3b3JkQ291bnQiOiIxNCJ9LCJ0YWciOiJub0VkaXQifQ==</bd:templateData>
          </p:ext>
        </p:extLst>
      </p:sp>
      <p:sp>
        <p:nvSpPr>
          <p:cNvPr id="51" name="TextBox 51"/>
          <p:cNvSpPr txBox="1"/>
          <p:nvPr/>
        </p:nvSpPr>
        <p:spPr>
          <a:xfrm flipH="1" rot="0">
            <a:off x="8783770" y="4577774"/>
            <a:ext cx="1743075" cy="22860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适用场景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eyJfdGVtcGxhdGVEYXRhIjp7ImxpbmVDb3VudCI6IjEiLCJ3b3JkQ291bnQiOiI2In0sInRhZyI6Im5vRWRpdCJ9</bd:templateData>
          </p:ext>
        </p:extLst>
      </p:sp>
      <p:sp>
        <p:nvSpPr>
          <p:cNvPr id="52" name="AutoShape 52"/>
          <p:cNvSpPr/>
          <p:nvPr/>
        </p:nvSpPr>
        <p:spPr>
          <a:xfrm rot="0">
            <a:off x="10676352" y="2175779"/>
            <a:ext cx="1296000" cy="129600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53" name="AutoShape 53"/>
          <p:cNvSpPr/>
          <p:nvPr/>
        </p:nvSpPr>
        <p:spPr>
          <a:xfrm rot="0">
            <a:off x="10822312" y="2291615"/>
            <a:ext cx="1047198" cy="1047198"/>
          </a:xfrm>
          <a:prstGeom prst="ellipse">
            <a:avLst/>
          </a:prstGeom>
          <a:solidFill>
            <a:schemeClr val="accent3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54" name="TextBox 54"/>
          <p:cNvSpPr txBox="1"/>
          <p:nvPr/>
        </p:nvSpPr>
        <p:spPr>
          <a:xfrm rot="0">
            <a:off x="10829255" y="2644709"/>
            <a:ext cx="1040130" cy="358140"/>
          </a:xfrm>
          <a:prstGeom prst="rect">
            <a:avLst/>
          </a:prstGeom>
          <a:noFill/>
          <a:ln/>
        </p:spPr>
        <p:txBody>
          <a:bodyPr anchor="ctr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穴位定位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id="55" name="AutoShape 55"/>
          <p:cNvSpPr/>
          <p:nvPr/>
        </p:nvSpPr>
        <p:spPr>
          <a:xfrm rot="0">
            <a:off x="301353" y="4208560"/>
            <a:ext cx="1296000" cy="129600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56" name="AutoShape 56"/>
          <p:cNvSpPr/>
          <p:nvPr/>
        </p:nvSpPr>
        <p:spPr>
          <a:xfrm rot="0">
            <a:off x="419048" y="4332196"/>
            <a:ext cx="1047198" cy="1047198"/>
          </a:xfrm>
          <a:prstGeom prst="ellipse">
            <a:avLst/>
          </a:prstGeom>
          <a:solidFill>
            <a:schemeClr val="accent3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57" name="TextBox 57"/>
          <p:cNvSpPr txBox="1"/>
          <p:nvPr/>
        </p:nvSpPr>
        <p:spPr>
          <a:xfrm rot="0">
            <a:off x="593834" y="4970424"/>
            <a:ext cx="687705" cy="253365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999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注意事项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id="58" name="TextBox 58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鱼际穴（预防感冒）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eyJfdGVtcGxhdGVEYXRhIjp7ImNvbnRlbnRUeXBlIjoiJHRpdGxlIiwibGluZUNvdW50IjoiMSIsIndvcmRDb3VudCI6IjI4In0sInRhZyI6Im5vRWRpdCJ9</bd:templateData>
          </p:ext>
        </p:extLst>
      </p:sp>
      <p:sp>
        <p:nvSpPr>
          <p:cNvPr id="59" name="Freeform 59"/>
          <p:cNvSpPr/>
          <p:nvPr/>
        </p:nvSpPr>
        <p:spPr>
          <a:xfrm rot="0">
            <a:off x="707860" y="4494372"/>
            <a:ext cx="466725" cy="400050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152400" y="190500"/>
                </a:moveTo>
                <a:cubicBezTo>
                  <a:pt x="194481" y="190500"/>
                  <a:pt x="228562" y="156381"/>
                  <a:pt x="228562" y="114300"/>
                </a:cubicBezTo>
                <a:lnTo>
                  <a:pt x="228562" y="76200"/>
                </a:lnTo>
                <a:cubicBezTo>
                  <a:pt x="228562" y="23612"/>
                  <a:pt x="190500" y="0"/>
                  <a:pt x="152400" y="0"/>
                </a:cubicBezTo>
                <a:lnTo>
                  <a:pt x="76162" y="0"/>
                </a:lnTo>
                <a:cubicBezTo>
                  <a:pt x="38100" y="0"/>
                  <a:pt x="0" y="20241"/>
                  <a:pt x="0" y="76200"/>
                </a:cubicBezTo>
                <a:cubicBezTo>
                  <a:pt x="0" y="130969"/>
                  <a:pt x="38100" y="152400"/>
                  <a:pt x="76162" y="152400"/>
                </a:cubicBezTo>
                <a:lnTo>
                  <a:pt x="114300" y="152400"/>
                </a:lnTo>
                <a:cubicBezTo>
                  <a:pt x="135322" y="152400"/>
                  <a:pt x="152400" y="169478"/>
                  <a:pt x="152400" y="190500"/>
                </a:cubicBezTo>
                <a:close/>
              </a:path>
              <a:path h="304800" w="304800">
                <a:moveTo>
                  <a:pt x="247460" y="116329"/>
                </a:moveTo>
                <a:cubicBezTo>
                  <a:pt x="246345" y="167878"/>
                  <a:pt x="204197" y="209550"/>
                  <a:pt x="152400" y="209550"/>
                </a:cubicBezTo>
                <a:lnTo>
                  <a:pt x="133350" y="209550"/>
                </a:lnTo>
                <a:lnTo>
                  <a:pt x="133350" y="190500"/>
                </a:lnTo>
                <a:cubicBezTo>
                  <a:pt x="133350" y="179984"/>
                  <a:pt x="124797" y="171450"/>
                  <a:pt x="114300" y="171450"/>
                </a:cubicBezTo>
                <a:lnTo>
                  <a:pt x="78095" y="171450"/>
                </a:lnTo>
                <a:cubicBezTo>
                  <a:pt x="76952" y="177136"/>
                  <a:pt x="76248" y="183223"/>
                  <a:pt x="76200" y="189795"/>
                </a:cubicBezTo>
                <a:lnTo>
                  <a:pt x="76200" y="229333"/>
                </a:lnTo>
                <a:cubicBezTo>
                  <a:pt x="76600" y="271072"/>
                  <a:pt x="110566" y="304800"/>
                  <a:pt x="152400" y="304800"/>
                </a:cubicBezTo>
                <a:cubicBezTo>
                  <a:pt x="152400" y="283740"/>
                  <a:pt x="169478" y="266700"/>
                  <a:pt x="190500" y="266700"/>
                </a:cubicBezTo>
                <a:lnTo>
                  <a:pt x="228562" y="266700"/>
                </a:lnTo>
                <a:cubicBezTo>
                  <a:pt x="266700" y="266700"/>
                  <a:pt x="304800" y="245269"/>
                  <a:pt x="304800" y="190500"/>
                </a:cubicBezTo>
                <a:cubicBezTo>
                  <a:pt x="304800" y="143894"/>
                  <a:pt x="278273" y="122301"/>
                  <a:pt x="247460" y="116329"/>
                </a:cubicBez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eyJtZCI6IiMjIOaJi+mDqOS/neWBpeiFp+eptFxuIyMjIOmxvOmZheeptO+8iOmihOmYsuaEn+WGku+8iSIsInRwbGlkIjoiODYiLCJ0cGxOYW1lIjoidGl0bGVHcmFwaF9wcm80MSIsImVkaXRlZCI6ImZhbHNlIn0=</bd:templateData>
    </p:ext>
  </p:extLs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3829056" y="2526030"/>
            <a:ext cx="7644490" cy="1805940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rmAutofit/>
          </a:bodyPr>
          <a:lstStyle/>
          <a:p>
            <a:pPr>
              <a:lnSpc>
                <a:spcPct val="120000"/>
              </a:lnSpc>
              <a:spcBef>
                <a:spcPts val="375"/>
              </a:spcBef>
            </a:pPr>
            <a:r>
              <a:rPr b="1" lang="en-US" sz="45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腹部保健腧穴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eyJfdGVtcGxhdGVEYXRhIjp7ImNvbnRlbnRUeXBlIjoiJHRpdGxlIiwibGluZUNvdW50IjoiMiIsIndvcmRDb3VudCI6IjEyIn0sInRhZyI6IiR0aXRsZSJ9</bd:templateData>
          </p:ext>
        </p:extLst>
      </p:sp>
      <p:sp>
        <p:nvSpPr>
          <p:cNvPr id="3" name="TextBox 3"/>
          <p:cNvSpPr txBox="1"/>
          <p:nvPr/>
        </p:nvSpPr>
        <p:spPr>
          <a:xfrm rot="0">
            <a:off x="3766844" y="1072555"/>
            <a:ext cx="3112760" cy="1138956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>
              <a:lnSpc>
                <a:spcPct val="80000"/>
              </a:lnSpc>
            </a:pPr>
            <a:r>
              <a:rPr b="1" lang="en-US" sz="8400">
                <a:solidFill>
                  <a:schemeClr val="accent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eyJfdGVtcGxhdGVEYXRhIjp7ImNvbnRlbnRUeXBlIjoiJG51bWJlciIsImxpbmVDb3VudCI6IjEiLCJ3b3JkQ291bnQiOiIyIn0sInRhZyI6Im5vRWRpdCJ9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eyJtZCI6IiMjIOiFuemDqOS/neWBpeiFp+eptCIsInRwbGlkIjoiODYiLCJ0cGxOYW1lIjoiaDJ0aXRsZV84NnNpbXBsZWJsdWUiLCJlZGl0ZWQiOiJmYWxzZSJ9</bd:templateData>
    </p:ext>
  </p:extLs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中脘穴（健脾和胃）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id="3" name="TextBox 3"/>
          <p:cNvSpPr txBox="1"/>
          <p:nvPr/>
        </p:nvSpPr>
        <p:spPr>
          <a:xfrm rot="0">
            <a:off x="1948466" y="1833388"/>
            <a:ext cx="3542492" cy="360348"/>
          </a:xfrm>
          <a:prstGeom prst="rect">
            <a:avLst/>
          </a:prstGeom>
          <a:noFill/>
          <a:ln/>
        </p:spPr>
        <p:txBody>
          <a:bodyPr anchor="ctr" anchorCtr="0" bIns="0" lIns="0" rIns="0" rtlCol="0" tIns="0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b="1" lang="en-US" sz="17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定位与取穴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eyJfdGVtcGxhdGVEYXRhIjp7ImNvbnRlbnRUeXBlIjoiJGl0ZW0xX3RpdGxlIiwibGluZUNvdW50IjoiMSIsIndvcmRDb3VudCI6IjE0In0sInRhZyI6IiRpdGVtMV90aXRsZSJ9</bd:templateData>
          </p:ext>
        </p:extLst>
      </p:sp>
      <p:sp>
        <p:nvSpPr>
          <p:cNvPr id="4" name="TextBox 4"/>
          <p:cNvSpPr txBox="1"/>
          <p:nvPr/>
        </p:nvSpPr>
        <p:spPr>
          <a:xfrm rot="0">
            <a:off x="1948466" y="2297252"/>
            <a:ext cx="3542492" cy="1369164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中脘穴位于前正中线上，脐上4寸处，取穴时可仰卧位，胸骨下端与脐连线中点即为该穴。此穴为胃之募穴，八会穴之腑会，是调理脾胃的核心穴位。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eyJfdGVtcGxhdGVEYXRhIjp7ImNvbnRlbnRUeXBlIjoiJGl0ZW0xX2MiLCJsaW5lQ291bnQiOiI1Iiwid29yZENvdW50IjoiMjAifSwidGFnIjoiJGl0ZW0xX2MifQ==</bd:templateData>
          </p:ext>
        </p:extLst>
      </p:sp>
      <p:sp>
        <p:nvSpPr>
          <p:cNvPr id="5" name="TextBox 5"/>
          <p:cNvSpPr txBox="1"/>
          <p:nvPr/>
        </p:nvSpPr>
        <p:spPr>
          <a:xfrm rot="0">
            <a:off x="6164262" y="1833388"/>
            <a:ext cx="3542492" cy="360348"/>
          </a:xfrm>
          <a:prstGeom prst="rect">
            <a:avLst/>
          </a:prstGeom>
          <a:noFill/>
          <a:ln/>
        </p:spPr>
        <p:txBody>
          <a:bodyPr anchor="ctr" anchorCtr="0" bIns="0" lIns="0" rIns="0" rtlCol="0" tIns="0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b="1" lang="en-US" sz="17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主治功能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eyJfdGVtcGxhdGVEYXRhIjp7ImNvbnRlbnRUeXBlIjoiJGl0ZW0yX3RpdGxlIiwibGluZUNvdW50IjoiMSIsIndvcmRDb3VudCI6IjE0In0sInRhZyI6IiRpdGVtMl90aXRsZSJ9</bd:templateData>
          </p:ext>
        </p:extLst>
      </p:sp>
      <p:sp>
        <p:nvSpPr>
          <p:cNvPr id="6" name="TextBox 6"/>
          <p:cNvSpPr txBox="1"/>
          <p:nvPr/>
        </p:nvSpPr>
        <p:spPr>
          <a:xfrm rot="0">
            <a:off x="6164262" y="2297252"/>
            <a:ext cx="3542492" cy="1369164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主要用于治疗胃痛、腹胀、呕吐、呃逆、消化不良等脾胃虚弱症状，现代医学研究证实刺激该穴可调节胃酸分泌、增强胃肠蠕动功能。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eyJfdGVtcGxhdGVEYXRhIjp7ImNvbnRlbnRUeXBlIjoiJGl0ZW0yX2MiLCJsaW5lQ291bnQiOiI1Iiwid29yZENvdW50IjoiMjAifSwidGFnIjoiJGl0ZW0yX2MifQ==</bd:templateData>
          </p:ext>
        </p:extLst>
      </p:sp>
      <p:sp>
        <p:nvSpPr>
          <p:cNvPr id="7" name="TextBox 7"/>
          <p:cNvSpPr txBox="1"/>
          <p:nvPr/>
        </p:nvSpPr>
        <p:spPr>
          <a:xfrm rot="0">
            <a:off x="475287" y="4158866"/>
            <a:ext cx="3542492" cy="360348"/>
          </a:xfrm>
          <a:prstGeom prst="rect">
            <a:avLst/>
          </a:prstGeom>
          <a:noFill/>
          <a:ln/>
        </p:spPr>
        <p:txBody>
          <a:bodyPr anchor="ctr" anchorCtr="0" bIns="0" lIns="0" rIns="0" rtlCol="0" tIns="0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b="1" lang="en-US" sz="17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操作方法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eyJfdGVtcGxhdGVEYXRhIjp7ImNvbnRlbnRUeXBlIjoiJGl0ZW0zX3RpdGxlIiwibGluZUNvdW50IjoiMSIsIndvcmRDb3VudCI6IjE0In0sInRhZyI6IiRpdGVtM190aXRsZSJ9</bd:templateData>
          </p:ext>
        </p:extLst>
      </p:sp>
      <p:sp>
        <p:nvSpPr>
          <p:cNvPr id="8" name="TextBox 8"/>
          <p:cNvSpPr txBox="1"/>
          <p:nvPr/>
        </p:nvSpPr>
        <p:spPr>
          <a:xfrm rot="0">
            <a:off x="475287" y="4622729"/>
            <a:ext cx="3542492" cy="1369164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可用拇指指腹顺时针按揉3-5分钟，力度以产生酸胀感为宜；艾灸该穴20-30分钟可温补脾胃，特别适合虚寒型胃病患者。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eyJfdGVtcGxhdGVEYXRhIjp7ImNvbnRlbnRUeXBlIjoiJGl0ZW0zX2MiLCJsaW5lQ291bnQiOiI1Iiwid29yZENvdW50IjoiMjAifSwidGFnIjoiJGl0ZW0zX2MifQ==</bd:templateData>
          </p:ext>
        </p:extLst>
      </p:sp>
      <p:sp>
        <p:nvSpPr>
          <p:cNvPr id="9" name="TextBox 9"/>
          <p:cNvSpPr txBox="1"/>
          <p:nvPr/>
        </p:nvSpPr>
        <p:spPr>
          <a:xfrm rot="0">
            <a:off x="4416600" y="4158866"/>
            <a:ext cx="3542492" cy="360348"/>
          </a:xfrm>
          <a:prstGeom prst="rect">
            <a:avLst/>
          </a:prstGeom>
          <a:noFill/>
          <a:ln/>
        </p:spPr>
        <p:txBody>
          <a:bodyPr anchor="ctr" anchorCtr="0" bIns="0" lIns="0" rIns="0" rtlCol="0" tIns="0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b="1" lang="en-US" sz="17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配伍应用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eyJfdGVtcGxhdGVEYXRhIjp7ImNvbnRlbnRUeXBlIjoiJGl0ZW00X3RpdGxlIiwibGluZUNvdW50IjoiMSIsIndvcmRDb3VudCI6IjE0In0sInRhZyI6IiRpdGVtNF90aXRsZSJ9</bd:templateData>
          </p:ext>
        </p:extLst>
      </p:sp>
      <p:sp>
        <p:nvSpPr>
          <p:cNvPr id="10" name="TextBox 10"/>
          <p:cNvSpPr txBox="1"/>
          <p:nvPr/>
        </p:nvSpPr>
        <p:spPr>
          <a:xfrm rot="0">
            <a:off x="4416600" y="4622729"/>
            <a:ext cx="3542492" cy="1369164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配足三里穴可增强健脾功效，配内关穴可缓解恶心呕吐，配脾俞穴可治疗慢性腹泻，形成系统调理方案。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eyJfdGVtcGxhdGVEYXRhIjp7ImNvbnRlbnRUeXBlIjoiJGl0ZW00X2MiLCJsaW5lQ291bnQiOiI1Iiwid29yZENvdW50IjoiMjAifSwidGFnIjoiJGl0ZW00X2MifQ==</bd:templateData>
          </p:ext>
        </p:extLst>
      </p:sp>
      <p:sp>
        <p:nvSpPr>
          <p:cNvPr id="11" name="TextBox 11"/>
          <p:cNvSpPr txBox="1"/>
          <p:nvPr/>
        </p:nvSpPr>
        <p:spPr>
          <a:xfrm rot="0">
            <a:off x="8337121" y="4158866"/>
            <a:ext cx="3542492" cy="360348"/>
          </a:xfrm>
          <a:prstGeom prst="rect">
            <a:avLst/>
          </a:prstGeom>
          <a:noFill/>
          <a:ln/>
        </p:spPr>
        <p:txBody>
          <a:bodyPr anchor="ctr" anchorCtr="0" bIns="0" lIns="0" rIns="0" rtlCol="0" tIns="0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b="1" lang="en-US" sz="17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注意事项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eyJfdGVtcGxhdGVEYXRhIjp7ImNvbnRlbnRUeXBlIjoiJGl0ZW01X3RpdGxlIiwibGluZUNvdW50IjoiMSIsIndvcmRDb3VudCI6IjE0In0sInRhZyI6IiRpdGVtNV90aXRsZSJ9</bd:templateData>
          </p:ext>
        </p:extLst>
      </p:sp>
      <p:sp>
        <p:nvSpPr>
          <p:cNvPr id="12" name="TextBox 12"/>
          <p:cNvSpPr txBox="1"/>
          <p:nvPr/>
        </p:nvSpPr>
        <p:spPr>
          <a:xfrm rot="0">
            <a:off x="8337121" y="4622729"/>
            <a:ext cx="3542492" cy="1369164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饭后1小时内不宜深按，孕妇慎用；长期消化不良者可每日晨起空腹按压，配合腹式呼吸效果更佳。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eyJfdGVtcGxhdGVEYXRhIjp7ImNvbnRlbnRUeXBlIjoiJGl0ZW01X2MiLCJsaW5lQ291bnQiOiI1Iiwid29yZENvdW50IjoiMjAifSwidGFnIjoiJGl0ZW01X2MifQ==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4reiEmOeptO+8iOWBpeiEvuWSjOiDg++8iVxuIyMjIOWumuS9jeS4juWPlueptFxu5Lit6ISY56m05L2N5LqO5YmN5q2j5Lit57q/5LiK77yM6ISQ5LiKNOWvuOWkhO+8jOWPlueptOaXtuWPr+S7sOWNp+S9je+8jOiDuOmqqOS4i+err+S4juiEkOi/nue6v+S4reeCueWNs+S4uuivpeeptOOAguatpOeptOS4uuiDg+S5i+WLn+eptO+8jOWFq+S8mueptOS5i+iFkeS8mu+8jOaYr+iwg+eQhuiEvuiDg+eahOaguOW/g+eptOS9jeOAglxuIyMjIOS4u+ayu+WKn+iDvVxu5Li76KaB55So5LqO5rK755aX6IOD55eb44CB6IW56IOA44CB5ZGV5ZCQ44CB5ZGD6YCG44CB5raI5YyW5LiN6Imv562J6IS+6IOD6Jma5byx55eH54q277yM546w5Luj5Yy75a2m56CU56m26K+B5a6e5Yi65r+A6K+l56m05Y+v6LCD6IqC6IOD6YW45YiG5rOM44CB5aKe5by66IOD6IKg6KCV5Yqo5Yqf6IO944CCXG4jIyMg5pON5L2c5pa55rOVXG7lj6/nlKjmi4fmjIfmjIfohbnpobrml7bpkojmjInmj4kzLTXliIbpkp/vvIzlipvluqbku6XkuqfnlJ/phbjog4DmhJ/kuLrlrpzvvJvoib7ngbjor6XnqbQyMC0zMOWIhumSn+WPr+a4qeihpeiEvuiDg++8jOeJueWIq+mAguWQiOiZmuWvkuWei+iDg+eXheaCo+iAheOAglxuIyMjIOmFjeS8jeW6lOeUqFxu6YWN6Laz5LiJ6YeM56m05Y+v5aKe5by65YGl6IS+5Yqf5pWI77yM6YWN5YaF5YWz56m05Y+v57yT6Kej5oG25b+D5ZGV5ZCQ77yM6YWN6IS+5L+e56m05Y+v5rK755aX5oWi5oCn6IW55rO777yM5b2i5oiQ57O757uf6LCD55CG5pa55qGI44CCXG4jIyMg5rOo5oSP5LqL6aG5XG7ppa3lkI4x5bCP5pe25YaF5LiN5a6c5rex5oyJ77yM5a2V5aaH5oWO55So77yb6ZW/5pyf5raI5YyW5LiN6Imv6ICF5Y+v5q+P5pel5pmo6LW356m66IW55oyJ5Y6L77yM6YWN5ZCI6IW55byP5ZG85ZC45pWI5p6c5pu05L2z44CCIiwidHBsaWQiOiI4NiIsInRwbE5hbWUiOiJsaXN0NV9sb25nVGl0bGU1IiwiZWRpdGVkIjoiZmFsc2UifQ==</bd:templateData>
    </p:ext>
  </p:extLs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1297192" y="1308287"/>
            <a:ext cx="4348638" cy="60579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解剖定位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eyJfdGVtcGxhdGVEYXRhIjp7ImNvbnRlbnRUeXBlIjoiJGl0ZW0xX3RpdGxlIiwibGluZUNvdW50IjoiMSIsIndvcmRDb3VudCI6IjE1In0sInRhZyI6IiRpdGVtMV90aXRsZSJ9</bd:templateData>
          </p:ext>
        </p:extLst>
      </p:sp>
      <p:sp>
        <p:nvSpPr>
          <p:cNvPr id="3" name="TextBox 3"/>
          <p:cNvSpPr txBox="1"/>
          <p:nvPr/>
        </p:nvSpPr>
        <p:spPr>
          <a:xfrm rot="0">
            <a:off x="6865764" y="1308287"/>
            <a:ext cx="4493572" cy="60579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养生应用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eyJfdGVtcGxhdGVEYXRhIjp7ImNvbnRlbnRUeXBlIjoiJGl0ZW00X3RpdGxlIiwibGluZUNvdW50IjoiMSIsIndvcmRDb3VudCI6IjE1In0sInRhZyI6IiRpdGVtNF90aXRsZSJ9</bd:templateData>
          </p:ext>
        </p:extLst>
      </p:sp>
      <p:sp>
        <p:nvSpPr>
          <p:cNvPr id="4" name="TextBox 4"/>
          <p:cNvSpPr txBox="1"/>
          <p:nvPr/>
        </p:nvSpPr>
        <p:spPr>
          <a:xfrm rot="0">
            <a:off x="6865764" y="4000377"/>
            <a:ext cx="4493572" cy="60579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禁忌事项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eyJfdGVtcGxhdGVEYXRhIjp7ImNvbnRlbnRUeXBlIjoiJGl0ZW01X3RpdGxlIiwibGluZUNvdW50IjoiMSIsIndvcmRDb3VudCI6IjE1In0sInRhZyI6IiRpdGVtNV90aXRsZSJ9</bd:templateData>
          </p:ext>
        </p:extLst>
      </p:sp>
      <p:sp>
        <p:nvSpPr>
          <p:cNvPr id="5" name="TextBox 5"/>
          <p:cNvSpPr txBox="1"/>
          <p:nvPr/>
        </p:nvSpPr>
        <p:spPr>
          <a:xfrm rot="0">
            <a:off x="1297192" y="4762018"/>
            <a:ext cx="4414526" cy="62484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特色疗法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eyJfdGVtcGxhdGVEYXRhIjp7ImNvbnRlbnRUeXBlIjoiJGl0ZW0zX3RpdGxlIiwibGluZUNvdW50IjoiMSIsIndvcmRDb3VudCI6IjE1In0sInRhZyI6IiRpdGVtM190aXRsZSJ9</bd:templateData>
          </p:ext>
        </p:extLst>
      </p:sp>
      <p:sp>
        <p:nvSpPr>
          <p:cNvPr id="6" name="TextBox 6"/>
          <p:cNvSpPr txBox="1"/>
          <p:nvPr/>
        </p:nvSpPr>
        <p:spPr>
          <a:xfrm rot="0">
            <a:off x="1297192" y="3025846"/>
            <a:ext cx="4348638" cy="60579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临床价值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eyJfdGVtcGxhdGVEYXRhIjp7ImNvbnRlbnRUeXBlIjoiJGl0ZW0yX3RpdGxlIiwibGluZUNvdW50IjoiMSIsIndvcmRDb3VudCI6IjE1In0sInRhZyI6IiRpdGVtMl90aXRsZSJ9</bd:templateData>
          </p:ext>
        </p:extLst>
      </p:sp>
      <p:grpSp>
        <p:nvGrpSpPr>
          <p:cNvPr id="7" name="Group 7"/>
          <p:cNvGrpSpPr/>
          <p:nvPr/>
        </p:nvGrpSpPr>
        <p:grpSpPr>
          <a:xfrm rot="0">
            <a:off x="839115" y="1512589"/>
            <a:ext cx="197186" cy="5357334"/>
            <a:chOff x="839115" y="1512589"/>
            <a:chExt cx="197186" cy="5357334"/>
          </a:xfrm>
        </p:grpSpPr>
        <p:sp>
          <p:nvSpPr>
            <p:cNvPr id="8" name="AutoShape 8"/>
            <p:cNvSpPr/>
            <p:nvPr/>
          </p:nvSpPr>
          <p:spPr>
            <a:xfrm rot="0">
              <a:off x="839115" y="1512589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9" name="AutoShape 9"/>
            <p:cNvSpPr/>
            <p:nvPr/>
          </p:nvSpPr>
          <p:spPr>
            <a:xfrm rot="0">
              <a:off x="839115" y="3230148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0" name="AutoShape 10"/>
            <p:cNvSpPr/>
            <p:nvPr/>
          </p:nvSpPr>
          <p:spPr>
            <a:xfrm rot="0">
              <a:off x="839115" y="4975845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cxnSp>
          <p:nvCxnSpPr>
            <p:cNvPr id="11" name="Connector 11"/>
            <p:cNvCxnSpPr/>
            <p:nvPr/>
          </p:nvCxnSpPr>
          <p:spPr>
            <a:xfrm>
              <a:off x="937708" y="1624780"/>
              <a:ext cx="0" cy="5245143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  <a:headEnd type="none"/>
              <a:tailEnd type="none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2" name="TextBox 12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关元穴（补气固本）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id="13" name="AutoShape 13"/>
          <p:cNvSpPr/>
          <p:nvPr/>
        </p:nvSpPr>
        <p:spPr>
          <a:xfrm rot="0">
            <a:off x="6455568" y="1512589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4" name="AutoShape 14"/>
          <p:cNvSpPr/>
          <p:nvPr/>
        </p:nvSpPr>
        <p:spPr>
          <a:xfrm rot="0">
            <a:off x="6455568" y="4241491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cxnSp>
        <p:nvCxnSpPr>
          <p:cNvPr id="15" name="Connector 15"/>
          <p:cNvCxnSpPr/>
          <p:nvPr/>
        </p:nvCxnSpPr>
        <p:spPr>
          <a:xfrm>
            <a:off x="6554162" y="1670999"/>
            <a:ext cx="0" cy="5208748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16" name="TextBox 16"/>
          <p:cNvSpPr txBox="1"/>
          <p:nvPr/>
        </p:nvSpPr>
        <p:spPr>
          <a:xfrm rot="0">
            <a:off x="1297192" y="1804349"/>
            <a:ext cx="4486656" cy="1203960"/>
          </a:xfrm>
          <a:prstGeom prst="rect">
            <a:avLst/>
          </a:prstGeom>
          <a:ln/>
        </p:spPr>
        <p:txBody>
          <a:bodyPr anchor="t" anchorCtr="0" bIns="0" lIns="123825" rIns="57150" rtlCol="0" tIns="0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位于下腹部前正中线，脐下3寸处，深层为小肠和膀胱，是任脉与足三阴经交会穴，被称为"丹田"所在，为元气蓄积之处。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eyJfdGVtcGxhdGVEYXRhIjp7ImNvbnRlbnRUeXBlIjoiJGl0ZW0xX2MiLCJsaW5lQ291bnQiOiIzIiwid29yZENvdW50IjoiMjEifSwidGFnIjoiJGl0ZW0xX2MifQ==</bd:templateData>
          </p:ext>
        </p:extLst>
      </p:sp>
      <p:sp>
        <p:nvSpPr>
          <p:cNvPr id="17" name="TextBox 17"/>
          <p:cNvSpPr txBox="1"/>
          <p:nvPr/>
        </p:nvSpPr>
        <p:spPr>
          <a:xfrm rot="0">
            <a:off x="1297192" y="3543470"/>
            <a:ext cx="4486275" cy="1152525"/>
          </a:xfrm>
          <a:prstGeom prst="rect">
            <a:avLst/>
          </a:prstGeom>
          <a:ln/>
        </p:spPr>
        <p:txBody>
          <a:bodyPr anchor="t" anchorCtr="0" bIns="0" lIns="123825" rIns="57150" rtlCol="0" tIns="0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主治元气虚损所致的遗精阳痿、月经不调、不孕不育，以及尿频尿闭等泌尿系统疾病，实验研究表明该穴能调节垂体-性腺轴功能。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eyJfdGVtcGxhdGVEYXRhIjp7ImNvbnRlbnRUeXBlIjoiJGl0ZW0yX2MiLCJsaW5lQ291bnQiOiIzIiwid29yZENvdW50IjoiMjEifSwidGFnIjoiJGl0ZW0yX2MifQ==</bd:templateData>
          </p:ext>
        </p:extLst>
      </p:sp>
      <p:sp>
        <p:nvSpPr>
          <p:cNvPr id="18" name="TextBox 18"/>
          <p:cNvSpPr txBox="1"/>
          <p:nvPr/>
        </p:nvSpPr>
        <p:spPr>
          <a:xfrm rot="0">
            <a:off x="1297192" y="5282464"/>
            <a:ext cx="4486275" cy="1152525"/>
          </a:xfrm>
          <a:prstGeom prst="rect">
            <a:avLst/>
          </a:prstGeom>
          <a:ln/>
        </p:spPr>
        <p:txBody>
          <a:bodyPr anchor="t" anchorCtr="0" bIns="0" lIns="123825" rIns="57150" rtlCol="0" tIns="0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隔姜灸法效果显著，将新鲜姜片穿刺数孔置于穴上，用艾炷灸5-7壮，每周3次，可显著改善肾阳虚症状；冬季可采用温针灸法。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eyJfdGVtcGxhdGVEYXRhIjp7ImNvbnRlbnRUeXBlIjoiJGl0ZW0zX2MiLCJsaW5lQ291bnQiOiIzIiwid29yZENvdW50IjoiMjEifSwidGFnIjoiJGl0ZW0zX2MifQ==</bd:templateData>
          </p:ext>
        </p:extLst>
      </p:sp>
      <p:sp>
        <p:nvSpPr>
          <p:cNvPr id="19" name="TextBox 19"/>
          <p:cNvSpPr txBox="1"/>
          <p:nvPr/>
        </p:nvSpPr>
        <p:spPr>
          <a:xfrm rot="0">
            <a:off x="6865764" y="1804349"/>
            <a:ext cx="4486275" cy="1152525"/>
          </a:xfrm>
          <a:prstGeom prst="rect">
            <a:avLst/>
          </a:prstGeom>
          <a:ln/>
        </p:spPr>
        <p:txBody>
          <a:bodyPr anchor="t" anchorCtr="0" bIns="0" lIns="123825" rIns="57150" rtlCol="0" tIns="0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每日掌根顺时针摩动关元穴100次，配合提肛运动，可增强盆底肌力，预防前列腺增生和子宫脱垂等中老年常见病。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eyJfdGVtcGxhdGVEYXRhIjp7ImNvbnRlbnRUeXBlIjoiJGl0ZW00X2MiLCJsaW5lQ291bnQiOiIzIiwid29yZENvdW50IjoiMjEifSwidGFnIjoiJGl0ZW00X2MifQ==</bd:templateData>
          </p:ext>
        </p:extLst>
      </p:sp>
      <p:sp>
        <p:nvSpPr>
          <p:cNvPr id="20" name="TextBox 20"/>
          <p:cNvSpPr txBox="1"/>
          <p:nvPr/>
        </p:nvSpPr>
        <p:spPr>
          <a:xfrm rot="0">
            <a:off x="6865764" y="4518000"/>
            <a:ext cx="4486275" cy="1152525"/>
          </a:xfrm>
          <a:prstGeom prst="rect">
            <a:avLst/>
          </a:prstGeom>
          <a:ln/>
        </p:spPr>
        <p:txBody>
          <a:bodyPr anchor="t" anchorCtr="0" bIns="0" lIns="123825" rIns="57150" rtlCol="0" tIns="0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月经期女性禁用重刺激，急性尿潴留患者需专业医师操作，阴虚火旺体质者慎用灸法。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eyJfdGVtcGxhdGVEYXRhIjp7ImNvbnRlbnRUeXBlIjoiJGl0ZW01X2MiLCJsaW5lQ291bnQiOiIzIiwid29yZENvdW50IjoiMjEifSwidGFnIjoiJGl0ZW01X2MifQ==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Fs+WFg+eptO+8iOihpeawlOWbuuacrO+8iVxuIyMjIOino+WJluWumuS9jVxu5L2N5LqO5LiL6IW56YOo5YmN5q2j5Lit57q/77yM6ISQ5LiLM+WvuOWkhO+8jOa3seWxguS4uuWwj+iCoOWSjOiGgOiDse+8jOaYr+S7u+iEieS4jui2s+S4iemYtOe7j+S6pOS8mueptO+8jOiiq+ensOS4ulwi5Li555SwXCLmiYDlnKjvvIzkuLrlhYPmsJTok4Tnp6/kuYvlpITjgIJcbiMjIyDkuLTluorku7flgLxcbuS4u+ayu+WFg+awlOiZmuaNn+aJgOiHtOeahOmBl+eyvumYs+eXv+OAgeaciOe7j+S4jeiwg+OAgeS4jeWtleS4jeiCsu+8jOS7peWPiuWwv+mikeWwv+mXreetieazjOWwv+ezu+e7n+eWvueXhe+8jOWunumqjOeglOeptuihqOaYjuivpeeptOiDveiwg+iKguWeguS9ky3mgKfohbrovbTlip/og73jgIJcbiMjIyDnibnoibLnlpfms5VcbumalOWnnOeBuOazleaViOaenOaYvuiRl++8jOWwhuaWsOmynOWnnOeJh+epv+WIuuaVsOWtlOe9ruS6jueptOS4iu+8jOeUqOiJvueCt+eBuDUtN+Wjru+8jOavj+WRqDPmrKHvvIzlj6/mmL7okZfmlLnlloTogr7pmLPomZrnl4fnirbvvJvlhqzlraPlj6/ph4fnlKjmuKnpkojngbjms5XjgIJcbiMjIyDlhbvnlJ/lupTnlKhcbuavj+aXpeaOjOaguemhuuaXtumSiOaRqeWKqOWFs+WFg+eptDEwMOasoe+8jOmFjeWQiOaPkOiCm+i/kOWKqO+8jOWPr+WinuW8uuebhuW6leiCjOWKm++8jOmihOmYsuWJjeWIl+iFuuWinueUn+WSjOWtkOWuq+iEseWeguetieS4reiAgeW5tOW4uOingeeXheOAglxuIyMjIOemgeW/jOS6i+mhuVxu5pyI57uP5pyf5aWz5oCn56aB55So6YeN5Yi65r+A77yM5oCl5oCn5bC/5r2055WZ5oKj6ICF6ZyA5LiT5Lia5Yy75biI5pON5L2c77yM6Zi06Jma54Gr5pe65L2T6LSo6ICF5oWO55So54G45rOV44CCIiwidHBsaWQiOiI4NiIsInRwbE5hbWUiOiJsaXN0NV9zYW1lU3R5bGUwcGljMiIsImVkaXRlZCI6ImZhbHNlIn0=</bd:templateData>
    </p:ext>
  </p:extLs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0">
            <a:off x="2168296" y="1103080"/>
            <a:ext cx="8427314" cy="5483216"/>
          </a:xfrm>
          <a:custGeom>
            <a:avLst/>
            <a:gdLst/>
            <a:ahLst/>
            <a:cxnLst/>
            <a:rect b="b" l="l" r="r" t="t"/>
            <a:pathLst>
              <a:path h="5483216" w="8427314">
                <a:moveTo>
                  <a:pt x="0" y="0"/>
                </a:moveTo>
                <a:cubicBezTo>
                  <a:pt x="1473011" y="817886"/>
                  <a:pt x="2932068" y="1422430"/>
                  <a:pt x="4377170" y="1813635"/>
                </a:cubicBezTo>
                <a:cubicBezTo>
                  <a:pt x="5545640" y="2129952"/>
                  <a:pt x="6833967" y="2331912"/>
                  <a:pt x="8242146" y="2419512"/>
                </a:cubicBezTo>
                <a:lnTo>
                  <a:pt x="8427314" y="2428770"/>
                </a:lnTo>
                <a:lnTo>
                  <a:pt x="8427314" y="3054457"/>
                </a:lnTo>
                <a:lnTo>
                  <a:pt x="8242412" y="3063698"/>
                </a:lnTo>
                <a:cubicBezTo>
                  <a:pt x="6834124" y="3151281"/>
                  <a:pt x="5545713" y="3353246"/>
                  <a:pt x="4377170" y="3669583"/>
                </a:cubicBezTo>
                <a:cubicBezTo>
                  <a:pt x="2932068" y="4060786"/>
                  <a:pt x="1473011" y="4665332"/>
                  <a:pt x="0" y="5483216"/>
                </a:cubicBezTo>
              </a:path>
            </a:pathLst>
          </a:custGeom>
          <a:gradFill>
            <a:gsLst>
              <a:gs pos="0">
                <a:schemeClr val="accent3">
                  <a:alpha val="67000"/>
                </a:schemeClr>
              </a:gs>
              <a:gs pos="96000">
                <a:srgbClr val="EFFFFD">
                  <a:alpha val="0"/>
                </a:srgbClr>
              </a:gs>
            </a:gsLst>
            <a:lin ang="108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" name="Freeform 3"/>
          <p:cNvSpPr/>
          <p:nvPr/>
        </p:nvSpPr>
        <p:spPr>
          <a:xfrm rot="0">
            <a:off x="1733550" y="1087442"/>
            <a:ext cx="10404704" cy="5483216"/>
          </a:xfrm>
          <a:custGeom>
            <a:avLst/>
            <a:gdLst/>
            <a:ahLst/>
            <a:cxnLst/>
            <a:rect b="b" l="l" r="r" t="t"/>
            <a:pathLst>
              <a:path h="3636482" w="6515100">
                <a:moveTo>
                  <a:pt x="0" y="0"/>
                </a:moveTo>
                <a:cubicBezTo>
                  <a:pt x="922353" y="542424"/>
                  <a:pt x="1835969" y="943359"/>
                  <a:pt x="2740847" y="1202807"/>
                </a:cubicBezTo>
                <a:cubicBezTo>
                  <a:pt x="3577029" y="1442558"/>
                  <a:pt x="4511236" y="1583250"/>
                  <a:pt x="5543465" y="1624881"/>
                </a:cubicBezTo>
                <a:cubicBezTo>
                  <a:pt x="5515162" y="1464289"/>
                  <a:pt x="5451689" y="1303697"/>
                  <a:pt x="5353050" y="1143104"/>
                </a:cubicBezTo>
                <a:lnTo>
                  <a:pt x="6513214" y="1817692"/>
                </a:lnTo>
                <a:lnTo>
                  <a:pt x="6515100" y="1817692"/>
                </a:lnTo>
                <a:lnTo>
                  <a:pt x="6513738" y="1817996"/>
                </a:lnTo>
                <a:lnTo>
                  <a:pt x="6515100" y="1818791"/>
                </a:lnTo>
                <a:lnTo>
                  <a:pt x="5353050" y="2494477"/>
                </a:lnTo>
                <a:cubicBezTo>
                  <a:pt x="5451913" y="2333519"/>
                  <a:pt x="5515450" y="2172561"/>
                  <a:pt x="5543662" y="2011603"/>
                </a:cubicBezTo>
                <a:cubicBezTo>
                  <a:pt x="4511350" y="2053215"/>
                  <a:pt x="3577081" y="2193910"/>
                  <a:pt x="2740847" y="2433676"/>
                </a:cubicBezTo>
                <a:cubicBezTo>
                  <a:pt x="1835969" y="2693123"/>
                  <a:pt x="922353" y="3094059"/>
                  <a:pt x="0" y="3636482"/>
                </a:cubicBezTo>
                <a:lnTo>
                  <a:pt x="0" y="0"/>
                </a:lnTo>
              </a:path>
            </a:pathLst>
          </a:custGeom>
          <a:gradFill>
            <a:gsLst>
              <a:gs pos="53000">
                <a:schemeClr val="accent1">
                  <a:alpha val="100000"/>
                </a:schemeClr>
              </a:gs>
              <a:gs pos="96000">
                <a:schemeClr val="dk2">
                  <a:alpha val="0"/>
                </a:schemeClr>
              </a:gs>
            </a:gsLst>
            <a:lin ang="108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cxnSp>
        <p:nvCxnSpPr>
          <p:cNvPr id="4" name="Connector 4"/>
          <p:cNvCxnSpPr/>
          <p:nvPr/>
        </p:nvCxnSpPr>
        <p:spPr>
          <a:xfrm>
            <a:off x="946370" y="3829050"/>
            <a:ext cx="9352060" cy="0"/>
          </a:xfrm>
          <a:prstGeom prst="line">
            <a:avLst/>
          </a:prstGeom>
          <a:ln w="38100">
            <a:solidFill>
              <a:srgbClr val="FFFFFF">
                <a:alpha val="53000"/>
              </a:srgbClr>
            </a:solidFill>
            <a:prstDash val="solid"/>
            <a:headEnd type="none"/>
            <a:tailEnd type="triangle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5" name="Freeform 5"/>
          <p:cNvSpPr/>
          <p:nvPr/>
        </p:nvSpPr>
        <p:spPr>
          <a:xfrm rot="0">
            <a:off x="10019" y="991331"/>
            <a:ext cx="3177128" cy="5483216"/>
          </a:xfrm>
          <a:custGeom>
            <a:avLst/>
            <a:gdLst/>
            <a:ahLst/>
            <a:cxnLst/>
            <a:rect b="b" l="l" r="r" t="t"/>
            <a:pathLst>
              <a:path h="5483216" w="8427314">
                <a:moveTo>
                  <a:pt x="0" y="0"/>
                </a:moveTo>
                <a:cubicBezTo>
                  <a:pt x="1473011" y="817886"/>
                  <a:pt x="2932068" y="1422430"/>
                  <a:pt x="4377170" y="1813635"/>
                </a:cubicBezTo>
                <a:cubicBezTo>
                  <a:pt x="5545640" y="2129952"/>
                  <a:pt x="6833967" y="2331912"/>
                  <a:pt x="8242146" y="2419512"/>
                </a:cubicBezTo>
                <a:lnTo>
                  <a:pt x="8427314" y="2428770"/>
                </a:lnTo>
                <a:lnTo>
                  <a:pt x="8427314" y="3054457"/>
                </a:lnTo>
                <a:lnTo>
                  <a:pt x="8242412" y="3063698"/>
                </a:lnTo>
                <a:cubicBezTo>
                  <a:pt x="6834124" y="3151281"/>
                  <a:pt x="5545713" y="3353246"/>
                  <a:pt x="4377170" y="3669583"/>
                </a:cubicBezTo>
                <a:cubicBezTo>
                  <a:pt x="2932068" y="4060786"/>
                  <a:pt x="1473011" y="4665332"/>
                  <a:pt x="0" y="5483216"/>
                </a:cubicBezTo>
              </a:path>
            </a:pathLst>
          </a:custGeom>
          <a:gradFill>
            <a:gsLst>
              <a:gs pos="30000">
                <a:schemeClr val="accent3">
                  <a:alpha val="0"/>
                </a:schemeClr>
              </a:gs>
              <a:gs pos="100000">
                <a:schemeClr val="accent3">
                  <a:alpha val="35000"/>
                </a:schemeClr>
              </a:gs>
            </a:gsLst>
            <a:lin ang="108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6" name="AutoShape 6"/>
          <p:cNvSpPr/>
          <p:nvPr/>
        </p:nvSpPr>
        <p:spPr>
          <a:xfrm rot="0">
            <a:off x="3438098" y="3732939"/>
            <a:ext cx="192223" cy="19222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 anchor="t" anchorCtr="0" bIns="45720" lIns="91440" rIns="91440" rtlCol="0" tIns="45720" vert="horz" wrap="square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  <a:defRPr/>
            </a:pPr>
            <a:r>
              <a:rPr lang="en-US" sz="9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7" name="AutoShape 7"/>
          <p:cNvSpPr/>
          <p:nvPr/>
        </p:nvSpPr>
        <p:spPr>
          <a:xfrm rot="0">
            <a:off x="5327124" y="3732939"/>
            <a:ext cx="192223" cy="19222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8" name="AutoShape 8"/>
          <p:cNvSpPr/>
          <p:nvPr/>
        </p:nvSpPr>
        <p:spPr>
          <a:xfrm rot="0">
            <a:off x="7348311" y="3732939"/>
            <a:ext cx="192223" cy="19222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9" name="AutoShape 9"/>
          <p:cNvSpPr/>
          <p:nvPr/>
        </p:nvSpPr>
        <p:spPr>
          <a:xfrm rot="0">
            <a:off x="9200208" y="3732939"/>
            <a:ext cx="192223" cy="19222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0" name="TextBox 10"/>
          <p:cNvSpPr txBox="1"/>
          <p:nvPr/>
        </p:nvSpPr>
        <p:spPr>
          <a:xfrm rot="0">
            <a:off x="3223994" y="3941348"/>
            <a:ext cx="647700" cy="200025"/>
          </a:xfrm>
          <a:prstGeom prst="rect">
            <a:avLst/>
          </a:prstGeom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ctr">
              <a:lnSpc>
                <a:spcPct val="113999"/>
              </a:lnSpc>
              <a:spcBef>
                <a:spcPct val="0"/>
              </a:spcBef>
            </a:pPr>
            <a:r>
              <a:rPr lang="en-US" sz="11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腹泻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1" name="TextBox 11"/>
          <p:cNvSpPr txBox="1"/>
          <p:nvPr/>
        </p:nvSpPr>
        <p:spPr>
          <a:xfrm rot="0">
            <a:off x="5119915" y="3941348"/>
            <a:ext cx="647700" cy="2000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ctr">
              <a:lnSpc>
                <a:spcPct val="113999"/>
              </a:lnSpc>
              <a:spcBef>
                <a:spcPct val="0"/>
              </a:spcBef>
            </a:pPr>
            <a:r>
              <a:rPr lang="en-US" sz="11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配伍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2" name="TextBox 12"/>
          <p:cNvSpPr txBox="1"/>
          <p:nvPr/>
        </p:nvSpPr>
        <p:spPr>
          <a:xfrm rot="0">
            <a:off x="9454036" y="1265974"/>
            <a:ext cx="1485900" cy="2381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方法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3" name="TextBox 13"/>
          <p:cNvSpPr txBox="1"/>
          <p:nvPr/>
        </p:nvSpPr>
        <p:spPr>
          <a:xfrm rot="0">
            <a:off x="9472026" y="1565947"/>
            <a:ext cx="1276350" cy="72390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13999"/>
              </a:lnSpc>
              <a:spcBef>
                <a:spcPct val="0"/>
              </a:spcBef>
            </a:pPr>
            <a:r>
              <a:rPr lang="en-US" sz="999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日常可用掌心顺时针按摩天枢穴区域，配合腹式呼吸，有助于促进消化功能。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cxnSp>
        <p:nvCxnSpPr>
          <p:cNvPr id="14" name="Connector 14"/>
          <p:cNvCxnSpPr/>
          <p:nvPr/>
        </p:nvCxnSpPr>
        <p:spPr>
          <a:xfrm>
            <a:off x="9298913" y="1371600"/>
            <a:ext cx="0" cy="2336928"/>
          </a:xfrm>
          <a:prstGeom prst="line">
            <a:avLst/>
          </a:prstGeom>
          <a:ln w="12700">
            <a:solidFill>
              <a:schemeClr val="accent1">
                <a:lumMod val="20000"/>
                <a:lumOff val="80000"/>
              </a:schemeClr>
            </a:solidFill>
            <a:prstDash val="dash"/>
            <a:headEnd type="oval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15" name="TextBox 15"/>
          <p:cNvSpPr txBox="1"/>
          <p:nvPr/>
        </p:nvSpPr>
        <p:spPr>
          <a:xfrm rot="0">
            <a:off x="7114060" y="3941348"/>
            <a:ext cx="647700" cy="2000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ctr">
              <a:lnSpc>
                <a:spcPct val="113999"/>
              </a:lnSpc>
              <a:spcBef>
                <a:spcPct val="0"/>
              </a:spcBef>
            </a:pPr>
            <a:r>
              <a:rPr lang="en-US" sz="11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现代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6" name="TextBox 16"/>
          <p:cNvSpPr txBox="1"/>
          <p:nvPr/>
        </p:nvSpPr>
        <p:spPr>
          <a:xfrm rot="0">
            <a:off x="8976162" y="3941348"/>
            <a:ext cx="647700" cy="2000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ctr">
              <a:lnSpc>
                <a:spcPct val="113999"/>
              </a:lnSpc>
              <a:spcBef>
                <a:spcPct val="0"/>
              </a:spcBef>
            </a:pPr>
            <a:r>
              <a:rPr lang="en-US" sz="11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保健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7" name="TextBox 17"/>
          <p:cNvSpPr txBox="1"/>
          <p:nvPr/>
        </p:nvSpPr>
        <p:spPr>
          <a:xfrm rot="0">
            <a:off x="7580906" y="1265974"/>
            <a:ext cx="1485900" cy="2381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研究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8" name="TextBox 18"/>
          <p:cNvSpPr txBox="1"/>
          <p:nvPr/>
        </p:nvSpPr>
        <p:spPr>
          <a:xfrm rot="0">
            <a:off x="7569419" y="1565947"/>
            <a:ext cx="1276350" cy="72390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13999"/>
              </a:lnSpc>
              <a:spcBef>
                <a:spcPct val="0"/>
              </a:spcBef>
            </a:pPr>
            <a:r>
              <a:rPr lang="en-US" sz="999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现代研究表明，刺激天枢穴能调节肠道蠕动功能，改善胃肠激素分泌。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cxnSp>
        <p:nvCxnSpPr>
          <p:cNvPr id="19" name="Connector 19"/>
          <p:cNvCxnSpPr/>
          <p:nvPr/>
        </p:nvCxnSpPr>
        <p:spPr>
          <a:xfrm>
            <a:off x="7432400" y="1371600"/>
            <a:ext cx="0" cy="2336928"/>
          </a:xfrm>
          <a:prstGeom prst="line">
            <a:avLst/>
          </a:prstGeom>
          <a:ln w="12700">
            <a:solidFill>
              <a:schemeClr val="accent1">
                <a:lumMod val="20000"/>
                <a:lumOff val="80000"/>
              </a:schemeClr>
            </a:solidFill>
            <a:prstDash val="dash"/>
            <a:headEnd type="oval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20" name="TextBox 20"/>
          <p:cNvSpPr txBox="1"/>
          <p:nvPr/>
        </p:nvSpPr>
        <p:spPr>
          <a:xfrm rot="0">
            <a:off x="5574659" y="1265974"/>
            <a:ext cx="1539401" cy="2381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配足三里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1" name="TextBox 21"/>
          <p:cNvSpPr txBox="1"/>
          <p:nvPr/>
        </p:nvSpPr>
        <p:spPr>
          <a:xfrm rot="0">
            <a:off x="5563172" y="1565947"/>
            <a:ext cx="1276350" cy="72390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13999"/>
              </a:lnSpc>
              <a:spcBef>
                <a:spcPct val="0"/>
              </a:spcBef>
            </a:pPr>
            <a:r>
              <a:rPr lang="en-US" sz="999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天枢穴常与足三里穴配伍使用，可增强健脾和胃、理气止痛的功效。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cxnSp>
        <p:nvCxnSpPr>
          <p:cNvPr id="22" name="Connector 22"/>
          <p:cNvCxnSpPr/>
          <p:nvPr/>
        </p:nvCxnSpPr>
        <p:spPr>
          <a:xfrm>
            <a:off x="5419536" y="1371600"/>
            <a:ext cx="0" cy="2336928"/>
          </a:xfrm>
          <a:prstGeom prst="line">
            <a:avLst/>
          </a:prstGeom>
          <a:ln w="12700">
            <a:solidFill>
              <a:schemeClr val="accent1">
                <a:lumMod val="20000"/>
                <a:lumOff val="80000"/>
              </a:schemeClr>
            </a:solidFill>
            <a:prstDash val="dash"/>
            <a:headEnd type="oval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23" name="TextBox 23"/>
          <p:cNvSpPr txBox="1"/>
          <p:nvPr/>
        </p:nvSpPr>
        <p:spPr>
          <a:xfrm rot="0">
            <a:off x="3688709" y="1265974"/>
            <a:ext cx="1485900" cy="2381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便秘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4" name="TextBox 24"/>
          <p:cNvSpPr txBox="1"/>
          <p:nvPr/>
        </p:nvSpPr>
        <p:spPr>
          <a:xfrm rot="0">
            <a:off x="3677221" y="1565947"/>
            <a:ext cx="1495425" cy="5429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13999"/>
              </a:lnSpc>
              <a:spcBef>
                <a:spcPct val="0"/>
              </a:spcBef>
            </a:pPr>
            <a:r>
              <a:rPr lang="en-US" sz="999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天枢穴属足阳明胃经，是调理肠胃功能的关键穴位，主治腹胀、腹泻、便秘等消化系统疾病。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cxnSp>
        <p:nvCxnSpPr>
          <p:cNvPr id="25" name="Connector 25"/>
          <p:cNvCxnSpPr/>
          <p:nvPr/>
        </p:nvCxnSpPr>
        <p:spPr>
          <a:xfrm>
            <a:off x="3533586" y="1371600"/>
            <a:ext cx="0" cy="2336928"/>
          </a:xfrm>
          <a:prstGeom prst="line">
            <a:avLst/>
          </a:prstGeom>
          <a:ln w="12700">
            <a:solidFill>
              <a:schemeClr val="accent1">
                <a:lumMod val="20000"/>
                <a:lumOff val="80000"/>
              </a:schemeClr>
            </a:solidFill>
            <a:prstDash val="dash"/>
            <a:headEnd type="oval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26" name="AutoShape 26"/>
          <p:cNvSpPr/>
          <p:nvPr/>
        </p:nvSpPr>
        <p:spPr>
          <a:xfrm rot="0">
            <a:off x="414901" y="1329254"/>
            <a:ext cx="1318649" cy="382535"/>
          </a:xfrm>
          <a:prstGeom prst="homePlate">
            <a:avLst>
              <a:gd fmla="val 0" name="adj"/>
            </a:avLst>
          </a:prstGeom>
          <a:solidFill>
            <a:schemeClr val="accent3">
              <a:alpha val="100000"/>
            </a:scheme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定位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7" name="AutoShape 27"/>
          <p:cNvSpPr/>
          <p:nvPr/>
        </p:nvSpPr>
        <p:spPr>
          <a:xfrm rot="0">
            <a:off x="408078" y="3454521"/>
            <a:ext cx="2779069" cy="749060"/>
          </a:xfrm>
          <a:prstGeom prst="homePlate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主治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8" name="AutoShape 28"/>
          <p:cNvSpPr/>
          <p:nvPr/>
        </p:nvSpPr>
        <p:spPr>
          <a:xfrm rot="0">
            <a:off x="414901" y="2395259"/>
            <a:ext cx="1318649" cy="382535"/>
          </a:xfrm>
          <a:prstGeom prst="homePlate">
            <a:avLst>
              <a:gd fmla="val 0" name="adj"/>
            </a:avLst>
          </a:prstGeom>
          <a:solidFill>
            <a:schemeClr val="accent3">
              <a:alpha val="100000"/>
            </a:scheme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脐旁2寸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9" name="TextBox 29"/>
          <p:cNvSpPr txBox="1"/>
          <p:nvPr/>
        </p:nvSpPr>
        <p:spPr>
          <a:xfrm rot="0">
            <a:off x="4110265" y="3484486"/>
            <a:ext cx="647700" cy="2000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ctr">
              <a:lnSpc>
                <a:spcPct val="113999"/>
              </a:lnSpc>
              <a:spcBef>
                <a:spcPct val="0"/>
              </a:spcBef>
            </a:pPr>
            <a:r>
              <a:rPr lang="en-US" sz="11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腹痛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0" name="TextBox 30"/>
          <p:cNvSpPr txBox="1"/>
          <p:nvPr/>
        </p:nvSpPr>
        <p:spPr>
          <a:xfrm rot="0">
            <a:off x="6018685" y="3484486"/>
            <a:ext cx="647700" cy="2000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ctr">
              <a:lnSpc>
                <a:spcPct val="113999"/>
              </a:lnSpc>
              <a:spcBef>
                <a:spcPct val="0"/>
              </a:spcBef>
            </a:pPr>
            <a:r>
              <a:rPr lang="en-US" sz="11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配中脘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1" name="TextBox 31"/>
          <p:cNvSpPr txBox="1"/>
          <p:nvPr/>
        </p:nvSpPr>
        <p:spPr>
          <a:xfrm rot="0">
            <a:off x="7947462" y="3484486"/>
            <a:ext cx="647700" cy="2000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ctr">
              <a:lnSpc>
                <a:spcPct val="113999"/>
              </a:lnSpc>
              <a:spcBef>
                <a:spcPct val="0"/>
              </a:spcBef>
            </a:pPr>
            <a:r>
              <a:rPr lang="en-US" sz="11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文献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2" name="TextBox 32"/>
          <p:cNvSpPr txBox="1"/>
          <p:nvPr/>
        </p:nvSpPr>
        <p:spPr>
          <a:xfrm rot="0">
            <a:off x="8437011" y="5481426"/>
            <a:ext cx="1681137" cy="2381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记载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3" name="TextBox 33"/>
          <p:cNvSpPr txBox="1"/>
          <p:nvPr/>
        </p:nvSpPr>
        <p:spPr>
          <a:xfrm rot="0">
            <a:off x="8451273" y="5747957"/>
            <a:ext cx="1666875" cy="5429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13999"/>
              </a:lnSpc>
              <a:spcBef>
                <a:spcPct val="0"/>
              </a:spcBef>
            </a:pPr>
            <a:r>
              <a:rPr lang="en-US" sz="999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《针灸甲乙经》记载：'天枢，大肠募也，在挟脐旁各二寸陷者中'。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cxnSp>
        <p:nvCxnSpPr>
          <p:cNvPr id="34" name="Connector 34"/>
          <p:cNvCxnSpPr/>
          <p:nvPr/>
        </p:nvCxnSpPr>
        <p:spPr>
          <a:xfrm flipV="1">
            <a:off x="8272363" y="3865873"/>
            <a:ext cx="0" cy="2336928"/>
          </a:xfrm>
          <a:prstGeom prst="line">
            <a:avLst/>
          </a:prstGeom>
          <a:ln w="12700">
            <a:solidFill>
              <a:schemeClr val="accent1">
                <a:lumMod val="20000"/>
                <a:lumOff val="80000"/>
              </a:schemeClr>
            </a:solidFill>
            <a:prstDash val="dash"/>
            <a:headEnd type="oval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35" name="TextBox 35"/>
          <p:cNvSpPr txBox="1"/>
          <p:nvPr/>
        </p:nvSpPr>
        <p:spPr>
          <a:xfrm rot="0">
            <a:off x="6516771" y="5481426"/>
            <a:ext cx="1654737" cy="2381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注意事项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6" name="TextBox 36"/>
          <p:cNvSpPr txBox="1"/>
          <p:nvPr/>
        </p:nvSpPr>
        <p:spPr>
          <a:xfrm rot="0">
            <a:off x="6531034" y="5747957"/>
            <a:ext cx="1276350" cy="5429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13999"/>
              </a:lnSpc>
              <a:spcBef>
                <a:spcPct val="0"/>
              </a:spcBef>
            </a:pPr>
            <a:r>
              <a:rPr lang="en-US" sz="999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孕妇慎用天枢穴，饭后不宜立即按压，治疗期间需注意饮食清淡。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cxnSp>
        <p:nvCxnSpPr>
          <p:cNvPr id="37" name="Connector 37"/>
          <p:cNvCxnSpPr/>
          <p:nvPr/>
        </p:nvCxnSpPr>
        <p:spPr>
          <a:xfrm flipV="1">
            <a:off x="6342598" y="3865873"/>
            <a:ext cx="0" cy="2336928"/>
          </a:xfrm>
          <a:prstGeom prst="line">
            <a:avLst/>
          </a:prstGeom>
          <a:ln w="12700">
            <a:solidFill>
              <a:schemeClr val="accent1">
                <a:lumMod val="20000"/>
                <a:lumOff val="80000"/>
              </a:schemeClr>
            </a:solidFill>
            <a:prstDash val="dash"/>
            <a:headEnd type="oval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38" name="TextBox 38"/>
          <p:cNvSpPr txBox="1"/>
          <p:nvPr/>
        </p:nvSpPr>
        <p:spPr>
          <a:xfrm rot="0">
            <a:off x="4550811" y="5481426"/>
            <a:ext cx="1485900" cy="2381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操作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9" name="TextBox 39"/>
          <p:cNvSpPr txBox="1"/>
          <p:nvPr/>
        </p:nvSpPr>
        <p:spPr>
          <a:xfrm rot="0">
            <a:off x="4565074" y="5747957"/>
            <a:ext cx="1276350" cy="5429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13999"/>
              </a:lnSpc>
              <a:spcBef>
                <a:spcPct val="0"/>
              </a:spcBef>
            </a:pPr>
            <a:r>
              <a:rPr lang="en-US" sz="999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用拇指指腹按压天枢穴3-5分钟，以局部酸胀为度，可配合艾灸增强疗效。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cxnSp>
        <p:nvCxnSpPr>
          <p:cNvPr id="40" name="Connector 40"/>
          <p:cNvCxnSpPr/>
          <p:nvPr/>
        </p:nvCxnSpPr>
        <p:spPr>
          <a:xfrm flipV="1">
            <a:off x="4414738" y="3865873"/>
            <a:ext cx="0" cy="2336928"/>
          </a:xfrm>
          <a:prstGeom prst="line">
            <a:avLst/>
          </a:prstGeom>
          <a:ln w="12700">
            <a:solidFill>
              <a:schemeClr val="accent1">
                <a:lumMod val="20000"/>
                <a:lumOff val="80000"/>
              </a:schemeClr>
            </a:solidFill>
            <a:prstDash val="dash"/>
            <a:headEnd type="oval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41" name="AutoShape 41"/>
          <p:cNvSpPr/>
          <p:nvPr/>
        </p:nvSpPr>
        <p:spPr>
          <a:xfrm rot="0">
            <a:off x="414901" y="4823663"/>
            <a:ext cx="1318649" cy="382535"/>
          </a:xfrm>
          <a:prstGeom prst="homePlate">
            <a:avLst>
              <a:gd fmla="val 0" name="adj"/>
            </a:avLst>
          </a:prstGeom>
          <a:solidFill>
            <a:schemeClr val="accent3">
              <a:alpha val="100000"/>
            </a:scheme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功效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2" name="AutoShape 42"/>
          <p:cNvSpPr/>
          <p:nvPr/>
        </p:nvSpPr>
        <p:spPr>
          <a:xfrm rot="0">
            <a:off x="414901" y="5797853"/>
            <a:ext cx="1318649" cy="382535"/>
          </a:xfrm>
          <a:prstGeom prst="homePlate">
            <a:avLst>
              <a:gd fmla="val 0" name="adj"/>
            </a:avLst>
          </a:prstGeom>
          <a:solidFill>
            <a:schemeClr val="accent3">
              <a:alpha val="100000"/>
            </a:scheme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调肠胃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3" name="AutoShape 43"/>
          <p:cNvSpPr/>
          <p:nvPr/>
        </p:nvSpPr>
        <p:spPr>
          <a:xfrm rot="0">
            <a:off x="4317474" y="3732939"/>
            <a:ext cx="192223" cy="19222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4" name="AutoShape 44"/>
          <p:cNvSpPr/>
          <p:nvPr/>
        </p:nvSpPr>
        <p:spPr>
          <a:xfrm rot="0">
            <a:off x="6252936" y="3732939"/>
            <a:ext cx="192223" cy="19222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5" name="AutoShape 45"/>
          <p:cNvSpPr/>
          <p:nvPr/>
        </p:nvSpPr>
        <p:spPr>
          <a:xfrm rot="0">
            <a:off x="8171508" y="3732939"/>
            <a:ext cx="192223" cy="19222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6" name="TextBox 46"/>
          <p:cNvSpPr txBox="1"/>
          <p:nvPr/>
        </p:nvSpPr>
        <p:spPr>
          <a:xfrm rot="0">
            <a:off x="297080" y="295152"/>
            <a:ext cx="11239500" cy="914400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sp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天枢穴（调理肠胃）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eyJtZCI6IiMjIOiFuemDqOS/neWBpeiFp+eptFxuIyMjIOWkqeaeoueptO+8iOiwg+eQhuiCoOiDg++8iSIsInRwbGlkIjoiODYiLCJ0cGxOYW1lIjoidGl0bGVHcmFwaF9wcm8xMDUiLCJlZGl0ZWQiOiJmYWxzZSJ9</bd:templateData>
    </p:ext>
  </p:extLs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3829056" y="2526030"/>
            <a:ext cx="7644490" cy="1805940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rmAutofit/>
          </a:bodyPr>
          <a:lstStyle/>
          <a:p>
            <a:pPr>
              <a:lnSpc>
                <a:spcPct val="120000"/>
              </a:lnSpc>
              <a:spcBef>
                <a:spcPts val="375"/>
              </a:spcBef>
            </a:pPr>
            <a:r>
              <a:rPr b="1" lang="en-US" sz="45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腰背部保健腧穴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eyJfdGVtcGxhdGVEYXRhIjp7ImNvbnRlbnRUeXBlIjoiJHRpdGxlIiwibGluZUNvdW50IjoiMiIsIndvcmRDb3VudCI6IjEyIn0sInRhZyI6IiR0aXRsZSJ9</bd:templateData>
          </p:ext>
        </p:extLst>
      </p:sp>
      <p:sp>
        <p:nvSpPr>
          <p:cNvPr id="3" name="TextBox 3"/>
          <p:cNvSpPr txBox="1"/>
          <p:nvPr/>
        </p:nvSpPr>
        <p:spPr>
          <a:xfrm rot="0">
            <a:off x="3766844" y="1072555"/>
            <a:ext cx="3112760" cy="1138956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>
              <a:lnSpc>
                <a:spcPct val="80000"/>
              </a:lnSpc>
            </a:pPr>
            <a:r>
              <a:rPr b="1" lang="en-US" sz="8400">
                <a:solidFill>
                  <a:schemeClr val="accent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eyJfdGVtcGxhdGVEYXRhIjp7ImNvbnRlbnRUeXBlIjoiJG51bWJlciIsImxpbmVDb3VudCI6IjEiLCJ3b3JkQ291bnQiOiIyIn0sInRhZyI6Im5vRWRpdCJ9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eyJtZCI6IiMjIOiFsOiDjOmDqOS/neWBpeiFp+eptCIsInRwbGlkIjoiODYiLCJ0cGxOYW1lIjoiaDJ0aXRsZV84NnNpbXBsZWJsdWUiLCJlZGl0ZWQiOiJmYWxzZSJ9</bd:templateData>
    </p:ext>
  </p:extLs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0">
            <a:off x="369164" y="3086153"/>
            <a:ext cx="2274704" cy="547649"/>
          </a:xfrm>
          <a:custGeom>
            <a:avLst/>
            <a:gdLst/>
            <a:ahLst/>
            <a:cxnLst/>
            <a:rect b="b" l="l" r="r" t="t"/>
            <a:pathLst>
              <a:path h="547649" w="2274704">
                <a:moveTo>
                  <a:pt x="0" y="0"/>
                </a:moveTo>
                <a:lnTo>
                  <a:pt x="2274704" y="0"/>
                </a:lnTo>
                <a:lnTo>
                  <a:pt x="2274704" y="547649"/>
                </a:lnTo>
                <a:lnTo>
                  <a:pt x="0" y="547649"/>
                </a:lnTo>
                <a:lnTo>
                  <a:pt x="0" y="0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" name="Freeform 3"/>
          <p:cNvSpPr/>
          <p:nvPr/>
        </p:nvSpPr>
        <p:spPr>
          <a:xfrm rot="0">
            <a:off x="2689587" y="3086153"/>
            <a:ext cx="2247094" cy="547649"/>
          </a:xfrm>
          <a:custGeom>
            <a:avLst/>
            <a:gdLst/>
            <a:ahLst/>
            <a:cxnLst/>
            <a:rect b="b" l="l" r="r" t="t"/>
            <a:pathLst>
              <a:path h="547649" w="2247094">
                <a:moveTo>
                  <a:pt x="0" y="0"/>
                </a:moveTo>
                <a:lnTo>
                  <a:pt x="2247094" y="0"/>
                </a:lnTo>
                <a:lnTo>
                  <a:pt x="2247094" y="547649"/>
                </a:lnTo>
                <a:lnTo>
                  <a:pt x="0" y="547649"/>
                </a:lnTo>
                <a:lnTo>
                  <a:pt x="0" y="0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txBody>
          <a:bodyPr anchor="t" anchorCtr="0" rtlCol="0" vert="horz" wrap="square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" name="Freeform 4"/>
          <p:cNvSpPr/>
          <p:nvPr/>
        </p:nvSpPr>
        <p:spPr>
          <a:xfrm rot="0">
            <a:off x="4982400" y="3086153"/>
            <a:ext cx="2247094" cy="547649"/>
          </a:xfrm>
          <a:custGeom>
            <a:avLst/>
            <a:gdLst/>
            <a:ahLst/>
            <a:cxnLst/>
            <a:rect b="b" l="l" r="r" t="t"/>
            <a:pathLst>
              <a:path h="547649" w="2247094">
                <a:moveTo>
                  <a:pt x="0" y="0"/>
                </a:moveTo>
                <a:lnTo>
                  <a:pt x="2247094" y="0"/>
                </a:lnTo>
                <a:lnTo>
                  <a:pt x="2247094" y="547649"/>
                </a:lnTo>
                <a:lnTo>
                  <a:pt x="0" y="547649"/>
                </a:lnTo>
                <a:lnTo>
                  <a:pt x="0" y="0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5" name="Freeform 5"/>
          <p:cNvSpPr/>
          <p:nvPr/>
        </p:nvSpPr>
        <p:spPr>
          <a:xfrm rot="0">
            <a:off x="7275213" y="3086153"/>
            <a:ext cx="2247094" cy="547649"/>
          </a:xfrm>
          <a:custGeom>
            <a:avLst/>
            <a:gdLst/>
            <a:ahLst/>
            <a:cxnLst/>
            <a:rect b="b" l="l" r="r" t="t"/>
            <a:pathLst>
              <a:path h="547649" w="2247094">
                <a:moveTo>
                  <a:pt x="0" y="0"/>
                </a:moveTo>
                <a:lnTo>
                  <a:pt x="2247094" y="0"/>
                </a:lnTo>
                <a:lnTo>
                  <a:pt x="2247094" y="547649"/>
                </a:lnTo>
                <a:lnTo>
                  <a:pt x="0" y="547649"/>
                </a:lnTo>
                <a:lnTo>
                  <a:pt x="0" y="0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6" name="TextBox 6"/>
          <p:cNvSpPr txBox="1"/>
          <p:nvPr/>
        </p:nvSpPr>
        <p:spPr>
          <a:xfrm rot="0">
            <a:off x="369164" y="3175310"/>
            <a:ext cx="2278380" cy="386715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定位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eyJfdGVtcGxhdGVEYXRhIjp7ImxpbmVDb3VudCI6IjEiLCJ3b3JkQ291bnQiOiIzIn0sInRhZyI6Im5vRWRpdCJ9</bd:templateData>
          </p:ext>
        </p:extLst>
      </p:sp>
      <p:sp>
        <p:nvSpPr>
          <p:cNvPr id="7" name="TextBox 7"/>
          <p:cNvSpPr txBox="1"/>
          <p:nvPr/>
        </p:nvSpPr>
        <p:spPr>
          <a:xfrm rot="0">
            <a:off x="2689587" y="3175310"/>
            <a:ext cx="2249805" cy="386715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功效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eyJfdGVtcGxhdGVEYXRhIjp7ImxpbmVDb3VudCI6IjEiLCJ3b3JkQ291bnQiOiIzIn0sInRhZyI6Im5vRWRpdCJ9</bd:templateData>
          </p:ext>
        </p:extLst>
      </p:sp>
      <p:sp>
        <p:nvSpPr>
          <p:cNvPr id="8" name="TextBox 8"/>
          <p:cNvSpPr txBox="1"/>
          <p:nvPr/>
        </p:nvSpPr>
        <p:spPr>
          <a:xfrm rot="0">
            <a:off x="4982400" y="3175310"/>
            <a:ext cx="2249805" cy="386715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操作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eyJfdGVtcGxhdGVEYXRhIjp7ImxpbmVDb3VudCI6IjEiLCJ3b3JkQ291bnQiOiIzIn0sInRhZyI6Im5vRWRpdCJ9</bd:templateData>
          </p:ext>
        </p:extLst>
      </p:sp>
      <p:sp>
        <p:nvSpPr>
          <p:cNvPr id="9" name="TextBox 9"/>
          <p:cNvSpPr txBox="1"/>
          <p:nvPr/>
        </p:nvSpPr>
        <p:spPr>
          <a:xfrm rot="0">
            <a:off x="7275213" y="3175310"/>
            <a:ext cx="2249805" cy="386715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配伍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eyJfdGVtcGxhdGVEYXRhIjp7ImxpbmVDb3VudCI6IjEiLCJ3b3JkQ291bnQiOiIzIn0sInRhZyI6Im5vRWRpdCJ9</bd:templateData>
          </p:ext>
        </p:extLst>
      </p:sp>
      <p:sp>
        <p:nvSpPr>
          <p:cNvPr id="10" name="Freeform 10"/>
          <p:cNvSpPr/>
          <p:nvPr/>
        </p:nvSpPr>
        <p:spPr>
          <a:xfrm rot="0">
            <a:off x="9568026" y="3086153"/>
            <a:ext cx="2260984" cy="547649"/>
          </a:xfrm>
          <a:custGeom>
            <a:avLst/>
            <a:gdLst/>
            <a:ahLst/>
            <a:cxnLst/>
            <a:rect b="b" l="l" r="r" t="t"/>
            <a:pathLst>
              <a:path h="547649" w="2260984">
                <a:moveTo>
                  <a:pt x="0" y="0"/>
                </a:moveTo>
                <a:lnTo>
                  <a:pt x="2260984" y="0"/>
                </a:lnTo>
                <a:lnTo>
                  <a:pt x="2260984" y="547649"/>
                </a:lnTo>
                <a:lnTo>
                  <a:pt x="0" y="547649"/>
                </a:lnTo>
                <a:lnTo>
                  <a:pt x="0" y="0"/>
                </a:lnTo>
              </a:path>
            </a:pathLst>
          </a:custGeom>
          <a:solidFill>
            <a:schemeClr val="accen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1" name="TextBox 11"/>
          <p:cNvSpPr txBox="1"/>
          <p:nvPr/>
        </p:nvSpPr>
        <p:spPr>
          <a:xfrm rot="0">
            <a:off x="9568026" y="3175310"/>
            <a:ext cx="2176775" cy="386715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注意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eyJfdGVtcGxhdGVEYXRhIjp7ImxpbmVDb3VudCI6IjEiLCJ3b3JkQ291bnQiOiIzIn0sInRhZyI6Im5vRWRpdCJ9</bd:templateData>
          </p:ext>
        </p:extLst>
      </p:sp>
      <p:sp>
        <p:nvSpPr>
          <p:cNvPr id="12" name="AutoShape 12"/>
          <p:cNvSpPr/>
          <p:nvPr/>
        </p:nvSpPr>
        <p:spPr>
          <a:xfrm rot="0">
            <a:off x="1413355" y="2969916"/>
            <a:ext cx="186322" cy="116234"/>
          </a:xfrm>
          <a:prstGeom prst="triangle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3" name="AutoShape 13"/>
          <p:cNvSpPr/>
          <p:nvPr/>
        </p:nvSpPr>
        <p:spPr>
          <a:xfrm rot="0">
            <a:off x="6012786" y="2969916"/>
            <a:ext cx="186322" cy="116234"/>
          </a:xfrm>
          <a:prstGeom prst="triangle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4" name="AutoShape 14"/>
          <p:cNvSpPr/>
          <p:nvPr/>
        </p:nvSpPr>
        <p:spPr>
          <a:xfrm rot="10800000">
            <a:off x="3719974" y="3630699"/>
            <a:ext cx="186322" cy="116234"/>
          </a:xfrm>
          <a:prstGeom prst="triangle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5" name="AutoShape 15"/>
          <p:cNvSpPr/>
          <p:nvPr/>
        </p:nvSpPr>
        <p:spPr>
          <a:xfrm rot="10800000">
            <a:off x="8305599" y="3630699"/>
            <a:ext cx="186322" cy="116234"/>
          </a:xfrm>
          <a:prstGeom prst="triangle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cxnSp>
        <p:nvCxnSpPr>
          <p:cNvPr id="16" name="Connector 16"/>
          <p:cNvCxnSpPr/>
          <p:nvPr/>
        </p:nvCxnSpPr>
        <p:spPr>
          <a:xfrm>
            <a:off x="1506516" y="2037587"/>
            <a:ext cx="0" cy="932329"/>
          </a:xfrm>
          <a:prstGeom prst="line">
            <a:avLst/>
          </a:prstGeom>
          <a:ln w="12700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17" name="TextBox 17"/>
          <p:cNvSpPr txBox="1"/>
          <p:nvPr/>
        </p:nvSpPr>
        <p:spPr>
          <a:xfrm rot="0">
            <a:off x="2049591" y="2037587"/>
            <a:ext cx="2390775" cy="64770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13999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旁开3.5寸凹陷处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eyJfdGVtcGxhdGVEYXRhIjp7ImxpbmVDb3VudCI6IjIiLCJ3b3JkQ291bnQiOiIxMyJ9LCJ0YWciOiJub0VkaXQifQ==</bd:templateData>
          </p:ext>
        </p:extLst>
      </p:sp>
      <p:sp>
        <p:nvSpPr>
          <p:cNvPr id="18" name="TextBox 18"/>
          <p:cNvSpPr txBox="1"/>
          <p:nvPr/>
        </p:nvSpPr>
        <p:spPr>
          <a:xfrm rot="0">
            <a:off x="2021015" y="1585561"/>
            <a:ext cx="2334600" cy="33337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第四腰椎旁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eyJfdGVtcGxhdGVEYXRhIjp7ImxpbmVDb3VudCI6IjEiLCJ3b3JkQ291bnQiOiI2In0sInRhZyI6Im5vRWRpdCJ9</bd:templateData>
          </p:ext>
        </p:extLst>
      </p:sp>
      <p:sp>
        <p:nvSpPr>
          <p:cNvPr id="19" name="TextBox 19"/>
          <p:cNvSpPr txBox="1"/>
          <p:nvPr/>
        </p:nvSpPr>
        <p:spPr>
          <a:xfrm rot="0">
            <a:off x="4440508" y="4726196"/>
            <a:ext cx="2390775" cy="64770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13999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主治腰痛遗精阳痿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0" name="TextBox 20"/>
          <p:cNvSpPr txBox="1"/>
          <p:nvPr/>
        </p:nvSpPr>
        <p:spPr>
          <a:xfrm rot="0">
            <a:off x="4450033" y="4274170"/>
            <a:ext cx="1781175" cy="32385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non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温补肾阳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eyJfdGVtcGxhdGVEYXRhIjp7ImxpbmVDb3VudCI6IjEiLCJ3b3JkQ291bnQiOiI1In0sInRhZyI6Im5vRWRpdCJ9</bd:templateData>
          </p:ext>
        </p:extLst>
      </p:sp>
      <p:cxnSp>
        <p:nvCxnSpPr>
          <p:cNvPr id="21" name="Connector 21"/>
          <p:cNvCxnSpPr/>
          <p:nvPr/>
        </p:nvCxnSpPr>
        <p:spPr>
          <a:xfrm>
            <a:off x="6094845" y="2037587"/>
            <a:ext cx="0" cy="932329"/>
          </a:xfrm>
          <a:prstGeom prst="line">
            <a:avLst/>
          </a:prstGeom>
          <a:ln w="12700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22" name="TextBox 22"/>
          <p:cNvSpPr txBox="1"/>
          <p:nvPr/>
        </p:nvSpPr>
        <p:spPr>
          <a:xfrm rot="0">
            <a:off x="6637920" y="2037587"/>
            <a:ext cx="2390775" cy="86677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13999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悬灸10分钟/次每日1次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3" name="TextBox 23"/>
          <p:cNvSpPr txBox="1"/>
          <p:nvPr/>
        </p:nvSpPr>
        <p:spPr>
          <a:xfrm rot="0">
            <a:off x="6609344" y="1585561"/>
            <a:ext cx="2247900" cy="32385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艾灸疗法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eyJfdGVtcGxhdGVEYXRhIjp7ImxpbmVDb3VudCI6IjEiLCJ3b3JkQ291bnQiOiI3In0sInRhZyI6Im5vRWRpdCJ9</bd:templateData>
          </p:ext>
        </p:extLst>
      </p:sp>
      <p:sp>
        <p:nvSpPr>
          <p:cNvPr id="24" name="TextBox 24"/>
          <p:cNvSpPr txBox="1"/>
          <p:nvPr/>
        </p:nvSpPr>
        <p:spPr>
          <a:xfrm rot="0">
            <a:off x="9066936" y="4726196"/>
            <a:ext cx="2390775" cy="64770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13999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增强温阳固精之效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eyJfdGVtcGxhdGVEYXRhIjp7ImxpbmVDb3VudCI6IjIiLCJ3b3JkQ291bnQiOiIxMyJ9LCJ0YWciOiJub0VkaXQifQ==</bd:templateData>
          </p:ext>
        </p:extLst>
      </p:sp>
      <p:sp>
        <p:nvSpPr>
          <p:cNvPr id="25" name="TextBox 25"/>
          <p:cNvSpPr txBox="1"/>
          <p:nvPr/>
        </p:nvSpPr>
        <p:spPr>
          <a:xfrm rot="0">
            <a:off x="9038361" y="4274170"/>
            <a:ext cx="1781175" cy="32385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non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肾俞命门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eyJfdGVtcGxhdGVEYXRhIjp7ImxpbmVDb3VudCI6IjEiLCJ3b3JkQ291bnQiOiI1In0sInRhZyI6Im5vRWRpdCJ9</bd:templateData>
          </p:ext>
        </p:extLst>
      </p:sp>
      <p:sp>
        <p:nvSpPr>
          <p:cNvPr id="26" name="TextBox 26"/>
          <p:cNvSpPr txBox="1"/>
          <p:nvPr/>
        </p:nvSpPr>
        <p:spPr>
          <a:xfrm rot="0">
            <a:off x="9916002" y="1585561"/>
            <a:ext cx="1828800" cy="2762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忌重按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7" name="TextBox 27"/>
          <p:cNvSpPr txBox="1"/>
          <p:nvPr/>
        </p:nvSpPr>
        <p:spPr>
          <a:xfrm rot="0">
            <a:off x="9916002" y="2037587"/>
            <a:ext cx="1828800" cy="22860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孕妇慎用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8" name="TextBox 28"/>
          <p:cNvSpPr txBox="1"/>
          <p:nvPr/>
        </p:nvSpPr>
        <p:spPr>
          <a:xfrm rot="0">
            <a:off x="9916002" y="2470974"/>
            <a:ext cx="1828800" cy="22860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避风保暖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9" name="AutoShape 29"/>
          <p:cNvSpPr/>
          <p:nvPr/>
        </p:nvSpPr>
        <p:spPr>
          <a:xfrm rot="0">
            <a:off x="369164" y="5834790"/>
            <a:ext cx="11459847" cy="621927"/>
          </a:xfrm>
          <a:prstGeom prst="roundRect">
            <a:avLst>
              <a:gd fmla="val 0" name="adj"/>
            </a:avLst>
          </a:prstGeom>
          <a:solidFill>
            <a:schemeClr val="accen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0" name="TextBox 30"/>
          <p:cNvSpPr txBox="1"/>
          <p:nvPr/>
        </p:nvSpPr>
        <p:spPr>
          <a:xfrm rot="0">
            <a:off x="818363" y="5916625"/>
            <a:ext cx="10565130" cy="424815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温肾壮阳特效穴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eyJfdGVtcGxhdGVEYXRhIjp7ImxpbmVDb3VudCI6IjEiLCJ3b3JkQ291bnQiOiI1NyJ9LCJ0YWciOiJub0VkaXQifQ==</bd:templateData>
          </p:ext>
        </p:extLst>
      </p:sp>
      <p:sp>
        <p:nvSpPr>
          <p:cNvPr id="31" name="TextBox 31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腰眼穴（温肾壮阳）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eyJfdGVtcGxhdGVEYXRhIjp7ImNvbnRlbnRUeXBlIjoiJHRpdGxlIiwibGluZUNvdW50IjoiMSIsIndvcmRDb3VudCI6IjI4In0sInRhZyI6Im5vRWRpdCJ9</bd:templateData>
          </p:ext>
        </p:extLst>
      </p:sp>
      <p:cxnSp>
        <p:nvCxnSpPr>
          <p:cNvPr id="32" name="Connector 32"/>
          <p:cNvCxnSpPr/>
          <p:nvPr/>
        </p:nvCxnSpPr>
        <p:spPr>
          <a:xfrm>
            <a:off x="8401261" y="3733279"/>
            <a:ext cx="0" cy="932329"/>
          </a:xfrm>
          <a:prstGeom prst="line">
            <a:avLst/>
          </a:prstGeom>
          <a:ln w="12700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33" name="AutoShape 33"/>
          <p:cNvSpPr/>
          <p:nvPr/>
        </p:nvSpPr>
        <p:spPr>
          <a:xfrm rot="10800000">
            <a:off x="8305599" y="4598020"/>
            <a:ext cx="627793" cy="627793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4" name="AutoShape 34"/>
          <p:cNvSpPr/>
          <p:nvPr/>
        </p:nvSpPr>
        <p:spPr>
          <a:xfrm rot="0">
            <a:off x="5792051" y="1651397"/>
            <a:ext cx="627793" cy="627793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txBody>
          <a:bodyPr anchor="t" anchorCtr="0" bIns="45720" lIns="91440" rIns="91440" rtlCol="0" tIns="45720" vert="horz" wrap="square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eyJfdGVtcGxhdGVEYXRhIjp7ImxpbmVDb3VudCI6IjMiLCJ3b3JkQ291bnQiOiIyIn0sInRhZyI6Im5vRWRpdCJ9</bd:templateData>
          </p:ext>
        </p:extLst>
      </p:sp>
      <p:cxnSp>
        <p:nvCxnSpPr>
          <p:cNvPr id="35" name="Connector 35"/>
          <p:cNvCxnSpPr/>
          <p:nvPr/>
        </p:nvCxnSpPr>
        <p:spPr>
          <a:xfrm>
            <a:off x="3813014" y="3733279"/>
            <a:ext cx="0" cy="932329"/>
          </a:xfrm>
          <a:prstGeom prst="line">
            <a:avLst/>
          </a:prstGeom>
          <a:ln w="12700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36" name="AutoShape 36"/>
          <p:cNvSpPr/>
          <p:nvPr/>
        </p:nvSpPr>
        <p:spPr>
          <a:xfrm rot="10800000">
            <a:off x="3660374" y="4412300"/>
            <a:ext cx="627793" cy="627793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7" name="AutoShape 37"/>
          <p:cNvSpPr/>
          <p:nvPr/>
        </p:nvSpPr>
        <p:spPr>
          <a:xfrm rot="0">
            <a:off x="1192625" y="1647730"/>
            <a:ext cx="627793" cy="627793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8" name="Freeform 38"/>
          <p:cNvSpPr/>
          <p:nvPr/>
        </p:nvSpPr>
        <p:spPr>
          <a:xfrm rot="0">
            <a:off x="5900922" y="1747486"/>
            <a:ext cx="410050" cy="410050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147180" y="28632"/>
                </a:moveTo>
                <a:lnTo>
                  <a:pt x="19907" y="83468"/>
                </a:lnTo>
                <a:lnTo>
                  <a:pt x="147304" y="137874"/>
                </a:lnTo>
                <a:lnTo>
                  <a:pt x="276015" y="83344"/>
                </a:lnTo>
                <a:lnTo>
                  <a:pt x="147180" y="28632"/>
                </a:lnTo>
                <a:close/>
              </a:path>
              <a:path h="304800" w="304800">
                <a:moveTo>
                  <a:pt x="152400" y="144723"/>
                </a:moveTo>
                <a:lnTo>
                  <a:pt x="152400" y="276168"/>
                </a:lnTo>
                <a:lnTo>
                  <a:pt x="276177" y="217408"/>
                </a:lnTo>
                <a:lnTo>
                  <a:pt x="276177" y="92145"/>
                </a:lnTo>
                <a:lnTo>
                  <a:pt x="152400" y="144723"/>
                </a:lnTo>
                <a:close/>
              </a:path>
              <a:path h="304800" w="304800">
                <a:moveTo>
                  <a:pt x="19098" y="217408"/>
                </a:moveTo>
                <a:lnTo>
                  <a:pt x="143294" y="276168"/>
                </a:lnTo>
                <a:lnTo>
                  <a:pt x="143294" y="144723"/>
                </a:lnTo>
                <a:lnTo>
                  <a:pt x="19098" y="92145"/>
                </a:lnTo>
                <a:lnTo>
                  <a:pt x="19098" y="217408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9" name="Freeform 39"/>
          <p:cNvSpPr/>
          <p:nvPr/>
        </p:nvSpPr>
        <p:spPr>
          <a:xfrm rot="0">
            <a:off x="1301491" y="1747486"/>
            <a:ext cx="410050" cy="410050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147180" y="28632"/>
                </a:moveTo>
                <a:lnTo>
                  <a:pt x="19907" y="83468"/>
                </a:lnTo>
                <a:lnTo>
                  <a:pt x="147304" y="137874"/>
                </a:lnTo>
                <a:lnTo>
                  <a:pt x="276015" y="83344"/>
                </a:lnTo>
                <a:lnTo>
                  <a:pt x="147180" y="28632"/>
                </a:lnTo>
                <a:close/>
              </a:path>
              <a:path h="304800" w="304800">
                <a:moveTo>
                  <a:pt x="152400" y="144723"/>
                </a:moveTo>
                <a:lnTo>
                  <a:pt x="152400" y="276168"/>
                </a:lnTo>
                <a:lnTo>
                  <a:pt x="276177" y="217408"/>
                </a:lnTo>
                <a:lnTo>
                  <a:pt x="276177" y="92145"/>
                </a:lnTo>
                <a:lnTo>
                  <a:pt x="152400" y="144723"/>
                </a:lnTo>
                <a:close/>
              </a:path>
              <a:path h="304800" w="304800">
                <a:moveTo>
                  <a:pt x="19098" y="217408"/>
                </a:moveTo>
                <a:lnTo>
                  <a:pt x="143294" y="276168"/>
                </a:lnTo>
                <a:lnTo>
                  <a:pt x="143294" y="144723"/>
                </a:lnTo>
                <a:lnTo>
                  <a:pt x="19098" y="92145"/>
                </a:lnTo>
                <a:lnTo>
                  <a:pt x="19098" y="217408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0" name="Freeform 40"/>
          <p:cNvSpPr/>
          <p:nvPr/>
        </p:nvSpPr>
        <p:spPr>
          <a:xfrm rot="0">
            <a:off x="3775034" y="4521171"/>
            <a:ext cx="410050" cy="410050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147180" y="28632"/>
                </a:moveTo>
                <a:lnTo>
                  <a:pt x="19907" y="83468"/>
                </a:lnTo>
                <a:lnTo>
                  <a:pt x="147304" y="137874"/>
                </a:lnTo>
                <a:lnTo>
                  <a:pt x="276015" y="83344"/>
                </a:lnTo>
                <a:lnTo>
                  <a:pt x="147180" y="28632"/>
                </a:lnTo>
                <a:close/>
              </a:path>
              <a:path h="304800" w="304800">
                <a:moveTo>
                  <a:pt x="152400" y="144723"/>
                </a:moveTo>
                <a:lnTo>
                  <a:pt x="152400" y="276168"/>
                </a:lnTo>
                <a:lnTo>
                  <a:pt x="276177" y="217408"/>
                </a:lnTo>
                <a:lnTo>
                  <a:pt x="276177" y="92145"/>
                </a:lnTo>
                <a:lnTo>
                  <a:pt x="152400" y="144723"/>
                </a:lnTo>
                <a:close/>
              </a:path>
              <a:path h="304800" w="304800">
                <a:moveTo>
                  <a:pt x="19098" y="217408"/>
                </a:moveTo>
                <a:lnTo>
                  <a:pt x="143294" y="276168"/>
                </a:lnTo>
                <a:lnTo>
                  <a:pt x="143294" y="144723"/>
                </a:lnTo>
                <a:lnTo>
                  <a:pt x="19098" y="92145"/>
                </a:lnTo>
                <a:lnTo>
                  <a:pt x="19098" y="217408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1" name="Freeform 41"/>
          <p:cNvSpPr/>
          <p:nvPr/>
        </p:nvSpPr>
        <p:spPr>
          <a:xfrm rot="0">
            <a:off x="8425246" y="4707146"/>
            <a:ext cx="410050" cy="410050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147180" y="28632"/>
                </a:moveTo>
                <a:lnTo>
                  <a:pt x="19907" y="83468"/>
                </a:lnTo>
                <a:lnTo>
                  <a:pt x="147304" y="137874"/>
                </a:lnTo>
                <a:lnTo>
                  <a:pt x="276015" y="83344"/>
                </a:lnTo>
                <a:lnTo>
                  <a:pt x="147180" y="28632"/>
                </a:lnTo>
                <a:close/>
              </a:path>
              <a:path h="304800" w="304800">
                <a:moveTo>
                  <a:pt x="152400" y="144723"/>
                </a:moveTo>
                <a:lnTo>
                  <a:pt x="152400" y="276168"/>
                </a:lnTo>
                <a:lnTo>
                  <a:pt x="276177" y="217408"/>
                </a:lnTo>
                <a:lnTo>
                  <a:pt x="276177" y="92145"/>
                </a:lnTo>
                <a:lnTo>
                  <a:pt x="152400" y="144723"/>
                </a:lnTo>
                <a:close/>
              </a:path>
              <a:path h="304800" w="304800">
                <a:moveTo>
                  <a:pt x="19098" y="217408"/>
                </a:moveTo>
                <a:lnTo>
                  <a:pt x="143294" y="276168"/>
                </a:lnTo>
                <a:lnTo>
                  <a:pt x="143294" y="144723"/>
                </a:lnTo>
                <a:lnTo>
                  <a:pt x="19098" y="92145"/>
                </a:lnTo>
                <a:lnTo>
                  <a:pt x="19098" y="217408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eyJtZCI6IiMjIOiFsOiDjOmDqOS/neWBpeiFp+eptFxuIyMjIOiFsOecvOeptO+8iOa4qeiCvuWjrumYs++8iSIsInRwbGlkIjoiODYiLCJ0cGxOYW1lIjoidGl0bGVHcmFwaF9wcm8yOSIsImVkaXRlZCI6ImZhbHNlIn0=</bd:templateData>
    </p:ext>
  </p:extLs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至阳穴（扶助正气）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grpSp>
        <p:nvGrpSpPr>
          <p:cNvPr id="3" name="Group 3"/>
          <p:cNvGrpSpPr/>
          <p:nvPr/>
        </p:nvGrpSpPr>
        <p:grpSpPr>
          <a:xfrm rot="0">
            <a:off x="839115" y="1512589"/>
            <a:ext cx="197186" cy="5357334"/>
            <a:chOff x="839115" y="1512589"/>
            <a:chExt cx="197186" cy="5357334"/>
          </a:xfrm>
        </p:grpSpPr>
        <p:sp>
          <p:nvSpPr>
            <p:cNvPr id="4" name="AutoShape 4"/>
            <p:cNvSpPr/>
            <p:nvPr/>
          </p:nvSpPr>
          <p:spPr>
            <a:xfrm rot="0">
              <a:off x="839115" y="1512589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5" name="AutoShape 5"/>
            <p:cNvSpPr/>
            <p:nvPr/>
          </p:nvSpPr>
          <p:spPr>
            <a:xfrm rot="0">
              <a:off x="839115" y="3230148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6" name="AutoShape 6"/>
            <p:cNvSpPr/>
            <p:nvPr/>
          </p:nvSpPr>
          <p:spPr>
            <a:xfrm rot="0">
              <a:off x="839115" y="4975845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cxnSp>
          <p:nvCxnSpPr>
            <p:cNvPr id="7" name="Connector 7"/>
            <p:cNvCxnSpPr/>
            <p:nvPr/>
          </p:nvCxnSpPr>
          <p:spPr>
            <a:xfrm>
              <a:off x="937708" y="1624780"/>
              <a:ext cx="0" cy="5245143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  <a:headEnd type="none"/>
              <a:tailEnd type="none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" name="Group 8"/>
          <p:cNvGrpSpPr/>
          <p:nvPr/>
        </p:nvGrpSpPr>
        <p:grpSpPr>
          <a:xfrm rot="0">
            <a:off x="6455568" y="1512589"/>
            <a:ext cx="197186" cy="5357334"/>
            <a:chOff x="6455568" y="1512589"/>
            <a:chExt cx="197186" cy="5357334"/>
          </a:xfrm>
        </p:grpSpPr>
        <p:sp>
          <p:nvSpPr>
            <p:cNvPr id="9" name="AutoShape 9"/>
            <p:cNvSpPr/>
            <p:nvPr/>
          </p:nvSpPr>
          <p:spPr>
            <a:xfrm rot="0">
              <a:off x="6455568" y="1512589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0" name="AutoShape 10"/>
            <p:cNvSpPr/>
            <p:nvPr/>
          </p:nvSpPr>
          <p:spPr>
            <a:xfrm rot="0">
              <a:off x="6455568" y="3230148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1" name="AutoShape 11"/>
            <p:cNvSpPr/>
            <p:nvPr/>
          </p:nvSpPr>
          <p:spPr>
            <a:xfrm rot="0">
              <a:off x="6455568" y="4975845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cxnSp>
          <p:nvCxnSpPr>
            <p:cNvPr id="12" name="Connector 12"/>
            <p:cNvCxnSpPr/>
            <p:nvPr/>
          </p:nvCxnSpPr>
          <p:spPr>
            <a:xfrm>
              <a:off x="6554162" y="1624780"/>
              <a:ext cx="0" cy="5245143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  <a:headEnd type="none"/>
              <a:tailEnd type="none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3" name="TextBox 13"/>
          <p:cNvSpPr txBox="1"/>
          <p:nvPr/>
        </p:nvSpPr>
        <p:spPr>
          <a:xfrm rot="0">
            <a:off x="1297192" y="1308287"/>
            <a:ext cx="4348638" cy="60579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精准定位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eyJfdGVtcGxhdGVEYXRhIjp7ImNvbnRlbnRUeXBlIjoiJGl0ZW0xX3RpdGxlIiwibGluZUNvdW50IjoiMSIsIndvcmRDb3VudCI6IjE1In0sInRhZyI6IiRpdGVtMV90aXRsZSJ9</bd:templateData>
          </p:ext>
        </p:extLst>
      </p:sp>
      <p:sp>
        <p:nvSpPr>
          <p:cNvPr id="14" name="TextBox 14"/>
          <p:cNvSpPr txBox="1"/>
          <p:nvPr/>
        </p:nvSpPr>
        <p:spPr>
          <a:xfrm rot="0">
            <a:off x="1297192" y="4762018"/>
            <a:ext cx="4414526" cy="62484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临床作用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eyJfdGVtcGxhdGVEYXRhIjp7ImNvbnRlbnRUeXBlIjoiJGl0ZW0zX3RpdGxlIiwibGluZUNvdW50IjoiMSIsIndvcmRDb3VudCI6IjE1In0sInRhZyI6IiRpdGVtM190aXRsZSJ9</bd:templateData>
          </p:ext>
        </p:extLst>
      </p:sp>
      <p:sp>
        <p:nvSpPr>
          <p:cNvPr id="15" name="TextBox 15"/>
          <p:cNvSpPr txBox="1"/>
          <p:nvPr/>
        </p:nvSpPr>
        <p:spPr>
          <a:xfrm rot="0">
            <a:off x="1297192" y="3025846"/>
            <a:ext cx="4348638" cy="60579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解剖结构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eyJfdGVtcGxhdGVEYXRhIjp7ImNvbnRlbnRUeXBlIjoiJGl0ZW0yX3RpdGxlIiwibGluZUNvdW50IjoiMSIsIndvcmRDb3VudCI6IjE1In0sInRhZyI6IiRpdGVtMl90aXRsZSJ9</bd:templateData>
          </p:ext>
        </p:extLst>
      </p:sp>
      <p:sp>
        <p:nvSpPr>
          <p:cNvPr id="16" name="TextBox 16"/>
          <p:cNvSpPr txBox="1"/>
          <p:nvPr/>
        </p:nvSpPr>
        <p:spPr>
          <a:xfrm rot="0">
            <a:off x="1297192" y="1804349"/>
            <a:ext cx="4486656" cy="1203960"/>
          </a:xfrm>
          <a:prstGeom prst="rect">
            <a:avLst/>
          </a:prstGeom>
          <a:ln/>
        </p:spPr>
        <p:txBody>
          <a:bodyPr anchor="t" anchorCtr="0" bIns="0" lIns="123825" rIns="57150" rtlCol="0" tIns="0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至阳穴位于第7胸椎棘突下凹陷中，取穴时可沿肩胛骨下角水平线触摸脊柱突起，其下方凹陷即为本穴。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eyJfdGVtcGxhdGVEYXRhIjp7ImNvbnRlbnRUeXBlIjoiJGl0ZW0xX2MiLCJsaW5lQ291bnQiOiIzIiwid29yZENvdW50IjoiMjEifSwidGFnIjoiJGl0ZW0xX2MifQ==</bd:templateData>
          </p:ext>
        </p:extLst>
      </p:sp>
      <p:sp>
        <p:nvSpPr>
          <p:cNvPr id="17" name="TextBox 17"/>
          <p:cNvSpPr txBox="1"/>
          <p:nvPr/>
        </p:nvSpPr>
        <p:spPr>
          <a:xfrm rot="0">
            <a:off x="1297192" y="3543470"/>
            <a:ext cx="4486275" cy="1152525"/>
          </a:xfrm>
          <a:prstGeom prst="rect">
            <a:avLst/>
          </a:prstGeom>
          <a:ln/>
        </p:spPr>
        <p:txBody>
          <a:bodyPr anchor="t" anchorCtr="0" bIns="0" lIns="123825" rIns="57150" rtlCol="0" tIns="0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穴区深层为棘上韧带、棘间韧带和黄韧带，分布有第7肋间动脉后支及第7胸神经后支内侧支，与胸髓节段存在神经节段联系。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eyJfdGVtcGxhdGVEYXRhIjp7ImNvbnRlbnRUeXBlIjoiJGl0ZW0yX2MiLCJsaW5lQ291bnQiOiIzIiwid29yZENvdW50IjoiMjEifSwidGFnIjoiJGl0ZW0yX2MifQ==</bd:templateData>
          </p:ext>
        </p:extLst>
      </p:sp>
      <p:sp>
        <p:nvSpPr>
          <p:cNvPr id="18" name="TextBox 18"/>
          <p:cNvSpPr txBox="1"/>
          <p:nvPr/>
        </p:nvSpPr>
        <p:spPr>
          <a:xfrm rot="0">
            <a:off x="1297192" y="5282464"/>
            <a:ext cx="4486275" cy="1152525"/>
          </a:xfrm>
          <a:prstGeom prst="rect">
            <a:avLst/>
          </a:prstGeom>
          <a:ln/>
        </p:spPr>
        <p:txBody>
          <a:bodyPr anchor="t" anchorCtr="0" bIns="0" lIns="123825" rIns="57150" rtlCol="0" tIns="0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具有振奋阳气、宽胸利膈的功效，主治心绞痛、胃痉挛、黄疸等病症，现代研究证实其可调节自主神经功能。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eyJfdGVtcGxhdGVEYXRhIjp7ImNvbnRlbnRUeXBlIjoiJGl0ZW0zX2MiLCJsaW5lQ291bnQiOiIzIiwid29yZENvdW50IjoiMjEifSwidGFnIjoiJGl0ZW0zX2MifQ==</bd:templateData>
          </p:ext>
        </p:extLst>
      </p:sp>
      <p:sp>
        <p:nvSpPr>
          <p:cNvPr id="19" name="TextBox 19"/>
          <p:cNvSpPr txBox="1"/>
          <p:nvPr/>
        </p:nvSpPr>
        <p:spPr>
          <a:xfrm rot="0">
            <a:off x="6865764" y="1308287"/>
            <a:ext cx="4493572" cy="60579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刺激方法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eyJfdGVtcGxhdGVEYXRhIjp7ImNvbnRlbnRUeXBlIjoiJGl0ZW00X3RpdGxlIiwibGluZUNvdW50IjoiMSIsIndvcmRDb3VudCI6IjE1In0sInRhZyI6IiRpdGVtNF90aXRsZSJ9</bd:templateData>
          </p:ext>
        </p:extLst>
      </p:sp>
      <p:sp>
        <p:nvSpPr>
          <p:cNvPr id="20" name="TextBox 20"/>
          <p:cNvSpPr txBox="1"/>
          <p:nvPr/>
        </p:nvSpPr>
        <p:spPr>
          <a:xfrm rot="0">
            <a:off x="6865764" y="3025846"/>
            <a:ext cx="4493572" cy="60579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配伍方案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eyJfdGVtcGxhdGVEYXRhIjp7ImNvbnRlbnRUeXBlIjoiJGl0ZW01X3RpdGxlIiwibGluZUNvdW50IjoiMSIsIndvcmRDb3VudCI6IjE1In0sInRhZyI6IiRpdGVtNV90aXRsZSJ9</bd:templateData>
          </p:ext>
        </p:extLst>
      </p:sp>
      <p:sp>
        <p:nvSpPr>
          <p:cNvPr id="21" name="TextBox 21"/>
          <p:cNvSpPr txBox="1"/>
          <p:nvPr/>
        </p:nvSpPr>
        <p:spPr>
          <a:xfrm rot="0">
            <a:off x="6865764" y="1804349"/>
            <a:ext cx="4486275" cy="1152525"/>
          </a:xfrm>
          <a:prstGeom prst="rect">
            <a:avLst/>
          </a:prstGeom>
          <a:ln/>
        </p:spPr>
        <p:txBody>
          <a:bodyPr anchor="t" anchorCtr="0" bIns="0" lIns="123825" rIns="57150" rtlCol="0" tIns="0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推荐采用指压法（拇指垂直按压并配合深呼吸）或温针灸法，对改善慢性疲劳综合征有显著效果。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eyJfdGVtcGxhdGVEYXRhIjp7ImNvbnRlbnRUeXBlIjoiJGl0ZW00X2MiLCJsaW5lQ291bnQiOiIzIiwid29yZENvdW50IjoiMjEifSwidGFnIjoiJGl0ZW00X2MifQ==</bd:templateData>
          </p:ext>
        </p:extLst>
      </p:sp>
      <p:sp>
        <p:nvSpPr>
          <p:cNvPr id="22" name="TextBox 22"/>
          <p:cNvSpPr txBox="1"/>
          <p:nvPr/>
        </p:nvSpPr>
        <p:spPr>
          <a:xfrm rot="0">
            <a:off x="6865764" y="3543470"/>
            <a:ext cx="4486275" cy="1152525"/>
          </a:xfrm>
          <a:prstGeom prst="rect">
            <a:avLst/>
          </a:prstGeom>
          <a:ln/>
        </p:spPr>
        <p:txBody>
          <a:bodyPr anchor="t" anchorCtr="0" bIns="0" lIns="123825" rIns="57150" rtlCol="0" tIns="0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与内关穴配伍可增强强心作用，配合足三里能显著改善消化系统功能。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eyJfdGVtcGxhdGVEYXRhIjp7ImNvbnRlbnRUeXBlIjoiJGl0ZW01X2MiLCJsaW5lQ291bnQiOiIzIiwid29yZENvdW50IjoiMjEifSwidGFnIjoiJGl0ZW01X2MifQ==</bd:templateData>
          </p:ext>
        </p:extLst>
      </p:sp>
      <p:sp>
        <p:nvSpPr>
          <p:cNvPr id="23" name="TextBox 23"/>
          <p:cNvSpPr txBox="1"/>
          <p:nvPr/>
        </p:nvSpPr>
        <p:spPr>
          <a:xfrm rot="0">
            <a:off x="6865764" y="4780608"/>
            <a:ext cx="4493572" cy="60579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禁忌提示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eyJfdGVtcGxhdGVEYXRhIjp7ImNvbnRlbnRUeXBlIjoiJGl0ZW02X3RpdGxlIiwibGluZUNvdW50IjoiMSIsIndvcmRDb3VudCI6IjE1In0sInRhZyI6IiRpdGVtNl90aXRsZSJ9</bd:templateData>
          </p:ext>
        </p:extLst>
      </p:sp>
      <p:sp>
        <p:nvSpPr>
          <p:cNvPr id="24" name="TextBox 24"/>
          <p:cNvSpPr txBox="1"/>
          <p:nvPr/>
        </p:nvSpPr>
        <p:spPr>
          <a:xfrm rot="0">
            <a:off x="6865764" y="5298231"/>
            <a:ext cx="4486275" cy="1152525"/>
          </a:xfrm>
          <a:prstGeom prst="rect">
            <a:avLst/>
          </a:prstGeom>
          <a:ln/>
        </p:spPr>
        <p:txBody>
          <a:bodyPr anchor="t" anchorCtr="0" bIns="0" lIns="123825" rIns="57150" rtlCol="0" tIns="0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胸椎严重畸形者慎用深刺，操作时应避免损伤脊髓。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eyJfdGVtcGxhdGVEYXRhIjp7ImNvbnRlbnRUeXBlIjoiJGl0ZW02X2MiLCJsaW5lQ291bnQiOiIzIiwid29yZENvdW50IjoiMjEifSwidGFnIjoiJGl0ZW02X2MifQ==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iHs+mYs+eptO+8iOaJtuWKqeato+awlO+8iVxuIyMjIOeyvuWHhuWumuS9jVxu6Iez6Ziz56m05L2N5LqO56ysN+iDuOakjuajmOeqgeS4i+WHuemZt+S4re+8jOWPlueptOaXtuWPr+ayv+iCqeiDm+mqqOS4i+inkuawtOW5s+e6v+inpuaRuOiEiuafseeqgei1t++8jOWFtuS4i+aWueWHuemZt+WNs+S4uuacrOeptOOAglxuIyMjIOino+WJlue7k+aehFxu56m05Yy65rex5bGC5Li65qOY5LiK6Z+n5bim44CB5qOY6Ze06Z+n5bim5ZKM6buE6Z+n5bim77yM5YiG5biD5pyJ56ysN+iCi+mXtOWKqOiEieWQjuaUr+WPiuesrDfog7jnpZ7nu4/lkI7mlK/lhoXkvqfmlK/vvIzkuI7og7jpq5PoioLmrrXlrZjlnKjnpZ7nu4/oioLmrrXogZTns7vjgIJcbiMjIyDkuLTluorkvZznlKhcbuWFt+acieaMr+Wli+mYs+awlOOAgeWuveiDuOWIqeiGiOeahOWKn+aViO+8jOS4u+ayu+W/g+e7nueXm+OAgeiDg+eXieaMm+OAgem7hOeWuOetieeXheeXh++8jOeOsOS7o+eglOeptuivgeWunuWFtuWPr+iwg+iKguiHquS4u+elnue7j+WKn+iDveOAglxuIyMjIOWIuua/gOaWueazlVxu5o6o6I2Q6YeH55So5oyH5Y6L5rOV77yI5ouH5oyH5Z6C55u05oyJ5Y6L5bm26YWN5ZCI5rex5ZG85ZC477yJ5oiW5rip6ZKI54G45rOV77yM5a+55pS55ZaE5oWi5oCn55ay5Yqz57u85ZCI5b6B5pyJ5pi+6JGX5pWI5p6c44CCXG4jIyMg6YWN5LyN5pa55qGIXG7kuI7lhoXlhbPnqbTphY3kvI3lj6/lop7lvLrlvLrlv4PkvZznlKjvvIzphY3lkIjotrPkuInph4zog73mmL7okZfmlLnlloTmtojljJbns7vnu5/lip/og73jgIJcbiMjIyDnpoHlv4zmj5DnpLpcbuiDuOakjuS4pemHjeeVuOW9ouiAheaFjueUqOa3seWIuu+8jOaTjeS9nOaXtuW6lOmBv+WFjeaNn+S8pOiEiumrk+OAgiIsInRwbGlkIjoiODYiLCJ0cGxOYW1lIjoibGlzdDZfc2FtZVN0eWxlMHBpYzIiLCJlZGl0ZWQiOiJmYWxzZSJ9</bd:templateData>
    </p:ext>
  </p:extLs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1297192" y="1308287"/>
            <a:ext cx="4348638" cy="60579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解剖定位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eyJfdGVtcGxhdGVEYXRhIjp7ImNvbnRlbnRUeXBlIjoiJGl0ZW0xX3RpdGxlIiwibGluZUNvdW50IjoiMSIsIndvcmRDb3VudCI6IjE1In0sInRhZyI6IiRpdGVtMV90aXRsZSJ9</bd:templateData>
          </p:ext>
        </p:extLst>
      </p:sp>
      <p:sp>
        <p:nvSpPr>
          <p:cNvPr id="3" name="TextBox 3"/>
          <p:cNvSpPr txBox="1"/>
          <p:nvPr/>
        </p:nvSpPr>
        <p:spPr>
          <a:xfrm rot="0">
            <a:off x="6865764" y="1271476"/>
            <a:ext cx="4493572" cy="60579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操作技术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eyJfdGVtcGxhdGVEYXRhIjp7ImNvbnRlbnRUeXBlIjoiJGl0ZW00X3RpdGxlIiwibGluZUNvdW50IjoiMSIsIndvcmRDb3VudCI6IjE1In0sInRhZyI6IiRpdGVtNF90aXRsZSJ9</bd:templateData>
          </p:ext>
        </p:extLst>
      </p:sp>
      <p:sp>
        <p:nvSpPr>
          <p:cNvPr id="4" name="TextBox 4"/>
          <p:cNvSpPr txBox="1"/>
          <p:nvPr/>
        </p:nvSpPr>
        <p:spPr>
          <a:xfrm rot="0">
            <a:off x="6878035" y="2989034"/>
            <a:ext cx="4493572" cy="60579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增效配伍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eyJfdGVtcGxhdGVEYXRhIjp7ImNvbnRlbnRUeXBlIjoiJGl0ZW01X3RpdGxlIiwibGluZUNvdW50IjoiMSIsIndvcmRDb3VudCI6IjE1In0sInRhZyI6IiRpdGVtNV90aXRsZSJ9</bd:templateData>
          </p:ext>
        </p:extLst>
      </p:sp>
      <p:sp>
        <p:nvSpPr>
          <p:cNvPr id="5" name="TextBox 5"/>
          <p:cNvSpPr txBox="1"/>
          <p:nvPr/>
        </p:nvSpPr>
        <p:spPr>
          <a:xfrm rot="0">
            <a:off x="6890305" y="4725206"/>
            <a:ext cx="4493572" cy="60579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特别警示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eyJfdGVtcGxhdGVEYXRhIjp7ImNvbnRlbnRUeXBlIjoiJGl0ZW02X3RpdGxlIiwibGluZUNvdW50IjoiMSIsIndvcmRDb3VudCI6IjE1In0sInRhZyI6IiRpdGVtNl90aXRsZSJ9</bd:templateData>
          </p:ext>
        </p:extLst>
      </p:sp>
      <p:sp>
        <p:nvSpPr>
          <p:cNvPr id="6" name="TextBox 6"/>
          <p:cNvSpPr txBox="1"/>
          <p:nvPr/>
        </p:nvSpPr>
        <p:spPr>
          <a:xfrm rot="0">
            <a:off x="1321733" y="4762018"/>
            <a:ext cx="4414526" cy="62484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治疗范围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eyJfdGVtcGxhdGVEYXRhIjp7ImNvbnRlbnRUeXBlIjoiJGl0ZW0zX3RpdGxlIiwibGluZUNvdW50IjoiMSIsIndvcmRDb3VudCI6IjE1In0sInRhZyI6IiRpdGVtM190aXRsZSJ9</bd:templateData>
          </p:ext>
        </p:extLst>
      </p:sp>
      <p:sp>
        <p:nvSpPr>
          <p:cNvPr id="7" name="TextBox 7"/>
          <p:cNvSpPr txBox="1"/>
          <p:nvPr/>
        </p:nvSpPr>
        <p:spPr>
          <a:xfrm rot="0">
            <a:off x="1309463" y="3025846"/>
            <a:ext cx="4348638" cy="60579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组织构成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eyJfdGVtcGxhdGVEYXRhIjp7ImNvbnRlbnRUeXBlIjoiJGl0ZW0yX3RpdGxlIiwibGluZUNvdW50IjoiMSIsIndvcmRDb3VudCI6IjE1In0sInRhZyI6IiRpdGVtMl90aXRsZSJ9</bd:templateData>
          </p:ext>
        </p:extLst>
      </p:sp>
      <p:sp>
        <p:nvSpPr>
          <p:cNvPr id="8" name="TextBox 8"/>
          <p:cNvSpPr txBox="1"/>
          <p:nvPr/>
        </p:nvSpPr>
        <p:spPr>
          <a:xfrm rot="0">
            <a:off x="1297192" y="1670999"/>
            <a:ext cx="4486656" cy="1203960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肾俞穴位于第2腰椎棘突下旁开1.5寸，准确取穴需先确定髂嵴最高点连线平第4腰椎，再向上摸两个椎体定位。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eyJfdGVtcGxhdGVEYXRhIjp7ImNvbnRlbnRUeXBlIjoiJGl0ZW0xX2MiLCJsaW5lQ291bnQiOiIzIiwid29yZENvdW50IjoiMjEifSwidGFnIjoiJGl0ZW0xX2MifQ==</bd:templateData>
          </p:ext>
        </p:extLst>
      </p:sp>
      <p:sp>
        <p:nvSpPr>
          <p:cNvPr id="9" name="TextBox 9"/>
          <p:cNvSpPr txBox="1"/>
          <p:nvPr/>
        </p:nvSpPr>
        <p:spPr>
          <a:xfrm rot="0">
            <a:off x="1309463" y="3410120"/>
            <a:ext cx="4486275" cy="1152525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该穴深层有腰背筋膜、骶棘肌，分布有第2腰神经后支外侧支及第2腰动、静脉后支，与肾脏存在神经反射联系。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eyJfdGVtcGxhdGVEYXRhIjp7ImNvbnRlbnRUeXBlIjoiJGl0ZW0yX2MiLCJsaW5lQ291bnQiOiIzIiwid29yZENvdW50IjoiMjEifSwidGFnIjoiJGl0ZW0yX2MifQ==</bd:templateData>
          </p:ext>
        </p:extLst>
      </p:sp>
      <p:sp>
        <p:nvSpPr>
          <p:cNvPr id="10" name="TextBox 10"/>
          <p:cNvSpPr txBox="1"/>
          <p:nvPr/>
        </p:nvSpPr>
        <p:spPr>
          <a:xfrm rot="0">
            <a:off x="1321733" y="5149114"/>
            <a:ext cx="4486275" cy="1152525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主治肾虚腰痛、耳鸣耳聋、水肿遗尿等症，现代常用于治疗肾炎、肾结石、前列腺增生等泌尿系统疾病。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eyJfdGVtcGxhdGVEYXRhIjp7ImNvbnRlbnRUeXBlIjoiJGl0ZW0zX2MiLCJsaW5lQ291bnQiOiIzIiwid29yZENvdW50IjoiMjEifSwidGFnIjoiJGl0ZW0zX2MifQ==</bd:templateData>
          </p:ext>
        </p:extLst>
      </p:sp>
      <p:sp>
        <p:nvSpPr>
          <p:cNvPr id="11" name="TextBox 11"/>
          <p:cNvSpPr txBox="1"/>
          <p:nvPr/>
        </p:nvSpPr>
        <p:spPr>
          <a:xfrm rot="0">
            <a:off x="6865764" y="1634188"/>
            <a:ext cx="4486275" cy="1152525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可采用擦法（掌根快速横向摩擦至透热）或拔罐法（留罐10-15分钟），对改善肾虚型腰痛有效率可达85%以上。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eyJfdGVtcGxhdGVEYXRhIjp7ImNvbnRlbnRUeXBlIjoiJGl0ZW00X2MiLCJsaW5lQ291bnQiOiIzIiwid29yZENvdW50IjoiMjEifSwidGFnIjoiJGl0ZW00X2MifQ==</bd:templateData>
          </p:ext>
        </p:extLst>
      </p:sp>
      <p:sp>
        <p:nvSpPr>
          <p:cNvPr id="12" name="TextBox 12"/>
          <p:cNvSpPr txBox="1"/>
          <p:nvPr/>
        </p:nvSpPr>
        <p:spPr>
          <a:xfrm rot="0">
            <a:off x="6878035" y="3373308"/>
            <a:ext cx="4486275" cy="1152525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与太溪穴配伍形成"俞原配穴"法，配合三阴交可显著改善女性生殖功能。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eyJfdGVtcGxhdGVEYXRhIjp7ImNvbnRlbnRUeXBlIjoiJGl0ZW01X2MiLCJsaW5lQ291bnQiOiIzIiwid29yZENvdW50IjoiMjEifSwidGFnIjoiJGl0ZW01X2MifQ==</bd:templateData>
          </p:ext>
        </p:extLst>
      </p:sp>
      <p:sp>
        <p:nvSpPr>
          <p:cNvPr id="13" name="TextBox 13"/>
          <p:cNvSpPr txBox="1"/>
          <p:nvPr/>
        </p:nvSpPr>
        <p:spPr>
          <a:xfrm rot="0">
            <a:off x="6890305" y="5112302"/>
            <a:ext cx="4486275" cy="1152525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急性肾损伤患者禁用强刺激，腰部外伤未愈者不宜采用叩击法。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eyJfdGVtcGxhdGVEYXRhIjp7ImNvbnRlbnRUeXBlIjoiJGl0ZW02X2MiLCJsaW5lQ291bnQiOiIzIiwid29yZENvdW50IjoiMjEifSwidGFnIjoiJGl0ZW02X2MifQ==</bd:templateData>
          </p:ext>
        </p:extLst>
      </p:sp>
      <p:sp>
        <p:nvSpPr>
          <p:cNvPr id="14" name="TextBox 14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肾俞穴（强腰健肾）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grpSp>
        <p:nvGrpSpPr>
          <p:cNvPr id="15" name="Group 15"/>
          <p:cNvGrpSpPr/>
          <p:nvPr/>
        </p:nvGrpSpPr>
        <p:grpSpPr>
          <a:xfrm rot="0">
            <a:off x="839115" y="1512589"/>
            <a:ext cx="197186" cy="5357334"/>
            <a:chOff x="839115" y="1512589"/>
            <a:chExt cx="197186" cy="5357334"/>
          </a:xfrm>
        </p:grpSpPr>
        <p:sp>
          <p:nvSpPr>
            <p:cNvPr id="16" name="AutoShape 16"/>
            <p:cNvSpPr/>
            <p:nvPr/>
          </p:nvSpPr>
          <p:spPr>
            <a:xfrm rot="0">
              <a:off x="839115" y="1512589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7" name="AutoShape 17"/>
            <p:cNvSpPr/>
            <p:nvPr/>
          </p:nvSpPr>
          <p:spPr>
            <a:xfrm rot="0">
              <a:off x="839115" y="3230148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8" name="AutoShape 18"/>
            <p:cNvSpPr/>
            <p:nvPr/>
          </p:nvSpPr>
          <p:spPr>
            <a:xfrm rot="0">
              <a:off x="839115" y="4975845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cxnSp>
          <p:nvCxnSpPr>
            <p:cNvPr id="19" name="Connector 19"/>
            <p:cNvCxnSpPr/>
            <p:nvPr/>
          </p:nvCxnSpPr>
          <p:spPr>
            <a:xfrm>
              <a:off x="937708" y="1624780"/>
              <a:ext cx="0" cy="5245143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  <a:headEnd type="none"/>
              <a:tailEnd type="none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0" name="Group 20"/>
          <p:cNvGrpSpPr/>
          <p:nvPr/>
        </p:nvGrpSpPr>
        <p:grpSpPr>
          <a:xfrm rot="0">
            <a:off x="6455568" y="1512589"/>
            <a:ext cx="197186" cy="5357334"/>
            <a:chOff x="6455568" y="1512589"/>
            <a:chExt cx="197186" cy="5357334"/>
          </a:xfrm>
        </p:grpSpPr>
        <p:sp>
          <p:nvSpPr>
            <p:cNvPr id="21" name="AutoShape 21"/>
            <p:cNvSpPr/>
            <p:nvPr/>
          </p:nvSpPr>
          <p:spPr>
            <a:xfrm rot="0">
              <a:off x="6455568" y="1512589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2" name="AutoShape 22"/>
            <p:cNvSpPr/>
            <p:nvPr/>
          </p:nvSpPr>
          <p:spPr>
            <a:xfrm rot="0">
              <a:off x="6455568" y="3230148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3" name="AutoShape 23"/>
            <p:cNvSpPr/>
            <p:nvPr/>
          </p:nvSpPr>
          <p:spPr>
            <a:xfrm rot="0">
              <a:off x="6455568" y="4975845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cxnSp>
          <p:nvCxnSpPr>
            <p:cNvPr id="24" name="Connector 24"/>
            <p:cNvCxnSpPr/>
            <p:nvPr/>
          </p:nvCxnSpPr>
          <p:spPr>
            <a:xfrm>
              <a:off x="6554162" y="1624780"/>
              <a:ext cx="0" cy="5245143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  <a:headEnd type="none"/>
              <a:tailEnd type="none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iCvuS/nueptO+8iOW8uuiFsOWBpeiCvu+8iVxuIyMjIOino+WJluWumuS9jVxu6IK+5L+e56m05L2N5LqO56ysMuiFsOakjuajmOeqgeS4i+aXgeW8gDEuNeWvuO+8jOWHhuehruWPlueptOmcgOWFiOehruWumumrguW1tOacgOmrmOeCuei/nue6v+W5s+esrDTohbDmpI7vvIzlho3lkJHkuIrmkbjkuKTkuKrmpI7kvZPlrprkvY3jgIJcbiMjIyDnu4Tnu4fmnoTmiJBcbuivpeeptOa3seWxguacieiFsOiDjOeti+iGnOOAgemqtuajmOiCjO+8jOWIhuW4g+acieesrDLohbDnpZ7nu4/lkI7mlK/lpJbkvqfmlK/lj4rnrKwy6IWw5Yqo44CB6Z2Z6ISJ5ZCO5pSv77yM5LiO6IK+6ISP5a2Y5Zyo56We57uP5Y+N5bCE6IGU57O744CCXG4jIyMg5rK755aX6IyD5Zu0XG7kuLvmsrvogr7omZrohbDnl5vjgIHogLPpuKPogLPogYvjgIHmsLTogr/pgZflsL/nrYnnl4fvvIznjrDku6PluLjnlKjkuo7msrvnlpfogr7ngo7jgIHogr7nu5Pnn7PjgIHliY3liJfohbrlop7nlJ/nrYnms4zlsL/ns7vnu5/nlr7nl4XjgIJcbiMjIyDmk43kvZzmioDmnK9cbuWPr+mHh+eUqOaTpuazle+8iOaOjOagueW/q+mAn+aoquWQkeaRqeaTpuiHs+mAj+eDre+8ieaIluaLlOe9kOazle+8iOeVmee9kDEwLTE15YiG6ZKf77yJ77yM5a+55pS55ZaE6IK+6Jma5Z6L6IWw55eb5pyJ5pWI546H5Y+v6L6+ODUl5Lul5LiK44CCXG4jIyMg5aKe5pWI6YWN5LyNXG7kuI7lpKrmuqrnqbTphY3kvI3lvaLmiJBcIuS/nuWOn+mFjeeptFwi5rOV77yM6YWN5ZCI5LiJ6Zi05Lqk5Y+v5pi+6JGX5pS55ZaE5aWz5oCn55Sf5q6W5Yqf6IO944CCXG4jIyMg54m55Yir6K2m56S6XG7mgKXmgKfogr7mjZ/kvKTmgqPogIXnpoHnlKjlvLrliLrmv4DvvIzohbDpg6jlpJbkvKTmnKrmhIjogIXkuI3lrpzph4fnlKjlj6nlh7vms5XjgIIiLCJ0cGxpZCI6Ijg2IiwidHBsTmFtZSI6Imxpc3Q2XzQiLCJlZGl0ZWQiOiJmYWxzZSJ9</bd:templateData>
    </p:ext>
  </p:extLs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3829056" y="2526030"/>
            <a:ext cx="7644490" cy="1805940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rmAutofit/>
          </a:bodyPr>
          <a:lstStyle/>
          <a:p>
            <a:pPr>
              <a:lnSpc>
                <a:spcPct val="120000"/>
              </a:lnSpc>
              <a:spcBef>
                <a:spcPts val="375"/>
              </a:spcBef>
            </a:pPr>
            <a:r>
              <a:rPr b="1" lang="en-US" sz="45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足部保健腧穴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eyJfdGVtcGxhdGVEYXRhIjp7ImNvbnRlbnRUeXBlIjoiJHRpdGxlIiwibGluZUNvdW50IjoiMiIsIndvcmRDb3VudCI6IjEyIn0sInRhZyI6IiR0aXRsZSJ9</bd:templateData>
          </p:ext>
        </p:extLst>
      </p:sp>
      <p:sp>
        <p:nvSpPr>
          <p:cNvPr id="3" name="TextBox 3"/>
          <p:cNvSpPr txBox="1"/>
          <p:nvPr/>
        </p:nvSpPr>
        <p:spPr>
          <a:xfrm rot="0">
            <a:off x="3766844" y="1072555"/>
            <a:ext cx="3112760" cy="1138956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>
              <a:lnSpc>
                <a:spcPct val="80000"/>
              </a:lnSpc>
            </a:pPr>
            <a:r>
              <a:rPr b="1" lang="en-US" sz="8400">
                <a:solidFill>
                  <a:schemeClr val="accent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eyJfdGVtcGxhdGVEYXRhIjp7ImNvbnRlbnRUeXBlIjoiJG51bWJlciIsImxpbmVDb3VudCI6IjEiLCJ3b3JkQ291bnQiOiIyIn0sInRhZyI6Im5vRWRpdCJ9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eyJtZCI6IiMjIOi2s+mDqOS/neWBpeiFp+eptCIsInRwbGlkIjoiODYiLCJ0cGxOYW1lIjoiaDJ0aXRsZV84NnNpbXBsZWJsdWUiLCJlZGl0ZWQiOiJmYWxzZSJ9</bd:templateData>
    </p:ext>
  </p:extLs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0">
            <a:off x="4997796" y="2675719"/>
            <a:ext cx="2236351" cy="2236351"/>
          </a:xfrm>
          <a:prstGeom prst="ellipse">
            <a:avLst/>
          </a:prstGeom>
          <a:solidFill>
            <a:schemeClr val="accent3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" name="AutoShape 3"/>
          <p:cNvSpPr/>
          <p:nvPr/>
        </p:nvSpPr>
        <p:spPr>
          <a:xfrm rot="0">
            <a:off x="5159263" y="2904531"/>
            <a:ext cx="1854217" cy="1854217"/>
          </a:xfrm>
          <a:prstGeom prst="ellipse">
            <a:avLst/>
          </a:prstGeom>
          <a:solidFill>
            <a:schemeClr val="accent3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" name="AutoShape 4"/>
          <p:cNvSpPr/>
          <p:nvPr/>
        </p:nvSpPr>
        <p:spPr>
          <a:xfrm rot="0">
            <a:off x="6094045" y="1171975"/>
            <a:ext cx="5287891" cy="5288400"/>
          </a:xfrm>
          <a:prstGeom prst="arc">
            <a:avLst>
              <a:gd fmla="val 18842372" name="adj1"/>
              <a:gd fmla="val 2610861" name="adj2"/>
            </a:avLst>
          </a:prstGeom>
          <a:noFill/>
          <a:ln w="6350">
            <a:solidFill>
              <a:schemeClr val="accent3">
                <a:alpha val="100000"/>
              </a:schemeClr>
            </a:solidFill>
            <a:prstDash val="dash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5" name="AutoShape 5"/>
          <p:cNvSpPr/>
          <p:nvPr/>
        </p:nvSpPr>
        <p:spPr>
          <a:xfrm flipH="1" rot="0">
            <a:off x="850006" y="1171975"/>
            <a:ext cx="5288400" cy="5288400"/>
          </a:xfrm>
          <a:prstGeom prst="arc">
            <a:avLst>
              <a:gd fmla="val 18842372" name="adj1"/>
              <a:gd fmla="val 2610861" name="adj2"/>
            </a:avLst>
          </a:prstGeom>
          <a:noFill/>
          <a:ln w="6350">
            <a:solidFill>
              <a:schemeClr val="accent3">
                <a:alpha val="100000"/>
              </a:schemeClr>
            </a:solidFill>
            <a:prstDash val="dash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6" name="AutoShape 6"/>
          <p:cNvSpPr/>
          <p:nvPr/>
        </p:nvSpPr>
        <p:spPr>
          <a:xfrm rot="0">
            <a:off x="1746454" y="1538002"/>
            <a:ext cx="3985999" cy="1211059"/>
          </a:xfrm>
          <a:prstGeom prst="homePlate">
            <a:avLst>
              <a:gd fmla="val 23738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7" name="AutoShape 7"/>
          <p:cNvSpPr/>
          <p:nvPr/>
        </p:nvSpPr>
        <p:spPr>
          <a:xfrm rot="5400000">
            <a:off x="1142235" y="1621532"/>
            <a:ext cx="1211061" cy="10440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4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8" name="TextBox 8"/>
          <p:cNvSpPr txBox="1"/>
          <p:nvPr/>
        </p:nvSpPr>
        <p:spPr>
          <a:xfrm flipH="1" rot="0">
            <a:off x="2497971" y="2044408"/>
            <a:ext cx="2752725" cy="5429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13999"/>
              </a:lnSpc>
            </a:pPr>
            <a:r>
              <a:rPr lang="en-US" sz="999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主治头晕目眩、咽喉肿痛、失眠多梦等阴虚火旺症状。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9" name="TextBox 9"/>
          <p:cNvSpPr txBox="1"/>
          <p:nvPr/>
        </p:nvSpPr>
        <p:spPr>
          <a:xfrm flipH="1" rot="0">
            <a:off x="2497973" y="1718106"/>
            <a:ext cx="1381125" cy="2381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none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主治功能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0" name="AutoShape 10"/>
          <p:cNvSpPr/>
          <p:nvPr/>
        </p:nvSpPr>
        <p:spPr>
          <a:xfrm flipH="1" rot="0">
            <a:off x="6489435" y="1538002"/>
            <a:ext cx="3985999" cy="1211059"/>
          </a:xfrm>
          <a:prstGeom prst="homePlate">
            <a:avLst>
              <a:gd fmla="val 23738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1" name="AutoShape 11"/>
          <p:cNvSpPr/>
          <p:nvPr/>
        </p:nvSpPr>
        <p:spPr>
          <a:xfrm rot="5400000">
            <a:off x="9868591" y="1621532"/>
            <a:ext cx="1211061" cy="10440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4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2" name="TextBox 12"/>
          <p:cNvSpPr txBox="1"/>
          <p:nvPr/>
        </p:nvSpPr>
        <p:spPr>
          <a:xfrm flipH="1" rot="0">
            <a:off x="6954024" y="2044408"/>
            <a:ext cx="2752725" cy="5429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r">
              <a:lnSpc>
                <a:spcPct val="113999"/>
              </a:lnSpc>
            </a:pPr>
            <a:r>
              <a:rPr lang="en-US" sz="999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孕妇及足部皮肤破损者慎用，按摩力度宜轻柔。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eyJfdGVtcGxhdGVEYXRhIjp7ImxpbmVDb3VudCI6IjIiLCJ3b3JkQ291bnQiOiIxOSJ9LCJ0YWciOiJub0VkaXQifQ==</bd:templateData>
          </p:ext>
        </p:extLst>
      </p:sp>
      <p:sp>
        <p:nvSpPr>
          <p:cNvPr id="13" name="TextBox 13"/>
          <p:cNvSpPr txBox="1"/>
          <p:nvPr/>
        </p:nvSpPr>
        <p:spPr>
          <a:xfrm flipH="1" rot="0">
            <a:off x="7013480" y="1718106"/>
            <a:ext cx="2700173" cy="2381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注意事项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4" name="AutoShape 14"/>
          <p:cNvSpPr/>
          <p:nvPr/>
        </p:nvSpPr>
        <p:spPr>
          <a:xfrm rot="0">
            <a:off x="924082" y="3226111"/>
            <a:ext cx="3985999" cy="1211059"/>
          </a:xfrm>
          <a:prstGeom prst="homePlate">
            <a:avLst>
              <a:gd fmla="val 23738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5" name="AutoShape 15"/>
          <p:cNvSpPr/>
          <p:nvPr/>
        </p:nvSpPr>
        <p:spPr>
          <a:xfrm rot="5400000">
            <a:off x="319863" y="3309641"/>
            <a:ext cx="1211061" cy="10440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6" name="TextBox 16"/>
          <p:cNvSpPr txBox="1"/>
          <p:nvPr/>
        </p:nvSpPr>
        <p:spPr>
          <a:xfrm flipH="1" rot="0">
            <a:off x="1675599" y="3732517"/>
            <a:ext cx="2752725" cy="5429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13999"/>
              </a:lnSpc>
            </a:pPr>
            <a:r>
              <a:rPr lang="en-US" sz="999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可每日按摩3-5分钟或用艾条温和灸10-15分钟。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eyJfdGVtcGxhdGVEYXRhIjp7ImxpbmVDb3VudCI6IjIiLCJ3b3JkQ291bnQiOiIxOSJ9LCJ0YWciOiJub0VkaXQifQ==</bd:templateData>
          </p:ext>
        </p:extLst>
      </p:sp>
      <p:sp>
        <p:nvSpPr>
          <p:cNvPr id="17" name="TextBox 17"/>
          <p:cNvSpPr txBox="1"/>
          <p:nvPr/>
        </p:nvSpPr>
        <p:spPr>
          <a:xfrm flipH="1" rot="0">
            <a:off x="1675601" y="3406215"/>
            <a:ext cx="1571625" cy="2381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none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保健方法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8" name="AutoShape 18"/>
          <p:cNvSpPr/>
          <p:nvPr/>
        </p:nvSpPr>
        <p:spPr>
          <a:xfrm flipH="1" rot="0">
            <a:off x="7326755" y="3226112"/>
            <a:ext cx="3985999" cy="1211059"/>
          </a:xfrm>
          <a:prstGeom prst="homePlate">
            <a:avLst>
              <a:gd fmla="val 23738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9" name="AutoShape 19"/>
          <p:cNvSpPr/>
          <p:nvPr/>
        </p:nvSpPr>
        <p:spPr>
          <a:xfrm rot="5400000">
            <a:off x="10705910" y="3309642"/>
            <a:ext cx="1211061" cy="10440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0" name="TextBox 20"/>
          <p:cNvSpPr txBox="1"/>
          <p:nvPr/>
        </p:nvSpPr>
        <p:spPr>
          <a:xfrm flipH="1" rot="0">
            <a:off x="7694648" y="3732518"/>
            <a:ext cx="2847975" cy="5429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r">
              <a:lnSpc>
                <a:spcPct val="113999"/>
              </a:lnSpc>
            </a:pPr>
            <a:r>
              <a:rPr lang="en-US" sz="999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《黄帝内经》称其为'肾经井穴'，主降心火、滋肾阴。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eyJfdGVtcGxhdGVEYXRhIjp7ImxpbmVDb3VudCI6IjMiLCJ3b3JkQ291bnQiOiIxOSJ9LCJ0YWciOiJub0VkaXQifQ==</bd:templateData>
          </p:ext>
        </p:extLst>
      </p:sp>
      <p:sp>
        <p:nvSpPr>
          <p:cNvPr id="21" name="TextBox 21"/>
          <p:cNvSpPr txBox="1"/>
          <p:nvPr/>
        </p:nvSpPr>
        <p:spPr>
          <a:xfrm flipH="1" rot="0">
            <a:off x="7778228" y="3406216"/>
            <a:ext cx="2771170" cy="2381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古籍记载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2" name="AutoShape 22"/>
          <p:cNvSpPr/>
          <p:nvPr/>
        </p:nvSpPr>
        <p:spPr>
          <a:xfrm rot="0">
            <a:off x="1746454" y="4912071"/>
            <a:ext cx="3985999" cy="1211059"/>
          </a:xfrm>
          <a:prstGeom prst="homePlate">
            <a:avLst>
              <a:gd fmla="val 23738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3" name="AutoShape 23"/>
          <p:cNvSpPr/>
          <p:nvPr/>
        </p:nvSpPr>
        <p:spPr>
          <a:xfrm rot="5400000">
            <a:off x="1142235" y="4995601"/>
            <a:ext cx="1211061" cy="10440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4" name="TextBox 24"/>
          <p:cNvSpPr txBox="1"/>
          <p:nvPr/>
        </p:nvSpPr>
        <p:spPr>
          <a:xfrm flipH="1" rot="0">
            <a:off x="2497971" y="5418477"/>
            <a:ext cx="2752725" cy="5429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13999"/>
              </a:lnSpc>
            </a:pPr>
            <a:r>
              <a:rPr lang="en-US" sz="999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常与太溪、三阴交等穴位配伍增强滋阴效果。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eyJfdGVtcGxhdGVEYXRhIjp7ImxpbmVDb3VudCI6IjIiLCJ3b3JkQ291bnQiOiIxOSJ9LCJ0YWciOiJub0VkaXQifQ==</bd:templateData>
          </p:ext>
        </p:extLst>
      </p:sp>
      <p:sp>
        <p:nvSpPr>
          <p:cNvPr id="25" name="TextBox 25"/>
          <p:cNvSpPr txBox="1"/>
          <p:nvPr/>
        </p:nvSpPr>
        <p:spPr>
          <a:xfrm flipH="1" rot="0">
            <a:off x="2497973" y="5092175"/>
            <a:ext cx="1381125" cy="2381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none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配伍穴位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6" name="AutoShape 26"/>
          <p:cNvSpPr/>
          <p:nvPr/>
        </p:nvSpPr>
        <p:spPr>
          <a:xfrm flipH="1" rot="0">
            <a:off x="6489435" y="4912071"/>
            <a:ext cx="3985999" cy="1211059"/>
          </a:xfrm>
          <a:prstGeom prst="homePlate">
            <a:avLst>
              <a:gd fmla="val 23738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7" name="AutoShape 27"/>
          <p:cNvSpPr/>
          <p:nvPr/>
        </p:nvSpPr>
        <p:spPr>
          <a:xfrm rot="5400000">
            <a:off x="9868591" y="4995601"/>
            <a:ext cx="1211061" cy="10440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8" name="TextBox 28"/>
          <p:cNvSpPr txBox="1"/>
          <p:nvPr/>
        </p:nvSpPr>
        <p:spPr>
          <a:xfrm flipH="1" rot="0">
            <a:off x="6954024" y="5418477"/>
            <a:ext cx="2752725" cy="5429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r">
              <a:lnSpc>
                <a:spcPct val="113999"/>
              </a:lnSpc>
            </a:pPr>
            <a:r>
              <a:rPr lang="en-US" sz="999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研究表明刺激涌泉穴可调节自主神经功能和内分泌系统。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eyJfdGVtcGxhdGVEYXRhIjp7ImxpbmVDb3VudCI6IjIiLCJ3b3JkQ291bnQiOiIxOSJ9LCJ0YWciOiJub0VkaXQifQ==</bd:templateData>
          </p:ext>
        </p:extLst>
      </p:sp>
      <p:sp>
        <p:nvSpPr>
          <p:cNvPr id="29" name="TextBox 29"/>
          <p:cNvSpPr txBox="1"/>
          <p:nvPr/>
        </p:nvSpPr>
        <p:spPr>
          <a:xfrm flipH="1" rot="0">
            <a:off x="7122336" y="5092175"/>
            <a:ext cx="2589742" cy="2381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现代研究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0" name="TextBox 30"/>
          <p:cNvSpPr txBox="1"/>
          <p:nvPr/>
        </p:nvSpPr>
        <p:spPr>
          <a:xfrm flipH="1" rot="0">
            <a:off x="4997796" y="1433390"/>
            <a:ext cx="2236351" cy="2381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550">
                <a:solidFill>
                  <a:schemeClr val="accent3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肾经首穴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cxnSp>
        <p:nvCxnSpPr>
          <p:cNvPr id="31" name="Connector 31"/>
          <p:cNvCxnSpPr/>
          <p:nvPr/>
        </p:nvCxnSpPr>
        <p:spPr>
          <a:xfrm>
            <a:off x="6094045" y="1781155"/>
            <a:ext cx="0" cy="831982"/>
          </a:xfrm>
          <a:prstGeom prst="line">
            <a:avLst/>
          </a:prstGeom>
          <a:ln w="12700">
            <a:solidFill>
              <a:schemeClr val="accent3"/>
            </a:solidFill>
            <a:prstDash val="solid"/>
            <a:headEnd type="oval"/>
            <a:tailEnd type="none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cxnSp>
        <p:nvCxnSpPr>
          <p:cNvPr id="32" name="Connector 32"/>
          <p:cNvCxnSpPr/>
          <p:nvPr/>
        </p:nvCxnSpPr>
        <p:spPr>
          <a:xfrm flipV="1">
            <a:off x="6094045" y="5074746"/>
            <a:ext cx="0" cy="922484"/>
          </a:xfrm>
          <a:prstGeom prst="line">
            <a:avLst/>
          </a:prstGeom>
          <a:ln w="12700">
            <a:solidFill>
              <a:schemeClr val="accent3"/>
            </a:solidFill>
            <a:prstDash val="solid"/>
            <a:headEnd type="oval"/>
            <a:tailEnd type="none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33" name="TextBox 33"/>
          <p:cNvSpPr txBox="1"/>
          <p:nvPr/>
        </p:nvSpPr>
        <p:spPr>
          <a:xfrm rot="0">
            <a:off x="5159263" y="3470045"/>
            <a:ext cx="1963073" cy="32385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100">
                <a:solidFill>
                  <a:srgbClr val="F3F4F2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穴位定位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eyJfdGVtcGxhdGVEYXRhIjp7ImxpbmVDb3VudCI6IjEiLCJ3b3JkQ291bnQiOiI0In0sInRhZyI6Im5vRWRpdCJ9</bd:templateData>
          </p:ext>
        </p:extLst>
      </p:sp>
      <p:sp>
        <p:nvSpPr>
          <p:cNvPr id="34" name="TextBox 34"/>
          <p:cNvSpPr txBox="1"/>
          <p:nvPr/>
        </p:nvSpPr>
        <p:spPr>
          <a:xfrm rot="0">
            <a:off x="5363378" y="3988574"/>
            <a:ext cx="1495425" cy="34290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800">
                <a:solidFill>
                  <a:srgbClr val="FDFBFB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足底前1/3凹陷处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eyJfdGVtcGxhdGVEYXRhIjp7ImxpbmVDb3VudCI6IjEiLCJ3b3JkQ291bnQiOiIxMSJ9LCJ0YWciOiJub0VkaXQifQ==</bd:templateData>
          </p:ext>
        </p:extLst>
      </p:sp>
      <p:sp>
        <p:nvSpPr>
          <p:cNvPr id="35" name="TextBox 35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2799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涌泉穴（滋阴降火）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eyJfdGVtcGxhdGVEYXRhIjp7ImNvbnRlbnRUeXBlIjoiJHRpdGxlIiwibGluZUNvdW50IjoiMSIsIndvcmRDb3VudCI6IjMwIn0sInRhZyI6Im5vRWRpdCJ9</bd:templateData>
          </p:ext>
        </p:extLst>
      </p:sp>
      <p:sp>
        <p:nvSpPr>
          <p:cNvPr id="36" name="Freeform 36"/>
          <p:cNvSpPr/>
          <p:nvPr/>
        </p:nvSpPr>
        <p:spPr>
          <a:xfrm rot="0">
            <a:off x="1505268" y="1853004"/>
            <a:ext cx="432590" cy="464762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  <a:close/>
              </a:path>
            </a:pathLst>
          </a:custGeom>
          <a:solidFill>
            <a:srgbClr val="F9F8F7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7" name="Freeform 37"/>
          <p:cNvSpPr/>
          <p:nvPr/>
        </p:nvSpPr>
        <p:spPr>
          <a:xfrm rot="0">
            <a:off x="707787" y="3561513"/>
            <a:ext cx="432590" cy="464762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  <a:close/>
              </a:path>
            </a:pathLst>
          </a:custGeom>
          <a:solidFill>
            <a:srgbClr val="F9F8F7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8" name="Freeform 38"/>
          <p:cNvSpPr/>
          <p:nvPr/>
        </p:nvSpPr>
        <p:spPr>
          <a:xfrm rot="0">
            <a:off x="1530159" y="5285219"/>
            <a:ext cx="432590" cy="464762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  <a:close/>
              </a:path>
            </a:pathLst>
          </a:custGeom>
          <a:solidFill>
            <a:srgbClr val="F9F8F7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9" name="Freeform 39"/>
          <p:cNvSpPr/>
          <p:nvPr/>
        </p:nvSpPr>
        <p:spPr>
          <a:xfrm rot="0">
            <a:off x="11096459" y="3561513"/>
            <a:ext cx="432590" cy="464762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  <a:close/>
              </a:path>
            </a:pathLst>
          </a:custGeom>
          <a:solidFill>
            <a:srgbClr val="F9F8F7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0" name="Freeform 40"/>
          <p:cNvSpPr/>
          <p:nvPr/>
        </p:nvSpPr>
        <p:spPr>
          <a:xfrm rot="0">
            <a:off x="10231624" y="5285219"/>
            <a:ext cx="432590" cy="464762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  <a:close/>
              </a:path>
            </a:pathLst>
          </a:custGeom>
          <a:solidFill>
            <a:srgbClr val="F9F8F7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1" name="Freeform 41"/>
          <p:cNvSpPr/>
          <p:nvPr/>
        </p:nvSpPr>
        <p:spPr>
          <a:xfrm rot="0">
            <a:off x="10259139" y="1911150"/>
            <a:ext cx="432590" cy="464762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  <a:close/>
              </a:path>
            </a:pathLst>
          </a:custGeom>
          <a:solidFill>
            <a:srgbClr val="F9F8F7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2" name="TextBox 42"/>
          <p:cNvSpPr txBox="1"/>
          <p:nvPr/>
        </p:nvSpPr>
        <p:spPr>
          <a:xfrm flipH="1" rot="0">
            <a:off x="4968196" y="6123130"/>
            <a:ext cx="2238375" cy="23812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550">
                <a:solidFill>
                  <a:schemeClr val="accent3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滋阴要穴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eyJtZCI6IiMjIOi2s+mDqOS/neWBpeiFp+eptFxuIyMjIOa2jOazieeptO+8iOa7i+mYtOmZjeeBq++8iSIsInRwbGlkIjoiODYiLCJ0cGxOYW1lIjoidGl0bGVHcmFwaF9wcm80NSIsImVkaXRlZCI6ImZhbHNlIn0=</bd:templateData>
    </p:ext>
  </p:extLs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0">
            <a:off x="6392919" y="1471389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" name="AutoShape 3"/>
          <p:cNvSpPr/>
          <p:nvPr/>
        </p:nvSpPr>
        <p:spPr>
          <a:xfrm rot="0">
            <a:off x="642135" y="4823305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" name="AutoShape 4"/>
          <p:cNvSpPr/>
          <p:nvPr/>
        </p:nvSpPr>
        <p:spPr>
          <a:xfrm rot="0">
            <a:off x="642135" y="3187764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5" name="TextBox 5"/>
          <p:cNvSpPr txBox="1"/>
          <p:nvPr/>
        </p:nvSpPr>
        <p:spPr>
          <a:xfrm rot="0">
            <a:off x="1477002" y="1805928"/>
            <a:ext cx="4405069" cy="1127581"/>
          </a:xfrm>
          <a:prstGeom prst="rect">
            <a:avLst/>
          </a:prstGeom>
          <a:noFill/>
          <a:ln/>
        </p:spPr>
        <p:txBody>
          <a:bodyPr anchor="t" anchorCtr="0" bIns="57150" lIns="123825" rIns="57150" rtlCol="0" tIns="5715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在足内侧，内踝后方与跟腱之间的凹陷处。取穴时正坐或仰卧，内踝尖与跟腱连线的中点即为该穴。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eyJfdGVtcGxhdGVEYXRhIjp7ImNvbnRlbnRUeXBlIjoiJGl0ZW0xX2MiLCJsaW5lQ291bnQiOiI0Iiwid29yZENvdW50IjoiMjUifSwidGFnIjoiJGl0ZW0xX2MifQ==</bd:templateData>
          </p:ext>
        </p:extLst>
      </p:sp>
      <p:sp>
        <p:nvSpPr>
          <p:cNvPr id="6" name="TextBox 6"/>
          <p:cNvSpPr txBox="1"/>
          <p:nvPr/>
        </p:nvSpPr>
        <p:spPr>
          <a:xfrm rot="0">
            <a:off x="1477002" y="1456420"/>
            <a:ext cx="4219575" cy="410484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50000"/>
              </a:lnSpc>
            </a:pPr>
            <a:r>
              <a:rPr b="1" lang="en-US" sz="165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定位与取穴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eyJfdGVtcGxhdGVEYXRhIjp7ImNvbnRlbnRUeXBlIjoiJGl0ZW0xX3RpdGxlIiwibGluZUNvdW50IjoiMSIsIndvcmRDb3VudCI6IjE4In0sInRhZyI6IiRpdGVtMV90aXRsZSJ9</bd:templateData>
          </p:ext>
        </p:extLst>
      </p:sp>
      <p:sp>
        <p:nvSpPr>
          <p:cNvPr id="7" name="TextBox 7"/>
          <p:cNvSpPr txBox="1"/>
          <p:nvPr/>
        </p:nvSpPr>
        <p:spPr>
          <a:xfrm rot="0">
            <a:off x="1477002" y="5176569"/>
            <a:ext cx="4346229" cy="1164308"/>
          </a:xfrm>
          <a:prstGeom prst="rect">
            <a:avLst/>
          </a:prstGeom>
          <a:ln/>
        </p:spPr>
        <p:txBody>
          <a:bodyPr anchor="t" anchorCtr="0" bIns="57150" lIns="123825" rIns="57150" rtlCol="0" tIns="5715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可用拇指垂直按压或艾条温和灸，每次5-10分钟。肾虚者可每日早晚各按摩一次。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eyJfdGVtcGxhdGVEYXRhIjp7ImNvbnRlbnRUeXBlIjoiJGl0ZW0zX2MiLCJsaW5lQ291bnQiOiI0Iiwid29yZENvdW50IjoiMjQifSwidGFnIjoiJGl0ZW0zX2MifQ==</bd:templateData>
          </p:ext>
        </p:extLst>
      </p:sp>
      <p:sp>
        <p:nvSpPr>
          <p:cNvPr id="8" name="TextBox 8"/>
          <p:cNvSpPr txBox="1"/>
          <p:nvPr/>
        </p:nvSpPr>
        <p:spPr>
          <a:xfrm rot="0">
            <a:off x="1477002" y="3507078"/>
            <a:ext cx="4346229" cy="1165431"/>
          </a:xfrm>
          <a:prstGeom prst="rect">
            <a:avLst/>
          </a:prstGeom>
          <a:noFill/>
          <a:ln/>
        </p:spPr>
        <p:txBody>
          <a:bodyPr anchor="t" anchorCtr="0" bIns="57150" lIns="123825" rIns="57150" rtlCol="0" tIns="5715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为肾经原穴，主治肾虚引起的腰膝酸软、耳鸣耳聋、遗精早泄、月经不调及下肢水肿等，兼具温阳与滋阴双重调节作用。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eyJfdGVtcGxhdGVEYXRhIjp7ImNvbnRlbnRUeXBlIjoiJGl0ZW0yX2MiLCJsaW5lQ291bnQiOiI0Iiwid29yZENvdW50IjoiMjQifSwidGFnIjoiJGl0ZW0yX2MifQ==</bd:templateData>
          </p:ext>
        </p:extLst>
      </p:sp>
      <p:sp>
        <p:nvSpPr>
          <p:cNvPr id="9" name="TextBox 9"/>
          <p:cNvSpPr txBox="1"/>
          <p:nvPr/>
        </p:nvSpPr>
        <p:spPr>
          <a:xfrm rot="0">
            <a:off x="536634" y="1534314"/>
            <a:ext cx="849630" cy="481965"/>
          </a:xfrm>
          <a:prstGeom prst="rect">
            <a:avLst/>
          </a:prstGeom>
          <a:ln/>
        </p:spPr>
        <p:txBody>
          <a:bodyPr anchor="ctr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id="10" name="TextBox 10"/>
          <p:cNvSpPr txBox="1"/>
          <p:nvPr/>
        </p:nvSpPr>
        <p:spPr>
          <a:xfrm rot="0">
            <a:off x="536634" y="4891235"/>
            <a:ext cx="849630" cy="520065"/>
          </a:xfrm>
          <a:prstGeom prst="rect">
            <a:avLst/>
          </a:prstGeom>
          <a:ln/>
        </p:spPr>
        <p:txBody>
          <a:bodyPr anchor="ctr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id="11" name="TextBox 11"/>
          <p:cNvSpPr txBox="1"/>
          <p:nvPr/>
        </p:nvSpPr>
        <p:spPr>
          <a:xfrm rot="0">
            <a:off x="536634" y="3247045"/>
            <a:ext cx="849630" cy="520065"/>
          </a:xfrm>
          <a:prstGeom prst="rect">
            <a:avLst/>
          </a:prstGeom>
          <a:ln/>
        </p:spPr>
        <p:txBody>
          <a:bodyPr anchor="ctr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id="12" name="AutoShape 12"/>
          <p:cNvSpPr/>
          <p:nvPr/>
        </p:nvSpPr>
        <p:spPr>
          <a:xfrm rot="0">
            <a:off x="642135" y="1455982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3" name="TextBox 13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sp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太溪穴（补肾益精）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eyJfdGVtcGxhdGVEYXRhIjp7ImNvbnRlbnRUeXBlIjoiJHRpdGxlIiwibGluZUNvdW50IjoiMSIsIndvcmRDb3VudCI6IjI3In0sInRhZyI6IiR0aXRsZSJ9</bd:templateData>
          </p:ext>
        </p:extLst>
      </p:sp>
      <p:sp>
        <p:nvSpPr>
          <p:cNvPr id="14" name="AutoShape 14"/>
          <p:cNvSpPr/>
          <p:nvPr/>
        </p:nvSpPr>
        <p:spPr>
          <a:xfrm rot="0">
            <a:off x="6392919" y="3203171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5" name="TextBox 15"/>
          <p:cNvSpPr txBox="1"/>
          <p:nvPr/>
        </p:nvSpPr>
        <p:spPr>
          <a:xfrm rot="0">
            <a:off x="7227786" y="1821335"/>
            <a:ext cx="4383960" cy="1112174"/>
          </a:xfrm>
          <a:prstGeom prst="rect">
            <a:avLst/>
          </a:prstGeom>
          <a:noFill/>
          <a:ln/>
        </p:spPr>
        <p:txBody>
          <a:bodyPr anchor="t" anchorCtr="0" bIns="57150" lIns="123825" rIns="57150" rtlCol="0" tIns="5715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与关元穴、肾俞穴配伍可增强补肾效果；配合涌泉穴治疗阴虚火旺型口腔溃疡。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eyJfdGVtcGxhdGVEYXRhIjp7ImNvbnRlbnRUeXBlIjoiJGl0ZW00X2MiLCJsaW5lQ291bnQiOiIzIiwid29yZENvdW50IjoiMjQifSwidGFnIjoiJGl0ZW00X2MifQ==</bd:templateData>
          </p:ext>
        </p:extLst>
      </p:sp>
      <p:sp>
        <p:nvSpPr>
          <p:cNvPr id="16" name="TextBox 16"/>
          <p:cNvSpPr txBox="1"/>
          <p:nvPr/>
        </p:nvSpPr>
        <p:spPr>
          <a:xfrm rot="0">
            <a:off x="7227786" y="3522485"/>
            <a:ext cx="4383960" cy="1150023"/>
          </a:xfrm>
          <a:prstGeom prst="rect">
            <a:avLst/>
          </a:prstGeom>
          <a:noFill/>
          <a:ln/>
        </p:spPr>
        <p:txBody>
          <a:bodyPr anchor="t" anchorCtr="0" bIns="57150" lIns="123825" rIns="57150" rtlCol="0" tIns="5715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临床研究表明，刺激太溪穴可调节下丘脑-垂体-肾上腺轴功能，改善慢性疲劳综合征。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eyJfdGVtcGxhdGVEYXRhIjp7ImNvbnRlbnRUeXBlIjoiJGl0ZW01X2MiLCJsaW5lQ291bnQiOiI0Iiwid29yZENvdW50IjoiMjQifSwidGFnIjoiJGl0ZW01X2MifQ==</bd:templateData>
          </p:ext>
        </p:extLst>
      </p:sp>
      <p:sp>
        <p:nvSpPr>
          <p:cNvPr id="17" name="TextBox 17"/>
          <p:cNvSpPr txBox="1"/>
          <p:nvPr/>
        </p:nvSpPr>
        <p:spPr>
          <a:xfrm rot="0">
            <a:off x="6287418" y="1530671"/>
            <a:ext cx="849630" cy="520065"/>
          </a:xfrm>
          <a:prstGeom prst="rect">
            <a:avLst/>
          </a:prstGeom>
          <a:ln/>
        </p:spPr>
        <p:txBody>
          <a:bodyPr anchor="ctr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id="18" name="TextBox 18"/>
          <p:cNvSpPr txBox="1"/>
          <p:nvPr/>
        </p:nvSpPr>
        <p:spPr>
          <a:xfrm rot="0">
            <a:off x="6287418" y="3262453"/>
            <a:ext cx="849630" cy="520065"/>
          </a:xfrm>
          <a:prstGeom prst="rect">
            <a:avLst/>
          </a:prstGeom>
          <a:ln/>
        </p:spPr>
        <p:txBody>
          <a:bodyPr anchor="ctr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id="19" name="TextBox 19"/>
          <p:cNvSpPr txBox="1"/>
          <p:nvPr/>
        </p:nvSpPr>
        <p:spPr>
          <a:xfrm rot="0">
            <a:off x="7227786" y="1456420"/>
            <a:ext cx="4219575" cy="410484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50000"/>
              </a:lnSpc>
            </a:pPr>
            <a:r>
              <a:rPr b="1" lang="en-US" sz="165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配伍应用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eyJfdGVtcGxhdGVEYXRhIjp7ImNvbnRlbnRUeXBlIjoiJGl0ZW00X3RpdGxlIiwibGluZUNvdW50IjoiMSIsIndvcmRDb3VudCI6IjE4In0sInRhZyI6IiRpdGVtNF90aXRsZSJ9</bd:templateData>
          </p:ext>
        </p:extLst>
      </p:sp>
      <p:sp>
        <p:nvSpPr>
          <p:cNvPr id="20" name="TextBox 20"/>
          <p:cNvSpPr txBox="1"/>
          <p:nvPr/>
        </p:nvSpPr>
        <p:spPr>
          <a:xfrm rot="0">
            <a:off x="1477002" y="3167475"/>
            <a:ext cx="4219575" cy="410484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50000"/>
              </a:lnSpc>
            </a:pPr>
            <a:r>
              <a:rPr b="1" lang="en-US" sz="165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功效主治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eyJfdGVtcGxhdGVEYXRhIjp7ImNvbnRlbnRUeXBlIjoiJGl0ZW0yX3RpdGxlIiwibGluZUNvdW50IjoiMSIsIndvcmRDb3VudCI6IjE4In0sInRhZyI6IiRpdGVtMl90aXRsZSJ9</bd:templateData>
          </p:ext>
        </p:extLst>
      </p:sp>
      <p:sp>
        <p:nvSpPr>
          <p:cNvPr id="21" name="TextBox 21"/>
          <p:cNvSpPr txBox="1"/>
          <p:nvPr/>
        </p:nvSpPr>
        <p:spPr>
          <a:xfrm rot="0">
            <a:off x="7227786" y="3167475"/>
            <a:ext cx="4219575" cy="410484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50000"/>
              </a:lnSpc>
            </a:pPr>
            <a:r>
              <a:rPr b="1" lang="en-US" sz="165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现代研究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eyJfdGVtcGxhdGVEYXRhIjp7ImNvbnRlbnRUeXBlIjoiJGl0ZW01X3RpdGxlIiwibGluZUNvdW50IjoiMSIsIndvcmRDb3VudCI6IjE4In0sInRhZyI6IiRpdGVtNV90aXRsZSJ9</bd:templateData>
          </p:ext>
        </p:extLst>
      </p:sp>
      <p:sp>
        <p:nvSpPr>
          <p:cNvPr id="22" name="TextBox 22"/>
          <p:cNvSpPr txBox="1"/>
          <p:nvPr/>
        </p:nvSpPr>
        <p:spPr>
          <a:xfrm rot="0">
            <a:off x="1477002" y="4827386"/>
            <a:ext cx="4219575" cy="410484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50000"/>
              </a:lnSpc>
            </a:pPr>
            <a:r>
              <a:rPr b="1" lang="en-US" sz="165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操作方法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eyJfdGVtcGxhdGVEYXRhIjp7ImNvbnRlbnRUeXBlIjoiJGl0ZW0zX3RpdGxlIiwibGluZUNvdW50IjoiMSIsIndvcmRDb3VudCI6IjE4In0sInRhZyI6IiRpdGVtM190aXRsZSJ9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kqua6queptO+8iOihpeiCvuebiueyvu+8iVxuIyMjIOWumuS9jeS4juWPlueptFxu5Zyo6Laz5YaF5L6n77yM5YaF6Lid5ZCO5pa55LiO6Lef6IWx5LmL6Ze055qE5Ye56Zm35aSE44CC5Y+W56m05pe25q2j5Z2Q5oiW5Luw5Y2n77yM5YaF6Lid5bCW5LiO6Lef6IWx6L+e57q/55qE5Lit54K55Y2z5Li66K+l56m044CCXG4jIyMg5Yqf5pWI5Li75rK7XG7kuLrogr7nu4/ljp/nqbTvvIzkuLvmsrvogr7omZrlvJXotbfnmoTohbDohp3phbjova/jgIHogLPpuKPogLPogYvjgIHpgZfnsr7ml6nms4TjgIHmnIjnu4/kuI3osIPlj4rkuIvogqLmsLTogr/nrYnvvIzlhbzlhbfmuKnpmLPkuI7mu4vpmLTlj4zph43osIPoioLkvZznlKjjgIJcbiMjIyDmk43kvZzmlrnms5VcbuWPr+eUqOaLh+aMh+WeguebtOaMieWOi+aIluiJvuadoea4qeWSjOeBuO+8jOavj+asoTUtMTDliIbpkp/jgILogr7omZrogIXlj6/mr4/ml6Xml6nmmZrlkITmjInmkankuIDmrKHjgIJcbiMjIyDphY3kvI3lupTnlKhcbuS4juWFs+WFg+eptOOAgeiCvuS/nueptOmFjeS8jeWPr+WinuW8uuihpeiCvuaViOaenO+8m+mFjeWQiOa2jOazieeptOayu+eWl+mYtOiZmueBq+aXuuWei+WPo+iFlOa6g+eWoeOAglxuIyMjIOeOsOS7o+eglOeptlxu5Li05bqK56CU56m26KGo5piO77yM5Yi65r+A5aSq5rqq56m05Y+v6LCD6IqC5LiL5LiY6ISRLeWeguS9ky3ogr7kuIrohbrovbTlip/og73vvIzmlLnlloTmhaLmgKfnlrLlirPnu7zlkIjlvoHjgIIiLCJ0cGxpZCI6Ijg2IiwidHBsTmFtZSI6Imxpc3Q1X2xvbmdUaXRsZTIiLCJlZGl0ZWQiOiJmYWxzZSJ9</bd:templateData>
    </p:ext>
  </p:extLs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三阴交（调和肝脾肾）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id="3" name="AutoShape 3"/>
          <p:cNvSpPr/>
          <p:nvPr/>
        </p:nvSpPr>
        <p:spPr>
          <a:xfrm rot="0">
            <a:off x="515104" y="1943785"/>
            <a:ext cx="3637467" cy="1772200"/>
          </a:xfrm>
          <a:prstGeom prst="roundRect">
            <a:avLst>
              <a:gd fmla="val 7233" name="adj"/>
            </a:avLst>
          </a:prstGeom>
          <a:solidFill>
            <a:schemeClr val="lt2">
              <a:alpha val="6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" name="TextBox 4"/>
          <p:cNvSpPr txBox="1"/>
          <p:nvPr/>
        </p:nvSpPr>
        <p:spPr>
          <a:xfrm rot="0">
            <a:off x="740613" y="2105555"/>
            <a:ext cx="3186449" cy="1448659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位于小腿内侧，足内踝尖上3寸（约四横指），胫骨内侧缘后方。取穴时以手四指并拢量取内踝上缘至穴位的距离。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eyJfdGVtcGxhdGVEYXRhIjp7ImNvbnRlbnRUeXBlIjoiJGl0ZW0xX2MiLCJsaW5lQ291bnQiOiI0Iiwid29yZENvdW50IjoiMTUifSwidGFnIjoiJGl0ZW0xX2MifQ==</bd:templateData>
          </p:ext>
        </p:extLst>
      </p:sp>
      <p:sp>
        <p:nvSpPr>
          <p:cNvPr id="5" name="TextBox 5"/>
          <p:cNvSpPr txBox="1"/>
          <p:nvPr/>
        </p:nvSpPr>
        <p:spPr>
          <a:xfrm rot="0">
            <a:off x="515104" y="1376998"/>
            <a:ext cx="3637467" cy="501015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b="1"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定位与取穴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eyJfdGVtcGxhdGVEYXRhIjp7ImNvbnRlbnRUeXBlIjoiJGl0ZW0xX3RpdGxlIiwibGluZUNvdW50IjoiMSIsIndvcmRDb3VudCI6IjEwIn0sInRhZyI6IiRpdGVtMV90aXRsZSJ9</bd:templateData>
          </p:ext>
        </p:extLst>
      </p:sp>
      <p:sp>
        <p:nvSpPr>
          <p:cNvPr id="6" name="TextBox 6"/>
          <p:cNvSpPr txBox="1"/>
          <p:nvPr/>
        </p:nvSpPr>
        <p:spPr>
          <a:xfrm rot="0">
            <a:off x="4278857" y="1377315"/>
            <a:ext cx="3637467" cy="501015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b="1"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功效主治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eyJfdGVtcGxhdGVEYXRhIjp7ImNvbnRlbnRUeXBlIjoiJGl0ZW0yX3RpdGxlIiwibGluZUNvdW50IjoiMSIsIndvcmRDb3VudCI6IjEwIn0sInRhZyI6IiRpdGVtMl90aXRsZSJ9</bd:templateData>
          </p:ext>
        </p:extLst>
      </p:sp>
      <p:sp>
        <p:nvSpPr>
          <p:cNvPr id="7" name="TextBox 7"/>
          <p:cNvSpPr txBox="1"/>
          <p:nvPr/>
        </p:nvSpPr>
        <p:spPr>
          <a:xfrm rot="0">
            <a:off x="8042611" y="1377315"/>
            <a:ext cx="3637467" cy="501015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b="1"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操作方法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eyJfdGVtcGxhdGVEYXRhIjp7ImNvbnRlbnRUeXBlIjoiJGl0ZW0zX3RpdGxlIiwibGluZUNvdW50IjoiMSIsIndvcmRDb3VudCI6IjEwIn0sInRhZyI6IiRpdGVtM190aXRsZSJ9</bd:templateData>
          </p:ext>
        </p:extLst>
      </p:sp>
      <p:sp>
        <p:nvSpPr>
          <p:cNvPr id="8" name="TextBox 8"/>
          <p:cNvSpPr txBox="1"/>
          <p:nvPr/>
        </p:nvSpPr>
        <p:spPr>
          <a:xfrm rot="0">
            <a:off x="515104" y="3950072"/>
            <a:ext cx="3637467" cy="501015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b="1"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配伍应用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eyJfdGVtcGxhdGVEYXRhIjp7ImNvbnRlbnRUeXBlIjoiJGl0ZW00X3RpdGxlIiwibGluZUNvdW50IjoiMSIsIndvcmRDb3VudCI6IjEwIn0sInRhZyI6IiRpdGVtNF90aXRsZSJ9</bd:templateData>
          </p:ext>
        </p:extLst>
      </p:sp>
      <p:sp>
        <p:nvSpPr>
          <p:cNvPr id="9" name="TextBox 9"/>
          <p:cNvSpPr txBox="1"/>
          <p:nvPr/>
        </p:nvSpPr>
        <p:spPr>
          <a:xfrm rot="0">
            <a:off x="4278857" y="3950072"/>
            <a:ext cx="3637467" cy="501015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b="1"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禁忌与注意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eyJfdGVtcGxhdGVEYXRhIjp7ImNvbnRlbnRUeXBlIjoiJGl0ZW01X3RpdGxlIiwibGluZUNvdW50IjoiMSIsIndvcmRDb3VudCI6IjEwIn0sInRhZyI6IiRpdGVtNV90aXRsZSJ9</bd:templateData>
          </p:ext>
        </p:extLst>
      </p:sp>
      <p:sp>
        <p:nvSpPr>
          <p:cNvPr id="10" name="TextBox 10"/>
          <p:cNvSpPr txBox="1"/>
          <p:nvPr/>
        </p:nvSpPr>
        <p:spPr>
          <a:xfrm rot="0">
            <a:off x="8042611" y="3950072"/>
            <a:ext cx="3637467" cy="501015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b="1"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扩展应用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eyJfdGVtcGxhdGVEYXRhIjp7ImNvbnRlbnRUeXBlIjoiJGl0ZW02X3RpdGxlIiwibGluZUNvdW50IjoiMSIsIndvcmRDb3VudCI6IjEwIn0sInRhZyI6IiRpdGVtNl90aXRsZSJ9</bd:templateData>
          </p:ext>
        </p:extLst>
      </p:sp>
      <p:sp>
        <p:nvSpPr>
          <p:cNvPr id="11" name="AutoShape 11"/>
          <p:cNvSpPr/>
          <p:nvPr/>
        </p:nvSpPr>
        <p:spPr>
          <a:xfrm rot="0">
            <a:off x="4278857" y="1943785"/>
            <a:ext cx="3637467" cy="1772200"/>
          </a:xfrm>
          <a:prstGeom prst="roundRect">
            <a:avLst>
              <a:gd fmla="val 7233" name="adj"/>
            </a:avLst>
          </a:prstGeom>
          <a:solidFill>
            <a:schemeClr val="lt2">
              <a:alpha val="6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2" name="TextBox 12"/>
          <p:cNvSpPr txBox="1"/>
          <p:nvPr/>
        </p:nvSpPr>
        <p:spPr>
          <a:xfrm rot="0">
            <a:off x="4504366" y="2105555"/>
            <a:ext cx="3186449" cy="1448659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为肝、脾、肾三经交会穴，主治月经不调、痛经、带下、消化不良、下肢痿痹及更年期综合征，兼具健脾、疏肝、益肾三重功效。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eyJfdGVtcGxhdGVEYXRhIjp7ImNvbnRlbnRUeXBlIjoiJGl0ZW0yX2MiLCJsaW5lQ291bnQiOiI0Iiwid29yZENvdW50IjoiMTUifSwidGFnIjoiJGl0ZW0yX2MifQ==</bd:templateData>
          </p:ext>
        </p:extLst>
      </p:sp>
      <p:sp>
        <p:nvSpPr>
          <p:cNvPr id="13" name="AutoShape 13"/>
          <p:cNvSpPr/>
          <p:nvPr/>
        </p:nvSpPr>
        <p:spPr>
          <a:xfrm rot="0">
            <a:off x="8042611" y="1943785"/>
            <a:ext cx="3637467" cy="1772200"/>
          </a:xfrm>
          <a:prstGeom prst="roundRect">
            <a:avLst>
              <a:gd fmla="val 7233" name="adj"/>
            </a:avLst>
          </a:prstGeom>
          <a:solidFill>
            <a:schemeClr val="lt2">
              <a:alpha val="6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4" name="TextBox 14"/>
          <p:cNvSpPr txBox="1"/>
          <p:nvPr/>
        </p:nvSpPr>
        <p:spPr>
          <a:xfrm rot="0">
            <a:off x="8268120" y="2105555"/>
            <a:ext cx="3186449" cy="1448659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可用拇指按压或针灸，孕妇禁针。痛经患者可在月经前一周开始每日按压10分钟。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eyJfdGVtcGxhdGVEYXRhIjp7ImNvbnRlbnRUeXBlIjoiJGl0ZW0zX2MiLCJsaW5lQ291bnQiOiI0Iiwid29yZENvdW50IjoiMTUifSwidGFnIjoiJGl0ZW0zX2MifQ==</bd:templateData>
          </p:ext>
        </p:extLst>
      </p:sp>
      <p:sp>
        <p:nvSpPr>
          <p:cNvPr id="15" name="AutoShape 15"/>
          <p:cNvSpPr/>
          <p:nvPr/>
        </p:nvSpPr>
        <p:spPr>
          <a:xfrm rot="0">
            <a:off x="515104" y="4500511"/>
            <a:ext cx="3637467" cy="1772200"/>
          </a:xfrm>
          <a:prstGeom prst="roundRect">
            <a:avLst>
              <a:gd fmla="val 7233" name="adj"/>
            </a:avLst>
          </a:prstGeom>
          <a:solidFill>
            <a:schemeClr val="lt2">
              <a:alpha val="6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6" name="TextBox 16"/>
          <p:cNvSpPr txBox="1"/>
          <p:nvPr/>
        </p:nvSpPr>
        <p:spPr>
          <a:xfrm rot="0">
            <a:off x="740613" y="4662281"/>
            <a:ext cx="3186449" cy="1448659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与足三里配伍治疗脾胃虚弱；与血海穴配伍调理妇科疾病；与太冲穴配伍疏肝解郁。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eyJfdGVtcGxhdGVEYXRhIjp7ImNvbnRlbnRUeXBlIjoiJGl0ZW00X2MiLCJsaW5lQ291bnQiOiI0Iiwid29yZENvdW50IjoiMTUifSwidGFnIjoiJGl0ZW00X2MifQ==</bd:templateData>
          </p:ext>
        </p:extLst>
      </p:sp>
      <p:sp>
        <p:nvSpPr>
          <p:cNvPr id="17" name="AutoShape 17"/>
          <p:cNvSpPr/>
          <p:nvPr/>
        </p:nvSpPr>
        <p:spPr>
          <a:xfrm rot="0">
            <a:off x="4278857" y="4500511"/>
            <a:ext cx="3637467" cy="1772200"/>
          </a:xfrm>
          <a:prstGeom prst="roundRect">
            <a:avLst>
              <a:gd fmla="val 7233" name="adj"/>
            </a:avLst>
          </a:prstGeom>
          <a:solidFill>
            <a:schemeClr val="lt2">
              <a:alpha val="6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8" name="TextBox 18"/>
          <p:cNvSpPr txBox="1"/>
          <p:nvPr/>
        </p:nvSpPr>
        <p:spPr>
          <a:xfrm rot="0">
            <a:off x="4504366" y="4662281"/>
            <a:ext cx="3186449" cy="1448659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妊娠期女性禁用，可能引发子宫收缩；夜间过度刺激可能影响睡眠，建议白天操作。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eyJfdGVtcGxhdGVEYXRhIjp7ImNvbnRlbnRUeXBlIjoiJGl0ZW01X2MiLCJsaW5lQ291bnQiOiI0Iiwid29yZENvdW50IjoiMTUifSwidGFnIjoiJGl0ZW01X2MifQ==</bd:templateData>
          </p:ext>
        </p:extLst>
      </p:sp>
      <p:sp>
        <p:nvSpPr>
          <p:cNvPr id="19" name="AutoShape 19"/>
          <p:cNvSpPr/>
          <p:nvPr/>
        </p:nvSpPr>
        <p:spPr>
          <a:xfrm rot="0">
            <a:off x="8042611" y="4500511"/>
            <a:ext cx="3637467" cy="1772200"/>
          </a:xfrm>
          <a:prstGeom prst="roundRect">
            <a:avLst>
              <a:gd fmla="val 7233" name="adj"/>
            </a:avLst>
          </a:prstGeom>
          <a:solidFill>
            <a:schemeClr val="lt2">
              <a:alpha val="6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0" name="TextBox 20"/>
          <p:cNvSpPr txBox="1"/>
          <p:nvPr/>
        </p:nvSpPr>
        <p:spPr>
          <a:xfrm rot="0">
            <a:off x="8268120" y="4662281"/>
            <a:ext cx="3186449" cy="1448659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现代用于辅助治疗糖尿病、高血压等慢性病，通过调节内分泌改善代谢紊乱。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eyJfdGVtcGxhdGVEYXRhIjp7ImNvbnRlbnRUeXBlIjoiJGl0ZW02X2MiLCJsaW5lQ291bnQiOiI0Iiwid29yZENvdW50IjoiMTUifSwidGFnIjoiJGl0ZW02X2MifQ==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4iemYtOS6pO+8iOiwg+WSjOiCneiEvuiCvu+8iVxuIyMjIOWumuS9jeS4juWPlueptFxu5L2N5LqO5bCP6IW/5YaF5L6n77yM6Laz5YaF6Lid5bCW5LiKM+WvuO+8iOe6puWbm+aoquaMh++8ie+8jOiDq+mqqOWGheS+p+e8mOWQjuaWueOAguWPlueptOaXtuS7peaJi+Wbm+aMh+W5tuaLoumHj+WPluWGhei4neS4iue8mOiHs+eptOS9jeeahOi3neemu+OAglxuIyMjIOWKn+aViOS4u+ayu1xu5Li66IKd44CB6IS+44CB6IK+5LiJ57uP5Lqk5Lya56m077yM5Li75rK75pyI57uP5LiN6LCD44CB55eb57uP44CB5bim5LiL44CB5raI5YyW5LiN6Imv44CB5LiL6IKi55e/55e55Y+K5pu05bm05pyf57u85ZCI5b6B77yM5YW85YW35YGl6IS+44CB55aP6IKd44CB55uK6IK+5LiJ6YeN5Yqf5pWI44CCXG4jIyMg5pON5L2c5pa55rOVXG7lj6/nlKjmi4fmjIfmjInljovmiJbpkojngbjvvIzlrZXlpofnpoHpkojjgILnl5vnu4/mgqPogIXlj6/lnKjmnIjnu4/liY3kuIDlkajlvIDlp4vmr4/ml6XmjInljosxMOWIhumSn+OAglxuIyMjIOmFjeS8jeW6lOeUqFxu5LiO6Laz5LiJ6YeM6YWN5LyN5rK755aX6IS+6IOD6Jma5byx77yb5LiO6KGA5rW356m06YWN5LyN6LCD55CG5aaH56eR55a+55eF77yb5LiO5aSq5Yay56m06YWN5LyN55aP6IKd6Kej6YOB44CCXG4jIyMg56aB5b+M5LiO5rOo5oSPXG7lporlqKDmnJ/lpbPmgKfnpoHnlKjvvIzlj6/og73lvJXlj5HlrZDlrqvmlLbnvKnvvJvlpJzpl7Tov4fluqbliLrmv4Dlj6/og73lvbHlk43nnaHnnKDvvIzlu7rorq7nmb3lpKnmk43kvZzjgIJcbiMjIyDmianlsZXlupTnlKhcbueOsOS7o+eUqOS6jui+heWKqeayu+eWl+ezluWwv+eXheOAgemrmOihgOWOi+etieaFouaAp+eXhe+8jOmAmui/h+iwg+iKguWGheWIhuazjOaUueWWhOS7o+iwoue0iuS5seOAgiIsInRwbGlkIjoiODYiLCJ0cGxOYW1lIjoibGlzdDZfc2FtZVN0eWxlMHBpYzEiLCJlZGl0ZWQiOiJmYWxzZSJ9</bd:templateData>
    </p:ext>
  </p:extLs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2959856" y="1711076"/>
            <a:ext cx="7439025" cy="2514600"/>
          </a:xfrm>
          <a:prstGeom prst="rect">
            <a:avLst/>
          </a:prstGeom>
          <a:ln/>
        </p:spPr>
        <p:txBody>
          <a:bodyPr anchor="t" anchorCtr="0" bIns="57150" lIns="114300" rIns="114300" rtlCol="0" tIns="57150" vert="horz" wrap="square">
            <a:spAutoFit/>
          </a:bodyPr>
          <a:lstStyle/>
          <a:p>
            <a:pPr>
              <a:lnSpc>
                <a:spcPct val="120000"/>
              </a:lnSpc>
            </a:pPr>
            <a:r>
              <a:rPr b="1" lang="en-US" sz="6300">
                <a:solidFill>
                  <a:srgbClr val="4C678E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THANKS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eyJfdGVtcGxhdGVEYXRhIjp7ImNvbnRlbnRUeXBlIjoiJGVuZGluZ18xIiwibGluZUNvdW50IjoiMiIsIndvcmRDb3VudCI6IjgifSwidGFnIjoibm9FZGl0In0=</bd:templateData>
          </p:ext>
        </p:extLst>
      </p:sp>
      <p:sp>
        <p:nvSpPr>
          <p:cNvPr id="3" name="AutoShape 3"/>
          <p:cNvSpPr/>
          <p:nvPr/>
        </p:nvSpPr>
        <p:spPr>
          <a:xfrm rot="0">
            <a:off x="473638" y="302919"/>
            <a:ext cx="482143" cy="482143"/>
          </a:xfrm>
          <a:prstGeom prst="ellipse">
            <a:avLst/>
          </a:prstGeom>
          <a:solidFill>
            <a:srgbClr val="4C678E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" name="Freeform 4"/>
          <p:cNvSpPr/>
          <p:nvPr/>
        </p:nvSpPr>
        <p:spPr>
          <a:xfrm rot="0">
            <a:off x="585431" y="395662"/>
            <a:ext cx="258557" cy="258557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5" name="AutoShape 5"/>
          <p:cNvSpPr/>
          <p:nvPr/>
        </p:nvSpPr>
        <p:spPr>
          <a:xfrm rot="0">
            <a:off x="1052310" y="334413"/>
            <a:ext cx="5497697" cy="419156"/>
          </a:xfrm>
          <a:prstGeom prst="rect">
            <a:avLst/>
          </a:prstGeom>
          <a:noFill/>
          <a:ln/>
        </p:spPr>
        <p:txBody>
          <a:bodyPr anchor="ctr" anchorCtr="0" bIns="33052" lIns="66008" rIns="66008" rtlCol="0" tIns="33052" vert="horz" wrap="square">
            <a:noAutofit/>
          </a:bodyPr>
          <a:lstStyle/>
          <a:p>
            <a:pPr algn="l">
              <a:defRPr/>
            </a:pPr>
            <a:r>
              <a:rPr lang="en-US" sz="1575">
                <a:solidFill>
                  <a:srgbClr val="4C678E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Template for educational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eyJfdGVtcGxhdGVEYXRhIjp7ImxpbmVDb3VudCI6IjEiLCJ3b3JkQ291bnQiOiIyNSJ9LCJ0YWciOiJub0VkaXQifQ==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eyJtZCI6IiIsInRwbGlkIjoiODYiLCJ0cGxOYW1lIjoiZW5kXzg2c2ltcGxlYmx1ZSIsImVkaXRlZCI6ImZhbHNlIn0=</bd:templateData>
    </p:ext>
  </p:extLs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404040"/>
      </a:dk1>
      <a:lt1>
        <a:srgbClr val="FFFFFF"/>
      </a:lt1>
      <a:dk2>
        <a:srgbClr val="4C678E"/>
      </a:dk2>
      <a:lt2>
        <a:srgbClr val="E1E7EE"/>
      </a:lt2>
      <a:accent1>
        <a:srgbClr val="4C678E"/>
      </a:accent1>
      <a:accent2>
        <a:srgbClr val="4C678E"/>
      </a:accent2>
      <a:accent3>
        <a:srgbClr val="587093"/>
      </a:accent3>
      <a:accent4>
        <a:srgbClr val="677FA2"/>
      </a:accent4>
      <a:accent5>
        <a:srgbClr val="7D94B4"/>
      </a:accent5>
      <a:accent6>
        <a:srgbClr val="8CA0BD"/>
      </a:accent6>
      <a:hlink>
        <a:srgbClr val="0563C1"/>
      </a:hlink>
      <a:folHlink>
        <a:srgbClr val="954F72"/>
      </a:folHlink>
    </a:clrScheme>
    <a:fontScheme name="Office">
      <a:majorFont>
        <a:latin panose="020F0302020204030204"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panose="020F0502020204030204"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algn="ctr" cap="flat" cmpd="sng" w="6350">
          <a:solidFill>
            <a:schemeClr val="phClr"/>
          </a:solidFill>
          <a:prstDash val="solid"/>
          <a:miter lim="800000"/>
        </a:ln>
        <a:ln algn="ctr" cap="flat" cmpd="sng" w="12700">
          <a:solidFill>
            <a:schemeClr val="phClr"/>
          </a:solidFill>
          <a:prstDash val="solid"/>
          <a:miter lim="800000"/>
        </a:ln>
        <a:ln algn="ctr" cap="flat" cmpd="sng" w="19050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id="{62F939B6-93AF-4DB8-9C6B-D6C7DFDC589F}" name="Office Theme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宽屏</PresentationFormat>
  <Paragraphs>0</Paragraphs>
  <Slides>0</Slides>
  <Notes>0</Notes>
  <HiddenSlides>0</HiddenSlides>
  <MMClips>0</MMClips>
  <ScaleCrop>false</ScaleCrop>
  <HeadingPairs>
    <vt:vector baseType="variant" size="6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baseType="lpstr" size="4">
      <vt:lpstr>等线</vt:lpstr>
      <vt:lpstr>等线 Light</vt:lpstr>
      <vt:lpstr>Arial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2025-10-20T11:38:53Z</dcterms:created>
  <dc:creator>zhangqishou</dc:creator>
  <cp:lastModifiedBy>zhangqishou</cp:lastModifiedBy>
  <dcterms:modified xsi:type="dcterms:W3CDTF">2025-10-20T12:04:35Z</dcterms:modified>
  <cp:revision>2</cp:revision>
  <dc:title>PowerPoint 演示文稿</dc:title>
</cp:coreProperties>
</file>

<file path=docProps/custom.xml><?xml version="1.0" encoding="utf-8"?>
<op:Properties xmlns:op="http://schemas.openxmlformats.org/officeDocument/2006/custom-properties" xmlns:vt="http://schemas.openxmlformats.org/officeDocument/2006/docPropsVTypes">
  <op:property fmtid="{D5CDD505-2E9C-101B-9397-08002B2CF9AE}" pid="2" name="AIGC">
    <vt:lpwstr>{"Label":"1","ContentProducer":"001191110000802100433B10001","ProduceID":"bf6f383fcf0fa19585c946aafaacfde6_1774873769_31722758dbc84f2bf95d854fdb3816fe","ReservedCode1":"f7964ee78170e6f95e647d45782870e6c39f355f937587c9e8d4bf171fa503c6","ContentPropagator":"001191110000802100433B10001","PropagateID":"bf6f383fcf0fa19585c946aafaacfde6_1774873769_31722758dbc84f2bf95d854fdb3816fe","ReservedCode2":"f7964ee78170e6f95e647d45782870e6c39f355f937587c9e8d4bf171fa503c6"}</vt:lpwstr>
  </op:property>
</op:Properties>
</file>